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4"/>
    <p:sldMasterId id="2147493470" r:id="rId5"/>
  </p:sldMasterIdLst>
  <p:notesMasterIdLst>
    <p:notesMasterId r:id="rId36"/>
  </p:notesMasterIdLst>
  <p:sldIdLst>
    <p:sldId id="330" r:id="rId6"/>
    <p:sldId id="483" r:id="rId7"/>
    <p:sldId id="529" r:id="rId8"/>
    <p:sldId id="485" r:id="rId9"/>
    <p:sldId id="525" r:id="rId10"/>
    <p:sldId id="507" r:id="rId11"/>
    <p:sldId id="539" r:id="rId12"/>
    <p:sldId id="541" r:id="rId13"/>
    <p:sldId id="543" r:id="rId14"/>
    <p:sldId id="526" r:id="rId15"/>
    <p:sldId id="509" r:id="rId16"/>
    <p:sldId id="530" r:id="rId17"/>
    <p:sldId id="527" r:id="rId18"/>
    <p:sldId id="508" r:id="rId19"/>
    <p:sldId id="532" r:id="rId20"/>
    <p:sldId id="511" r:id="rId21"/>
    <p:sldId id="524" r:id="rId22"/>
    <p:sldId id="534" r:id="rId23"/>
    <p:sldId id="536" r:id="rId24"/>
    <p:sldId id="518" r:id="rId25"/>
    <p:sldId id="519" r:id="rId26"/>
    <p:sldId id="528" r:id="rId27"/>
    <p:sldId id="521" r:id="rId28"/>
    <p:sldId id="522" r:id="rId29"/>
    <p:sldId id="548" r:id="rId30"/>
    <p:sldId id="549" r:id="rId31"/>
    <p:sldId id="550" r:id="rId32"/>
    <p:sldId id="537" r:id="rId33"/>
    <p:sldId id="499" r:id="rId34"/>
    <p:sldId id="500" r:id="rId35"/>
  </p:sldIdLst>
  <p:sldSz cx="9144000" cy="5143500" type="screen16x9"/>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860">
          <p15:clr>
            <a:srgbClr val="A4A3A4"/>
          </p15:clr>
        </p15:guide>
        <p15:guide id="2" orient="horz" pos="1620">
          <p15:clr>
            <a:srgbClr val="A4A3A4"/>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2C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15"/>
    <p:restoredTop sz="87264"/>
  </p:normalViewPr>
  <p:slideViewPr>
    <p:cSldViewPr snapToObjects="1">
      <p:cViewPr varScale="1">
        <p:scale>
          <a:sx n="127" d="100"/>
          <a:sy n="127" d="100"/>
        </p:scale>
        <p:origin x="888" y="144"/>
      </p:cViewPr>
      <p:guideLst>
        <p:guide orient="horz" pos="1860"/>
        <p:guide orient="horz" pos="1620"/>
        <p:guide pos="2880"/>
      </p:guideLst>
    </p:cSldViewPr>
  </p:slideViewPr>
  <p:notesTextViewPr>
    <p:cViewPr>
      <p:scale>
        <a:sx n="100" d="100"/>
        <a:sy n="100" d="100"/>
      </p:scale>
      <p:origin x="0" y="0"/>
    </p:cViewPr>
  </p:notesTextViewPr>
  <p:sorterViewPr>
    <p:cViewPr>
      <p:scale>
        <a:sx n="149" d="100"/>
        <a:sy n="149"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E27243-F5E6-CC1E-5364-CCD2B3BB011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en-US"/>
          </a:p>
        </p:txBody>
      </p:sp>
      <p:sp>
        <p:nvSpPr>
          <p:cNvPr id="3" name="Date Placeholder 2">
            <a:extLst>
              <a:ext uri="{FF2B5EF4-FFF2-40B4-BE49-F238E27FC236}">
                <a16:creationId xmlns:a16="http://schemas.microsoft.com/office/drawing/2014/main" id="{300B75D5-AF3C-BDD4-10DF-E96B4FD3BEF0}"/>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DE2F746A-D565-8346-BB25-31C8210D56D2}" type="datetimeFigureOut">
              <a:rPr lang="en-US" altLang="en-US"/>
              <a:pPr>
                <a:defRPr/>
              </a:pPr>
              <a:t>6/26/25</a:t>
            </a:fld>
            <a:endParaRPr lang="en-US" altLang="en-US"/>
          </a:p>
        </p:txBody>
      </p:sp>
      <p:sp>
        <p:nvSpPr>
          <p:cNvPr id="4" name="Slide Image Placeholder 3">
            <a:extLst>
              <a:ext uri="{FF2B5EF4-FFF2-40B4-BE49-F238E27FC236}">
                <a16:creationId xmlns:a16="http://schemas.microsoft.com/office/drawing/2014/main" id="{22DDDC80-5BC9-5EA4-D70D-5951A5988AAB}"/>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FADB7307-3EA5-35D0-86E1-5AF1D1FA5A0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04EAA52-A0D2-71B3-739D-F760096B814C}"/>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en-US"/>
          </a:p>
        </p:txBody>
      </p:sp>
      <p:sp>
        <p:nvSpPr>
          <p:cNvPr id="7" name="Slide Number Placeholder 6">
            <a:extLst>
              <a:ext uri="{FF2B5EF4-FFF2-40B4-BE49-F238E27FC236}">
                <a16:creationId xmlns:a16="http://schemas.microsoft.com/office/drawing/2014/main" id="{88698A0B-6289-BDE6-B417-7762492355DE}"/>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4C2D765-35D5-094D-85D5-6D27FE5B39D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panose="020B0600070205080204" pitchFamily="34" charset="-128"/>
        <a:cs typeface="+mn-cs"/>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anose="020B0600070205080204"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anose="020B0600070205080204"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anose="020B0600070205080204"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6337D7AE-257C-204B-CFDD-0B9E5E2F3C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6" name="Notes Placeholder 2">
            <a:extLst>
              <a:ext uri="{FF2B5EF4-FFF2-40B4-BE49-F238E27FC236}">
                <a16:creationId xmlns:a16="http://schemas.microsoft.com/office/drawing/2014/main" id="{35E638AE-65B5-4517-9268-86D3608FA2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i="1" dirty="0">
              <a:solidFill>
                <a:schemeClr val="bg1"/>
              </a:solidFill>
            </a:endParaRPr>
          </a:p>
        </p:txBody>
      </p:sp>
      <p:sp>
        <p:nvSpPr>
          <p:cNvPr id="31747" name="Slide Number Placeholder 3">
            <a:extLst>
              <a:ext uri="{FF2B5EF4-FFF2-40B4-BE49-F238E27FC236}">
                <a16:creationId xmlns:a16="http://schemas.microsoft.com/office/drawing/2014/main" id="{04BBF80C-F24C-BD90-92A5-B34F1A0C65B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BB214D12-1A0B-B84C-92B3-35810F78124D}" type="slidenum">
              <a:rPr lang="en-US" altLang="en-US" smtClean="0"/>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450754E2-BDB8-C56F-C2B4-6E307C8DBC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Notes Placeholder 2">
            <a:extLst>
              <a:ext uri="{FF2B5EF4-FFF2-40B4-BE49-F238E27FC236}">
                <a16:creationId xmlns:a16="http://schemas.microsoft.com/office/drawing/2014/main" id="{BA7C99DB-A4A3-FF3A-891E-B858A01FB3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
        <p:nvSpPr>
          <p:cNvPr id="51203" name="Slide Number Placeholder 3">
            <a:extLst>
              <a:ext uri="{FF2B5EF4-FFF2-40B4-BE49-F238E27FC236}">
                <a16:creationId xmlns:a16="http://schemas.microsoft.com/office/drawing/2014/main" id="{2035334F-0817-F1D4-397B-8DE3B49F77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3E9D8097-E291-DB42-8204-8A714E9BD5AD}" type="slidenum">
              <a:rPr lang="en-US" altLang="zh-CN" smtClean="0"/>
              <a:pPr/>
              <a:t>2</a:t>
            </a:fld>
            <a:endParaRPr lang="en-US" altLang="zh-CN"/>
          </a:p>
        </p:txBody>
      </p:sp>
    </p:spTree>
    <p:extLst>
      <p:ext uri="{BB962C8B-B14F-4D97-AF65-F5344CB8AC3E}">
        <p14:creationId xmlns:p14="http://schemas.microsoft.com/office/powerpoint/2010/main" val="2460792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450754E2-BDB8-C56F-C2B4-6E307C8DBC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Notes Placeholder 2">
            <a:extLst>
              <a:ext uri="{FF2B5EF4-FFF2-40B4-BE49-F238E27FC236}">
                <a16:creationId xmlns:a16="http://schemas.microsoft.com/office/drawing/2014/main" id="{BA7C99DB-A4A3-FF3A-891E-B858A01FB3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
        <p:nvSpPr>
          <p:cNvPr id="51203" name="Slide Number Placeholder 3">
            <a:extLst>
              <a:ext uri="{FF2B5EF4-FFF2-40B4-BE49-F238E27FC236}">
                <a16:creationId xmlns:a16="http://schemas.microsoft.com/office/drawing/2014/main" id="{2035334F-0817-F1D4-397B-8DE3B49F77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3E9D8097-E291-DB42-8204-8A714E9BD5AD}" type="slidenum">
              <a:rPr lang="en-US" altLang="zh-CN" smtClean="0"/>
              <a:pPr/>
              <a:t>3</a:t>
            </a:fld>
            <a:endParaRPr lang="en-US" altLang="zh-CN"/>
          </a:p>
        </p:txBody>
      </p:sp>
    </p:spTree>
    <p:extLst>
      <p:ext uri="{BB962C8B-B14F-4D97-AF65-F5344CB8AC3E}">
        <p14:creationId xmlns:p14="http://schemas.microsoft.com/office/powerpoint/2010/main" val="26441133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450754E2-BDB8-C56F-C2B4-6E307C8DBC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Notes Placeholder 2">
            <a:extLst>
              <a:ext uri="{FF2B5EF4-FFF2-40B4-BE49-F238E27FC236}">
                <a16:creationId xmlns:a16="http://schemas.microsoft.com/office/drawing/2014/main" id="{BA7C99DB-A4A3-FF3A-891E-B858A01FB3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
        <p:nvSpPr>
          <p:cNvPr id="51203" name="Slide Number Placeholder 3">
            <a:extLst>
              <a:ext uri="{FF2B5EF4-FFF2-40B4-BE49-F238E27FC236}">
                <a16:creationId xmlns:a16="http://schemas.microsoft.com/office/drawing/2014/main" id="{2035334F-0817-F1D4-397B-8DE3B49F77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3E9D8097-E291-DB42-8204-8A714E9BD5AD}" type="slidenum">
              <a:rPr lang="en-US" altLang="zh-CN" smtClean="0"/>
              <a:pPr/>
              <a:t>4</a:t>
            </a:fld>
            <a:endParaRPr lang="en-US" altLang="zh-CN"/>
          </a:p>
        </p:txBody>
      </p:sp>
    </p:spTree>
    <p:extLst>
      <p:ext uri="{BB962C8B-B14F-4D97-AF65-F5344CB8AC3E}">
        <p14:creationId xmlns:p14="http://schemas.microsoft.com/office/powerpoint/2010/main" val="16005941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dirty="0">
                <a:effectLst/>
                <a:cs typeface="Calibri" panose="020F0502020204030204" pitchFamily="34" charset="0"/>
              </a:rPr>
              <a:t>Small scale – </a:t>
            </a:r>
            <a:r>
              <a:rPr lang="en-US" sz="1800" b="0" i="0" dirty="0" err="1">
                <a:effectLst/>
                <a:cs typeface="Calibri" panose="020F0502020204030204" pitchFamily="34" charset="0"/>
              </a:rPr>
              <a:t>aks</a:t>
            </a:r>
            <a:r>
              <a:rPr lang="en-US" sz="1800" b="0" i="0" dirty="0">
                <a:effectLst/>
                <a:cs typeface="Calibri" panose="020F0502020204030204" pitchFamily="34" charset="0"/>
              </a:rPr>
              <a:t> distributed solar</a:t>
            </a:r>
          </a:p>
          <a:p>
            <a:pPr eaLnBrk="1" fontAlgn="auto" hangingPunct="1">
              <a:spcBef>
                <a:spcPts val="0"/>
              </a:spcBef>
              <a:spcAft>
                <a:spcPts val="0"/>
              </a:spcAft>
              <a:defRPr/>
            </a:pPr>
            <a:r>
              <a:rPr lang="en-US" sz="1800" dirty="0">
                <a:latin typeface="+mn-lt"/>
              </a:rPr>
              <a:t>EIA - US energy information administration</a:t>
            </a:r>
          </a:p>
          <a:p>
            <a:pPr eaLnBrk="1" fontAlgn="auto" hangingPunct="1">
              <a:spcBef>
                <a:spcPts val="0"/>
              </a:spcBef>
              <a:spcAft>
                <a:spcPts val="0"/>
              </a:spcAft>
              <a:defRPr/>
            </a:pPr>
            <a:r>
              <a:rPr lang="en-US" sz="1800" dirty="0">
                <a:latin typeface="+mn-lt"/>
              </a:rPr>
              <a:t>Smart TV, smart lighting, easy to control and align with user preference, more flexible, </a:t>
            </a: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5</a:t>
            </a:fld>
            <a:endParaRPr lang="en-US" altLang="en-US"/>
          </a:p>
        </p:txBody>
      </p:sp>
    </p:spTree>
    <p:extLst>
      <p:ext uri="{BB962C8B-B14F-4D97-AF65-F5344CB8AC3E}">
        <p14:creationId xmlns:p14="http://schemas.microsoft.com/office/powerpoint/2010/main" val="2951850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6</a:t>
            </a:fld>
            <a:endParaRPr lang="en-US" altLang="en-US"/>
          </a:p>
        </p:txBody>
      </p:sp>
    </p:spTree>
    <p:extLst>
      <p:ext uri="{BB962C8B-B14F-4D97-AF65-F5344CB8AC3E}">
        <p14:creationId xmlns:p14="http://schemas.microsoft.com/office/powerpoint/2010/main" val="2639759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r>
              <a:rPr lang="en-US" sz="1800" dirty="0">
                <a:latin typeface="+mn-lt"/>
              </a:rPr>
              <a:t>So, how literature do? </a:t>
            </a:r>
          </a:p>
          <a:p>
            <a:pPr eaLnBrk="1" fontAlgn="auto" hangingPunct="1">
              <a:spcBef>
                <a:spcPts val="0"/>
              </a:spcBef>
              <a:spcAft>
                <a:spcPts val="0"/>
              </a:spcAft>
              <a:defRPr/>
            </a:pPr>
            <a:r>
              <a:rPr lang="en-US" sz="1800" dirty="0">
                <a:latin typeface="+mn-lt"/>
              </a:rPr>
              <a:t>Generally, if you want to know human behavior, behavior economic people will design experiments and collect data, then do some data analysis and combine with statistical tools to reveal the general behavior. </a:t>
            </a:r>
          </a:p>
          <a:p>
            <a:pPr eaLnBrk="1" fontAlgn="auto" hangingPunct="1">
              <a:spcBef>
                <a:spcPts val="0"/>
              </a:spcBef>
              <a:spcAft>
                <a:spcPts val="0"/>
              </a:spcAft>
              <a:defRPr/>
            </a:pPr>
            <a:r>
              <a:rPr lang="en-US" sz="1800" dirty="0">
                <a:latin typeface="+mn-lt"/>
              </a:rPr>
              <a:t>But, due to the infrastructure constraints and </a:t>
            </a:r>
            <a:r>
              <a:rPr lang="en-US" sz="1800" dirty="0">
                <a:cs typeface="Calibri" panose="020F0502020204030204" pitchFamily="34" charset="0"/>
              </a:rPr>
              <a:t>concerns about privacy and affordability, it is very difficult to conduct controlled real-world experiments. At least right now, only very few utility company start using smart pricing scheme, such as </a:t>
            </a:r>
            <a:r>
              <a:rPr lang="en-US" sz="1800" dirty="0" err="1">
                <a:cs typeface="Calibri" panose="020F0502020204030204" pitchFamily="34" charset="0"/>
              </a:rPr>
              <a:t>Ameille</a:t>
            </a:r>
            <a:r>
              <a:rPr lang="en-US" sz="1800" dirty="0">
                <a:cs typeface="Calibri" panose="020F0502020204030204" pitchFamily="34" charset="0"/>
              </a:rPr>
              <a:t> mention before, but all the data are private. </a:t>
            </a:r>
          </a:p>
          <a:p>
            <a:pPr eaLnBrk="1" fontAlgn="auto" hangingPunct="1">
              <a:spcBef>
                <a:spcPts val="0"/>
              </a:spcBef>
              <a:spcAft>
                <a:spcPts val="0"/>
              </a:spcAft>
              <a:defRPr/>
            </a:pPr>
            <a:r>
              <a:rPr lang="en-US" sz="1800" dirty="0">
                <a:cs typeface="Calibri" panose="020F0502020204030204" pitchFamily="34" charset="0"/>
              </a:rPr>
              <a:t>So, Consumers’ responses to uncertain prices are less understood in literature. Thus, we need model based formulation. </a:t>
            </a:r>
          </a:p>
          <a:p>
            <a:pPr eaLnBrk="1" fontAlgn="auto" hangingPunct="1">
              <a:spcBef>
                <a:spcPts val="0"/>
              </a:spcBef>
              <a:spcAft>
                <a:spcPts val="0"/>
              </a:spcAft>
              <a:defRPr/>
            </a:pPr>
            <a:endParaRPr lang="en-US" sz="1800" dirty="0">
              <a:latin typeface="+mn-lt"/>
              <a:cs typeface="Calibri" panose="020F0502020204030204" pitchFamily="34" charset="0"/>
            </a:endParaRPr>
          </a:p>
          <a:p>
            <a:r>
              <a:rPr lang="en-US" sz="1800" kern="1200" dirty="0">
                <a:solidFill>
                  <a:schemeClr val="tx1"/>
                </a:solidFill>
                <a:latin typeface="+mn-lt"/>
                <a:ea typeface="ＭＳ Ｐゴシック" panose="020B0600070205080204" pitchFamily="34" charset="-128"/>
                <a:cs typeface="+mn-cs"/>
              </a:rPr>
              <a:t>For example, thermal comfort does not decrease linearly with temperature adjustments or change in a purely quadratic manner. it is influenced</a:t>
            </a:r>
          </a:p>
          <a:p>
            <a:r>
              <a:rPr lang="en-US" sz="1800" kern="1200" dirty="0">
                <a:solidFill>
                  <a:schemeClr val="tx1"/>
                </a:solidFill>
                <a:latin typeface="+mn-lt"/>
                <a:ea typeface="ＭＳ Ｐゴシック" panose="020B0600070205080204" pitchFamily="34" charset="-128"/>
                <a:cs typeface="+mn-cs"/>
              </a:rPr>
              <a:t>by individual, high-dimensional, non-linear preferences. Also, batteries and many home devices need to operate within strict capacity and ramp rate limits</a:t>
            </a:r>
          </a:p>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7</a:t>
            </a:fld>
            <a:endParaRPr lang="en-US" altLang="en-US"/>
          </a:p>
        </p:txBody>
      </p:sp>
    </p:spTree>
    <p:extLst>
      <p:ext uri="{BB962C8B-B14F-4D97-AF65-F5344CB8AC3E}">
        <p14:creationId xmlns:p14="http://schemas.microsoft.com/office/powerpoint/2010/main" val="3390691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8</a:t>
            </a:fld>
            <a:endParaRPr lang="en-US" altLang="en-US"/>
          </a:p>
        </p:txBody>
      </p:sp>
    </p:spTree>
    <p:extLst>
      <p:ext uri="{BB962C8B-B14F-4D97-AF65-F5344CB8AC3E}">
        <p14:creationId xmlns:p14="http://schemas.microsoft.com/office/powerpoint/2010/main" val="3764228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800" kern="1200" dirty="0">
                <a:solidFill>
                  <a:schemeClr val="tx1"/>
                </a:solidFill>
                <a:latin typeface="+mn-lt"/>
                <a:ea typeface="ＭＳ Ｐゴシック" panose="020B0600070205080204" pitchFamily="34" charset="-128"/>
                <a:cs typeface="+mn-cs"/>
              </a:rPr>
              <a:t>CVAR it is prudent, but it is add intentionally, so the model called risk-averse model, but our model here is risk-</a:t>
            </a:r>
            <a:r>
              <a:rPr lang="en-US" sz="1800" kern="1200" dirty="0" err="1">
                <a:solidFill>
                  <a:schemeClr val="tx1"/>
                </a:solidFill>
                <a:latin typeface="+mn-lt"/>
                <a:ea typeface="ＭＳ Ｐゴシック" panose="020B0600070205080204" pitchFamily="34" charset="-128"/>
                <a:cs typeface="+mn-cs"/>
              </a:rPr>
              <a:t>netural</a:t>
            </a:r>
            <a:r>
              <a:rPr lang="en-US" sz="1800" kern="1200" dirty="0">
                <a:solidFill>
                  <a:schemeClr val="tx1"/>
                </a:solidFill>
                <a:latin typeface="+mn-lt"/>
                <a:ea typeface="ＭＳ Ｐゴシック" panose="020B0600070205080204" pitchFamily="34" charset="-128"/>
                <a:cs typeface="+mn-cs"/>
              </a:rPr>
              <a:t>, but is reflect risk-averse behavior.</a:t>
            </a:r>
          </a:p>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9</a:t>
            </a:fld>
            <a:endParaRPr lang="en-US" altLang="en-US"/>
          </a:p>
        </p:txBody>
      </p:sp>
    </p:spTree>
    <p:extLst>
      <p:ext uri="{BB962C8B-B14F-4D97-AF65-F5344CB8AC3E}">
        <p14:creationId xmlns:p14="http://schemas.microsoft.com/office/powerpoint/2010/main" val="2268773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450754E2-BDB8-C56F-C2B4-6E307C8DBC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Notes Placeholder 2">
            <a:extLst>
              <a:ext uri="{FF2B5EF4-FFF2-40B4-BE49-F238E27FC236}">
                <a16:creationId xmlns:a16="http://schemas.microsoft.com/office/drawing/2014/main" id="{BA7C99DB-A4A3-FF3A-891E-B858A01FB3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
        <p:nvSpPr>
          <p:cNvPr id="51203" name="Slide Number Placeholder 3">
            <a:extLst>
              <a:ext uri="{FF2B5EF4-FFF2-40B4-BE49-F238E27FC236}">
                <a16:creationId xmlns:a16="http://schemas.microsoft.com/office/drawing/2014/main" id="{2035334F-0817-F1D4-397B-8DE3B49F77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3E9D8097-E291-DB42-8204-8A714E9BD5AD}" type="slidenum">
              <a:rPr lang="en-US" altLang="zh-CN" smtClean="0"/>
              <a:pPr/>
              <a:t>10</a:t>
            </a:fld>
            <a:endParaRPr lang="en-US" altLang="zh-CN"/>
          </a:p>
        </p:txBody>
      </p:sp>
    </p:spTree>
    <p:extLst>
      <p:ext uri="{BB962C8B-B14F-4D97-AF65-F5344CB8AC3E}">
        <p14:creationId xmlns:p14="http://schemas.microsoft.com/office/powerpoint/2010/main" val="3016705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11</a:t>
            </a:fld>
            <a:endParaRPr lang="en-US" altLang="en-US"/>
          </a:p>
        </p:txBody>
      </p:sp>
    </p:spTree>
    <p:extLst>
      <p:ext uri="{BB962C8B-B14F-4D97-AF65-F5344CB8AC3E}">
        <p14:creationId xmlns:p14="http://schemas.microsoft.com/office/powerpoint/2010/main" val="2332060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12</a:t>
            </a:fld>
            <a:endParaRPr lang="en-US" altLang="en-US"/>
          </a:p>
        </p:txBody>
      </p:sp>
    </p:spTree>
    <p:extLst>
      <p:ext uri="{BB962C8B-B14F-4D97-AF65-F5344CB8AC3E}">
        <p14:creationId xmlns:p14="http://schemas.microsoft.com/office/powerpoint/2010/main" val="3762568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450754E2-BDB8-C56F-C2B4-6E307C8DBC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Notes Placeholder 2">
            <a:extLst>
              <a:ext uri="{FF2B5EF4-FFF2-40B4-BE49-F238E27FC236}">
                <a16:creationId xmlns:a16="http://schemas.microsoft.com/office/drawing/2014/main" id="{BA7C99DB-A4A3-FF3A-891E-B858A01FB3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
        <p:nvSpPr>
          <p:cNvPr id="51203" name="Slide Number Placeholder 3">
            <a:extLst>
              <a:ext uri="{FF2B5EF4-FFF2-40B4-BE49-F238E27FC236}">
                <a16:creationId xmlns:a16="http://schemas.microsoft.com/office/drawing/2014/main" id="{2035334F-0817-F1D4-397B-8DE3B49F77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3E9D8097-E291-DB42-8204-8A714E9BD5AD}" type="slidenum">
              <a:rPr lang="en-US" altLang="zh-CN" smtClean="0"/>
              <a:pPr/>
              <a:t>13</a:t>
            </a:fld>
            <a:endParaRPr lang="en-US" altLang="zh-CN"/>
          </a:p>
        </p:txBody>
      </p:sp>
    </p:spTree>
    <p:extLst>
      <p:ext uri="{BB962C8B-B14F-4D97-AF65-F5344CB8AC3E}">
        <p14:creationId xmlns:p14="http://schemas.microsoft.com/office/powerpoint/2010/main" val="2831348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14</a:t>
            </a:fld>
            <a:endParaRPr lang="en-US" altLang="en-US"/>
          </a:p>
        </p:txBody>
      </p:sp>
    </p:spTree>
    <p:extLst>
      <p:ext uri="{BB962C8B-B14F-4D97-AF65-F5344CB8AC3E}">
        <p14:creationId xmlns:p14="http://schemas.microsoft.com/office/powerpoint/2010/main" val="3317688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15</a:t>
            </a:fld>
            <a:endParaRPr lang="en-US" altLang="en-US"/>
          </a:p>
        </p:txBody>
      </p:sp>
    </p:spTree>
    <p:extLst>
      <p:ext uri="{BB962C8B-B14F-4D97-AF65-F5344CB8AC3E}">
        <p14:creationId xmlns:p14="http://schemas.microsoft.com/office/powerpoint/2010/main" val="4405951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16</a:t>
            </a:fld>
            <a:endParaRPr lang="en-US" altLang="en-US"/>
          </a:p>
        </p:txBody>
      </p:sp>
    </p:spTree>
    <p:extLst>
      <p:ext uri="{BB962C8B-B14F-4D97-AF65-F5344CB8AC3E}">
        <p14:creationId xmlns:p14="http://schemas.microsoft.com/office/powerpoint/2010/main" val="40418026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17</a:t>
            </a:fld>
            <a:endParaRPr lang="en-US" altLang="en-US"/>
          </a:p>
        </p:txBody>
      </p:sp>
    </p:spTree>
    <p:extLst>
      <p:ext uri="{BB962C8B-B14F-4D97-AF65-F5344CB8AC3E}">
        <p14:creationId xmlns:p14="http://schemas.microsoft.com/office/powerpoint/2010/main" val="2704985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18</a:t>
            </a:fld>
            <a:endParaRPr lang="en-US" altLang="en-US"/>
          </a:p>
        </p:txBody>
      </p:sp>
    </p:spTree>
    <p:extLst>
      <p:ext uri="{BB962C8B-B14F-4D97-AF65-F5344CB8AC3E}">
        <p14:creationId xmlns:p14="http://schemas.microsoft.com/office/powerpoint/2010/main" val="38823057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19</a:t>
            </a:fld>
            <a:endParaRPr lang="en-US" altLang="en-US"/>
          </a:p>
        </p:txBody>
      </p:sp>
    </p:spTree>
    <p:extLst>
      <p:ext uri="{BB962C8B-B14F-4D97-AF65-F5344CB8AC3E}">
        <p14:creationId xmlns:p14="http://schemas.microsoft.com/office/powerpoint/2010/main" val="13868337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20</a:t>
            </a:fld>
            <a:endParaRPr lang="en-US" altLang="en-US"/>
          </a:p>
        </p:txBody>
      </p:sp>
    </p:spTree>
    <p:extLst>
      <p:ext uri="{BB962C8B-B14F-4D97-AF65-F5344CB8AC3E}">
        <p14:creationId xmlns:p14="http://schemas.microsoft.com/office/powerpoint/2010/main" val="4226980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cs typeface="Calibri" panose="020F0502020204030204" pitchFamily="34" charset="0"/>
              </a:rPr>
              <a:t>Demand level strictly changes ahead of time to respond to risk;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cs typeface="Calibri" panose="020F0502020204030204" pitchFamily="34" charset="0"/>
              </a:rPr>
              <a:t>Show skewness aversion</a:t>
            </a:r>
          </a:p>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21</a:t>
            </a:fld>
            <a:endParaRPr lang="en-US" altLang="en-US"/>
          </a:p>
        </p:txBody>
      </p:sp>
    </p:spTree>
    <p:extLst>
      <p:ext uri="{BB962C8B-B14F-4D97-AF65-F5344CB8AC3E}">
        <p14:creationId xmlns:p14="http://schemas.microsoft.com/office/powerpoint/2010/main" val="42894813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450754E2-BDB8-C56F-C2B4-6E307C8DBC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Notes Placeholder 2">
            <a:extLst>
              <a:ext uri="{FF2B5EF4-FFF2-40B4-BE49-F238E27FC236}">
                <a16:creationId xmlns:a16="http://schemas.microsoft.com/office/drawing/2014/main" id="{BA7C99DB-A4A3-FF3A-891E-B858A01FB3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
        <p:nvSpPr>
          <p:cNvPr id="51203" name="Slide Number Placeholder 3">
            <a:extLst>
              <a:ext uri="{FF2B5EF4-FFF2-40B4-BE49-F238E27FC236}">
                <a16:creationId xmlns:a16="http://schemas.microsoft.com/office/drawing/2014/main" id="{2035334F-0817-F1D4-397B-8DE3B49F77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3E9D8097-E291-DB42-8204-8A714E9BD5AD}" type="slidenum">
              <a:rPr lang="en-US" altLang="zh-CN" smtClean="0"/>
              <a:pPr/>
              <a:t>22</a:t>
            </a:fld>
            <a:endParaRPr lang="en-US" altLang="zh-CN"/>
          </a:p>
        </p:txBody>
      </p:sp>
    </p:spTree>
    <p:extLst>
      <p:ext uri="{BB962C8B-B14F-4D97-AF65-F5344CB8AC3E}">
        <p14:creationId xmlns:p14="http://schemas.microsoft.com/office/powerpoint/2010/main" val="22681168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23</a:t>
            </a:fld>
            <a:endParaRPr lang="en-US" altLang="en-US"/>
          </a:p>
        </p:txBody>
      </p:sp>
    </p:spTree>
    <p:extLst>
      <p:ext uri="{BB962C8B-B14F-4D97-AF65-F5344CB8AC3E}">
        <p14:creationId xmlns:p14="http://schemas.microsoft.com/office/powerpoint/2010/main" val="9683109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24</a:t>
            </a:fld>
            <a:endParaRPr lang="en-US" altLang="en-US"/>
          </a:p>
        </p:txBody>
      </p:sp>
    </p:spTree>
    <p:extLst>
      <p:ext uri="{BB962C8B-B14F-4D97-AF65-F5344CB8AC3E}">
        <p14:creationId xmlns:p14="http://schemas.microsoft.com/office/powerpoint/2010/main" val="16797778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25</a:t>
            </a:fld>
            <a:endParaRPr lang="en-US" altLang="en-US"/>
          </a:p>
        </p:txBody>
      </p:sp>
    </p:spTree>
    <p:extLst>
      <p:ext uri="{BB962C8B-B14F-4D97-AF65-F5344CB8AC3E}">
        <p14:creationId xmlns:p14="http://schemas.microsoft.com/office/powerpoint/2010/main" val="8060922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26</a:t>
            </a:fld>
            <a:endParaRPr lang="en-US" altLang="en-US"/>
          </a:p>
        </p:txBody>
      </p:sp>
    </p:spTree>
    <p:extLst>
      <p:ext uri="{BB962C8B-B14F-4D97-AF65-F5344CB8AC3E}">
        <p14:creationId xmlns:p14="http://schemas.microsoft.com/office/powerpoint/2010/main" val="21359266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27</a:t>
            </a:fld>
            <a:endParaRPr lang="en-US" altLang="en-US"/>
          </a:p>
        </p:txBody>
      </p:sp>
    </p:spTree>
    <p:extLst>
      <p:ext uri="{BB962C8B-B14F-4D97-AF65-F5344CB8AC3E}">
        <p14:creationId xmlns:p14="http://schemas.microsoft.com/office/powerpoint/2010/main" val="23588662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28</a:t>
            </a:fld>
            <a:endParaRPr lang="en-US" altLang="en-US"/>
          </a:p>
        </p:txBody>
      </p:sp>
    </p:spTree>
    <p:extLst>
      <p:ext uri="{BB962C8B-B14F-4D97-AF65-F5344CB8AC3E}">
        <p14:creationId xmlns:p14="http://schemas.microsoft.com/office/powerpoint/2010/main" val="23588662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E1E14ED0-A140-128A-E400-97662F7B01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F5EA2671-12C5-7952-3F92-9CDAE37B45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fontAlgn="auto" hangingPunct="1">
              <a:spcBef>
                <a:spcPts val="0"/>
              </a:spcBef>
              <a:spcAft>
                <a:spcPts val="0"/>
              </a:spcAft>
              <a:defRPr/>
            </a:pPr>
            <a:endParaRPr lang="en-US" sz="1800" dirty="0">
              <a:latin typeface="+mn-lt"/>
            </a:endParaRPr>
          </a:p>
        </p:txBody>
      </p:sp>
      <p:sp>
        <p:nvSpPr>
          <p:cNvPr id="33795" name="Slide Number Placeholder 3">
            <a:extLst>
              <a:ext uri="{FF2B5EF4-FFF2-40B4-BE49-F238E27FC236}">
                <a16:creationId xmlns:a16="http://schemas.microsoft.com/office/drawing/2014/main" id="{90BF43EA-58B3-0CC5-9893-BA08574AC9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0516FC25-D6CC-2848-A315-82E67D026854}" type="slidenum">
              <a:rPr lang="en-US" altLang="en-US" smtClean="0"/>
              <a:pPr/>
              <a:t>29</a:t>
            </a:fld>
            <a:endParaRPr lang="en-US" altLang="en-US"/>
          </a:p>
        </p:txBody>
      </p:sp>
    </p:spTree>
    <p:extLst>
      <p:ext uri="{BB962C8B-B14F-4D97-AF65-F5344CB8AC3E}">
        <p14:creationId xmlns:p14="http://schemas.microsoft.com/office/powerpoint/2010/main" val="24524080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6337D7AE-257C-204B-CFDD-0B9E5E2F3C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6" name="Notes Placeholder 2">
            <a:extLst>
              <a:ext uri="{FF2B5EF4-FFF2-40B4-BE49-F238E27FC236}">
                <a16:creationId xmlns:a16="http://schemas.microsoft.com/office/drawing/2014/main" id="{35E638AE-65B5-4517-9268-86D3608FA2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1747" name="Slide Number Placeholder 3">
            <a:extLst>
              <a:ext uri="{FF2B5EF4-FFF2-40B4-BE49-F238E27FC236}">
                <a16:creationId xmlns:a16="http://schemas.microsoft.com/office/drawing/2014/main" id="{04BBF80C-F24C-BD90-92A5-B34F1A0C65B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fld id="{BB214D12-1A0B-B84C-92B3-35810F78124D}" type="slidenum">
              <a:rPr lang="en-US" altLang="en-US" smtClean="0"/>
              <a:pPr/>
              <a:t>30</a:t>
            </a:fld>
            <a:endParaRPr lang="en-US" altLang="en-US"/>
          </a:p>
        </p:txBody>
      </p:sp>
    </p:spTree>
    <p:extLst>
      <p:ext uri="{BB962C8B-B14F-4D97-AF65-F5344CB8AC3E}">
        <p14:creationId xmlns:p14="http://schemas.microsoft.com/office/powerpoint/2010/main" val="29193490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2" name="Picture 6" descr="16x9_BG-02.jpg">
            <a:extLst>
              <a:ext uri="{FF2B5EF4-FFF2-40B4-BE49-F238E27FC236}">
                <a16:creationId xmlns:a16="http://schemas.microsoft.com/office/drawing/2014/main" id="{212817CE-97F6-2D53-A740-3EFB3BC09E5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478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8D6662FD-5A99-B329-08F6-F623EED9FA8C}"/>
              </a:ext>
            </a:extLst>
          </p:cNvPr>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4" name="Picture 8">
            <a:extLst>
              <a:ext uri="{FF2B5EF4-FFF2-40B4-BE49-F238E27FC236}">
                <a16:creationId xmlns:a16="http://schemas.microsoft.com/office/drawing/2014/main" id="{077D888C-63B2-90CE-6507-E6116B14FC1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9">
            <a:extLst>
              <a:ext uri="{FF2B5EF4-FFF2-40B4-BE49-F238E27FC236}">
                <a16:creationId xmlns:a16="http://schemas.microsoft.com/office/drawing/2014/main" id="{59002D0A-B8F7-C2F2-9E6F-9F0960842B97}"/>
              </a:ext>
            </a:extLst>
          </p:cNvPr>
          <p:cNvSpPr txBox="1">
            <a:spLocks noChangeArrowheads="1"/>
          </p:cNvSpPr>
          <p:nvPr userDrawn="1"/>
        </p:nvSpPr>
        <p:spPr bwMode="auto">
          <a:xfrm>
            <a:off x="0" y="4695825"/>
            <a:ext cx="9144000" cy="390525"/>
          </a:xfrm>
          <a:prstGeom prst="rect">
            <a:avLst/>
          </a:prstGeom>
          <a:noFill/>
          <a:ln>
            <a:noFill/>
          </a:ln>
        </p:spPr>
        <p:txBody>
          <a:bodyPr>
            <a:spAutoFit/>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lnSpc>
                <a:spcPts val="2400"/>
              </a:lnSpc>
              <a:defRPr/>
            </a:pPr>
            <a:r>
              <a:rPr lang="en-US" altLang="en-US" sz="1200" i="1">
                <a:solidFill>
                  <a:schemeClr val="bg1"/>
                </a:solidFill>
              </a:rPr>
              <a:t>TRANSCENDING DISCIPLINES, TRANSFORMING LIVES</a:t>
            </a:r>
          </a:p>
        </p:txBody>
      </p:sp>
      <p:sp>
        <p:nvSpPr>
          <p:cNvPr id="22" name="Title 21"/>
          <p:cNvSpPr>
            <a:spLocks noGrp="1"/>
          </p:cNvSpPr>
          <p:nvPr>
            <p:ph type="title"/>
          </p:nvPr>
        </p:nvSpPr>
        <p:spPr>
          <a:xfrm>
            <a:off x="457200" y="1643542"/>
            <a:ext cx="8229600" cy="584776"/>
          </a:xfrm>
        </p:spPr>
        <p:txBody>
          <a:bodyPr>
            <a:spAutoFit/>
          </a:bodyPr>
          <a:lstStyle>
            <a:lvl1pPr>
              <a:defRPr sz="3200" i="1">
                <a:solidFill>
                  <a:srgbClr val="FFFFFF"/>
                </a:solidFill>
              </a:defRPr>
            </a:lvl1pPr>
          </a:lstStyle>
          <a:p>
            <a:r>
              <a:rPr lang="en-US" dirty="0"/>
              <a:t>Click to edit Master title style</a:t>
            </a:r>
          </a:p>
        </p:txBody>
      </p:sp>
      <p:sp>
        <p:nvSpPr>
          <p:cNvPr id="33" name="Text Placeholder 31"/>
          <p:cNvSpPr>
            <a:spLocks noGrp="1"/>
          </p:cNvSpPr>
          <p:nvPr>
            <p:ph type="body" sz="quarter" idx="10"/>
          </p:nvPr>
        </p:nvSpPr>
        <p:spPr>
          <a:xfrm>
            <a:off x="1485900" y="2114550"/>
            <a:ext cx="6172200" cy="369332"/>
          </a:xfrm>
        </p:spPr>
        <p:txBody>
          <a:bodyPr>
            <a:spAutoFit/>
          </a:bodyPr>
          <a:lstStyle>
            <a:lvl1pPr marL="0" indent="0" algn="ctr">
              <a:buNone/>
              <a:defRPr sz="1800" i="1">
                <a:solidFill>
                  <a:srgbClr val="FFFFFF"/>
                </a:solidFill>
              </a:defRPr>
            </a:lvl1pPr>
            <a:lvl2pPr marL="457200" indent="0" algn="ctr">
              <a:buNone/>
              <a:defRPr sz="1800" i="1">
                <a:solidFill>
                  <a:srgbClr val="FFFFFF"/>
                </a:solidFill>
              </a:defRPr>
            </a:lvl2pPr>
            <a:lvl3pPr marL="914400" indent="0" algn="ctr">
              <a:buNone/>
              <a:defRPr sz="1800" i="1">
                <a:solidFill>
                  <a:srgbClr val="FFFFFF"/>
                </a:solidFill>
              </a:defRPr>
            </a:lvl3pPr>
            <a:lvl4pPr marL="1371600" indent="0" algn="ctr">
              <a:buNone/>
              <a:defRPr sz="1800" i="1">
                <a:solidFill>
                  <a:srgbClr val="FFFFFF"/>
                </a:solidFill>
              </a:defRPr>
            </a:lvl4pPr>
            <a:lvl5pPr marL="1828800" indent="0" algn="ctr">
              <a:buNone/>
              <a:defRPr sz="1800" i="1">
                <a:solidFill>
                  <a:srgbClr val="FFFFFF"/>
                </a:solidFill>
              </a:defRPr>
            </a:lvl5pPr>
          </a:lstStyle>
          <a:p>
            <a:pPr lvl="0"/>
            <a:r>
              <a:rPr lang="en-US" dirty="0"/>
              <a:t>Click to edit Master text styles</a:t>
            </a:r>
          </a:p>
        </p:txBody>
      </p:sp>
      <p:sp>
        <p:nvSpPr>
          <p:cNvPr id="35" name="Text Placeholder 34"/>
          <p:cNvSpPr>
            <a:spLocks noGrp="1"/>
          </p:cNvSpPr>
          <p:nvPr>
            <p:ph type="body" sz="quarter" idx="11"/>
          </p:nvPr>
        </p:nvSpPr>
        <p:spPr>
          <a:xfrm>
            <a:off x="2743200" y="2669355"/>
            <a:ext cx="3657600" cy="369332"/>
          </a:xfrm>
        </p:spPr>
        <p:txBody>
          <a:bodyPr>
            <a:spAutoFit/>
          </a:bodyPr>
          <a:lstStyle>
            <a:lvl1pPr marL="0" indent="0" algn="ctr">
              <a:buNone/>
              <a:defRPr sz="1800" i="1">
                <a:solidFill>
                  <a:srgbClr val="FFFFFF"/>
                </a:solidFill>
              </a:defRPr>
            </a:lvl1pPr>
            <a:lvl2pPr marL="457200" indent="0" algn="ctr">
              <a:buNone/>
              <a:defRPr sz="1800" i="1">
                <a:solidFill>
                  <a:srgbClr val="FFFFFF"/>
                </a:solidFill>
              </a:defRPr>
            </a:lvl2pPr>
            <a:lvl3pPr marL="914400" indent="0" algn="ctr">
              <a:buNone/>
              <a:defRPr sz="1800" i="1">
                <a:solidFill>
                  <a:srgbClr val="FFFFFF"/>
                </a:solidFill>
              </a:defRPr>
            </a:lvl3pPr>
            <a:lvl4pPr marL="1371600" indent="0" algn="ctr">
              <a:buNone/>
              <a:defRPr sz="1800" i="1">
                <a:solidFill>
                  <a:srgbClr val="FFFFFF"/>
                </a:solidFill>
              </a:defRPr>
            </a:lvl4pPr>
            <a:lvl5pPr marL="1828800" indent="0" algn="ctr">
              <a:buNone/>
              <a:defRPr sz="1800" i="1">
                <a:solidFill>
                  <a:srgbClr val="FFFFFF"/>
                </a:solidFill>
              </a:defRPr>
            </a:lvl5pPr>
          </a:lstStyle>
          <a:p>
            <a:pPr lvl="0"/>
            <a:r>
              <a:rPr lang="en-US" dirty="0"/>
              <a:t>Click to edit Master text styles</a:t>
            </a:r>
          </a:p>
        </p:txBody>
      </p:sp>
    </p:spTree>
    <p:extLst>
      <p:ext uri="{BB962C8B-B14F-4D97-AF65-F5344CB8AC3E}">
        <p14:creationId xmlns:p14="http://schemas.microsoft.com/office/powerpoint/2010/main" val="3553052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 name="Picture 6" descr="16x9_BG-02.jpg">
            <a:extLst>
              <a:ext uri="{FF2B5EF4-FFF2-40B4-BE49-F238E27FC236}">
                <a16:creationId xmlns:a16="http://schemas.microsoft.com/office/drawing/2014/main" id="{99955940-E305-57DD-B8E4-9C4A6305A59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478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5A0552EE-13A0-B576-CE52-9BC4FB5E79A5}"/>
              </a:ext>
            </a:extLst>
          </p:cNvPr>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4" name="Picture 8">
            <a:extLst>
              <a:ext uri="{FF2B5EF4-FFF2-40B4-BE49-F238E27FC236}">
                <a16:creationId xmlns:a16="http://schemas.microsoft.com/office/drawing/2014/main" id="{C032266B-6AE7-4F05-8A85-0E38F92D442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9">
            <a:extLst>
              <a:ext uri="{FF2B5EF4-FFF2-40B4-BE49-F238E27FC236}">
                <a16:creationId xmlns:a16="http://schemas.microsoft.com/office/drawing/2014/main" id="{DBABEB3A-541A-40F8-BB94-DB88FB18A23C}"/>
              </a:ext>
            </a:extLst>
          </p:cNvPr>
          <p:cNvSpPr txBox="1">
            <a:spLocks noChangeArrowheads="1"/>
          </p:cNvSpPr>
          <p:nvPr userDrawn="1"/>
        </p:nvSpPr>
        <p:spPr bwMode="auto">
          <a:xfrm>
            <a:off x="0" y="1638300"/>
            <a:ext cx="9144000" cy="1416050"/>
          </a:xfrm>
          <a:prstGeom prst="rect">
            <a:avLst/>
          </a:prstGeom>
          <a:noFill/>
          <a:ln>
            <a:noFill/>
          </a:ln>
        </p:spPr>
        <p:txBody>
          <a:bodyPr>
            <a:spAutoFit/>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r>
              <a:rPr lang="en-US" altLang="en-US" sz="3200" i="1">
                <a:solidFill>
                  <a:schemeClr val="bg1"/>
                </a:solidFill>
              </a:rPr>
              <a:t>Presentation Title Presentation Title</a:t>
            </a:r>
            <a:endParaRPr lang="en-US" altLang="en-US" i="1">
              <a:solidFill>
                <a:schemeClr val="bg1"/>
              </a:solidFill>
            </a:endParaRPr>
          </a:p>
          <a:p>
            <a:pPr algn="ctr" eaLnBrk="1" hangingPunct="1">
              <a:defRPr/>
            </a:pPr>
            <a:r>
              <a:rPr lang="en-US" altLang="en-US" i="1">
                <a:solidFill>
                  <a:schemeClr val="bg1"/>
                </a:solidFill>
              </a:rPr>
              <a:t>Presentation Subtitle Presentation Subtitle</a:t>
            </a:r>
          </a:p>
          <a:p>
            <a:pPr algn="ctr" eaLnBrk="1" hangingPunct="1">
              <a:defRPr/>
            </a:pPr>
            <a:endParaRPr lang="en-US" altLang="en-US" i="1">
              <a:solidFill>
                <a:schemeClr val="bg1"/>
              </a:solidFill>
            </a:endParaRPr>
          </a:p>
          <a:p>
            <a:pPr algn="ctr" eaLnBrk="1" hangingPunct="1">
              <a:defRPr/>
            </a:pPr>
            <a:r>
              <a:rPr lang="en-US" altLang="en-US" i="1">
                <a:solidFill>
                  <a:schemeClr val="bg1"/>
                </a:solidFill>
              </a:rPr>
              <a:t>By  Presenter Name</a:t>
            </a:r>
          </a:p>
        </p:txBody>
      </p:sp>
      <p:sp>
        <p:nvSpPr>
          <p:cNvPr id="6" name="TextBox 10">
            <a:extLst>
              <a:ext uri="{FF2B5EF4-FFF2-40B4-BE49-F238E27FC236}">
                <a16:creationId xmlns:a16="http://schemas.microsoft.com/office/drawing/2014/main" id="{0D1EAD20-22AA-1D4E-9E00-F168CFD5AE45}"/>
              </a:ext>
            </a:extLst>
          </p:cNvPr>
          <p:cNvSpPr txBox="1">
            <a:spLocks noChangeArrowheads="1"/>
          </p:cNvSpPr>
          <p:nvPr userDrawn="1"/>
        </p:nvSpPr>
        <p:spPr bwMode="auto">
          <a:xfrm>
            <a:off x="0" y="4695825"/>
            <a:ext cx="9144000" cy="390525"/>
          </a:xfrm>
          <a:prstGeom prst="rect">
            <a:avLst/>
          </a:prstGeom>
          <a:noFill/>
          <a:ln>
            <a:noFill/>
          </a:ln>
        </p:spPr>
        <p:txBody>
          <a:bodyPr>
            <a:spAutoFit/>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lnSpc>
                <a:spcPts val="2400"/>
              </a:lnSpc>
              <a:defRPr/>
            </a:pPr>
            <a:r>
              <a:rPr lang="en-US" altLang="en-US" sz="1200" i="1">
                <a:solidFill>
                  <a:schemeClr val="bg1"/>
                </a:solidFill>
              </a:rPr>
              <a:t>TRANSCENDING DISCIPLINES, TRANSFORMING LIVES</a:t>
            </a:r>
          </a:p>
        </p:txBody>
      </p:sp>
    </p:spTree>
    <p:extLst>
      <p:ext uri="{BB962C8B-B14F-4D97-AF65-F5344CB8AC3E}">
        <p14:creationId xmlns:p14="http://schemas.microsoft.com/office/powerpoint/2010/main" val="3163880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6" descr="16x9_grey.jpg">
            <a:extLst>
              <a:ext uri="{FF2B5EF4-FFF2-40B4-BE49-F238E27FC236}">
                <a16:creationId xmlns:a16="http://schemas.microsoft.com/office/drawing/2014/main" id="{94944C3A-E6D9-E344-F73C-10519934BA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21B9004D-09FD-1EB9-CC26-25C69A0A4E09}"/>
              </a:ext>
            </a:extLst>
          </p:cNvPr>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4" name="Picture 8">
            <a:extLst>
              <a:ext uri="{FF2B5EF4-FFF2-40B4-BE49-F238E27FC236}">
                <a16:creationId xmlns:a16="http://schemas.microsoft.com/office/drawing/2014/main" id="{A0E1F0C6-0CEC-9B53-F8FD-2C6501B5526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9">
            <a:extLst>
              <a:ext uri="{FF2B5EF4-FFF2-40B4-BE49-F238E27FC236}">
                <a16:creationId xmlns:a16="http://schemas.microsoft.com/office/drawing/2014/main" id="{45A407B2-81B1-A475-5847-1A3F4C7167FE}"/>
              </a:ext>
            </a:extLst>
          </p:cNvPr>
          <p:cNvSpPr txBox="1">
            <a:spLocks noChangeArrowheads="1"/>
          </p:cNvSpPr>
          <p:nvPr userDrawn="1"/>
        </p:nvSpPr>
        <p:spPr bwMode="auto">
          <a:xfrm>
            <a:off x="0" y="1733550"/>
            <a:ext cx="9144000" cy="862013"/>
          </a:xfrm>
          <a:prstGeom prst="rect">
            <a:avLst/>
          </a:prstGeom>
          <a:noFill/>
          <a:ln>
            <a:noFill/>
          </a:ln>
        </p:spPr>
        <p:txBody>
          <a:bodyPr>
            <a:spAutoFit/>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r>
              <a:rPr lang="en-US" altLang="en-US" sz="3200" i="1">
                <a:solidFill>
                  <a:schemeClr val="bg1"/>
                </a:solidFill>
              </a:rPr>
              <a:t>Section Title Section Title </a:t>
            </a:r>
            <a:endParaRPr lang="en-US" altLang="en-US" i="1">
              <a:solidFill>
                <a:schemeClr val="bg1"/>
              </a:solidFill>
            </a:endParaRPr>
          </a:p>
          <a:p>
            <a:pPr algn="ctr" eaLnBrk="1" hangingPunct="1">
              <a:defRPr/>
            </a:pPr>
            <a:r>
              <a:rPr lang="en-US" altLang="en-US" i="1">
                <a:solidFill>
                  <a:schemeClr val="bg1"/>
                </a:solidFill>
              </a:rPr>
              <a:t>Section Subtitle Section Subtitle</a:t>
            </a:r>
          </a:p>
        </p:txBody>
      </p:sp>
      <p:sp>
        <p:nvSpPr>
          <p:cNvPr id="6" name="TextBox 10">
            <a:extLst>
              <a:ext uri="{FF2B5EF4-FFF2-40B4-BE49-F238E27FC236}">
                <a16:creationId xmlns:a16="http://schemas.microsoft.com/office/drawing/2014/main" id="{CED9F46F-A665-9F7C-A131-B7AFE9F880D7}"/>
              </a:ext>
            </a:extLst>
          </p:cNvPr>
          <p:cNvSpPr txBox="1">
            <a:spLocks noChangeArrowheads="1"/>
          </p:cNvSpPr>
          <p:nvPr userDrawn="1"/>
        </p:nvSpPr>
        <p:spPr bwMode="auto">
          <a:xfrm>
            <a:off x="255588" y="4695825"/>
            <a:ext cx="6781800" cy="390525"/>
          </a:xfrm>
          <a:prstGeom prst="rect">
            <a:avLst/>
          </a:prstGeom>
          <a:noFill/>
          <a:ln>
            <a:noFill/>
          </a:ln>
        </p:spPr>
        <p:txBody>
          <a:bodyPr>
            <a:spAutoFit/>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eaLnBrk="1" hangingPunct="1">
              <a:lnSpc>
                <a:spcPts val="2400"/>
              </a:lnSpc>
              <a:defRPr/>
            </a:pPr>
            <a:fld id="{AAFA2938-73A3-AE47-A7A8-AA4420671098}" type="slidenum">
              <a:rPr lang="en-US" altLang="en-US" sz="1200" b="1" smtClean="0">
                <a:solidFill>
                  <a:schemeClr val="bg1"/>
                </a:solidFill>
              </a:rPr>
              <a:pPr eaLnBrk="1" hangingPunct="1">
                <a:lnSpc>
                  <a:spcPts val="2400"/>
                </a:lnSpc>
                <a:defRPr/>
              </a:pPr>
              <a:t>‹#›</a:t>
            </a:fld>
            <a:r>
              <a:rPr lang="en-US" altLang="en-US" sz="1200" b="1">
                <a:solidFill>
                  <a:schemeClr val="bg1"/>
                </a:solidFill>
              </a:rPr>
              <a:t> </a:t>
            </a:r>
            <a:r>
              <a:rPr lang="en-US" altLang="en-US" sz="1200">
                <a:solidFill>
                  <a:schemeClr val="bg1"/>
                </a:solidFill>
              </a:rPr>
              <a:t>|</a:t>
            </a:r>
            <a:r>
              <a:rPr lang="en-US" altLang="en-US" sz="1200" b="1">
                <a:solidFill>
                  <a:schemeClr val="bg1"/>
                </a:solidFill>
              </a:rPr>
              <a:t> </a:t>
            </a:r>
            <a:r>
              <a:rPr lang="en-US" altLang="en-US" sz="1200" i="1">
                <a:solidFill>
                  <a:schemeClr val="bg1"/>
                </a:solidFill>
              </a:rPr>
              <a:t>Presentation Title Presentation Title</a:t>
            </a:r>
          </a:p>
        </p:txBody>
      </p:sp>
    </p:spTree>
    <p:extLst>
      <p:ext uri="{BB962C8B-B14F-4D97-AF65-F5344CB8AC3E}">
        <p14:creationId xmlns:p14="http://schemas.microsoft.com/office/powerpoint/2010/main" val="2950372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2B7CBC-C9F0-6EAD-1FF2-26999A41E3F3}"/>
              </a:ext>
            </a:extLst>
          </p:cNvPr>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 name="Picture 7">
            <a:extLst>
              <a:ext uri="{FF2B5EF4-FFF2-40B4-BE49-F238E27FC236}">
                <a16:creationId xmlns:a16="http://schemas.microsoft.com/office/drawing/2014/main" id="{18489482-7F8F-B611-47C0-2BBBF7C2FB5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8">
            <a:extLst>
              <a:ext uri="{FF2B5EF4-FFF2-40B4-BE49-F238E27FC236}">
                <a16:creationId xmlns:a16="http://schemas.microsoft.com/office/drawing/2014/main" id="{3D1C3114-0B2D-C172-8097-35C1F16198F1}"/>
              </a:ext>
            </a:extLst>
          </p:cNvPr>
          <p:cNvSpPr txBox="1">
            <a:spLocks noChangeArrowheads="1"/>
          </p:cNvSpPr>
          <p:nvPr userDrawn="1"/>
        </p:nvSpPr>
        <p:spPr bwMode="auto">
          <a:xfrm>
            <a:off x="255588" y="4695825"/>
            <a:ext cx="6781800" cy="390525"/>
          </a:xfrm>
          <a:prstGeom prst="rect">
            <a:avLst/>
          </a:prstGeom>
          <a:noFill/>
          <a:ln>
            <a:noFill/>
          </a:ln>
        </p:spPr>
        <p:txBody>
          <a:bodyPr>
            <a:spAutoFit/>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eaLnBrk="1" hangingPunct="1">
              <a:lnSpc>
                <a:spcPts val="2400"/>
              </a:lnSpc>
              <a:defRPr/>
            </a:pPr>
            <a:fld id="{BC6C2A28-DE7D-044F-AB87-81F3B153FC93}" type="slidenum">
              <a:rPr lang="en-US" altLang="en-US" sz="1200" b="1" smtClean="0">
                <a:solidFill>
                  <a:schemeClr val="bg1"/>
                </a:solidFill>
              </a:rPr>
              <a:pPr eaLnBrk="1" hangingPunct="1">
                <a:lnSpc>
                  <a:spcPts val="2400"/>
                </a:lnSpc>
                <a:defRPr/>
              </a:pPr>
              <a:t>‹#›</a:t>
            </a:fld>
            <a:r>
              <a:rPr lang="en-US" altLang="en-US" sz="1200" b="1">
                <a:solidFill>
                  <a:schemeClr val="bg1"/>
                </a:solidFill>
              </a:rPr>
              <a:t> </a:t>
            </a:r>
            <a:r>
              <a:rPr lang="en-US" altLang="en-US" sz="1200">
                <a:solidFill>
                  <a:schemeClr val="bg1"/>
                </a:solidFill>
              </a:rPr>
              <a:t>|</a:t>
            </a:r>
            <a:r>
              <a:rPr lang="en-US" altLang="en-US" sz="1200" b="1">
                <a:solidFill>
                  <a:schemeClr val="bg1"/>
                </a:solidFill>
              </a:rPr>
              <a:t> </a:t>
            </a:r>
            <a:r>
              <a:rPr lang="en-US" altLang="en-US" sz="1200" i="1">
                <a:solidFill>
                  <a:schemeClr val="bg1"/>
                </a:solidFill>
              </a:rPr>
              <a:t>Presentation Title Presentation Title</a:t>
            </a:r>
          </a:p>
        </p:txBody>
      </p:sp>
      <p:sp>
        <p:nvSpPr>
          <p:cNvPr id="24" name="Title Placeholder 1"/>
          <p:cNvSpPr>
            <a:spLocks noGrp="1"/>
          </p:cNvSpPr>
          <p:nvPr>
            <p:ph type="title"/>
          </p:nvPr>
        </p:nvSpPr>
        <p:spPr>
          <a:xfrm>
            <a:off x="228600" y="0"/>
            <a:ext cx="4343400" cy="457200"/>
          </a:xfrm>
          <a:prstGeom prst="rect">
            <a:avLst/>
          </a:prstGeom>
        </p:spPr>
        <p:txBody>
          <a:bodyPr rtlCol="0" anchor="t">
            <a:noAutofit/>
          </a:bodyPr>
          <a:lstStyle>
            <a:lvl1pPr algn="l">
              <a:defRPr sz="2400">
                <a:solidFill>
                  <a:schemeClr val="bg1"/>
                </a:solidFill>
                <a:latin typeface="Calibri"/>
                <a:cs typeface="Calibri"/>
              </a:defRPr>
            </a:lvl1pPr>
          </a:lstStyle>
          <a:p>
            <a:r>
              <a:rPr lang="en-US" dirty="0"/>
              <a:t>Click to edit Master title style</a:t>
            </a:r>
          </a:p>
        </p:txBody>
      </p:sp>
      <p:sp>
        <p:nvSpPr>
          <p:cNvPr id="26" name="Text Placeholder 3"/>
          <p:cNvSpPr>
            <a:spLocks noGrp="1"/>
          </p:cNvSpPr>
          <p:nvPr>
            <p:ph type="body" sz="half" idx="2"/>
          </p:nvPr>
        </p:nvSpPr>
        <p:spPr>
          <a:xfrm>
            <a:off x="228600" y="731520"/>
            <a:ext cx="4343400" cy="3886200"/>
          </a:xfrm>
        </p:spPr>
        <p:txBody>
          <a:bodyPr>
            <a:spAutoFit/>
          </a:bodyPr>
          <a:lstStyle>
            <a:lvl1pPr marL="0" indent="0">
              <a:buNone/>
              <a:defRPr sz="20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2152634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E15BA2-B5FB-B078-3C0F-A374FC9301CE}"/>
              </a:ext>
            </a:extLst>
          </p:cNvPr>
          <p:cNvSpPr/>
          <p:nvPr userDrawn="1"/>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 name="Rectangle 2">
            <a:extLst>
              <a:ext uri="{FF2B5EF4-FFF2-40B4-BE49-F238E27FC236}">
                <a16:creationId xmlns:a16="http://schemas.microsoft.com/office/drawing/2014/main" id="{054072B3-C44F-3D55-41AF-09E7374E78D8}"/>
              </a:ext>
            </a:extLst>
          </p:cNvPr>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4" name="Picture 8">
            <a:extLst>
              <a:ext uri="{FF2B5EF4-FFF2-40B4-BE49-F238E27FC236}">
                <a16:creationId xmlns:a16="http://schemas.microsoft.com/office/drawing/2014/main" id="{2076BF2E-6968-DBC3-82F0-D02962AB5F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9">
            <a:extLst>
              <a:ext uri="{FF2B5EF4-FFF2-40B4-BE49-F238E27FC236}">
                <a16:creationId xmlns:a16="http://schemas.microsoft.com/office/drawing/2014/main" id="{E321A670-8D56-2DCD-A633-396CFA9812E8}"/>
              </a:ext>
            </a:extLst>
          </p:cNvPr>
          <p:cNvSpPr txBox="1">
            <a:spLocks noChangeArrowheads="1"/>
          </p:cNvSpPr>
          <p:nvPr userDrawn="1"/>
        </p:nvSpPr>
        <p:spPr bwMode="auto">
          <a:xfrm>
            <a:off x="255588" y="4695825"/>
            <a:ext cx="6781800" cy="390525"/>
          </a:xfrm>
          <a:prstGeom prst="rect">
            <a:avLst/>
          </a:prstGeom>
          <a:noFill/>
          <a:ln>
            <a:noFill/>
          </a:ln>
        </p:spPr>
        <p:txBody>
          <a:bodyPr>
            <a:spAutoFit/>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eaLnBrk="1" hangingPunct="1">
              <a:lnSpc>
                <a:spcPts val="2400"/>
              </a:lnSpc>
              <a:defRPr/>
            </a:pPr>
            <a:fld id="{AF88D4E7-6D53-2944-A2FD-65A06FC400C3}" type="slidenum">
              <a:rPr lang="en-US" altLang="en-US" sz="1200" b="1" smtClean="0">
                <a:solidFill>
                  <a:schemeClr val="bg1"/>
                </a:solidFill>
              </a:rPr>
              <a:pPr eaLnBrk="1" hangingPunct="1">
                <a:lnSpc>
                  <a:spcPts val="2400"/>
                </a:lnSpc>
                <a:defRPr/>
              </a:pPr>
              <a:t>‹#›</a:t>
            </a:fld>
            <a:r>
              <a:rPr lang="en-US" altLang="en-US" sz="1200" b="1">
                <a:solidFill>
                  <a:schemeClr val="bg1"/>
                </a:solidFill>
              </a:rPr>
              <a:t> </a:t>
            </a:r>
            <a:r>
              <a:rPr lang="en-US" altLang="en-US" sz="1200">
                <a:solidFill>
                  <a:schemeClr val="bg1"/>
                </a:solidFill>
              </a:rPr>
              <a:t>|</a:t>
            </a:r>
            <a:r>
              <a:rPr lang="en-US" altLang="en-US" sz="1200" b="1">
                <a:solidFill>
                  <a:schemeClr val="bg1"/>
                </a:solidFill>
              </a:rPr>
              <a:t> </a:t>
            </a:r>
            <a:r>
              <a:rPr lang="en-US" altLang="en-US" sz="1200" i="1">
                <a:solidFill>
                  <a:schemeClr val="bg1"/>
                </a:solidFill>
              </a:rPr>
              <a:t>Presentation Title Presentation Title</a:t>
            </a:r>
          </a:p>
        </p:txBody>
      </p:sp>
      <p:sp>
        <p:nvSpPr>
          <p:cNvPr id="14" name="Text Placeholder 3"/>
          <p:cNvSpPr>
            <a:spLocks noGrp="1"/>
          </p:cNvSpPr>
          <p:nvPr>
            <p:ph type="body" sz="half" idx="2"/>
          </p:nvPr>
        </p:nvSpPr>
        <p:spPr>
          <a:xfrm>
            <a:off x="228600" y="731519"/>
            <a:ext cx="4343400" cy="3886200"/>
          </a:xfrm>
        </p:spPr>
        <p:txBody>
          <a:bodyPr>
            <a:sp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5" name="Title Placeholder 1"/>
          <p:cNvSpPr>
            <a:spLocks noGrp="1"/>
          </p:cNvSpPr>
          <p:nvPr>
            <p:ph type="title"/>
          </p:nvPr>
        </p:nvSpPr>
        <p:spPr>
          <a:xfrm>
            <a:off x="228600" y="0"/>
            <a:ext cx="4343400" cy="457200"/>
          </a:xfrm>
          <a:prstGeom prst="rect">
            <a:avLst/>
          </a:prstGeom>
        </p:spPr>
        <p:txBody>
          <a:bodyPr rtlCol="0" anchor="t">
            <a:spAutoFit/>
          </a:bodyPr>
          <a:lstStyle>
            <a:lvl1pPr algn="l">
              <a:defRPr sz="2400">
                <a:solidFill>
                  <a:srgbClr val="FFFFFF"/>
                </a:solidFill>
                <a:latin typeface="Calibri"/>
                <a:cs typeface="Calibri"/>
              </a:defRPr>
            </a:lvl1pPr>
          </a:lstStyle>
          <a:p>
            <a:r>
              <a:rPr lang="en-US" dirty="0"/>
              <a:t>Click to edit Master title style</a:t>
            </a:r>
          </a:p>
        </p:txBody>
      </p:sp>
    </p:spTree>
    <p:extLst>
      <p:ext uri="{BB962C8B-B14F-4D97-AF65-F5344CB8AC3E}">
        <p14:creationId xmlns:p14="http://schemas.microsoft.com/office/powerpoint/2010/main" val="3140835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3DC51-2669-C590-00DC-0D789DCA8FEA}"/>
              </a:ext>
            </a:extLst>
          </p:cNvPr>
          <p:cNvSpPr/>
          <p:nvPr userDrawn="1"/>
        </p:nvSpPr>
        <p:spPr>
          <a:xfrm>
            <a:off x="0" y="0"/>
            <a:ext cx="91440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bg1"/>
              </a:solidFill>
            </a:endParaRPr>
          </a:p>
        </p:txBody>
      </p:sp>
      <p:sp>
        <p:nvSpPr>
          <p:cNvPr id="3" name="Rectangle 2">
            <a:extLst>
              <a:ext uri="{FF2B5EF4-FFF2-40B4-BE49-F238E27FC236}">
                <a16:creationId xmlns:a16="http://schemas.microsoft.com/office/drawing/2014/main" id="{6BA50704-2731-2839-26A1-D17D2E4041C5}"/>
              </a:ext>
            </a:extLst>
          </p:cNvPr>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4" name="Picture 8">
            <a:extLst>
              <a:ext uri="{FF2B5EF4-FFF2-40B4-BE49-F238E27FC236}">
                <a16:creationId xmlns:a16="http://schemas.microsoft.com/office/drawing/2014/main" id="{0D2B7357-D202-FA58-0BF0-2683F135EA6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9">
            <a:extLst>
              <a:ext uri="{FF2B5EF4-FFF2-40B4-BE49-F238E27FC236}">
                <a16:creationId xmlns:a16="http://schemas.microsoft.com/office/drawing/2014/main" id="{D913326B-4F41-27B9-EB17-C9BFD1C87BA1}"/>
              </a:ext>
            </a:extLst>
          </p:cNvPr>
          <p:cNvSpPr txBox="1">
            <a:spLocks noChangeArrowheads="1"/>
          </p:cNvSpPr>
          <p:nvPr userDrawn="1"/>
        </p:nvSpPr>
        <p:spPr bwMode="auto">
          <a:xfrm>
            <a:off x="255588" y="4695825"/>
            <a:ext cx="6781800" cy="390525"/>
          </a:xfrm>
          <a:prstGeom prst="rect">
            <a:avLst/>
          </a:prstGeom>
          <a:noFill/>
          <a:ln>
            <a:noFill/>
          </a:ln>
        </p:spPr>
        <p:txBody>
          <a:bodyPr>
            <a:spAutoFit/>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eaLnBrk="1" hangingPunct="1">
              <a:lnSpc>
                <a:spcPts val="2400"/>
              </a:lnSpc>
              <a:defRPr/>
            </a:pPr>
            <a:fld id="{65E0F27E-47BA-B24D-BD2E-E686844E5A84}" type="slidenum">
              <a:rPr lang="en-US" altLang="en-US" sz="1200" b="1" smtClean="0">
                <a:solidFill>
                  <a:schemeClr val="bg1"/>
                </a:solidFill>
              </a:rPr>
              <a:pPr eaLnBrk="1" hangingPunct="1">
                <a:lnSpc>
                  <a:spcPts val="2400"/>
                </a:lnSpc>
                <a:defRPr/>
              </a:pPr>
              <a:t>‹#›</a:t>
            </a:fld>
            <a:r>
              <a:rPr lang="en-US" altLang="en-US" sz="1200" b="1">
                <a:solidFill>
                  <a:schemeClr val="bg1"/>
                </a:solidFill>
              </a:rPr>
              <a:t> </a:t>
            </a:r>
            <a:r>
              <a:rPr lang="en-US" altLang="en-US" sz="1200">
                <a:solidFill>
                  <a:schemeClr val="bg1"/>
                </a:solidFill>
              </a:rPr>
              <a:t>|</a:t>
            </a:r>
            <a:r>
              <a:rPr lang="en-US" altLang="en-US" sz="1200" b="1">
                <a:solidFill>
                  <a:schemeClr val="bg1"/>
                </a:solidFill>
              </a:rPr>
              <a:t> </a:t>
            </a:r>
            <a:r>
              <a:rPr lang="en-US" altLang="en-US" sz="1200" i="1">
                <a:solidFill>
                  <a:schemeClr val="bg1"/>
                </a:solidFill>
              </a:rPr>
              <a:t>Presentation Title Presentation Title</a:t>
            </a:r>
          </a:p>
        </p:txBody>
      </p:sp>
      <p:sp>
        <p:nvSpPr>
          <p:cNvPr id="24" name="Title Placeholder 1"/>
          <p:cNvSpPr>
            <a:spLocks noGrp="1"/>
          </p:cNvSpPr>
          <p:nvPr>
            <p:ph type="title"/>
          </p:nvPr>
        </p:nvSpPr>
        <p:spPr>
          <a:xfrm>
            <a:off x="228600" y="0"/>
            <a:ext cx="4343400" cy="452521"/>
          </a:xfrm>
          <a:prstGeom prst="rect">
            <a:avLst/>
          </a:prstGeom>
        </p:spPr>
        <p:txBody>
          <a:bodyPr wrap="none" rtlCol="0" anchor="t">
            <a:spAutoFit/>
          </a:bodyPr>
          <a:lstStyle>
            <a:lvl1pPr algn="l">
              <a:defRPr sz="2400">
                <a:latin typeface="Calibri"/>
                <a:cs typeface="Calibri"/>
              </a:defRPr>
            </a:lvl1pPr>
          </a:lstStyle>
          <a:p>
            <a:r>
              <a:rPr lang="en-US" dirty="0"/>
              <a:t>Click to edit Master title style</a:t>
            </a:r>
          </a:p>
        </p:txBody>
      </p:sp>
      <p:sp>
        <p:nvSpPr>
          <p:cNvPr id="26" name="Text Placeholder 3"/>
          <p:cNvSpPr>
            <a:spLocks noGrp="1"/>
          </p:cNvSpPr>
          <p:nvPr>
            <p:ph type="body" sz="half" idx="2"/>
          </p:nvPr>
        </p:nvSpPr>
        <p:spPr>
          <a:xfrm>
            <a:off x="228600" y="731520"/>
            <a:ext cx="4343400" cy="3886200"/>
          </a:xfrm>
        </p:spPr>
        <p:txBody>
          <a:bodyPr>
            <a:spAutoFit/>
          </a:bodyPr>
          <a:lstStyle>
            <a:lvl1pPr marL="0" indent="0">
              <a:buNone/>
              <a:defRPr sz="20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042328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3654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5A3F174D-669A-E86F-4CDD-79678163A4AE}"/>
              </a:ext>
            </a:extLst>
          </p:cNvPr>
          <p:cNvSpPr>
            <a:spLocks noGrp="1"/>
          </p:cNvSpPr>
          <p:nvPr>
            <p:ph type="dt" sz="half" idx="10"/>
          </p:nvPr>
        </p:nvSpPr>
        <p:spPr/>
        <p:txBody>
          <a:bodyPr/>
          <a:lstStyle>
            <a:lvl1pPr>
              <a:defRPr/>
            </a:lvl1pPr>
          </a:lstStyle>
          <a:p>
            <a:pPr>
              <a:defRPr/>
            </a:pPr>
            <a:fld id="{64FB34CD-BDFA-F245-AF6A-176DF21C43A5}" type="datetimeFigureOut">
              <a:rPr lang="en-US" altLang="en-US"/>
              <a:pPr>
                <a:defRPr/>
              </a:pPr>
              <a:t>6/26/25</a:t>
            </a:fld>
            <a:endParaRPr lang="en-US" altLang="en-US"/>
          </a:p>
        </p:txBody>
      </p:sp>
      <p:sp>
        <p:nvSpPr>
          <p:cNvPr id="6" name="Footer Placeholder 4">
            <a:extLst>
              <a:ext uri="{FF2B5EF4-FFF2-40B4-BE49-F238E27FC236}">
                <a16:creationId xmlns:a16="http://schemas.microsoft.com/office/drawing/2014/main" id="{A55E1DCF-6C68-7290-4E39-6C6DF16FD0A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F4F2BB1-DDD4-55FC-F6F5-99F649D6AEF5}"/>
              </a:ext>
            </a:extLst>
          </p:cNvPr>
          <p:cNvSpPr>
            <a:spLocks noGrp="1"/>
          </p:cNvSpPr>
          <p:nvPr>
            <p:ph type="sldNum" sz="quarter" idx="12"/>
          </p:nvPr>
        </p:nvSpPr>
        <p:spPr/>
        <p:txBody>
          <a:bodyPr/>
          <a:lstStyle>
            <a:lvl1pPr>
              <a:defRPr/>
            </a:lvl1pPr>
          </a:lstStyle>
          <a:p>
            <a:pPr>
              <a:defRPr/>
            </a:pPr>
            <a:fld id="{7E1D5D57-D1AD-094B-90F2-85974E93A750}" type="slidenum">
              <a:rPr lang="en-US" altLang="en-US"/>
              <a:pPr>
                <a:defRPr/>
              </a:pPr>
              <a:t>‹#›</a:t>
            </a:fld>
            <a:endParaRPr lang="en-US" altLang="en-US"/>
          </a:p>
        </p:txBody>
      </p:sp>
    </p:spTree>
    <p:extLst>
      <p:ext uri="{BB962C8B-B14F-4D97-AF65-F5344CB8AC3E}">
        <p14:creationId xmlns:p14="http://schemas.microsoft.com/office/powerpoint/2010/main" val="557774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AC7E4BE0-E90F-6F1B-5761-642BF7AA74C6}"/>
              </a:ext>
            </a:extLst>
          </p:cNvPr>
          <p:cNvSpPr>
            <a:spLocks noGrp="1"/>
          </p:cNvSpPr>
          <p:nvPr>
            <p:ph type="dt" sz="half" idx="10"/>
          </p:nvPr>
        </p:nvSpPr>
        <p:spPr/>
        <p:txBody>
          <a:bodyPr/>
          <a:lstStyle>
            <a:lvl1pPr>
              <a:defRPr/>
            </a:lvl1pPr>
          </a:lstStyle>
          <a:p>
            <a:pPr>
              <a:defRPr/>
            </a:pPr>
            <a:fld id="{7967824B-0FEC-424E-BA69-0B6608152BBD}" type="datetimeFigureOut">
              <a:rPr lang="en-US" altLang="en-US"/>
              <a:pPr>
                <a:defRPr/>
              </a:pPr>
              <a:t>6/26/25</a:t>
            </a:fld>
            <a:endParaRPr lang="en-US" altLang="en-US"/>
          </a:p>
        </p:txBody>
      </p:sp>
      <p:sp>
        <p:nvSpPr>
          <p:cNvPr id="8" name="Footer Placeholder 4">
            <a:extLst>
              <a:ext uri="{FF2B5EF4-FFF2-40B4-BE49-F238E27FC236}">
                <a16:creationId xmlns:a16="http://schemas.microsoft.com/office/drawing/2014/main" id="{DF2C9F04-CC8D-775A-8499-C9653103CCD5}"/>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439B01FF-262A-BD79-3DA4-7D4FC5B4D92C}"/>
              </a:ext>
            </a:extLst>
          </p:cNvPr>
          <p:cNvSpPr>
            <a:spLocks noGrp="1"/>
          </p:cNvSpPr>
          <p:nvPr>
            <p:ph type="sldNum" sz="quarter" idx="12"/>
          </p:nvPr>
        </p:nvSpPr>
        <p:spPr/>
        <p:txBody>
          <a:bodyPr/>
          <a:lstStyle>
            <a:lvl1pPr>
              <a:defRPr/>
            </a:lvl1pPr>
          </a:lstStyle>
          <a:p>
            <a:pPr>
              <a:defRPr/>
            </a:pPr>
            <a:fld id="{2197EB59-BC81-234B-825D-9CCEF55768C5}" type="slidenum">
              <a:rPr lang="en-US" altLang="en-US"/>
              <a:pPr>
                <a:defRPr/>
              </a:pPr>
              <a:t>‹#›</a:t>
            </a:fld>
            <a:endParaRPr lang="en-US" altLang="en-US"/>
          </a:p>
        </p:txBody>
      </p:sp>
    </p:spTree>
    <p:extLst>
      <p:ext uri="{BB962C8B-B14F-4D97-AF65-F5344CB8AC3E}">
        <p14:creationId xmlns:p14="http://schemas.microsoft.com/office/powerpoint/2010/main" val="3157675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EE2DE34E-6B0A-5CBB-6A42-2ED1ADFFD7B4}"/>
              </a:ext>
            </a:extLst>
          </p:cNvPr>
          <p:cNvSpPr>
            <a:spLocks noGrp="1"/>
          </p:cNvSpPr>
          <p:nvPr>
            <p:ph type="dt" sz="half" idx="10"/>
          </p:nvPr>
        </p:nvSpPr>
        <p:spPr/>
        <p:txBody>
          <a:bodyPr/>
          <a:lstStyle>
            <a:lvl1pPr>
              <a:defRPr/>
            </a:lvl1pPr>
          </a:lstStyle>
          <a:p>
            <a:pPr>
              <a:defRPr/>
            </a:pPr>
            <a:fld id="{F99954FF-0A49-3445-AC2E-97F95E994BC8}" type="datetimeFigureOut">
              <a:rPr lang="en-US" altLang="en-US"/>
              <a:pPr>
                <a:defRPr/>
              </a:pPr>
              <a:t>6/26/25</a:t>
            </a:fld>
            <a:endParaRPr lang="en-US" altLang="en-US"/>
          </a:p>
        </p:txBody>
      </p:sp>
      <p:sp>
        <p:nvSpPr>
          <p:cNvPr id="4" name="Footer Placeholder 4">
            <a:extLst>
              <a:ext uri="{FF2B5EF4-FFF2-40B4-BE49-F238E27FC236}">
                <a16:creationId xmlns:a16="http://schemas.microsoft.com/office/drawing/2014/main" id="{8C6DA5F3-27E0-39F8-516F-7C86765D6C6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7AC9D22D-2670-DB11-D6EA-F82DE088774B}"/>
              </a:ext>
            </a:extLst>
          </p:cNvPr>
          <p:cNvSpPr>
            <a:spLocks noGrp="1"/>
          </p:cNvSpPr>
          <p:nvPr>
            <p:ph type="sldNum" sz="quarter" idx="12"/>
          </p:nvPr>
        </p:nvSpPr>
        <p:spPr/>
        <p:txBody>
          <a:bodyPr/>
          <a:lstStyle>
            <a:lvl1pPr>
              <a:defRPr/>
            </a:lvl1pPr>
          </a:lstStyle>
          <a:p>
            <a:pPr>
              <a:defRPr/>
            </a:pPr>
            <a:fld id="{630563DA-BBEA-F74D-AB3E-41496AB1FD8C}" type="slidenum">
              <a:rPr lang="en-US" altLang="en-US"/>
              <a:pPr>
                <a:defRPr/>
              </a:pPr>
              <a:t>‹#›</a:t>
            </a:fld>
            <a:endParaRPr lang="en-US" altLang="en-US"/>
          </a:p>
        </p:txBody>
      </p:sp>
    </p:spTree>
    <p:extLst>
      <p:ext uri="{BB962C8B-B14F-4D97-AF65-F5344CB8AC3E}">
        <p14:creationId xmlns:p14="http://schemas.microsoft.com/office/powerpoint/2010/main" val="835034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C7498B7-8053-C6DB-51CB-BB5E89AC1DB8}"/>
              </a:ext>
            </a:extLst>
          </p:cNvPr>
          <p:cNvSpPr>
            <a:spLocks noGrp="1"/>
          </p:cNvSpPr>
          <p:nvPr>
            <p:ph type="dt" sz="half" idx="10"/>
          </p:nvPr>
        </p:nvSpPr>
        <p:spPr/>
        <p:txBody>
          <a:bodyPr/>
          <a:lstStyle>
            <a:lvl1pPr>
              <a:defRPr/>
            </a:lvl1pPr>
          </a:lstStyle>
          <a:p>
            <a:pPr>
              <a:defRPr/>
            </a:pPr>
            <a:fld id="{37BFDE44-43E9-D04F-AF6C-2F65DC06607F}" type="datetimeFigureOut">
              <a:rPr lang="en-US" altLang="en-US"/>
              <a:pPr>
                <a:defRPr/>
              </a:pPr>
              <a:t>6/26/25</a:t>
            </a:fld>
            <a:endParaRPr lang="en-US" altLang="en-US"/>
          </a:p>
        </p:txBody>
      </p:sp>
      <p:sp>
        <p:nvSpPr>
          <p:cNvPr id="3" name="Footer Placeholder 4">
            <a:extLst>
              <a:ext uri="{FF2B5EF4-FFF2-40B4-BE49-F238E27FC236}">
                <a16:creationId xmlns:a16="http://schemas.microsoft.com/office/drawing/2014/main" id="{9E437305-6A2A-4C91-A258-91D040A5598F}"/>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724FFD2-B06F-4D22-EBFA-F9DC1A5A871C}"/>
              </a:ext>
            </a:extLst>
          </p:cNvPr>
          <p:cNvSpPr>
            <a:spLocks noGrp="1"/>
          </p:cNvSpPr>
          <p:nvPr>
            <p:ph type="sldNum" sz="quarter" idx="12"/>
          </p:nvPr>
        </p:nvSpPr>
        <p:spPr/>
        <p:txBody>
          <a:bodyPr/>
          <a:lstStyle>
            <a:lvl1pPr>
              <a:defRPr/>
            </a:lvl1pPr>
          </a:lstStyle>
          <a:p>
            <a:pPr>
              <a:defRPr/>
            </a:pPr>
            <a:fld id="{D2796AC2-A108-F443-B097-1BE984BE7CF6}" type="slidenum">
              <a:rPr lang="en-US" altLang="en-US"/>
              <a:pPr>
                <a:defRPr/>
              </a:pPr>
              <a:t>‹#›</a:t>
            </a:fld>
            <a:endParaRPr lang="en-US" altLang="en-US"/>
          </a:p>
        </p:txBody>
      </p:sp>
    </p:spTree>
    <p:extLst>
      <p:ext uri="{BB962C8B-B14F-4D97-AF65-F5344CB8AC3E}">
        <p14:creationId xmlns:p14="http://schemas.microsoft.com/office/powerpoint/2010/main" val="3879089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B06AB5A2-A749-8872-0F7D-AB071D82207A}"/>
              </a:ext>
            </a:extLst>
          </p:cNvPr>
          <p:cNvSpPr>
            <a:spLocks noGrp="1"/>
          </p:cNvSpPr>
          <p:nvPr>
            <p:ph type="dt" sz="half" idx="10"/>
          </p:nvPr>
        </p:nvSpPr>
        <p:spPr/>
        <p:txBody>
          <a:bodyPr/>
          <a:lstStyle>
            <a:lvl1pPr>
              <a:defRPr/>
            </a:lvl1pPr>
          </a:lstStyle>
          <a:p>
            <a:pPr>
              <a:defRPr/>
            </a:pPr>
            <a:fld id="{AEECA8A8-B4F7-4741-89F5-DE3E6A84D37D}" type="datetimeFigureOut">
              <a:rPr lang="en-US" altLang="en-US"/>
              <a:pPr>
                <a:defRPr/>
              </a:pPr>
              <a:t>6/26/25</a:t>
            </a:fld>
            <a:endParaRPr lang="en-US" altLang="en-US"/>
          </a:p>
        </p:txBody>
      </p:sp>
      <p:sp>
        <p:nvSpPr>
          <p:cNvPr id="6" name="Footer Placeholder 5">
            <a:extLst>
              <a:ext uri="{FF2B5EF4-FFF2-40B4-BE49-F238E27FC236}">
                <a16:creationId xmlns:a16="http://schemas.microsoft.com/office/drawing/2014/main" id="{90532BE5-CBE7-B472-22C1-B1B5E9BAACC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104EDD3F-5098-D8DF-6AE8-8B58B62AC78D}"/>
              </a:ext>
            </a:extLst>
          </p:cNvPr>
          <p:cNvSpPr>
            <a:spLocks noGrp="1"/>
          </p:cNvSpPr>
          <p:nvPr>
            <p:ph type="sldNum" sz="quarter" idx="12"/>
          </p:nvPr>
        </p:nvSpPr>
        <p:spPr/>
        <p:txBody>
          <a:bodyPr/>
          <a:lstStyle>
            <a:lvl1pPr>
              <a:defRPr/>
            </a:lvl1pPr>
          </a:lstStyle>
          <a:p>
            <a:pPr>
              <a:defRPr/>
            </a:pPr>
            <a:fld id="{B55BFF96-DFDC-264F-B892-1B56100BFCF8}" type="slidenum">
              <a:rPr lang="en-US" altLang="en-US"/>
              <a:pPr>
                <a:defRPr/>
              </a:pPr>
              <a:t>‹#›</a:t>
            </a:fld>
            <a:endParaRPr lang="en-US" altLang="en-US">
              <a:solidFill>
                <a:srgbClr val="88A44D"/>
              </a:solidFill>
            </a:endParaRPr>
          </a:p>
        </p:txBody>
      </p:sp>
    </p:spTree>
    <p:extLst>
      <p:ext uri="{BB962C8B-B14F-4D97-AF65-F5344CB8AC3E}">
        <p14:creationId xmlns:p14="http://schemas.microsoft.com/office/powerpoint/2010/main" val="2676915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50230C9-2A3D-CD45-9157-765EB3C34743}"/>
              </a:ext>
            </a:extLst>
          </p:cNvPr>
          <p:cNvSpPr>
            <a:spLocks noGrp="1"/>
          </p:cNvSpPr>
          <p:nvPr>
            <p:ph type="dt" sz="half" idx="10"/>
          </p:nvPr>
        </p:nvSpPr>
        <p:spPr/>
        <p:txBody>
          <a:bodyPr/>
          <a:lstStyle>
            <a:lvl1pPr>
              <a:defRPr/>
            </a:lvl1pPr>
          </a:lstStyle>
          <a:p>
            <a:pPr>
              <a:defRPr/>
            </a:pPr>
            <a:fld id="{D57F2AEA-0A1E-DC43-85DE-04E29C7F2D70}" type="datetimeFigureOut">
              <a:rPr lang="en-US" altLang="en-US"/>
              <a:pPr>
                <a:defRPr/>
              </a:pPr>
              <a:t>6/26/25</a:t>
            </a:fld>
            <a:endParaRPr lang="en-US" altLang="en-US"/>
          </a:p>
        </p:txBody>
      </p:sp>
      <p:sp>
        <p:nvSpPr>
          <p:cNvPr id="6" name="Footer Placeholder 4">
            <a:extLst>
              <a:ext uri="{FF2B5EF4-FFF2-40B4-BE49-F238E27FC236}">
                <a16:creationId xmlns:a16="http://schemas.microsoft.com/office/drawing/2014/main" id="{02DD906C-AA1D-2B49-831A-EB23D6CF5AC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9B34FF8-CD1A-C80C-03D6-306AA9BB9B39}"/>
              </a:ext>
            </a:extLst>
          </p:cNvPr>
          <p:cNvSpPr>
            <a:spLocks noGrp="1"/>
          </p:cNvSpPr>
          <p:nvPr>
            <p:ph type="sldNum" sz="quarter" idx="12"/>
          </p:nvPr>
        </p:nvSpPr>
        <p:spPr/>
        <p:txBody>
          <a:bodyPr/>
          <a:lstStyle>
            <a:lvl1pPr>
              <a:defRPr/>
            </a:lvl1pPr>
          </a:lstStyle>
          <a:p>
            <a:pPr>
              <a:defRPr/>
            </a:pPr>
            <a:fld id="{A679154E-88FF-C34A-A86C-64138FAB94A0}" type="slidenum">
              <a:rPr lang="en-US" altLang="en-US"/>
              <a:pPr>
                <a:defRPr/>
              </a:pPr>
              <a:t>‹#›</a:t>
            </a:fld>
            <a:endParaRPr lang="en-US" altLang="en-US"/>
          </a:p>
        </p:txBody>
      </p:sp>
    </p:spTree>
    <p:extLst>
      <p:ext uri="{BB962C8B-B14F-4D97-AF65-F5344CB8AC3E}">
        <p14:creationId xmlns:p14="http://schemas.microsoft.com/office/powerpoint/2010/main" val="38574793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98915B-F020-6F08-1CC7-06945182EC10}"/>
              </a:ext>
            </a:extLst>
          </p:cNvPr>
          <p:cNvSpPr>
            <a:spLocks noGrp="1"/>
          </p:cNvSpPr>
          <p:nvPr>
            <p:ph type="dt" sz="half" idx="10"/>
          </p:nvPr>
        </p:nvSpPr>
        <p:spPr/>
        <p:txBody>
          <a:bodyPr/>
          <a:lstStyle>
            <a:lvl1pPr>
              <a:defRPr/>
            </a:lvl1pPr>
          </a:lstStyle>
          <a:p>
            <a:pPr>
              <a:defRPr/>
            </a:pPr>
            <a:fld id="{D79E86CA-334B-584C-AEC3-0CBB339C74C4}" type="datetimeFigureOut">
              <a:rPr lang="en-US" altLang="en-US"/>
              <a:pPr>
                <a:defRPr/>
              </a:pPr>
              <a:t>6/26/25</a:t>
            </a:fld>
            <a:endParaRPr lang="en-US" altLang="en-US"/>
          </a:p>
        </p:txBody>
      </p:sp>
      <p:sp>
        <p:nvSpPr>
          <p:cNvPr id="5" name="Footer Placeholder 4">
            <a:extLst>
              <a:ext uri="{FF2B5EF4-FFF2-40B4-BE49-F238E27FC236}">
                <a16:creationId xmlns:a16="http://schemas.microsoft.com/office/drawing/2014/main" id="{27161CE8-ED39-4061-8205-FE7D4017963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A289F59-6B5B-054D-657F-6572ECC844BD}"/>
              </a:ext>
            </a:extLst>
          </p:cNvPr>
          <p:cNvSpPr>
            <a:spLocks noGrp="1"/>
          </p:cNvSpPr>
          <p:nvPr>
            <p:ph type="sldNum" sz="quarter" idx="12"/>
          </p:nvPr>
        </p:nvSpPr>
        <p:spPr/>
        <p:txBody>
          <a:bodyPr/>
          <a:lstStyle>
            <a:lvl1pPr>
              <a:defRPr/>
            </a:lvl1pPr>
          </a:lstStyle>
          <a:p>
            <a:pPr>
              <a:defRPr/>
            </a:pPr>
            <a:fld id="{155FCB5D-3019-764C-8938-A0E794B63CDE}" type="slidenum">
              <a:rPr lang="en-US" altLang="en-US"/>
              <a:pPr>
                <a:defRPr/>
              </a:pPr>
              <a:t>‹#›</a:t>
            </a:fld>
            <a:endParaRPr lang="en-US" altLang="en-US"/>
          </a:p>
        </p:txBody>
      </p:sp>
    </p:spTree>
    <p:extLst>
      <p:ext uri="{BB962C8B-B14F-4D97-AF65-F5344CB8AC3E}">
        <p14:creationId xmlns:p14="http://schemas.microsoft.com/office/powerpoint/2010/main" val="911617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5B91B7-99E6-4A47-9A19-B6CC07331247}"/>
              </a:ext>
            </a:extLst>
          </p:cNvPr>
          <p:cNvSpPr>
            <a:spLocks noGrp="1"/>
          </p:cNvSpPr>
          <p:nvPr>
            <p:ph type="dt" sz="half" idx="10"/>
          </p:nvPr>
        </p:nvSpPr>
        <p:spPr/>
        <p:txBody>
          <a:bodyPr/>
          <a:lstStyle>
            <a:lvl1pPr>
              <a:defRPr/>
            </a:lvl1pPr>
          </a:lstStyle>
          <a:p>
            <a:pPr>
              <a:defRPr/>
            </a:pPr>
            <a:fld id="{E900B207-6EA0-A941-9F44-777B16C046C9}" type="datetimeFigureOut">
              <a:rPr lang="en-US" altLang="en-US"/>
              <a:pPr>
                <a:defRPr/>
              </a:pPr>
              <a:t>6/26/25</a:t>
            </a:fld>
            <a:endParaRPr lang="en-US" altLang="en-US"/>
          </a:p>
        </p:txBody>
      </p:sp>
      <p:sp>
        <p:nvSpPr>
          <p:cNvPr id="5" name="Footer Placeholder 4">
            <a:extLst>
              <a:ext uri="{FF2B5EF4-FFF2-40B4-BE49-F238E27FC236}">
                <a16:creationId xmlns:a16="http://schemas.microsoft.com/office/drawing/2014/main" id="{A98C6084-9E3C-8F82-9E30-149CCB97E72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B35B1F2-304F-9884-80FA-6EDCEDBAE86A}"/>
              </a:ext>
            </a:extLst>
          </p:cNvPr>
          <p:cNvSpPr>
            <a:spLocks noGrp="1"/>
          </p:cNvSpPr>
          <p:nvPr>
            <p:ph type="sldNum" sz="quarter" idx="12"/>
          </p:nvPr>
        </p:nvSpPr>
        <p:spPr/>
        <p:txBody>
          <a:bodyPr/>
          <a:lstStyle>
            <a:lvl1pPr>
              <a:defRPr/>
            </a:lvl1pPr>
          </a:lstStyle>
          <a:p>
            <a:pPr>
              <a:defRPr/>
            </a:pPr>
            <a:fld id="{A7E7027E-FB68-2A40-8BF2-C43D61D8D521}" type="slidenum">
              <a:rPr lang="en-US" altLang="en-US"/>
              <a:pPr>
                <a:defRPr/>
              </a:pPr>
              <a:t>‹#›</a:t>
            </a:fld>
            <a:endParaRPr lang="en-US" altLang="en-US"/>
          </a:p>
        </p:txBody>
      </p:sp>
    </p:spTree>
    <p:extLst>
      <p:ext uri="{BB962C8B-B14F-4D97-AF65-F5344CB8AC3E}">
        <p14:creationId xmlns:p14="http://schemas.microsoft.com/office/powerpoint/2010/main" val="5818497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1597819"/>
            <a:ext cx="7772400" cy="1102519"/>
          </a:xfrm>
          <a:prstGeom prst="rect">
            <a:avLst/>
          </a:prstGeom>
        </p:spPr>
        <p:txBody>
          <a:bodyPr/>
          <a:lstStyle>
            <a:lvl1pPr>
              <a:defRPr sz="1800"/>
            </a:lvl1pPr>
          </a:lstStyle>
          <a:p>
            <a:r>
              <a:rPr lang="en-US"/>
              <a:t>Click to edit Master title style</a:t>
            </a:r>
          </a:p>
        </p:txBody>
      </p:sp>
      <p:sp>
        <p:nvSpPr>
          <p:cNvPr id="8"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0801335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6172200" cy="461665"/>
          </a:xfrm>
          <a:prstGeom prst="rect">
            <a:avLst/>
          </a:prstGeom>
        </p:spPr>
        <p:txBody>
          <a:bodyPr>
            <a:normAutofit/>
          </a:bodyPr>
          <a:lstStyle>
            <a:lvl1pPr algn="l">
              <a:defRPr sz="2400">
                <a:solidFill>
                  <a:schemeClr val="bg1"/>
                </a:solidFill>
              </a:defRPr>
            </a:lvl1pPr>
          </a:lstStyle>
          <a:p>
            <a:r>
              <a:rPr lang="en-US" dirty="0"/>
              <a:t>Click to edit Master title style</a:t>
            </a:r>
          </a:p>
        </p:txBody>
      </p:sp>
      <p:sp>
        <p:nvSpPr>
          <p:cNvPr id="7" name="Text Placeholder 3"/>
          <p:cNvSpPr>
            <a:spLocks noGrp="1"/>
          </p:cNvSpPr>
          <p:nvPr>
            <p:ph type="body" sz="half" idx="2"/>
          </p:nvPr>
        </p:nvSpPr>
        <p:spPr>
          <a:xfrm>
            <a:off x="228600" y="819150"/>
            <a:ext cx="3962400" cy="307777"/>
          </a:xfrm>
          <a:prstGeom prst="rect">
            <a:avLst/>
          </a:prstGeom>
        </p:spPr>
        <p:txBody>
          <a:bodyPr>
            <a:spAutoFit/>
          </a:bodyPr>
          <a:lstStyle>
            <a:lvl1pPr marL="0" indent="-137160">
              <a:spcBef>
                <a:spcPts val="0"/>
              </a:spcBef>
              <a:spcAft>
                <a:spcPts val="600"/>
              </a:spcAft>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055072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 name="Picture 4" descr="16x9_BG-02.jpg">
            <a:extLst>
              <a:ext uri="{FF2B5EF4-FFF2-40B4-BE49-F238E27FC236}">
                <a16:creationId xmlns:a16="http://schemas.microsoft.com/office/drawing/2014/main" id="{9E2663AB-F978-061D-9245-02EFD951BF9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478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A32AA456-DC87-F197-39BA-1448F4513D5A}"/>
              </a:ext>
            </a:extLst>
          </p:cNvPr>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4" name="Picture 9">
            <a:extLst>
              <a:ext uri="{FF2B5EF4-FFF2-40B4-BE49-F238E27FC236}">
                <a16:creationId xmlns:a16="http://schemas.microsoft.com/office/drawing/2014/main" id="{F10203BB-685D-5891-1FD4-85D8F1732C4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0">
            <a:extLst>
              <a:ext uri="{FF2B5EF4-FFF2-40B4-BE49-F238E27FC236}">
                <a16:creationId xmlns:a16="http://schemas.microsoft.com/office/drawing/2014/main" id="{8799ADC1-52E3-D12F-C139-F008C2244EA5}"/>
              </a:ext>
            </a:extLst>
          </p:cNvPr>
          <p:cNvSpPr txBox="1">
            <a:spLocks noChangeArrowheads="1"/>
          </p:cNvSpPr>
          <p:nvPr userDrawn="1"/>
        </p:nvSpPr>
        <p:spPr bwMode="auto">
          <a:xfrm>
            <a:off x="0" y="4695825"/>
            <a:ext cx="9144000" cy="390525"/>
          </a:xfrm>
          <a:prstGeom prst="rect">
            <a:avLst/>
          </a:prstGeom>
          <a:noFill/>
          <a:ln>
            <a:noFill/>
          </a:ln>
        </p:spPr>
        <p:txBody>
          <a:bodyPr>
            <a:spAutoFit/>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lnSpc>
                <a:spcPts val="2400"/>
              </a:lnSpc>
              <a:defRPr/>
            </a:pPr>
            <a:r>
              <a:rPr lang="en-US" altLang="en-US" sz="1200" i="1">
                <a:solidFill>
                  <a:schemeClr val="bg1"/>
                </a:solidFill>
              </a:rPr>
              <a:t>TRANSCENDING DISCIPLINES, TRANSFORMING LIVES</a:t>
            </a:r>
          </a:p>
        </p:txBody>
      </p:sp>
      <p:sp>
        <p:nvSpPr>
          <p:cNvPr id="22" name="Title 21"/>
          <p:cNvSpPr>
            <a:spLocks noGrp="1"/>
          </p:cNvSpPr>
          <p:nvPr>
            <p:ph type="title"/>
          </p:nvPr>
        </p:nvSpPr>
        <p:spPr>
          <a:xfrm>
            <a:off x="457200" y="1643542"/>
            <a:ext cx="8229600" cy="584776"/>
          </a:xfrm>
          <a:prstGeom prst="rect">
            <a:avLst/>
          </a:prstGeom>
        </p:spPr>
        <p:txBody>
          <a:bodyPr>
            <a:spAutoFit/>
          </a:bodyPr>
          <a:lstStyle>
            <a:lvl1pPr>
              <a:defRPr sz="3200" i="1">
                <a:solidFill>
                  <a:srgbClr val="FFFFFF"/>
                </a:solidFill>
              </a:defRPr>
            </a:lvl1pPr>
          </a:lstStyle>
          <a:p>
            <a:r>
              <a:rPr lang="en-US" dirty="0"/>
              <a:t>Click to edit Master title style</a:t>
            </a:r>
          </a:p>
        </p:txBody>
      </p:sp>
      <p:sp>
        <p:nvSpPr>
          <p:cNvPr id="33" name="Text Placeholder 31"/>
          <p:cNvSpPr>
            <a:spLocks noGrp="1"/>
          </p:cNvSpPr>
          <p:nvPr>
            <p:ph type="body" sz="quarter" idx="10"/>
          </p:nvPr>
        </p:nvSpPr>
        <p:spPr>
          <a:xfrm>
            <a:off x="1485900" y="2114550"/>
            <a:ext cx="6172200" cy="369332"/>
          </a:xfrm>
          <a:prstGeom prst="rect">
            <a:avLst/>
          </a:prstGeom>
        </p:spPr>
        <p:txBody>
          <a:bodyPr>
            <a:spAutoFit/>
          </a:bodyPr>
          <a:lstStyle>
            <a:lvl1pPr marL="0" indent="0" algn="ctr">
              <a:buNone/>
              <a:defRPr sz="1800" i="1">
                <a:solidFill>
                  <a:srgbClr val="FFFFFF"/>
                </a:solidFill>
              </a:defRPr>
            </a:lvl1pPr>
            <a:lvl2pPr marL="457200" indent="0" algn="ctr">
              <a:buNone/>
              <a:defRPr sz="1800" i="1">
                <a:solidFill>
                  <a:srgbClr val="FFFFFF"/>
                </a:solidFill>
              </a:defRPr>
            </a:lvl2pPr>
            <a:lvl3pPr marL="914400" indent="0" algn="ctr">
              <a:buNone/>
              <a:defRPr sz="1800" i="1">
                <a:solidFill>
                  <a:srgbClr val="FFFFFF"/>
                </a:solidFill>
              </a:defRPr>
            </a:lvl3pPr>
            <a:lvl4pPr marL="1371600" indent="0" algn="ctr">
              <a:buNone/>
              <a:defRPr sz="1800" i="1">
                <a:solidFill>
                  <a:srgbClr val="FFFFFF"/>
                </a:solidFill>
              </a:defRPr>
            </a:lvl4pPr>
            <a:lvl5pPr marL="1828800" indent="0" algn="ctr">
              <a:buNone/>
              <a:defRPr sz="1800" i="1">
                <a:solidFill>
                  <a:srgbClr val="FFFFFF"/>
                </a:solidFill>
              </a:defRPr>
            </a:lvl5pPr>
          </a:lstStyle>
          <a:p>
            <a:pPr lvl="0"/>
            <a:r>
              <a:rPr lang="en-US" dirty="0"/>
              <a:t>Click to edit Master text styles</a:t>
            </a:r>
          </a:p>
        </p:txBody>
      </p:sp>
      <p:sp>
        <p:nvSpPr>
          <p:cNvPr id="35" name="Text Placeholder 34"/>
          <p:cNvSpPr>
            <a:spLocks noGrp="1"/>
          </p:cNvSpPr>
          <p:nvPr>
            <p:ph type="body" sz="quarter" idx="11"/>
          </p:nvPr>
        </p:nvSpPr>
        <p:spPr>
          <a:xfrm>
            <a:off x="2743200" y="2669355"/>
            <a:ext cx="3657600" cy="369332"/>
          </a:xfrm>
          <a:prstGeom prst="rect">
            <a:avLst/>
          </a:prstGeom>
        </p:spPr>
        <p:txBody>
          <a:bodyPr>
            <a:spAutoFit/>
          </a:bodyPr>
          <a:lstStyle>
            <a:lvl1pPr marL="0" indent="0" algn="ctr">
              <a:buNone/>
              <a:defRPr sz="1800" i="1">
                <a:solidFill>
                  <a:srgbClr val="FFFFFF"/>
                </a:solidFill>
              </a:defRPr>
            </a:lvl1pPr>
            <a:lvl2pPr marL="457200" indent="0" algn="ctr">
              <a:buNone/>
              <a:defRPr sz="1800" i="1">
                <a:solidFill>
                  <a:srgbClr val="FFFFFF"/>
                </a:solidFill>
              </a:defRPr>
            </a:lvl2pPr>
            <a:lvl3pPr marL="914400" indent="0" algn="ctr">
              <a:buNone/>
              <a:defRPr sz="1800" i="1">
                <a:solidFill>
                  <a:srgbClr val="FFFFFF"/>
                </a:solidFill>
              </a:defRPr>
            </a:lvl3pPr>
            <a:lvl4pPr marL="1371600" indent="0" algn="ctr">
              <a:buNone/>
              <a:defRPr sz="1800" i="1">
                <a:solidFill>
                  <a:srgbClr val="FFFFFF"/>
                </a:solidFill>
              </a:defRPr>
            </a:lvl4pPr>
            <a:lvl5pPr marL="1828800" indent="0" algn="ctr">
              <a:buNone/>
              <a:defRPr sz="1800" i="1">
                <a:solidFill>
                  <a:srgbClr val="FFFFFF"/>
                </a:solidFill>
              </a:defRPr>
            </a:lvl5pPr>
          </a:lstStyle>
          <a:p>
            <a:pPr lvl="0"/>
            <a:r>
              <a:rPr lang="en-US" dirty="0"/>
              <a:t>Click to edit Master text styles</a:t>
            </a:r>
          </a:p>
        </p:txBody>
      </p:sp>
    </p:spTree>
    <p:extLst>
      <p:ext uri="{BB962C8B-B14F-4D97-AF65-F5344CB8AC3E}">
        <p14:creationId xmlns:p14="http://schemas.microsoft.com/office/powerpoint/2010/main" val="372849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1597819"/>
            <a:ext cx="7772400" cy="1102519"/>
          </a:xfrm>
          <a:prstGeom prst="rect">
            <a:avLst/>
          </a:prstGeom>
        </p:spPr>
        <p:txBody>
          <a:bodyPr/>
          <a:lstStyle/>
          <a:p>
            <a:r>
              <a:rPr lang="en-US"/>
              <a:t>Click to edit Master title style</a:t>
            </a:r>
          </a:p>
        </p:txBody>
      </p:sp>
      <p:sp>
        <p:nvSpPr>
          <p:cNvPr id="8"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2" name="Date Placeholder 3">
            <a:extLst>
              <a:ext uri="{FF2B5EF4-FFF2-40B4-BE49-F238E27FC236}">
                <a16:creationId xmlns:a16="http://schemas.microsoft.com/office/drawing/2014/main" id="{A814A3D1-DC67-0A1F-3D3B-F2996BA169BD}"/>
              </a:ext>
            </a:extLst>
          </p:cNvPr>
          <p:cNvSpPr>
            <a:spLocks noGrp="1"/>
          </p:cNvSpPr>
          <p:nvPr>
            <p:ph type="dt" sz="half" idx="10"/>
          </p:nvPr>
        </p:nvSpPr>
        <p:spPr>
          <a:xfrm>
            <a:off x="457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8D6104C-AE81-6B4E-B46A-0801D76D5130}" type="datetimeFigureOut">
              <a:rPr lang="en-US" altLang="en-US"/>
              <a:pPr>
                <a:defRPr/>
              </a:pPr>
              <a:t>6/26/25</a:t>
            </a:fld>
            <a:endParaRPr lang="en-US" altLang="en-US"/>
          </a:p>
        </p:txBody>
      </p:sp>
      <p:sp>
        <p:nvSpPr>
          <p:cNvPr id="3" name="Footer Placeholder 4">
            <a:extLst>
              <a:ext uri="{FF2B5EF4-FFF2-40B4-BE49-F238E27FC236}">
                <a16:creationId xmlns:a16="http://schemas.microsoft.com/office/drawing/2014/main" id="{71BC4941-9F5D-F507-D58B-017AE9F6F7AF}"/>
              </a:ext>
            </a:extLst>
          </p:cNvPr>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en-US"/>
          </a:p>
        </p:txBody>
      </p:sp>
      <p:sp>
        <p:nvSpPr>
          <p:cNvPr id="4" name="Slide Number Placeholder 5">
            <a:extLst>
              <a:ext uri="{FF2B5EF4-FFF2-40B4-BE49-F238E27FC236}">
                <a16:creationId xmlns:a16="http://schemas.microsoft.com/office/drawing/2014/main" id="{00867343-1A27-3EA2-5144-8E68E050FEF8}"/>
              </a:ext>
            </a:extLst>
          </p:cNvPr>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AFE945A-80E6-C742-88B0-012A7401BF8E}" type="slidenum">
              <a:rPr lang="en-US" altLang="en-US"/>
              <a:pPr>
                <a:defRPr/>
              </a:pPr>
              <a:t>‹#›</a:t>
            </a:fld>
            <a:endParaRPr lang="en-US" altLang="en-US"/>
          </a:p>
        </p:txBody>
      </p:sp>
    </p:spTree>
    <p:extLst>
      <p:ext uri="{BB962C8B-B14F-4D97-AF65-F5344CB8AC3E}">
        <p14:creationId xmlns:p14="http://schemas.microsoft.com/office/powerpoint/2010/main" val="2039352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200151"/>
            <a:ext cx="8229600" cy="33944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9AC013-EFA7-E707-5C47-74B255546E92}"/>
              </a:ext>
            </a:extLst>
          </p:cNvPr>
          <p:cNvSpPr>
            <a:spLocks noGrp="1"/>
          </p:cNvSpPr>
          <p:nvPr>
            <p:ph type="dt" sz="half" idx="10"/>
          </p:nvPr>
        </p:nvSpPr>
        <p:spPr>
          <a:xfrm>
            <a:off x="457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02330B7-55F5-1D4E-9D72-46736E1F916E}" type="datetimeFigureOut">
              <a:rPr lang="en-US" altLang="en-US"/>
              <a:pPr>
                <a:defRPr/>
              </a:pPr>
              <a:t>6/26/25</a:t>
            </a:fld>
            <a:endParaRPr lang="en-US" altLang="en-US"/>
          </a:p>
        </p:txBody>
      </p:sp>
      <p:sp>
        <p:nvSpPr>
          <p:cNvPr id="5" name="Footer Placeholder 4">
            <a:extLst>
              <a:ext uri="{FF2B5EF4-FFF2-40B4-BE49-F238E27FC236}">
                <a16:creationId xmlns:a16="http://schemas.microsoft.com/office/drawing/2014/main" id="{4E52ADC2-A428-0820-836A-CDD5DDA83F1B}"/>
              </a:ext>
            </a:extLst>
          </p:cNvPr>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en-US"/>
          </a:p>
        </p:txBody>
      </p:sp>
      <p:sp>
        <p:nvSpPr>
          <p:cNvPr id="6" name="Slide Number Placeholder 5">
            <a:extLst>
              <a:ext uri="{FF2B5EF4-FFF2-40B4-BE49-F238E27FC236}">
                <a16:creationId xmlns:a16="http://schemas.microsoft.com/office/drawing/2014/main" id="{F016092C-E20B-C78F-A699-3CDCDCF5D127}"/>
              </a:ext>
            </a:extLst>
          </p:cNvPr>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64602E0-35A5-F74C-94C1-9C9E27BAE0EB}" type="slidenum">
              <a:rPr lang="en-US" altLang="en-US"/>
              <a:pPr>
                <a:defRPr/>
              </a:pPr>
              <a:t>‹#›</a:t>
            </a:fld>
            <a:endParaRPr lang="en-US" altLang="en-US"/>
          </a:p>
        </p:txBody>
      </p:sp>
    </p:spTree>
    <p:extLst>
      <p:ext uri="{BB962C8B-B14F-4D97-AF65-F5344CB8AC3E}">
        <p14:creationId xmlns:p14="http://schemas.microsoft.com/office/powerpoint/2010/main" val="7417312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154884-533A-E57E-234D-0BA2DBE348F4}"/>
              </a:ext>
            </a:extLst>
          </p:cNvPr>
          <p:cNvSpPr>
            <a:spLocks noGrp="1"/>
          </p:cNvSpPr>
          <p:nvPr>
            <p:ph type="dt" sz="half" idx="10"/>
          </p:nvPr>
        </p:nvSpPr>
        <p:spPr>
          <a:xfrm>
            <a:off x="457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255A440-C16B-E443-BA5E-0DF819797B29}" type="datetime1">
              <a:rPr lang="en-US" altLang="en-US"/>
              <a:pPr>
                <a:defRPr/>
              </a:pPr>
              <a:t>6/26/25</a:t>
            </a:fld>
            <a:endParaRPr lang="en-US" altLang="en-US"/>
          </a:p>
        </p:txBody>
      </p:sp>
      <p:sp>
        <p:nvSpPr>
          <p:cNvPr id="5" name="Footer Placeholder 4">
            <a:extLst>
              <a:ext uri="{FF2B5EF4-FFF2-40B4-BE49-F238E27FC236}">
                <a16:creationId xmlns:a16="http://schemas.microsoft.com/office/drawing/2014/main" id="{057D23F2-1632-D259-5A2E-2CB4EB2D4E5A}"/>
              </a:ext>
            </a:extLst>
          </p:cNvPr>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en-US"/>
          </a:p>
        </p:txBody>
      </p:sp>
      <p:sp>
        <p:nvSpPr>
          <p:cNvPr id="6" name="Slide Number Placeholder 5">
            <a:extLst>
              <a:ext uri="{FF2B5EF4-FFF2-40B4-BE49-F238E27FC236}">
                <a16:creationId xmlns:a16="http://schemas.microsoft.com/office/drawing/2014/main" id="{2BC6BFBC-9E42-0570-D21E-21FCA5398BBA}"/>
              </a:ext>
            </a:extLst>
          </p:cNvPr>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A7174DF-708A-684A-B95F-DFF8423F3504}" type="slidenum">
              <a:rPr lang="en-US" altLang="en-US"/>
              <a:pPr>
                <a:defRPr/>
              </a:pPr>
              <a:t>‹#›</a:t>
            </a:fld>
            <a:endParaRPr lang="en-US" altLang="en-US"/>
          </a:p>
        </p:txBody>
      </p:sp>
    </p:spTree>
    <p:extLst>
      <p:ext uri="{BB962C8B-B14F-4D97-AF65-F5344CB8AC3E}">
        <p14:creationId xmlns:p14="http://schemas.microsoft.com/office/powerpoint/2010/main" val="14763613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853209-51C4-1B72-7C61-5A1D09056191}"/>
              </a:ext>
            </a:extLst>
          </p:cNvPr>
          <p:cNvSpPr>
            <a:spLocks noGrp="1"/>
          </p:cNvSpPr>
          <p:nvPr>
            <p:ph type="dt" sz="half" idx="10"/>
          </p:nvPr>
        </p:nvSpPr>
        <p:spPr>
          <a:xfrm>
            <a:off x="457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040545F-4B24-A840-876C-18D535735B66}" type="datetimeFigureOut">
              <a:rPr lang="en-US" altLang="en-US"/>
              <a:pPr>
                <a:defRPr/>
              </a:pPr>
              <a:t>6/26/25</a:t>
            </a:fld>
            <a:endParaRPr lang="en-US" altLang="en-US"/>
          </a:p>
        </p:txBody>
      </p:sp>
      <p:sp>
        <p:nvSpPr>
          <p:cNvPr id="6" name="Footer Placeholder 5">
            <a:extLst>
              <a:ext uri="{FF2B5EF4-FFF2-40B4-BE49-F238E27FC236}">
                <a16:creationId xmlns:a16="http://schemas.microsoft.com/office/drawing/2014/main" id="{DA4EB614-1EBD-095F-9A55-9D26AF25D66B}"/>
              </a:ext>
            </a:extLst>
          </p:cNvPr>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en-US"/>
          </a:p>
        </p:txBody>
      </p:sp>
      <p:sp>
        <p:nvSpPr>
          <p:cNvPr id="7" name="Slide Number Placeholder 6">
            <a:extLst>
              <a:ext uri="{FF2B5EF4-FFF2-40B4-BE49-F238E27FC236}">
                <a16:creationId xmlns:a16="http://schemas.microsoft.com/office/drawing/2014/main" id="{F0B7CFE2-023E-BE3B-BF26-79B388A3DB4F}"/>
              </a:ext>
            </a:extLst>
          </p:cNvPr>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E3E511E-9804-284E-8B48-9E0F931EE88F}" type="slidenum">
              <a:rPr lang="en-US" altLang="en-US"/>
              <a:pPr>
                <a:defRPr/>
              </a:pPr>
              <a:t>‹#›</a:t>
            </a:fld>
            <a:endParaRPr lang="en-US" altLang="en-US"/>
          </a:p>
        </p:txBody>
      </p:sp>
    </p:spTree>
    <p:extLst>
      <p:ext uri="{BB962C8B-B14F-4D97-AF65-F5344CB8AC3E}">
        <p14:creationId xmlns:p14="http://schemas.microsoft.com/office/powerpoint/2010/main" val="12977058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E25C81-9995-A114-676C-05B95B9B1E18}"/>
              </a:ext>
            </a:extLst>
          </p:cNvPr>
          <p:cNvSpPr>
            <a:spLocks noGrp="1"/>
          </p:cNvSpPr>
          <p:nvPr>
            <p:ph type="dt" sz="half" idx="10"/>
          </p:nvPr>
        </p:nvSpPr>
        <p:spPr>
          <a:xfrm>
            <a:off x="457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DDCAA4F-4C04-D447-A22D-188E3A9E9460}" type="datetimeFigureOut">
              <a:rPr lang="en-US" altLang="en-US"/>
              <a:pPr>
                <a:defRPr/>
              </a:pPr>
              <a:t>6/26/25</a:t>
            </a:fld>
            <a:endParaRPr lang="en-US" altLang="en-US"/>
          </a:p>
        </p:txBody>
      </p:sp>
      <p:sp>
        <p:nvSpPr>
          <p:cNvPr id="8" name="Footer Placeholder 7">
            <a:extLst>
              <a:ext uri="{FF2B5EF4-FFF2-40B4-BE49-F238E27FC236}">
                <a16:creationId xmlns:a16="http://schemas.microsoft.com/office/drawing/2014/main" id="{2963180A-67DB-A39A-EBBF-ECE89C2C6C26}"/>
              </a:ext>
            </a:extLst>
          </p:cNvPr>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en-US"/>
          </a:p>
        </p:txBody>
      </p:sp>
      <p:sp>
        <p:nvSpPr>
          <p:cNvPr id="9" name="Slide Number Placeholder 8">
            <a:extLst>
              <a:ext uri="{FF2B5EF4-FFF2-40B4-BE49-F238E27FC236}">
                <a16:creationId xmlns:a16="http://schemas.microsoft.com/office/drawing/2014/main" id="{14097980-6FE4-1D87-A54B-6EAC39FB56BA}"/>
              </a:ext>
            </a:extLst>
          </p:cNvPr>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70F0C51-A403-A145-832D-C7DED11433EE}" type="slidenum">
              <a:rPr lang="en-US" altLang="en-US"/>
              <a:pPr>
                <a:defRPr/>
              </a:pPr>
              <a:t>‹#›</a:t>
            </a:fld>
            <a:endParaRPr lang="en-US" altLang="en-US"/>
          </a:p>
        </p:txBody>
      </p:sp>
    </p:spTree>
    <p:extLst>
      <p:ext uri="{BB962C8B-B14F-4D97-AF65-F5344CB8AC3E}">
        <p14:creationId xmlns:p14="http://schemas.microsoft.com/office/powerpoint/2010/main" val="2675044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71B18B3F-5FC8-97D1-794F-57A0E0C0F524}"/>
              </a:ext>
            </a:extLst>
          </p:cNvPr>
          <p:cNvSpPr>
            <a:spLocks noGrp="1"/>
          </p:cNvSpPr>
          <p:nvPr>
            <p:ph type="dt" sz="half" idx="10"/>
          </p:nvPr>
        </p:nvSpPr>
        <p:spPr>
          <a:xfrm>
            <a:off x="457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D605D7D-6491-B14F-B667-7CC039FE4709}" type="datetimeFigureOut">
              <a:rPr lang="en-US" altLang="en-US"/>
              <a:pPr>
                <a:defRPr/>
              </a:pPr>
              <a:t>6/26/25</a:t>
            </a:fld>
            <a:endParaRPr lang="en-US" altLang="en-US"/>
          </a:p>
        </p:txBody>
      </p:sp>
      <p:sp>
        <p:nvSpPr>
          <p:cNvPr id="4" name="Footer Placeholder 3">
            <a:extLst>
              <a:ext uri="{FF2B5EF4-FFF2-40B4-BE49-F238E27FC236}">
                <a16:creationId xmlns:a16="http://schemas.microsoft.com/office/drawing/2014/main" id="{2B57DB5E-5B14-675E-DA7C-668BF86BF2FC}"/>
              </a:ext>
            </a:extLst>
          </p:cNvPr>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en-US"/>
          </a:p>
        </p:txBody>
      </p:sp>
      <p:sp>
        <p:nvSpPr>
          <p:cNvPr id="5" name="Slide Number Placeholder 4">
            <a:extLst>
              <a:ext uri="{FF2B5EF4-FFF2-40B4-BE49-F238E27FC236}">
                <a16:creationId xmlns:a16="http://schemas.microsoft.com/office/drawing/2014/main" id="{8E18EBC1-2A95-D6B2-2327-B8E8B278994C}"/>
              </a:ext>
            </a:extLst>
          </p:cNvPr>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599D12A-4632-B64A-AB60-35EFC8580FD0}" type="slidenum">
              <a:rPr lang="en-US" altLang="en-US"/>
              <a:pPr>
                <a:defRPr/>
              </a:pPr>
              <a:t>‹#›</a:t>
            </a:fld>
            <a:endParaRPr lang="en-US" altLang="en-US"/>
          </a:p>
        </p:txBody>
      </p:sp>
    </p:spTree>
    <p:extLst>
      <p:ext uri="{BB962C8B-B14F-4D97-AF65-F5344CB8AC3E}">
        <p14:creationId xmlns:p14="http://schemas.microsoft.com/office/powerpoint/2010/main" val="28796721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5DDCC-F89B-49B4-EDB5-E5B39A5BE46C}"/>
              </a:ext>
            </a:extLst>
          </p:cNvPr>
          <p:cNvSpPr>
            <a:spLocks noGrp="1"/>
          </p:cNvSpPr>
          <p:nvPr>
            <p:ph type="dt" sz="half" idx="10"/>
          </p:nvPr>
        </p:nvSpPr>
        <p:spPr>
          <a:xfrm>
            <a:off x="457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FDC72F4-12A6-A64C-8792-338E8B5EC43A}" type="datetimeFigureOut">
              <a:rPr lang="en-US" altLang="en-US"/>
              <a:pPr>
                <a:defRPr/>
              </a:pPr>
              <a:t>6/26/25</a:t>
            </a:fld>
            <a:endParaRPr lang="en-US" altLang="en-US"/>
          </a:p>
        </p:txBody>
      </p:sp>
      <p:sp>
        <p:nvSpPr>
          <p:cNvPr id="3" name="Footer Placeholder 2">
            <a:extLst>
              <a:ext uri="{FF2B5EF4-FFF2-40B4-BE49-F238E27FC236}">
                <a16:creationId xmlns:a16="http://schemas.microsoft.com/office/drawing/2014/main" id="{41EFE94A-E5B1-357C-F18D-4F7F0FFAD541}"/>
              </a:ext>
            </a:extLst>
          </p:cNvPr>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en-US"/>
          </a:p>
        </p:txBody>
      </p:sp>
      <p:sp>
        <p:nvSpPr>
          <p:cNvPr id="4" name="Slide Number Placeholder 3">
            <a:extLst>
              <a:ext uri="{FF2B5EF4-FFF2-40B4-BE49-F238E27FC236}">
                <a16:creationId xmlns:a16="http://schemas.microsoft.com/office/drawing/2014/main" id="{EC2BF5FE-1A23-05B0-8CA7-A0B23DF58B9F}"/>
              </a:ext>
            </a:extLst>
          </p:cNvPr>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7D7A159-0F6E-5948-904B-911373824C36}" type="slidenum">
              <a:rPr lang="en-US" altLang="en-US"/>
              <a:pPr>
                <a:defRPr/>
              </a:pPr>
              <a:t>‹#›</a:t>
            </a:fld>
            <a:endParaRPr lang="en-US" altLang="en-US"/>
          </a:p>
        </p:txBody>
      </p:sp>
    </p:spTree>
    <p:extLst>
      <p:ext uri="{BB962C8B-B14F-4D97-AF65-F5344CB8AC3E}">
        <p14:creationId xmlns:p14="http://schemas.microsoft.com/office/powerpoint/2010/main" val="30019185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7B16A55C-226E-DB79-8F2C-52730E8C328C}"/>
              </a:ext>
            </a:extLst>
          </p:cNvPr>
          <p:cNvSpPr>
            <a:spLocks noGrp="1"/>
          </p:cNvSpPr>
          <p:nvPr>
            <p:ph type="dt" sz="half" idx="10"/>
          </p:nvPr>
        </p:nvSpPr>
        <p:spPr>
          <a:xfrm>
            <a:off x="457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5946919-40ED-984B-A09F-180F0B87B38A}" type="datetimeFigureOut">
              <a:rPr lang="en-US" altLang="en-US"/>
              <a:pPr>
                <a:defRPr/>
              </a:pPr>
              <a:t>6/26/25</a:t>
            </a:fld>
            <a:endParaRPr lang="en-US" altLang="en-US"/>
          </a:p>
        </p:txBody>
      </p:sp>
      <p:sp>
        <p:nvSpPr>
          <p:cNvPr id="6" name="Footer Placeholder 5">
            <a:extLst>
              <a:ext uri="{FF2B5EF4-FFF2-40B4-BE49-F238E27FC236}">
                <a16:creationId xmlns:a16="http://schemas.microsoft.com/office/drawing/2014/main" id="{417A4B06-09F0-2FFC-75F2-4974793D1CFE}"/>
              </a:ext>
            </a:extLst>
          </p:cNvPr>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en-US"/>
          </a:p>
        </p:txBody>
      </p:sp>
      <p:sp>
        <p:nvSpPr>
          <p:cNvPr id="7" name="Slide Number Placeholder 6">
            <a:extLst>
              <a:ext uri="{FF2B5EF4-FFF2-40B4-BE49-F238E27FC236}">
                <a16:creationId xmlns:a16="http://schemas.microsoft.com/office/drawing/2014/main" id="{A82559D6-C040-4E5E-91AC-186F039CA700}"/>
              </a:ext>
            </a:extLst>
          </p:cNvPr>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B3DD53B-726C-F748-BE82-929242AA643E}" type="slidenum">
              <a:rPr lang="en-US" altLang="en-US"/>
              <a:pPr>
                <a:defRPr/>
              </a:pPr>
              <a:t>‹#›</a:t>
            </a:fld>
            <a:endParaRPr lang="en-US" altLang="en-US">
              <a:solidFill>
                <a:srgbClr val="88A44D"/>
              </a:solidFill>
            </a:endParaRPr>
          </a:p>
        </p:txBody>
      </p:sp>
    </p:spTree>
    <p:extLst>
      <p:ext uri="{BB962C8B-B14F-4D97-AF65-F5344CB8AC3E}">
        <p14:creationId xmlns:p14="http://schemas.microsoft.com/office/powerpoint/2010/main" val="10376726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982DD670-8486-4BDB-FEAE-53560E5E7865}"/>
              </a:ext>
            </a:extLst>
          </p:cNvPr>
          <p:cNvSpPr>
            <a:spLocks noGrp="1"/>
          </p:cNvSpPr>
          <p:nvPr>
            <p:ph type="dt" sz="half" idx="10"/>
          </p:nvPr>
        </p:nvSpPr>
        <p:spPr>
          <a:xfrm>
            <a:off x="457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EADFDFA-5581-D844-8474-C8D67AEC5298}" type="datetimeFigureOut">
              <a:rPr lang="en-US" altLang="en-US"/>
              <a:pPr>
                <a:defRPr/>
              </a:pPr>
              <a:t>6/26/25</a:t>
            </a:fld>
            <a:endParaRPr lang="en-US" altLang="en-US"/>
          </a:p>
        </p:txBody>
      </p:sp>
      <p:sp>
        <p:nvSpPr>
          <p:cNvPr id="6" name="Footer Placeholder 5">
            <a:extLst>
              <a:ext uri="{FF2B5EF4-FFF2-40B4-BE49-F238E27FC236}">
                <a16:creationId xmlns:a16="http://schemas.microsoft.com/office/drawing/2014/main" id="{59922361-0AD7-CD6A-0253-D3AA551E567C}"/>
              </a:ext>
            </a:extLst>
          </p:cNvPr>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en-US"/>
          </a:p>
        </p:txBody>
      </p:sp>
      <p:sp>
        <p:nvSpPr>
          <p:cNvPr id="7" name="Slide Number Placeholder 6">
            <a:extLst>
              <a:ext uri="{FF2B5EF4-FFF2-40B4-BE49-F238E27FC236}">
                <a16:creationId xmlns:a16="http://schemas.microsoft.com/office/drawing/2014/main" id="{2BBD030A-1904-840A-FB99-2B035705DE6C}"/>
              </a:ext>
            </a:extLst>
          </p:cNvPr>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EC358488-768D-A849-8F18-176BBDA78412}" type="slidenum">
              <a:rPr lang="en-US" altLang="en-US"/>
              <a:pPr>
                <a:defRPr/>
              </a:pPr>
              <a:t>‹#›</a:t>
            </a:fld>
            <a:endParaRPr lang="en-US" altLang="en-US"/>
          </a:p>
        </p:txBody>
      </p:sp>
    </p:spTree>
    <p:extLst>
      <p:ext uri="{BB962C8B-B14F-4D97-AF65-F5344CB8AC3E}">
        <p14:creationId xmlns:p14="http://schemas.microsoft.com/office/powerpoint/2010/main" val="8071982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37D8E-66C4-0D3D-844C-FE4F8D511032}"/>
              </a:ext>
            </a:extLst>
          </p:cNvPr>
          <p:cNvSpPr>
            <a:spLocks noGrp="1"/>
          </p:cNvSpPr>
          <p:nvPr>
            <p:ph type="dt" sz="half" idx="10"/>
          </p:nvPr>
        </p:nvSpPr>
        <p:spPr>
          <a:xfrm>
            <a:off x="457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13120CD-8C84-C74E-9002-894A02F447AB}" type="datetimeFigureOut">
              <a:rPr lang="en-US" altLang="en-US"/>
              <a:pPr>
                <a:defRPr/>
              </a:pPr>
              <a:t>6/26/25</a:t>
            </a:fld>
            <a:endParaRPr lang="en-US" altLang="en-US"/>
          </a:p>
        </p:txBody>
      </p:sp>
      <p:sp>
        <p:nvSpPr>
          <p:cNvPr id="5" name="Footer Placeholder 4">
            <a:extLst>
              <a:ext uri="{FF2B5EF4-FFF2-40B4-BE49-F238E27FC236}">
                <a16:creationId xmlns:a16="http://schemas.microsoft.com/office/drawing/2014/main" id="{A8E75C1A-82BA-924E-3ACB-938765546A63}"/>
              </a:ext>
            </a:extLst>
          </p:cNvPr>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en-US"/>
          </a:p>
        </p:txBody>
      </p:sp>
      <p:sp>
        <p:nvSpPr>
          <p:cNvPr id="6" name="Slide Number Placeholder 5">
            <a:extLst>
              <a:ext uri="{FF2B5EF4-FFF2-40B4-BE49-F238E27FC236}">
                <a16:creationId xmlns:a16="http://schemas.microsoft.com/office/drawing/2014/main" id="{C8E72B1F-9DC8-7388-8507-0D2EFEF9EC51}"/>
              </a:ext>
            </a:extLst>
          </p:cNvPr>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A07A0C6-AB23-054B-965B-C2ABDC551189}" type="slidenum">
              <a:rPr lang="en-US" altLang="en-US"/>
              <a:pPr>
                <a:defRPr/>
              </a:pPr>
              <a:t>‹#›</a:t>
            </a:fld>
            <a:endParaRPr lang="en-US" altLang="en-US"/>
          </a:p>
        </p:txBody>
      </p:sp>
    </p:spTree>
    <p:extLst>
      <p:ext uri="{BB962C8B-B14F-4D97-AF65-F5344CB8AC3E}">
        <p14:creationId xmlns:p14="http://schemas.microsoft.com/office/powerpoint/2010/main" val="2186531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650283-E655-4929-16F3-07042803562C}"/>
              </a:ext>
            </a:extLst>
          </p:cNvPr>
          <p:cNvSpPr>
            <a:spLocks noGrp="1"/>
          </p:cNvSpPr>
          <p:nvPr>
            <p:ph type="dt" sz="half" idx="10"/>
          </p:nvPr>
        </p:nvSpPr>
        <p:spPr>
          <a:xfrm>
            <a:off x="457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F992F8C-47D5-C541-8F48-4166CA062148}" type="datetimeFigureOut">
              <a:rPr lang="en-US" altLang="en-US"/>
              <a:pPr>
                <a:defRPr/>
              </a:pPr>
              <a:t>6/26/25</a:t>
            </a:fld>
            <a:endParaRPr lang="en-US" altLang="en-US"/>
          </a:p>
        </p:txBody>
      </p:sp>
      <p:sp>
        <p:nvSpPr>
          <p:cNvPr id="5" name="Footer Placeholder 4">
            <a:extLst>
              <a:ext uri="{FF2B5EF4-FFF2-40B4-BE49-F238E27FC236}">
                <a16:creationId xmlns:a16="http://schemas.microsoft.com/office/drawing/2014/main" id="{948B7101-3EFE-6B47-9D8F-884B23EE5CAE}"/>
              </a:ext>
            </a:extLst>
          </p:cNvPr>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en-US"/>
          </a:p>
        </p:txBody>
      </p:sp>
      <p:sp>
        <p:nvSpPr>
          <p:cNvPr id="6" name="Slide Number Placeholder 5">
            <a:extLst>
              <a:ext uri="{FF2B5EF4-FFF2-40B4-BE49-F238E27FC236}">
                <a16:creationId xmlns:a16="http://schemas.microsoft.com/office/drawing/2014/main" id="{D19E7736-B4B4-83AE-A8FE-0049AD2649D7}"/>
              </a:ext>
            </a:extLst>
          </p:cNvPr>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7D093B9-CA85-354C-A489-36253830F561}" type="slidenum">
              <a:rPr lang="en-US" altLang="en-US"/>
              <a:pPr>
                <a:defRPr/>
              </a:pPr>
              <a:t>‹#›</a:t>
            </a:fld>
            <a:endParaRPr lang="en-US" altLang="en-US"/>
          </a:p>
        </p:txBody>
      </p:sp>
    </p:spTree>
    <p:extLst>
      <p:ext uri="{BB962C8B-B14F-4D97-AF65-F5344CB8AC3E}">
        <p14:creationId xmlns:p14="http://schemas.microsoft.com/office/powerpoint/2010/main" val="3898845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image" Target="../media/image2.emf"/><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9A9CAB1-5F04-0C33-0E76-58C767C40E68}"/>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7E7BC3CD-0A84-7810-AD6D-A4E1FBB3B739}"/>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65ADD2E-37A5-4742-6391-41F5D80C0B4D}"/>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a:defRPr/>
            </a:pPr>
            <a:fld id="{2189D58D-82EF-F740-8ABE-4353E5DBE0E1}" type="datetimeFigureOut">
              <a:rPr lang="en-US" altLang="en-US"/>
              <a:pPr>
                <a:defRPr/>
              </a:pPr>
              <a:t>6/26/25</a:t>
            </a:fld>
            <a:endParaRPr lang="en-US" altLang="en-US"/>
          </a:p>
        </p:txBody>
      </p:sp>
      <p:sp>
        <p:nvSpPr>
          <p:cNvPr id="5" name="Footer Placeholder 4">
            <a:extLst>
              <a:ext uri="{FF2B5EF4-FFF2-40B4-BE49-F238E27FC236}">
                <a16:creationId xmlns:a16="http://schemas.microsoft.com/office/drawing/2014/main" id="{76F48090-4925-23C6-8104-1F7C1E9AFBDE}"/>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en-US"/>
          </a:p>
        </p:txBody>
      </p:sp>
      <p:sp>
        <p:nvSpPr>
          <p:cNvPr id="6" name="Slide Number Placeholder 5">
            <a:extLst>
              <a:ext uri="{FF2B5EF4-FFF2-40B4-BE49-F238E27FC236}">
                <a16:creationId xmlns:a16="http://schemas.microsoft.com/office/drawing/2014/main" id="{5C7D6F85-67A1-4519-8A1F-E67E38E2FE71}"/>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105A7C5B-2F90-124D-B361-2F744E84C6B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93613" r:id="rId1"/>
    <p:sldLayoutId id="2147493614" r:id="rId2"/>
    <p:sldLayoutId id="2147493615" r:id="rId3"/>
    <p:sldLayoutId id="2147493616" r:id="rId4"/>
    <p:sldLayoutId id="2147493617" r:id="rId5"/>
    <p:sldLayoutId id="2147493618" r:id="rId6"/>
    <p:sldLayoutId id="2147493619" r:id="rId7"/>
    <p:sldLayoutId id="2147493604" r:id="rId8"/>
    <p:sldLayoutId id="2147493605" r:id="rId9"/>
    <p:sldLayoutId id="2147493606" r:id="rId10"/>
    <p:sldLayoutId id="2147493607" r:id="rId11"/>
    <p:sldLayoutId id="2147493620" r:id="rId12"/>
    <p:sldLayoutId id="2147493608" r:id="rId13"/>
    <p:sldLayoutId id="2147493609" r:id="rId14"/>
    <p:sldLayoutId id="2147493610" r:id="rId15"/>
  </p:sldLayoutIdLst>
  <p:txStyles>
    <p:titleStyle>
      <a:lvl1pPr algn="ctr" defTabSz="457200" rtl="0" eaLnBrk="0" fontAlgn="base" hangingPunct="0">
        <a:spcBef>
          <a:spcPct val="0"/>
        </a:spcBef>
        <a:spcAft>
          <a:spcPct val="0"/>
        </a:spcAft>
        <a:defRPr sz="4400" kern="1200">
          <a:solidFill>
            <a:schemeClr val="tx1"/>
          </a:solidFill>
          <a:latin typeface="+mj-lt"/>
          <a:ea typeface="ＭＳ Ｐゴシック" panose="020B0600070205080204" pitchFamily="34" charset="-128"/>
          <a:cs typeface="+mj-cs"/>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5pPr>
      <a:lvl6pPr marL="457200" algn="ctr" defTabSz="457200" rtl="0" fontAlgn="base">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D05061-DF63-5C11-BEE6-5A014FEC1254}"/>
              </a:ext>
            </a:extLst>
          </p:cNvPr>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16387" name="Picture 7">
            <a:extLst>
              <a:ext uri="{FF2B5EF4-FFF2-40B4-BE49-F238E27FC236}">
                <a16:creationId xmlns:a16="http://schemas.microsoft.com/office/drawing/2014/main" id="{421DB4A4-468C-B68A-9C20-72430E20A273}"/>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Box 8">
            <a:extLst>
              <a:ext uri="{FF2B5EF4-FFF2-40B4-BE49-F238E27FC236}">
                <a16:creationId xmlns:a16="http://schemas.microsoft.com/office/drawing/2014/main" id="{C13F37B1-CB60-D5DF-35D6-1BC128593F7D}"/>
              </a:ext>
            </a:extLst>
          </p:cNvPr>
          <p:cNvSpPr txBox="1">
            <a:spLocks noChangeArrowheads="1"/>
          </p:cNvSpPr>
          <p:nvPr userDrawn="1"/>
        </p:nvSpPr>
        <p:spPr bwMode="auto">
          <a:xfrm>
            <a:off x="255588" y="4695825"/>
            <a:ext cx="6781800" cy="400050"/>
          </a:xfrm>
          <a:prstGeom prst="rect">
            <a:avLst/>
          </a:prstGeom>
          <a:noFill/>
          <a:ln>
            <a:noFill/>
          </a:ln>
        </p:spPr>
        <p:txBody>
          <a:bodyPr>
            <a:spAutoFit/>
          </a:bodyP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eaLnBrk="1" hangingPunct="1">
              <a:lnSpc>
                <a:spcPts val="2400"/>
              </a:lnSpc>
              <a:defRPr/>
            </a:pPr>
            <a:fld id="{39B321DE-2D64-5E44-B7FD-83ABEC4BC0C0}" type="slidenum">
              <a:rPr lang="en-US" altLang="en-US" sz="1200" b="1" smtClean="0">
                <a:solidFill>
                  <a:schemeClr val="bg1"/>
                </a:solidFill>
              </a:rPr>
              <a:pPr eaLnBrk="1" hangingPunct="1">
                <a:lnSpc>
                  <a:spcPts val="2400"/>
                </a:lnSpc>
                <a:defRPr/>
              </a:pPr>
              <a:t>‹#›</a:t>
            </a:fld>
            <a:r>
              <a:rPr lang="en-US" altLang="en-US" sz="1200" b="1">
                <a:solidFill>
                  <a:schemeClr val="bg1"/>
                </a:solidFill>
              </a:rPr>
              <a:t> </a:t>
            </a:r>
            <a:r>
              <a:rPr lang="en-US" altLang="en-US" sz="1200">
                <a:solidFill>
                  <a:schemeClr val="bg1"/>
                </a:solidFill>
              </a:rPr>
              <a:t>|</a:t>
            </a:r>
            <a:r>
              <a:rPr lang="en-US" altLang="en-US" sz="1200" b="1">
                <a:solidFill>
                  <a:schemeClr val="bg1"/>
                </a:solidFill>
              </a:rPr>
              <a:t> </a:t>
            </a:r>
            <a:r>
              <a:rPr lang="en-US" altLang="en-US" sz="1200" i="1">
                <a:solidFill>
                  <a:schemeClr val="bg1"/>
                </a:solidFill>
              </a:rPr>
              <a:t>Transcending Disciplines, Transforming Lives, Educating Leaders</a:t>
            </a:r>
          </a:p>
        </p:txBody>
      </p:sp>
    </p:spTree>
  </p:cSld>
  <p:clrMap bg1="lt1" tx1="dk1" bg2="lt2" tx2="dk2" accent1="accent1" accent2="accent2" accent3="accent3" accent4="accent4" accent5="accent5" accent6="accent6" hlink="hlink" folHlink="folHlink"/>
  <p:sldLayoutIdLst>
    <p:sldLayoutId id="2147493611" r:id="rId1"/>
    <p:sldLayoutId id="2147493612" r:id="rId2"/>
    <p:sldLayoutId id="2147493621" r:id="rId3"/>
    <p:sldLayoutId id="2147493622" r:id="rId4"/>
    <p:sldLayoutId id="2147493623" r:id="rId5"/>
    <p:sldLayoutId id="2147493624" r:id="rId6"/>
    <p:sldLayoutId id="2147493625" r:id="rId7"/>
    <p:sldLayoutId id="2147493626" r:id="rId8"/>
    <p:sldLayoutId id="2147493627" r:id="rId9"/>
    <p:sldLayoutId id="2147493628" r:id="rId10"/>
    <p:sldLayoutId id="2147493629" r:id="rId11"/>
    <p:sldLayoutId id="2147493630" r:id="rId12"/>
    <p:sldLayoutId id="2147493631" r:id="rId13"/>
    <p:sldLayoutId id="2147493632" r:id="rId14"/>
  </p:sldLayoutIdLst>
  <p:txStyles>
    <p:titleStyle>
      <a:lvl1pPr algn="ctr" defTabSz="457200" rtl="0" eaLnBrk="0" fontAlgn="base" hangingPunct="0">
        <a:spcBef>
          <a:spcPct val="0"/>
        </a:spcBef>
        <a:spcAft>
          <a:spcPct val="0"/>
        </a:spcAft>
        <a:defRPr sz="4400" kern="1200">
          <a:solidFill>
            <a:schemeClr val="tx1"/>
          </a:solidFill>
          <a:latin typeface="+mj-lt"/>
          <a:ea typeface="ＭＳ Ｐゴシック" panose="020B0600070205080204" pitchFamily="34" charset="-128"/>
          <a:cs typeface="+mj-cs"/>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5pPr>
      <a:lvl6pPr marL="457200" algn="ctr" defTabSz="457200" rtl="0" fontAlgn="base">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ＭＳ Ｐゴシック" panose="020B0600070205080204" pitchFamily="34"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emf"/><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hyperlink" Target="https://www.woodmac.com/news/opinion/transformation-distributed-energy-resource-market/" TargetMode="External"/><Relationship Id="rId11" Type="http://schemas.openxmlformats.org/officeDocument/2006/relationships/hyperlink" Target="https://www.techtarget.com/iotagenda/definition/smart-home-or-building" TargetMode="External"/><Relationship Id="rId5" Type="http://schemas.openxmlformats.org/officeDocument/2006/relationships/hyperlink" Target="https://www.eia.gov/todayinenergy/detail.php?id=60341" TargetMode="External"/><Relationship Id="rId10" Type="http://schemas.openxmlformats.org/officeDocument/2006/relationships/hyperlink" Target="https://www.statista.com/statistics/1075749/united-states-installed-base-of-smart-home-systems/#statisticContainer" TargetMode="External"/><Relationship Id="rId4" Type="http://schemas.openxmlformats.org/officeDocument/2006/relationships/hyperlink" Target="https://en.wikipedia.org/wiki/Solar_power_in_the_United_States" TargetMode="External"/><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emf"/><Relationship Id="rId7" Type="http://schemas.openxmlformats.org/officeDocument/2006/relationships/image" Target="../media/image11.png"/><Relationship Id="rId12" Type="http://schemas.openxmlformats.org/officeDocument/2006/relationships/hyperlink" Target="https://www.ameren.com/illinois/account/customer-service/bill/power-smart-pricing/"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hyperlink" Target="https://www.woodmac.com/news/opinion/transformation-distributed-energy-resource-market/" TargetMode="External"/><Relationship Id="rId11" Type="http://schemas.openxmlformats.org/officeDocument/2006/relationships/hyperlink" Target="https://www.oge.com/wps/portal/ord/residential/pricing-options/smart-hours" TargetMode="External"/><Relationship Id="rId5" Type="http://schemas.openxmlformats.org/officeDocument/2006/relationships/hyperlink" Target="https://www.eia.gov/todayinenergy/detail.php?id=60341" TargetMode="External"/><Relationship Id="rId10" Type="http://schemas.openxmlformats.org/officeDocument/2006/relationships/image" Target="../media/image14.png"/><Relationship Id="rId4" Type="http://schemas.openxmlformats.org/officeDocument/2006/relationships/hyperlink" Target="https://en.wikipedia.org/wiki/Solar_power_in_the_United_States" TargetMode="External"/><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emf"/><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hyperlink" Target="https://www.javatpoint.com/group-discussion" TargetMode="Externa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6.svg"/><Relationship Id="rId3" Type="http://schemas.openxmlformats.org/officeDocument/2006/relationships/image" Target="../media/image19.png"/><Relationship Id="rId7" Type="http://schemas.openxmlformats.org/officeDocument/2006/relationships/hyperlink" Target="https://en.wikipedia.org/wiki/Skewness" TargetMode="External"/><Relationship Id="rId12"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4.svg"/><Relationship Id="rId5" Type="http://schemas.openxmlformats.org/officeDocument/2006/relationships/image" Target="../media/image2.emf"/><Relationship Id="rId10" Type="http://schemas.openxmlformats.org/officeDocument/2006/relationships/image" Target="../media/image23.png"/><Relationship Id="rId4" Type="http://schemas.openxmlformats.org/officeDocument/2006/relationships/image" Target="../media/image20.png"/><Relationship Id="rId9" Type="http://schemas.openxmlformats.org/officeDocument/2006/relationships/hyperlink" Target="https://en.wikipedia.org/wiki/Normal_distribution"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14.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31.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32.png"/><Relationship Id="rId4" Type="http://schemas.openxmlformats.org/officeDocument/2006/relationships/image" Target="../media/image2.emf"/></Relationships>
</file>

<file path=ppt/slides/_rels/slide15.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330.png"/><Relationship Id="rId18" Type="http://schemas.openxmlformats.org/officeDocument/2006/relationships/image" Target="../media/image42.png"/><Relationship Id="rId3" Type="http://schemas.openxmlformats.org/officeDocument/2006/relationships/image" Target="../media/image2.emf"/><Relationship Id="rId21" Type="http://schemas.openxmlformats.org/officeDocument/2006/relationships/image" Target="../media/image410.png"/><Relationship Id="rId7" Type="http://schemas.openxmlformats.org/officeDocument/2006/relationships/image" Target="../media/image37.png"/><Relationship Id="rId12" Type="http://schemas.openxmlformats.org/officeDocument/2006/relationships/image" Target="../media/image320.png"/><Relationship Id="rId17" Type="http://schemas.openxmlformats.org/officeDocument/2006/relationships/image" Target="../media/image41.png"/><Relationship Id="rId2" Type="http://schemas.openxmlformats.org/officeDocument/2006/relationships/notesSlide" Target="../notesSlides/notesSlide15.xml"/><Relationship Id="rId16" Type="http://schemas.openxmlformats.org/officeDocument/2006/relationships/image" Target="../media/image40.png"/><Relationship Id="rId20" Type="http://schemas.openxmlformats.org/officeDocument/2006/relationships/image" Target="../media/image400.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310.png"/><Relationship Id="rId5" Type="http://schemas.openxmlformats.org/officeDocument/2006/relationships/image" Target="../media/image35.png"/><Relationship Id="rId15" Type="http://schemas.openxmlformats.org/officeDocument/2006/relationships/image" Target="../media/image350.png"/><Relationship Id="rId23" Type="http://schemas.openxmlformats.org/officeDocument/2006/relationships/image" Target="../media/image430.png"/><Relationship Id="rId10" Type="http://schemas.openxmlformats.org/officeDocument/2006/relationships/image" Target="../media/image300.png"/><Relationship Id="rId19" Type="http://schemas.openxmlformats.org/officeDocument/2006/relationships/image" Target="../media/image43.png"/><Relationship Id="rId4" Type="http://schemas.openxmlformats.org/officeDocument/2006/relationships/image" Target="../media/image29.png"/><Relationship Id="rId9" Type="http://schemas.openxmlformats.org/officeDocument/2006/relationships/image" Target="../media/image39.png"/><Relationship Id="rId14" Type="http://schemas.openxmlformats.org/officeDocument/2006/relationships/image" Target="../media/image34.png"/><Relationship Id="rId22" Type="http://schemas.openxmlformats.org/officeDocument/2006/relationships/image" Target="../media/image420.png"/></Relationships>
</file>

<file path=ppt/slides/_rels/slide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4.sv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9.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4.png"/><Relationship Id="rId7" Type="http://schemas.openxmlformats.org/officeDocument/2006/relationships/image" Target="../media/image34.svg"/><Relationship Id="rId12" Type="http://schemas.openxmlformats.org/officeDocument/2006/relationships/image" Target="../media/image370.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48.png"/><Relationship Id="rId5" Type="http://schemas.openxmlformats.org/officeDocument/2006/relationships/image" Target="../media/image29.png"/><Relationship Id="rId10" Type="http://schemas.openxmlformats.org/officeDocument/2006/relationships/image" Target="../media/image47.png"/><Relationship Id="rId4" Type="http://schemas.openxmlformats.org/officeDocument/2006/relationships/image" Target="../media/image2.emf"/><Relationship Id="rId9" Type="http://schemas.openxmlformats.org/officeDocument/2006/relationships/image" Target="../media/image46.png"/></Relationships>
</file>

<file path=ppt/slides/_rels/slide19.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52.png"/><Relationship Id="rId3" Type="http://schemas.openxmlformats.org/officeDocument/2006/relationships/image" Target="../media/image49.png"/><Relationship Id="rId21" Type="http://schemas.openxmlformats.org/officeDocument/2006/relationships/image" Target="../media/image650.png"/><Relationship Id="rId7" Type="http://schemas.openxmlformats.org/officeDocument/2006/relationships/image" Target="../media/image54.png"/><Relationship Id="rId12" Type="http://schemas.openxmlformats.org/officeDocument/2006/relationships/image" Target="../media/image51.png"/><Relationship Id="rId25" Type="http://schemas.openxmlformats.org/officeDocument/2006/relationships/image" Target="../media/image690.png"/><Relationship Id="rId2" Type="http://schemas.openxmlformats.org/officeDocument/2006/relationships/notesSlide" Target="../notesSlides/notesSlide19.xml"/><Relationship Id="rId16" Type="http://schemas.openxmlformats.org/officeDocument/2006/relationships/image" Target="../media/image600.png"/><Relationship Id="rId1" Type="http://schemas.openxmlformats.org/officeDocument/2006/relationships/slideLayout" Target="../slideLayouts/slideLayout7.xml"/><Relationship Id="rId6" Type="http://schemas.openxmlformats.org/officeDocument/2006/relationships/image" Target="../media/image511.png"/><Relationship Id="rId11" Type="http://schemas.openxmlformats.org/officeDocument/2006/relationships/image" Target="../media/image50.png"/><Relationship Id="rId24" Type="http://schemas.openxmlformats.org/officeDocument/2006/relationships/image" Target="../media/image681.png"/><Relationship Id="rId5" Type="http://schemas.openxmlformats.org/officeDocument/2006/relationships/image" Target="../media/image29.png"/><Relationship Id="rId15" Type="http://schemas.openxmlformats.org/officeDocument/2006/relationships/image" Target="../media/image58.png"/><Relationship Id="rId23" Type="http://schemas.openxmlformats.org/officeDocument/2006/relationships/image" Target="../media/image60.png"/><Relationship Id="rId10" Type="http://schemas.openxmlformats.org/officeDocument/2006/relationships/image" Target="../media/image57.png"/><Relationship Id="rId4" Type="http://schemas.openxmlformats.org/officeDocument/2006/relationships/image" Target="../media/image2.emf"/><Relationship Id="rId9" Type="http://schemas.openxmlformats.org/officeDocument/2006/relationships/image" Target="../media/image56.png"/><Relationship Id="rId14" Type="http://schemas.openxmlformats.org/officeDocument/2006/relationships/image" Target="../media/image53.png"/><Relationship Id="rId22" Type="http://schemas.openxmlformats.org/officeDocument/2006/relationships/image" Target="../media/image59.png"/></Relationships>
</file>

<file path=ppt/slides/_rels/slide20.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421.png"/><Relationship Id="rId3" Type="http://schemas.openxmlformats.org/officeDocument/2006/relationships/image" Target="../media/image61.png"/><Relationship Id="rId7" Type="http://schemas.openxmlformats.org/officeDocument/2006/relationships/image" Target="../media/image72.png"/><Relationship Id="rId12" Type="http://schemas.openxmlformats.org/officeDocument/2006/relationships/image" Target="../media/image76.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71.png"/><Relationship Id="rId11" Type="http://schemas.openxmlformats.org/officeDocument/2006/relationships/image" Target="../media/image64.png"/><Relationship Id="rId5" Type="http://schemas.openxmlformats.org/officeDocument/2006/relationships/image" Target="../media/image62.png"/><Relationship Id="rId10" Type="http://schemas.openxmlformats.org/officeDocument/2006/relationships/image" Target="../media/image74.png"/><Relationship Id="rId4" Type="http://schemas.openxmlformats.org/officeDocument/2006/relationships/image" Target="../media/image2.emf"/><Relationship Id="rId9"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23.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2.emf"/><Relationship Id="rId7" Type="http://schemas.openxmlformats.org/officeDocument/2006/relationships/image" Target="../media/image67.emf"/><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580.png"/><Relationship Id="rId11" Type="http://schemas.openxmlformats.org/officeDocument/2006/relationships/image" Target="../media/image83.png"/><Relationship Id="rId5" Type="http://schemas.openxmlformats.org/officeDocument/2006/relationships/image" Target="../media/image66.png"/><Relationship Id="rId10" Type="http://schemas.openxmlformats.org/officeDocument/2006/relationships/image" Target="../media/image82.png"/><Relationship Id="rId4" Type="http://schemas.openxmlformats.org/officeDocument/2006/relationships/image" Target="../media/image32.png"/><Relationship Id="rId9" Type="http://schemas.openxmlformats.org/officeDocument/2006/relationships/image" Target="../media/image81.png"/></Relationships>
</file>

<file path=ppt/slides/_rels/slide2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71.emf"/><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70.emf"/><Relationship Id="rId5" Type="http://schemas.openxmlformats.org/officeDocument/2006/relationships/image" Target="../media/image69.emf"/><Relationship Id="rId4" Type="http://schemas.openxmlformats.org/officeDocument/2006/relationships/image" Target="../media/image68.emf"/></Relationships>
</file>

<file path=ppt/slides/_rels/slide2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75.png"/><Relationship Id="rId4" Type="http://schemas.openxmlformats.org/officeDocument/2006/relationships/image" Target="../media/image73.png"/></Relationships>
</file>

<file path=ppt/slides/_rels/slide2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78.png"/><Relationship Id="rId4" Type="http://schemas.openxmlformats.org/officeDocument/2006/relationships/image" Target="../media/image77.png"/></Relationships>
</file>

<file path=ppt/slides/_rels/slide2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hyperlink" Target="https://arxiv.org/abs/2405.16356a" TargetMode="External"/><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11" descr="16x9_BG-02.jpg">
            <a:extLst>
              <a:ext uri="{FF2B5EF4-FFF2-40B4-BE49-F238E27FC236}">
                <a16:creationId xmlns:a16="http://schemas.microsoft.com/office/drawing/2014/main" id="{BD192EDD-66DD-27EF-8186-8DAFAA2C64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78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DEA801A0-49D5-9E8B-D9AB-9D75DD36A408}"/>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0723" name="Picture 7">
            <a:extLst>
              <a:ext uri="{FF2B5EF4-FFF2-40B4-BE49-F238E27FC236}">
                <a16:creationId xmlns:a16="http://schemas.microsoft.com/office/drawing/2014/main" id="{08C92004-7E4A-8C72-1A5B-FB8341CF198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9">
            <a:extLst>
              <a:ext uri="{FF2B5EF4-FFF2-40B4-BE49-F238E27FC236}">
                <a16:creationId xmlns:a16="http://schemas.microsoft.com/office/drawing/2014/main" id="{78DE3AAB-491A-6436-3ECC-33E36D28D402}"/>
              </a:ext>
            </a:extLst>
          </p:cNvPr>
          <p:cNvSpPr txBox="1">
            <a:spLocks noChangeArrowheads="1"/>
          </p:cNvSpPr>
          <p:nvPr/>
        </p:nvSpPr>
        <p:spPr bwMode="auto">
          <a:xfrm>
            <a:off x="304800" y="351274"/>
            <a:ext cx="8382000"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i="1" dirty="0">
                <a:solidFill>
                  <a:schemeClr val="bg1"/>
                </a:solidFill>
              </a:rPr>
              <a:t>A Prudent Framework for Understanding Risk-Awareness in Demand Response</a:t>
            </a:r>
          </a:p>
          <a:p>
            <a:pPr algn="ctr" eaLnBrk="1" hangingPunct="1">
              <a:spcBef>
                <a:spcPct val="0"/>
              </a:spcBef>
              <a:buFontTx/>
              <a:buNone/>
            </a:pPr>
            <a:r>
              <a:rPr lang="en-US" altLang="en-US" sz="1800" i="1" dirty="0">
                <a:solidFill>
                  <a:schemeClr val="bg1"/>
                </a:solidFill>
              </a:rPr>
              <a:t>-------Group meeting</a:t>
            </a:r>
          </a:p>
          <a:p>
            <a:pPr algn="ctr" eaLnBrk="1" hangingPunct="1">
              <a:spcBef>
                <a:spcPct val="0"/>
              </a:spcBef>
              <a:buFontTx/>
              <a:buNone/>
            </a:pPr>
            <a:endParaRPr lang="en-US" altLang="en-US" i="1" dirty="0">
              <a:solidFill>
                <a:schemeClr val="bg1"/>
              </a:solidFill>
            </a:endParaRPr>
          </a:p>
          <a:p>
            <a:pPr algn="ctr" eaLnBrk="1" hangingPunct="1">
              <a:spcBef>
                <a:spcPct val="0"/>
              </a:spcBef>
              <a:buFontTx/>
              <a:buNone/>
            </a:pPr>
            <a:r>
              <a:rPr lang="en-US" altLang="en-US" sz="1800" i="1" dirty="0">
                <a:solidFill>
                  <a:schemeClr val="bg1"/>
                </a:solidFill>
              </a:rPr>
              <a:t>Original title: Prudent Price-Responsive Demands</a:t>
            </a:r>
          </a:p>
          <a:p>
            <a:pPr algn="ctr" eaLnBrk="1" hangingPunct="1">
              <a:spcBef>
                <a:spcPct val="0"/>
              </a:spcBef>
              <a:buFontTx/>
              <a:buNone/>
            </a:pPr>
            <a:endParaRPr lang="en-US" altLang="en-US" sz="1800" i="1" dirty="0">
              <a:solidFill>
                <a:schemeClr val="bg1"/>
              </a:solidFill>
            </a:endParaRPr>
          </a:p>
          <a:p>
            <a:pPr algn="ctr" eaLnBrk="1" hangingPunct="1">
              <a:spcBef>
                <a:spcPct val="0"/>
              </a:spcBef>
              <a:buFontTx/>
              <a:buNone/>
            </a:pPr>
            <a:endParaRPr lang="en-US" altLang="en-US" sz="1800" i="1" dirty="0">
              <a:solidFill>
                <a:schemeClr val="bg1"/>
              </a:solidFill>
            </a:endParaRPr>
          </a:p>
          <a:p>
            <a:pPr algn="ctr" eaLnBrk="1" hangingPunct="1">
              <a:spcBef>
                <a:spcPct val="0"/>
              </a:spcBef>
              <a:buNone/>
            </a:pPr>
            <a:endParaRPr lang="en-US" altLang="en-US" sz="1800" i="1" dirty="0">
              <a:solidFill>
                <a:schemeClr val="bg1"/>
              </a:solidFill>
            </a:endParaRPr>
          </a:p>
          <a:p>
            <a:pPr algn="ctr" eaLnBrk="1" hangingPunct="1">
              <a:spcBef>
                <a:spcPct val="0"/>
              </a:spcBef>
              <a:buFontTx/>
              <a:buNone/>
            </a:pPr>
            <a:r>
              <a:rPr lang="en-US" altLang="en-US" sz="1800" b="1" i="1" dirty="0" err="1">
                <a:solidFill>
                  <a:schemeClr val="bg1"/>
                </a:solidFill>
              </a:rPr>
              <a:t>Liudong</a:t>
            </a:r>
            <a:r>
              <a:rPr lang="en-US" altLang="en-US" sz="1800" b="1" i="1" dirty="0">
                <a:solidFill>
                  <a:schemeClr val="bg1"/>
                </a:solidFill>
              </a:rPr>
              <a:t> Chen</a:t>
            </a:r>
          </a:p>
          <a:p>
            <a:pPr algn="ctr" eaLnBrk="1" hangingPunct="1">
              <a:spcBef>
                <a:spcPct val="0"/>
              </a:spcBef>
              <a:buFontTx/>
              <a:buNone/>
            </a:pPr>
            <a:r>
              <a:rPr lang="en-US" altLang="en-US" sz="1800" i="1" dirty="0">
                <a:solidFill>
                  <a:schemeClr val="bg1"/>
                </a:solidFill>
              </a:rPr>
              <a:t> Earth and Environmental Engineering</a:t>
            </a:r>
          </a:p>
          <a:p>
            <a:pPr algn="ctr" eaLnBrk="1" hangingPunct="1">
              <a:spcBef>
                <a:spcPct val="0"/>
              </a:spcBef>
              <a:buNone/>
            </a:pPr>
            <a:r>
              <a:rPr lang="en-US" altLang="en-US" sz="1800" i="1" dirty="0">
                <a:solidFill>
                  <a:schemeClr val="bg1"/>
                </a:solidFill>
              </a:rPr>
              <a:t>Columbia University</a:t>
            </a:r>
          </a:p>
          <a:p>
            <a:pPr algn="ctr" eaLnBrk="1" hangingPunct="1">
              <a:spcBef>
                <a:spcPct val="0"/>
              </a:spcBef>
              <a:buFontTx/>
              <a:buNone/>
            </a:pPr>
            <a:r>
              <a:rPr lang="zh-CN" altLang="en-US" sz="1800" i="1" dirty="0">
                <a:solidFill>
                  <a:schemeClr val="bg1"/>
                </a:solidFill>
              </a:rPr>
              <a:t> </a:t>
            </a:r>
            <a:endParaRPr lang="en-US" altLang="en-US" sz="1800" i="1" dirty="0">
              <a:solidFill>
                <a:schemeClr val="bg1"/>
              </a:solidFill>
            </a:endParaRPr>
          </a:p>
          <a:p>
            <a:pPr algn="ctr" eaLnBrk="1" hangingPunct="1">
              <a:spcBef>
                <a:spcPct val="0"/>
              </a:spcBef>
              <a:buFontTx/>
              <a:buNone/>
            </a:pPr>
            <a:r>
              <a:rPr lang="en-US" altLang="en-US" sz="1800" i="1" dirty="0">
                <a:solidFill>
                  <a:schemeClr val="bg1"/>
                </a:solidFill>
              </a:rPr>
              <a:t>Jun. 25. 2025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1" descr="16x9_grey.jpg">
            <a:extLst>
              <a:ext uri="{FF2B5EF4-FFF2-40B4-BE49-F238E27FC236}">
                <a16:creationId xmlns:a16="http://schemas.microsoft.com/office/drawing/2014/main" id="{787542DE-E952-CEA4-62FA-C1DBD2B635D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5508"/>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Box 8">
            <a:extLst>
              <a:ext uri="{FF2B5EF4-FFF2-40B4-BE49-F238E27FC236}">
                <a16:creationId xmlns:a16="http://schemas.microsoft.com/office/drawing/2014/main" id="{C437B40A-1DA9-B99B-DD4A-D437E87B53BF}"/>
              </a:ext>
            </a:extLst>
          </p:cNvPr>
          <p:cNvSpPr txBox="1">
            <a:spLocks noChangeArrowheads="1"/>
          </p:cNvSpPr>
          <p:nvPr/>
        </p:nvSpPr>
        <p:spPr bwMode="auto">
          <a:xfrm>
            <a:off x="1156494" y="831984"/>
            <a:ext cx="66675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None/>
            </a:pPr>
            <a:r>
              <a:rPr lang="en-US" altLang="en-US" i="1" dirty="0">
                <a:solidFill>
                  <a:schemeClr val="bg1"/>
                </a:solidFill>
              </a:rPr>
              <a:t>Prudent  Price-Responsive Demands</a:t>
            </a:r>
          </a:p>
        </p:txBody>
      </p:sp>
      <p:sp>
        <p:nvSpPr>
          <p:cNvPr id="7" name="Rectangle 6">
            <a:extLst>
              <a:ext uri="{FF2B5EF4-FFF2-40B4-BE49-F238E27FC236}">
                <a16:creationId xmlns:a16="http://schemas.microsoft.com/office/drawing/2014/main" id="{C81AB479-D306-05E9-0BD2-AC56097AB9ED}"/>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eaLnBrk="1" hangingPunct="1">
              <a:defRPr/>
            </a:pPr>
            <a:endParaRPr lang="zh-CN" altLang="zh-CN">
              <a:solidFill>
                <a:srgbClr val="E6B9B8"/>
              </a:solidFill>
            </a:endParaRPr>
          </a:p>
        </p:txBody>
      </p:sp>
      <p:pic>
        <p:nvPicPr>
          <p:cNvPr id="50179" name="Picture 7">
            <a:extLst>
              <a:ext uri="{FF2B5EF4-FFF2-40B4-BE49-F238E27FC236}">
                <a16:creationId xmlns:a16="http://schemas.microsoft.com/office/drawing/2014/main" id="{809258BA-E7E3-6CD4-79BC-2A806202E9A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TextBox 8">
            <a:extLst>
              <a:ext uri="{FF2B5EF4-FFF2-40B4-BE49-F238E27FC236}">
                <a16:creationId xmlns:a16="http://schemas.microsoft.com/office/drawing/2014/main" id="{28E5441C-D06F-7794-94E3-570D9D45D18C}"/>
              </a:ext>
            </a:extLst>
          </p:cNvPr>
          <p:cNvSpPr txBox="1">
            <a:spLocks noChangeArrowheads="1"/>
          </p:cNvSpPr>
          <p:nvPr/>
        </p:nvSpPr>
        <p:spPr bwMode="auto">
          <a:xfrm>
            <a:off x="2741669" y="840647"/>
            <a:ext cx="3352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None/>
            </a:pPr>
            <a:r>
              <a:rPr lang="en-US" altLang="en-US" i="1" dirty="0">
                <a:solidFill>
                  <a:schemeClr val="bg1"/>
                </a:solidFill>
              </a:rPr>
              <a:t>Price-Responsive</a:t>
            </a:r>
          </a:p>
        </p:txBody>
      </p:sp>
      <p:sp>
        <p:nvSpPr>
          <p:cNvPr id="2" name="TextBox 11">
            <a:extLst>
              <a:ext uri="{FF2B5EF4-FFF2-40B4-BE49-F238E27FC236}">
                <a16:creationId xmlns:a16="http://schemas.microsoft.com/office/drawing/2014/main" id="{B080159E-71FF-1DA0-43A2-5276E22B4B9C}"/>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2</a:t>
            </a:r>
            <a:r>
              <a:rPr lang="en-US" altLang="en-US" sz="1200" dirty="0">
                <a:solidFill>
                  <a:schemeClr val="bg1"/>
                </a:solidFill>
              </a:rPr>
              <a:t>|</a:t>
            </a:r>
            <a:endParaRPr lang="en-US" altLang="en-US" sz="900" dirty="0">
              <a:solidFill>
                <a:schemeClr val="bg1"/>
              </a:solidFill>
            </a:endParaRPr>
          </a:p>
        </p:txBody>
      </p:sp>
      <p:sp>
        <p:nvSpPr>
          <p:cNvPr id="3" name="TextBox 8">
            <a:extLst>
              <a:ext uri="{FF2B5EF4-FFF2-40B4-BE49-F238E27FC236}">
                <a16:creationId xmlns:a16="http://schemas.microsoft.com/office/drawing/2014/main" id="{8C39B844-0269-ED2D-6BB5-B50F477A57BA}"/>
              </a:ext>
            </a:extLst>
          </p:cNvPr>
          <p:cNvSpPr txBox="1">
            <a:spLocks noChangeArrowheads="1"/>
          </p:cNvSpPr>
          <p:nvPr/>
        </p:nvSpPr>
        <p:spPr bwMode="auto">
          <a:xfrm>
            <a:off x="1143000" y="820767"/>
            <a:ext cx="2133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None/>
            </a:pPr>
            <a:r>
              <a:rPr lang="en-US" altLang="en-US" i="1" dirty="0">
                <a:solidFill>
                  <a:schemeClr val="bg1"/>
                </a:solidFill>
              </a:rPr>
              <a:t>Prudent</a:t>
            </a:r>
          </a:p>
        </p:txBody>
      </p:sp>
      <p:grpSp>
        <p:nvGrpSpPr>
          <p:cNvPr id="20" name="Group 19">
            <a:extLst>
              <a:ext uri="{FF2B5EF4-FFF2-40B4-BE49-F238E27FC236}">
                <a16:creationId xmlns:a16="http://schemas.microsoft.com/office/drawing/2014/main" id="{FBCF52E9-E2C5-520A-C962-51C02CCB4315}"/>
              </a:ext>
            </a:extLst>
          </p:cNvPr>
          <p:cNvGrpSpPr/>
          <p:nvPr/>
        </p:nvGrpSpPr>
        <p:grpSpPr>
          <a:xfrm>
            <a:off x="4810231" y="2190617"/>
            <a:ext cx="3800369" cy="2022437"/>
            <a:chOff x="4572000" y="2190617"/>
            <a:chExt cx="3800369" cy="2022437"/>
          </a:xfrm>
        </p:grpSpPr>
        <p:cxnSp>
          <p:nvCxnSpPr>
            <p:cNvPr id="10" name="Straight Arrow Connector 9">
              <a:extLst>
                <a:ext uri="{FF2B5EF4-FFF2-40B4-BE49-F238E27FC236}">
                  <a16:creationId xmlns:a16="http://schemas.microsoft.com/office/drawing/2014/main" id="{A56CFBBE-2B1C-1C40-1E8F-7D213F39CE4F}"/>
                </a:ext>
              </a:extLst>
            </p:cNvPr>
            <p:cNvCxnSpPr>
              <a:cxnSpLocks/>
            </p:cNvCxnSpPr>
            <p:nvPr/>
          </p:nvCxnSpPr>
          <p:spPr>
            <a:xfrm>
              <a:off x="4572000" y="3913060"/>
              <a:ext cx="3755301" cy="0"/>
            </a:xfrm>
            <a:prstGeom prst="straightConnector1">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DABD3CB8-5234-D1B0-4682-AAA9170F241A}"/>
                </a:ext>
              </a:extLst>
            </p:cNvPr>
            <p:cNvCxnSpPr>
              <a:cxnSpLocks/>
            </p:cNvCxnSpPr>
            <p:nvPr/>
          </p:nvCxnSpPr>
          <p:spPr>
            <a:xfrm flipV="1">
              <a:off x="4802309" y="2190617"/>
              <a:ext cx="0" cy="1934151"/>
            </a:xfrm>
            <a:prstGeom prst="straightConnector1">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sp>
          <p:nvSpPr>
            <p:cNvPr id="14" name="TextBox 24">
              <a:extLst>
                <a:ext uri="{FF2B5EF4-FFF2-40B4-BE49-F238E27FC236}">
                  <a16:creationId xmlns:a16="http://schemas.microsoft.com/office/drawing/2014/main" id="{DA41D93C-3B24-561B-0725-E960BD13118E}"/>
                </a:ext>
              </a:extLst>
            </p:cNvPr>
            <p:cNvSpPr txBox="1"/>
            <p:nvPr/>
          </p:nvSpPr>
          <p:spPr>
            <a:xfrm>
              <a:off x="7779711" y="3936055"/>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solidFill>
                    <a:schemeClr val="bg1"/>
                  </a:solidFill>
                  <a:cs typeface="Calibri" panose="020F0502020204030204" pitchFamily="34" charset="0"/>
                </a:rPr>
                <a:t>Time</a:t>
              </a:r>
            </a:p>
          </p:txBody>
        </p:sp>
        <p:sp>
          <p:nvSpPr>
            <p:cNvPr id="8" name="TextBox 7">
              <a:extLst>
                <a:ext uri="{FF2B5EF4-FFF2-40B4-BE49-F238E27FC236}">
                  <a16:creationId xmlns:a16="http://schemas.microsoft.com/office/drawing/2014/main" id="{61D082E3-E62A-D1A5-FEA0-103BE2F0988F}"/>
                </a:ext>
              </a:extLst>
            </p:cNvPr>
            <p:cNvSpPr txBox="1"/>
            <p:nvPr/>
          </p:nvSpPr>
          <p:spPr>
            <a:xfrm>
              <a:off x="4800600" y="2276128"/>
              <a:ext cx="1453696" cy="276999"/>
            </a:xfrm>
            <a:prstGeom prst="rect">
              <a:avLst/>
            </a:prstGeom>
            <a:noFill/>
          </p:spPr>
          <p:txBody>
            <a:bodyPr wrap="square">
              <a:spAutoFit/>
            </a:bodyPr>
            <a:lstStyle/>
            <a:p>
              <a:r>
                <a:rPr lang="en-US" sz="1200" dirty="0">
                  <a:solidFill>
                    <a:schemeClr val="bg1"/>
                  </a:solidFill>
                  <a:cs typeface="Calibri" panose="020F0502020204030204" pitchFamily="34" charset="0"/>
                </a:rPr>
                <a:t>Demand</a:t>
              </a:r>
            </a:p>
          </p:txBody>
        </p:sp>
        <p:sp>
          <p:nvSpPr>
            <p:cNvPr id="9" name="Freeform 8">
              <a:extLst>
                <a:ext uri="{FF2B5EF4-FFF2-40B4-BE49-F238E27FC236}">
                  <a16:creationId xmlns:a16="http://schemas.microsoft.com/office/drawing/2014/main" id="{718D8D23-427B-8E60-2555-77E89B816CE3}"/>
                </a:ext>
              </a:extLst>
            </p:cNvPr>
            <p:cNvSpPr/>
            <p:nvPr/>
          </p:nvSpPr>
          <p:spPr>
            <a:xfrm>
              <a:off x="5126901" y="2488539"/>
              <a:ext cx="2917371" cy="1214971"/>
            </a:xfrm>
            <a:custGeom>
              <a:avLst/>
              <a:gdLst>
                <a:gd name="connsiteX0" fmla="*/ 0 w 2917371"/>
                <a:gd name="connsiteY0" fmla="*/ 1138771 h 1214971"/>
                <a:gd name="connsiteX1" fmla="*/ 990600 w 2917371"/>
                <a:gd name="connsiteY1" fmla="*/ 746885 h 1214971"/>
                <a:gd name="connsiteX2" fmla="*/ 1850571 w 2917371"/>
                <a:gd name="connsiteY2" fmla="*/ 6657 h 1214971"/>
                <a:gd name="connsiteX3" fmla="*/ 2917371 w 2917371"/>
                <a:gd name="connsiteY3" fmla="*/ 1214971 h 1214971"/>
              </a:gdLst>
              <a:ahLst/>
              <a:cxnLst>
                <a:cxn ang="0">
                  <a:pos x="connsiteX0" y="connsiteY0"/>
                </a:cxn>
                <a:cxn ang="0">
                  <a:pos x="connsiteX1" y="connsiteY1"/>
                </a:cxn>
                <a:cxn ang="0">
                  <a:pos x="connsiteX2" y="connsiteY2"/>
                </a:cxn>
                <a:cxn ang="0">
                  <a:pos x="connsiteX3" y="connsiteY3"/>
                </a:cxn>
              </a:cxnLst>
              <a:rect l="l" t="t" r="r" b="b"/>
              <a:pathLst>
                <a:path w="2917371" h="1214971">
                  <a:moveTo>
                    <a:pt x="0" y="1138771"/>
                  </a:moveTo>
                  <a:cubicBezTo>
                    <a:pt x="341086" y="1037171"/>
                    <a:pt x="682172" y="935571"/>
                    <a:pt x="990600" y="746885"/>
                  </a:cubicBezTo>
                  <a:cubicBezTo>
                    <a:pt x="1299028" y="558199"/>
                    <a:pt x="1529443" y="-71357"/>
                    <a:pt x="1850571" y="6657"/>
                  </a:cubicBezTo>
                  <a:cubicBezTo>
                    <a:pt x="2171700" y="84671"/>
                    <a:pt x="2544535" y="649821"/>
                    <a:pt x="2917371" y="1214971"/>
                  </a:cubicBezTo>
                </a:path>
              </a:pathLst>
            </a:cu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grpSp>
      <p:grpSp>
        <p:nvGrpSpPr>
          <p:cNvPr id="21" name="Group 20">
            <a:extLst>
              <a:ext uri="{FF2B5EF4-FFF2-40B4-BE49-F238E27FC236}">
                <a16:creationId xmlns:a16="http://schemas.microsoft.com/office/drawing/2014/main" id="{B8610B98-71DB-804D-DA20-ADA38BF7525A}"/>
              </a:ext>
            </a:extLst>
          </p:cNvPr>
          <p:cNvGrpSpPr/>
          <p:nvPr/>
        </p:nvGrpSpPr>
        <p:grpSpPr>
          <a:xfrm>
            <a:off x="5365132" y="2482180"/>
            <a:ext cx="2917368" cy="1150114"/>
            <a:chOff x="5126901" y="2482180"/>
            <a:chExt cx="2917368" cy="1150114"/>
          </a:xfrm>
        </p:grpSpPr>
        <p:sp>
          <p:nvSpPr>
            <p:cNvPr id="12" name="Freeform 11">
              <a:extLst>
                <a:ext uri="{FF2B5EF4-FFF2-40B4-BE49-F238E27FC236}">
                  <a16:creationId xmlns:a16="http://schemas.microsoft.com/office/drawing/2014/main" id="{CD10DAD5-5D48-8F1C-2FA3-3C1F15C71CFE}"/>
                </a:ext>
              </a:extLst>
            </p:cNvPr>
            <p:cNvSpPr/>
            <p:nvPr/>
          </p:nvSpPr>
          <p:spPr>
            <a:xfrm>
              <a:off x="5126901" y="2482180"/>
              <a:ext cx="2917368" cy="1150114"/>
            </a:xfrm>
            <a:custGeom>
              <a:avLst/>
              <a:gdLst>
                <a:gd name="connsiteX0" fmla="*/ 0 w 2199503"/>
                <a:gd name="connsiteY0" fmla="*/ 1150114 h 1150114"/>
                <a:gd name="connsiteX1" fmla="*/ 518984 w 2199503"/>
                <a:gd name="connsiteY1" fmla="*/ 408708 h 1150114"/>
                <a:gd name="connsiteX2" fmla="*/ 1186249 w 2199503"/>
                <a:gd name="connsiteY2" fmla="*/ 25649 h 1150114"/>
                <a:gd name="connsiteX3" fmla="*/ 2199503 w 2199503"/>
                <a:gd name="connsiteY3" fmla="*/ 1113044 h 1150114"/>
              </a:gdLst>
              <a:ahLst/>
              <a:cxnLst>
                <a:cxn ang="0">
                  <a:pos x="connsiteX0" y="connsiteY0"/>
                </a:cxn>
                <a:cxn ang="0">
                  <a:pos x="connsiteX1" y="connsiteY1"/>
                </a:cxn>
                <a:cxn ang="0">
                  <a:pos x="connsiteX2" y="connsiteY2"/>
                </a:cxn>
                <a:cxn ang="0">
                  <a:pos x="connsiteX3" y="connsiteY3"/>
                </a:cxn>
              </a:cxnLst>
              <a:rect l="l" t="t" r="r" b="b"/>
              <a:pathLst>
                <a:path w="2199503" h="1150114">
                  <a:moveTo>
                    <a:pt x="0" y="1150114"/>
                  </a:moveTo>
                  <a:cubicBezTo>
                    <a:pt x="160638" y="873116"/>
                    <a:pt x="321276" y="596119"/>
                    <a:pt x="518984" y="408708"/>
                  </a:cubicBezTo>
                  <a:cubicBezTo>
                    <a:pt x="716692" y="221297"/>
                    <a:pt x="906163" y="-91740"/>
                    <a:pt x="1186249" y="25649"/>
                  </a:cubicBezTo>
                  <a:cubicBezTo>
                    <a:pt x="1466335" y="143038"/>
                    <a:pt x="1832919" y="628041"/>
                    <a:pt x="2199503" y="1113044"/>
                  </a:cubicBez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dirty="0"/>
            </a:p>
          </p:txBody>
        </p:sp>
        <p:sp>
          <p:nvSpPr>
            <p:cNvPr id="17" name="Right Arrow 16">
              <a:extLst>
                <a:ext uri="{FF2B5EF4-FFF2-40B4-BE49-F238E27FC236}">
                  <a16:creationId xmlns:a16="http://schemas.microsoft.com/office/drawing/2014/main" id="{A361562C-337A-17D5-1F55-64E5C0C6A4C4}"/>
                </a:ext>
              </a:extLst>
            </p:cNvPr>
            <p:cNvSpPr/>
            <p:nvPr/>
          </p:nvSpPr>
          <p:spPr>
            <a:xfrm rot="12901630">
              <a:off x="5897420" y="2818244"/>
              <a:ext cx="381000" cy="281142"/>
            </a:xfrm>
            <a:prstGeom prst="rightArrow">
              <a:avLst/>
            </a:prstGeom>
            <a:solidFill>
              <a:schemeClr val="accent2">
                <a:lumMod val="75000"/>
              </a:schemeClr>
            </a:solidFill>
            <a:ln>
              <a:solidFill>
                <a:schemeClr val="accent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22" name="Straight Arrow Connector 21">
            <a:extLst>
              <a:ext uri="{FF2B5EF4-FFF2-40B4-BE49-F238E27FC236}">
                <a16:creationId xmlns:a16="http://schemas.microsoft.com/office/drawing/2014/main" id="{A22BF8D0-7B16-A8BC-E1D5-D34E2791EAE6}"/>
              </a:ext>
            </a:extLst>
          </p:cNvPr>
          <p:cNvCxnSpPr>
            <a:cxnSpLocks/>
          </p:cNvCxnSpPr>
          <p:nvPr/>
        </p:nvCxnSpPr>
        <p:spPr>
          <a:xfrm>
            <a:off x="704405" y="3916373"/>
            <a:ext cx="3755301" cy="0"/>
          </a:xfrm>
          <a:prstGeom prst="straightConnector1">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sp>
        <p:nvSpPr>
          <p:cNvPr id="23" name="TextBox 24">
            <a:extLst>
              <a:ext uri="{FF2B5EF4-FFF2-40B4-BE49-F238E27FC236}">
                <a16:creationId xmlns:a16="http://schemas.microsoft.com/office/drawing/2014/main" id="{16F2E925-3196-8653-40BE-78C1A09A604D}"/>
              </a:ext>
            </a:extLst>
          </p:cNvPr>
          <p:cNvSpPr txBox="1"/>
          <p:nvPr/>
        </p:nvSpPr>
        <p:spPr>
          <a:xfrm>
            <a:off x="3912116" y="3939368"/>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solidFill>
                  <a:schemeClr val="bg1"/>
                </a:solidFill>
                <a:cs typeface="Calibri" panose="020F0502020204030204" pitchFamily="34" charset="0"/>
              </a:rPr>
              <a:t>Time</a:t>
            </a:r>
          </a:p>
        </p:txBody>
      </p:sp>
      <p:cxnSp>
        <p:nvCxnSpPr>
          <p:cNvPr id="24" name="Straight Arrow Connector 23">
            <a:extLst>
              <a:ext uri="{FF2B5EF4-FFF2-40B4-BE49-F238E27FC236}">
                <a16:creationId xmlns:a16="http://schemas.microsoft.com/office/drawing/2014/main" id="{605832C1-3102-EB96-A1DE-06ABDF2C590E}"/>
              </a:ext>
            </a:extLst>
          </p:cNvPr>
          <p:cNvCxnSpPr>
            <a:cxnSpLocks/>
          </p:cNvCxnSpPr>
          <p:nvPr/>
        </p:nvCxnSpPr>
        <p:spPr>
          <a:xfrm flipV="1">
            <a:off x="3646364" y="2958815"/>
            <a:ext cx="0" cy="1600200"/>
          </a:xfrm>
          <a:prstGeom prst="straightConnector1">
            <a:avLst/>
          </a:prstGeom>
          <a:ln>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sp>
        <p:nvSpPr>
          <p:cNvPr id="27" name="TextBox 26">
            <a:extLst>
              <a:ext uri="{FF2B5EF4-FFF2-40B4-BE49-F238E27FC236}">
                <a16:creationId xmlns:a16="http://schemas.microsoft.com/office/drawing/2014/main" id="{DDA2610C-E3F6-6AD8-5A12-C9E98F47271F}"/>
              </a:ext>
            </a:extLst>
          </p:cNvPr>
          <p:cNvSpPr txBox="1"/>
          <p:nvPr/>
        </p:nvSpPr>
        <p:spPr>
          <a:xfrm>
            <a:off x="3270704" y="2635163"/>
            <a:ext cx="1453696" cy="276999"/>
          </a:xfrm>
          <a:prstGeom prst="rect">
            <a:avLst/>
          </a:prstGeom>
          <a:noFill/>
        </p:spPr>
        <p:txBody>
          <a:bodyPr wrap="square">
            <a:spAutoFit/>
          </a:bodyPr>
          <a:lstStyle/>
          <a:p>
            <a:r>
              <a:rPr lang="en-US" sz="1200" dirty="0">
                <a:solidFill>
                  <a:schemeClr val="bg1"/>
                </a:solidFill>
                <a:cs typeface="Calibri" panose="020F0502020204030204" pitchFamily="34" charset="0"/>
              </a:rPr>
              <a:t>Uncertainty</a:t>
            </a:r>
          </a:p>
        </p:txBody>
      </p:sp>
      <p:sp>
        <p:nvSpPr>
          <p:cNvPr id="28" name="TextBox 27">
            <a:extLst>
              <a:ext uri="{FF2B5EF4-FFF2-40B4-BE49-F238E27FC236}">
                <a16:creationId xmlns:a16="http://schemas.microsoft.com/office/drawing/2014/main" id="{3578B9CB-5A06-58BF-671B-82741C053706}"/>
              </a:ext>
            </a:extLst>
          </p:cNvPr>
          <p:cNvSpPr txBox="1"/>
          <p:nvPr/>
        </p:nvSpPr>
        <p:spPr>
          <a:xfrm>
            <a:off x="650541" y="1667695"/>
            <a:ext cx="3261575" cy="738664"/>
          </a:xfrm>
          <a:prstGeom prst="rect">
            <a:avLst/>
          </a:prstGeom>
          <a:noFill/>
        </p:spPr>
        <p:txBody>
          <a:bodyPr wrap="square">
            <a:spAutoFit/>
          </a:bodyPr>
          <a:lstStyle/>
          <a:p>
            <a:pPr marL="285750" indent="-285750">
              <a:buFont typeface="Arial" panose="020B0604020202020204" pitchFamily="34" charset="0"/>
              <a:buChar char="•"/>
            </a:pPr>
            <a:r>
              <a:rPr lang="en-US" sz="1400" i="1" dirty="0">
                <a:solidFill>
                  <a:schemeClr val="bg1"/>
                </a:solidFill>
                <a:cs typeface="Calibri" panose="020F0502020204030204" pitchFamily="34" charset="0"/>
              </a:rPr>
              <a:t>If uncertain events happen, prudent decision-makers will do </a:t>
            </a:r>
            <a:r>
              <a:rPr lang="en-US" sz="1400" i="1" dirty="0" err="1">
                <a:solidFill>
                  <a:schemeClr val="bg1"/>
                </a:solidFill>
                <a:cs typeface="Calibri" panose="020F0502020204030204" pitchFamily="34" charset="0"/>
              </a:rPr>
              <a:t>sth</a:t>
            </a:r>
            <a:r>
              <a:rPr lang="en-US" sz="1400" i="1" dirty="0">
                <a:solidFill>
                  <a:schemeClr val="bg1"/>
                </a:solidFill>
                <a:cs typeface="Calibri" panose="020F0502020204030204" pitchFamily="34" charset="0"/>
              </a:rPr>
              <a:t>. to respond to the event</a:t>
            </a:r>
          </a:p>
        </p:txBody>
      </p:sp>
      <p:sp>
        <p:nvSpPr>
          <p:cNvPr id="29" name="TextBox 28">
            <a:extLst>
              <a:ext uri="{FF2B5EF4-FFF2-40B4-BE49-F238E27FC236}">
                <a16:creationId xmlns:a16="http://schemas.microsoft.com/office/drawing/2014/main" id="{D78FE7ED-B8AA-33D4-A97C-603F6701D667}"/>
              </a:ext>
            </a:extLst>
          </p:cNvPr>
          <p:cNvSpPr txBox="1"/>
          <p:nvPr/>
        </p:nvSpPr>
        <p:spPr>
          <a:xfrm>
            <a:off x="651592" y="2522933"/>
            <a:ext cx="2334251" cy="307777"/>
          </a:xfrm>
          <a:prstGeom prst="rect">
            <a:avLst/>
          </a:prstGeom>
          <a:noFill/>
        </p:spPr>
        <p:txBody>
          <a:bodyPr wrap="square">
            <a:spAutoFit/>
          </a:bodyPr>
          <a:lstStyle/>
          <a:p>
            <a:pPr marL="285750" indent="-285750">
              <a:buFont typeface="Arial" panose="020B0604020202020204" pitchFamily="34" charset="0"/>
              <a:buChar char="•"/>
            </a:pPr>
            <a:r>
              <a:rPr lang="en-US" sz="1400" i="1" dirty="0">
                <a:solidFill>
                  <a:schemeClr val="bg1"/>
                </a:solidFill>
                <a:cs typeface="Calibri" panose="020F0502020204030204" pitchFamily="34" charset="0"/>
              </a:rPr>
              <a:t>Time-dependent system:</a:t>
            </a:r>
          </a:p>
        </p:txBody>
      </p:sp>
      <p:pic>
        <p:nvPicPr>
          <p:cNvPr id="31" name="Graphic 30" descr="Artificial Intelligence with solid fill">
            <a:extLst>
              <a:ext uri="{FF2B5EF4-FFF2-40B4-BE49-F238E27FC236}">
                <a16:creationId xmlns:a16="http://schemas.microsoft.com/office/drawing/2014/main" id="{D901DE3A-ABB1-B083-9BB5-8EC6AA79DC3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55516" y="3319463"/>
            <a:ext cx="914400" cy="914400"/>
          </a:xfrm>
          <a:prstGeom prst="rect">
            <a:avLst/>
          </a:prstGeom>
        </p:spPr>
      </p:pic>
      <p:sp>
        <p:nvSpPr>
          <p:cNvPr id="32" name="TextBox 31">
            <a:extLst>
              <a:ext uri="{FF2B5EF4-FFF2-40B4-BE49-F238E27FC236}">
                <a16:creationId xmlns:a16="http://schemas.microsoft.com/office/drawing/2014/main" id="{5E634F4C-22DE-6132-ED38-E537E7CDB072}"/>
              </a:ext>
            </a:extLst>
          </p:cNvPr>
          <p:cNvSpPr txBox="1"/>
          <p:nvPr/>
        </p:nvSpPr>
        <p:spPr>
          <a:xfrm>
            <a:off x="356270" y="3029378"/>
            <a:ext cx="3261575" cy="307777"/>
          </a:xfrm>
          <a:prstGeom prst="rect">
            <a:avLst/>
          </a:prstGeom>
          <a:noFill/>
        </p:spPr>
        <p:txBody>
          <a:bodyPr wrap="square">
            <a:spAutoFit/>
          </a:bodyPr>
          <a:lstStyle/>
          <a:p>
            <a:r>
              <a:rPr lang="en-US" sz="1400" i="1" dirty="0">
                <a:solidFill>
                  <a:schemeClr val="bg1"/>
                </a:solidFill>
                <a:cs typeface="Calibri" panose="020F0502020204030204" pitchFamily="34" charset="0"/>
              </a:rPr>
              <a:t>Decision makers do </a:t>
            </a:r>
            <a:r>
              <a:rPr lang="en-US" sz="1400" i="1" dirty="0" err="1">
                <a:solidFill>
                  <a:schemeClr val="bg1"/>
                </a:solidFill>
                <a:cs typeface="Calibri" panose="020F0502020204030204" pitchFamily="34" charset="0"/>
              </a:rPr>
              <a:t>sth</a:t>
            </a:r>
            <a:r>
              <a:rPr lang="en-US" sz="1400" i="1" dirty="0">
                <a:solidFill>
                  <a:schemeClr val="bg1"/>
                </a:solidFill>
                <a:cs typeface="Calibri" panose="020F0502020204030204" pitchFamily="34" charset="0"/>
              </a:rPr>
              <a:t>. ahead of time</a:t>
            </a:r>
          </a:p>
        </p:txBody>
      </p:sp>
      <p:sp>
        <p:nvSpPr>
          <p:cNvPr id="34" name="TextBox 33">
            <a:extLst>
              <a:ext uri="{FF2B5EF4-FFF2-40B4-BE49-F238E27FC236}">
                <a16:creationId xmlns:a16="http://schemas.microsoft.com/office/drawing/2014/main" id="{A0FC20B9-4636-5440-1C3C-F89A4FE3CA9C}"/>
              </a:ext>
            </a:extLst>
          </p:cNvPr>
          <p:cNvSpPr txBox="1"/>
          <p:nvPr/>
        </p:nvSpPr>
        <p:spPr>
          <a:xfrm>
            <a:off x="644445" y="1294860"/>
            <a:ext cx="3261575" cy="307777"/>
          </a:xfrm>
          <a:prstGeom prst="rect">
            <a:avLst/>
          </a:prstGeom>
          <a:noFill/>
        </p:spPr>
        <p:txBody>
          <a:bodyPr wrap="square">
            <a:spAutoFit/>
          </a:bodyPr>
          <a:lstStyle/>
          <a:p>
            <a:pPr marL="285750" indent="-285750">
              <a:buFont typeface="Arial" panose="020B0604020202020204" pitchFamily="34" charset="0"/>
              <a:buChar char="•"/>
            </a:pPr>
            <a:r>
              <a:rPr lang="en-US" sz="1400" i="1" dirty="0">
                <a:solidFill>
                  <a:schemeClr val="bg1"/>
                </a:solidFill>
                <a:cs typeface="Calibri" panose="020F0502020204030204" pitchFamily="34" charset="0"/>
              </a:rPr>
              <a:t>Economic: seeing ahead, sagacity</a:t>
            </a:r>
          </a:p>
        </p:txBody>
      </p:sp>
      <p:sp>
        <p:nvSpPr>
          <p:cNvPr id="35" name="TextBox 8">
            <a:extLst>
              <a:ext uri="{FF2B5EF4-FFF2-40B4-BE49-F238E27FC236}">
                <a16:creationId xmlns:a16="http://schemas.microsoft.com/office/drawing/2014/main" id="{DF5D96D2-ED69-998E-1D52-DE2F624D846B}"/>
              </a:ext>
            </a:extLst>
          </p:cNvPr>
          <p:cNvSpPr txBox="1">
            <a:spLocks noChangeArrowheads="1"/>
          </p:cNvSpPr>
          <p:nvPr/>
        </p:nvSpPr>
        <p:spPr bwMode="auto">
          <a:xfrm>
            <a:off x="5181600" y="843975"/>
            <a:ext cx="29173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None/>
            </a:pPr>
            <a:r>
              <a:rPr lang="en-US" altLang="en-US" i="1" dirty="0">
                <a:solidFill>
                  <a:schemeClr val="bg1"/>
                </a:solidFill>
              </a:rPr>
              <a:t>Demands</a:t>
            </a:r>
          </a:p>
        </p:txBody>
      </p:sp>
    </p:spTree>
    <p:extLst>
      <p:ext uri="{BB962C8B-B14F-4D97-AF65-F5344CB8AC3E}">
        <p14:creationId xmlns:p14="http://schemas.microsoft.com/office/powerpoint/2010/main" val="27047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hidden"/>
                                      </p:to>
                                    </p:set>
                                  </p:childTnLst>
                                </p:cTn>
                              </p:par>
                              <p:par>
                                <p:cTn id="7" presetID="9"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animEffect transition="in" filter="dissolve">
                                      <p:cBhvr>
                                        <p:cTn id="9" dur="500"/>
                                        <p:tgtEl>
                                          <p:spTgt spid="35"/>
                                        </p:tgtEl>
                                      </p:cBhvr>
                                    </p:animEffect>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dissolve">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50180"/>
                                        </p:tgtEl>
                                        <p:attrNameLst>
                                          <p:attrName>style.visibility</p:attrName>
                                        </p:attrNameLst>
                                      </p:cBhvr>
                                      <p:to>
                                        <p:strVal val="visible"/>
                                      </p:to>
                                    </p:set>
                                    <p:animEffect transition="in" filter="dissolve">
                                      <p:cBhvr>
                                        <p:cTn id="19" dur="500"/>
                                        <p:tgtEl>
                                          <p:spTgt spid="50180"/>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dissolve">
                                      <p:cBhvr>
                                        <p:cTn id="24" dur="5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dissolve">
                                      <p:cBhvr>
                                        <p:cTn id="29" dur="500"/>
                                        <p:tgtEl>
                                          <p:spTgt spid="3"/>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dissolve">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dissolve">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dissolve">
                                      <p:cBhvr>
                                        <p:cTn id="42" dur="500"/>
                                        <p:tgtEl>
                                          <p:spTgt spid="29"/>
                                        </p:tgtEl>
                                      </p:cBhvr>
                                    </p:animEffect>
                                  </p:childTnLst>
                                </p:cTn>
                              </p:par>
                              <p:par>
                                <p:cTn id="43" presetID="9"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dissolve">
                                      <p:cBhvr>
                                        <p:cTn id="45" dur="500"/>
                                        <p:tgtEl>
                                          <p:spTgt spid="22"/>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dissolve">
                                      <p:cBhvr>
                                        <p:cTn id="48" dur="500"/>
                                        <p:tgtEl>
                                          <p:spTgt spid="23"/>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dissolve">
                                      <p:cBhvr>
                                        <p:cTn id="53" dur="500"/>
                                        <p:tgtEl>
                                          <p:spTgt spid="27"/>
                                        </p:tgtEl>
                                      </p:cBhvr>
                                    </p:animEffect>
                                  </p:childTnLst>
                                </p:cTn>
                              </p:par>
                              <p:par>
                                <p:cTn id="54" presetID="9" presetClass="entr" presetSubtype="0"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dissolve">
                                      <p:cBhvr>
                                        <p:cTn id="56" dur="500"/>
                                        <p:tgtEl>
                                          <p:spTgt spid="24"/>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dissolve">
                                      <p:cBhvr>
                                        <p:cTn id="61" dur="500"/>
                                        <p:tgtEl>
                                          <p:spTgt spid="31"/>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dissolve">
                                      <p:cBhvr>
                                        <p:cTn id="6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50180" grpId="0"/>
      <p:bldP spid="3" grpId="0"/>
      <p:bldP spid="23" grpId="0"/>
      <p:bldP spid="27" grpId="0"/>
      <p:bldP spid="28" grpId="0"/>
      <p:bldP spid="29" grpId="0"/>
      <p:bldP spid="32" grpId="0"/>
      <p:bldP spid="34" grpId="0"/>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1" descr="16x9_grey.jpg">
            <a:extLst>
              <a:ext uri="{FF2B5EF4-FFF2-40B4-BE49-F238E27FC236}">
                <a16:creationId xmlns:a16="http://schemas.microsoft.com/office/drawing/2014/main" id="{787542DE-E952-CEA4-62FA-C1DBD2B635D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C81AB479-D306-05E9-0BD2-AC56097AB9ED}"/>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eaLnBrk="1" hangingPunct="1">
              <a:defRPr/>
            </a:pPr>
            <a:endParaRPr lang="zh-CN" altLang="zh-CN">
              <a:solidFill>
                <a:srgbClr val="E6B9B8"/>
              </a:solidFill>
            </a:endParaRPr>
          </a:p>
        </p:txBody>
      </p:sp>
      <p:pic>
        <p:nvPicPr>
          <p:cNvPr id="50179" name="Picture 7">
            <a:extLst>
              <a:ext uri="{FF2B5EF4-FFF2-40B4-BE49-F238E27FC236}">
                <a16:creationId xmlns:a16="http://schemas.microsoft.com/office/drawing/2014/main" id="{809258BA-E7E3-6CD4-79BC-2A806202E9A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TextBox 8">
            <a:extLst>
              <a:ext uri="{FF2B5EF4-FFF2-40B4-BE49-F238E27FC236}">
                <a16:creationId xmlns:a16="http://schemas.microsoft.com/office/drawing/2014/main" id="{28E5441C-D06F-7794-94E3-570D9D45D18C}"/>
              </a:ext>
            </a:extLst>
          </p:cNvPr>
          <p:cNvSpPr txBox="1">
            <a:spLocks noChangeArrowheads="1"/>
          </p:cNvSpPr>
          <p:nvPr/>
        </p:nvSpPr>
        <p:spPr bwMode="auto">
          <a:xfrm>
            <a:off x="847725" y="206892"/>
            <a:ext cx="744855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None/>
            </a:pPr>
            <a:r>
              <a:rPr lang="en-US" sz="2400" i="1" dirty="0">
                <a:solidFill>
                  <a:schemeClr val="bg1"/>
                </a:solidFill>
              </a:rPr>
              <a:t>Toy example:</a:t>
            </a:r>
          </a:p>
          <a:p>
            <a:pPr eaLnBrk="1" hangingPunct="1">
              <a:spcBef>
                <a:spcPct val="0"/>
              </a:spcBef>
              <a:buNone/>
            </a:pPr>
            <a:r>
              <a:rPr lang="en-US" altLang="zh-CN" sz="2400" i="1" dirty="0">
                <a:solidFill>
                  <a:schemeClr val="bg1"/>
                </a:solidFill>
              </a:rPr>
              <a:t>Suppose you have a </a:t>
            </a:r>
            <a:r>
              <a:rPr lang="en-US" altLang="zh-CN" sz="2400" i="1" dirty="0">
                <a:solidFill>
                  <a:schemeClr val="accent6">
                    <a:lumMod val="75000"/>
                  </a:schemeClr>
                </a:solidFill>
              </a:rPr>
              <a:t>battery</a:t>
            </a:r>
            <a:r>
              <a:rPr lang="en-US" altLang="zh-CN" sz="2400" i="1" dirty="0">
                <a:solidFill>
                  <a:schemeClr val="bg1"/>
                </a:solidFill>
              </a:rPr>
              <a:t> and participate in the </a:t>
            </a:r>
            <a:r>
              <a:rPr lang="en-US" altLang="zh-CN" sz="2400" i="1" dirty="0">
                <a:solidFill>
                  <a:schemeClr val="accent6">
                    <a:lumMod val="75000"/>
                  </a:schemeClr>
                </a:solidFill>
              </a:rPr>
              <a:t>real-time market </a:t>
            </a:r>
            <a:r>
              <a:rPr lang="en-US" altLang="zh-CN" sz="2400" i="1" dirty="0">
                <a:solidFill>
                  <a:schemeClr val="bg1"/>
                </a:solidFill>
              </a:rPr>
              <a:t>with </a:t>
            </a:r>
            <a:r>
              <a:rPr lang="en-US" altLang="zh-CN" sz="2400" i="1" dirty="0">
                <a:solidFill>
                  <a:schemeClr val="accent6">
                    <a:lumMod val="75000"/>
                  </a:schemeClr>
                </a:solidFill>
              </a:rPr>
              <a:t>price uncertainty</a:t>
            </a:r>
            <a:r>
              <a:rPr lang="en-US" altLang="zh-CN" sz="2400" i="1" dirty="0">
                <a:solidFill>
                  <a:schemeClr val="bg1"/>
                </a:solidFill>
              </a:rPr>
              <a:t>.</a:t>
            </a:r>
          </a:p>
          <a:p>
            <a:pPr eaLnBrk="1" hangingPunct="1">
              <a:spcBef>
                <a:spcPct val="0"/>
              </a:spcBef>
              <a:buNone/>
            </a:pPr>
            <a:r>
              <a:rPr lang="en-US" altLang="zh-CN" sz="2400" i="1" dirty="0">
                <a:solidFill>
                  <a:schemeClr val="bg1"/>
                </a:solidFill>
              </a:rPr>
              <a:t>You need to decide on </a:t>
            </a:r>
            <a:r>
              <a:rPr lang="en-US" altLang="zh-CN" sz="2400" i="1" dirty="0">
                <a:solidFill>
                  <a:schemeClr val="accent6">
                    <a:lumMod val="75000"/>
                  </a:schemeClr>
                </a:solidFill>
              </a:rPr>
              <a:t>charge or discharge </a:t>
            </a:r>
            <a:r>
              <a:rPr lang="en-US" altLang="zh-CN" sz="2400" i="1" dirty="0">
                <a:solidFill>
                  <a:schemeClr val="bg1"/>
                </a:solidFill>
              </a:rPr>
              <a:t>starting now until the price is realized</a:t>
            </a:r>
          </a:p>
        </p:txBody>
      </p:sp>
      <p:sp>
        <p:nvSpPr>
          <p:cNvPr id="2" name="TextBox 11">
            <a:extLst>
              <a:ext uri="{FF2B5EF4-FFF2-40B4-BE49-F238E27FC236}">
                <a16:creationId xmlns:a16="http://schemas.microsoft.com/office/drawing/2014/main" id="{B080159E-71FF-1DA0-43A2-5276E22B4B9C}"/>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3</a:t>
            </a:r>
            <a:r>
              <a:rPr lang="en-US" altLang="en-US" sz="1200" dirty="0">
                <a:solidFill>
                  <a:schemeClr val="bg1"/>
                </a:solidFill>
              </a:rPr>
              <a:t>|</a:t>
            </a:r>
            <a:endParaRPr lang="en-US" altLang="en-US" sz="900" dirty="0">
              <a:solidFill>
                <a:schemeClr val="bg1"/>
              </a:solidFill>
            </a:endParaRPr>
          </a:p>
        </p:txBody>
      </p:sp>
      <p:sp>
        <p:nvSpPr>
          <p:cNvPr id="4" name="TextBox 8">
            <a:extLst>
              <a:ext uri="{FF2B5EF4-FFF2-40B4-BE49-F238E27FC236}">
                <a16:creationId xmlns:a16="http://schemas.microsoft.com/office/drawing/2014/main" id="{81FDF5BD-6BF6-F7E6-9FE1-50A0CD3B4F02}"/>
              </a:ext>
            </a:extLst>
          </p:cNvPr>
          <p:cNvSpPr txBox="1">
            <a:spLocks noChangeArrowheads="1"/>
          </p:cNvSpPr>
          <p:nvPr/>
        </p:nvSpPr>
        <p:spPr bwMode="auto">
          <a:xfrm>
            <a:off x="847725" y="4186178"/>
            <a:ext cx="7448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None/>
            </a:pPr>
            <a:r>
              <a:rPr lang="en-US" altLang="zh-CN" sz="2800" i="1" dirty="0">
                <a:solidFill>
                  <a:schemeClr val="accent6">
                    <a:lumMod val="75000"/>
                  </a:schemeClr>
                </a:solidFill>
              </a:rPr>
              <a:t>What will you do?  </a:t>
            </a:r>
          </a:p>
        </p:txBody>
      </p:sp>
      <p:sp>
        <p:nvSpPr>
          <p:cNvPr id="3" name="TextBox 8">
            <a:extLst>
              <a:ext uri="{FF2B5EF4-FFF2-40B4-BE49-F238E27FC236}">
                <a16:creationId xmlns:a16="http://schemas.microsoft.com/office/drawing/2014/main" id="{AC152FBE-5F15-F6C6-8567-59B59FD5BAFE}"/>
              </a:ext>
            </a:extLst>
          </p:cNvPr>
          <p:cNvSpPr txBox="1">
            <a:spLocks noChangeArrowheads="1"/>
          </p:cNvSpPr>
          <p:nvPr/>
        </p:nvSpPr>
        <p:spPr bwMode="auto">
          <a:xfrm>
            <a:off x="847725" y="2044379"/>
            <a:ext cx="74485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None/>
            </a:pPr>
            <a:r>
              <a:rPr lang="en-US" altLang="zh-CN" sz="2400" i="1" dirty="0">
                <a:solidFill>
                  <a:schemeClr val="bg1"/>
                </a:solidFill>
              </a:rPr>
              <a:t>Now, I told you </a:t>
            </a:r>
            <a:r>
              <a:rPr lang="en-US" altLang="zh-CN" sz="2400" i="1" dirty="0">
                <a:solidFill>
                  <a:schemeClr val="accent6">
                    <a:lumMod val="75000"/>
                  </a:schemeClr>
                </a:solidFill>
              </a:rPr>
              <a:t>future price variance increase</a:t>
            </a:r>
            <a:r>
              <a:rPr lang="en-US" altLang="zh-CN" sz="2400" i="1" dirty="0">
                <a:solidFill>
                  <a:schemeClr val="bg1"/>
                </a:solidFill>
              </a:rPr>
              <a:t>, but the </a:t>
            </a:r>
            <a:r>
              <a:rPr lang="en-US" altLang="zh-CN" sz="2400" i="1" dirty="0">
                <a:solidFill>
                  <a:schemeClr val="accent6">
                    <a:lumMod val="75000"/>
                  </a:schemeClr>
                </a:solidFill>
              </a:rPr>
              <a:t>expectation is the same</a:t>
            </a:r>
            <a:r>
              <a:rPr lang="en-US" altLang="zh-CN" sz="2400" i="1" dirty="0">
                <a:solidFill>
                  <a:schemeClr val="bg1"/>
                </a:solidFill>
              </a:rPr>
              <a:t>.</a:t>
            </a:r>
          </a:p>
        </p:txBody>
      </p:sp>
      <p:sp>
        <p:nvSpPr>
          <p:cNvPr id="13" name="Freeform 12">
            <a:extLst>
              <a:ext uri="{FF2B5EF4-FFF2-40B4-BE49-F238E27FC236}">
                <a16:creationId xmlns:a16="http://schemas.microsoft.com/office/drawing/2014/main" id="{363AD143-8849-1CC7-0136-1DF015483316}"/>
              </a:ext>
            </a:extLst>
          </p:cNvPr>
          <p:cNvSpPr/>
          <p:nvPr/>
        </p:nvSpPr>
        <p:spPr>
          <a:xfrm flipV="1">
            <a:off x="5615554" y="3082639"/>
            <a:ext cx="1600181" cy="638975"/>
          </a:xfrm>
          <a:custGeom>
            <a:avLst/>
            <a:gdLst>
              <a:gd name="connsiteX0" fmla="*/ 0 w 1092200"/>
              <a:gd name="connsiteY0" fmla="*/ 38100 h 865548"/>
              <a:gd name="connsiteX1" fmla="*/ 279400 w 1092200"/>
              <a:gd name="connsiteY1" fmla="*/ 647700 h 865548"/>
              <a:gd name="connsiteX2" fmla="*/ 609600 w 1092200"/>
              <a:gd name="connsiteY2" fmla="*/ 863600 h 865548"/>
              <a:gd name="connsiteX3" fmla="*/ 927100 w 1092200"/>
              <a:gd name="connsiteY3" fmla="*/ 546100 h 865548"/>
              <a:gd name="connsiteX4" fmla="*/ 1092200 w 1092200"/>
              <a:gd name="connsiteY4" fmla="*/ 0 h 865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2200" h="865548">
                <a:moveTo>
                  <a:pt x="0" y="38100"/>
                </a:moveTo>
                <a:cubicBezTo>
                  <a:pt x="88900" y="274108"/>
                  <a:pt x="177800" y="510117"/>
                  <a:pt x="279400" y="647700"/>
                </a:cubicBezTo>
                <a:cubicBezTo>
                  <a:pt x="381000" y="785283"/>
                  <a:pt x="501650" y="880533"/>
                  <a:pt x="609600" y="863600"/>
                </a:cubicBezTo>
                <a:cubicBezTo>
                  <a:pt x="717550" y="846667"/>
                  <a:pt x="846667" y="690033"/>
                  <a:pt x="927100" y="546100"/>
                </a:cubicBezTo>
                <a:cubicBezTo>
                  <a:pt x="1007533" y="402167"/>
                  <a:pt x="1049866" y="201083"/>
                  <a:pt x="1092200" y="0"/>
                </a:cubicBezTo>
              </a:path>
            </a:pathLst>
          </a:custGeom>
          <a:ln w="28575">
            <a:solidFill>
              <a:schemeClr val="bg1"/>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grpSp>
        <p:nvGrpSpPr>
          <p:cNvPr id="17" name="Group 16">
            <a:extLst>
              <a:ext uri="{FF2B5EF4-FFF2-40B4-BE49-F238E27FC236}">
                <a16:creationId xmlns:a16="http://schemas.microsoft.com/office/drawing/2014/main" id="{2D1B9DEC-4058-25A4-14AF-37F28208F1FC}"/>
              </a:ext>
            </a:extLst>
          </p:cNvPr>
          <p:cNvGrpSpPr/>
          <p:nvPr/>
        </p:nvGrpSpPr>
        <p:grpSpPr>
          <a:xfrm>
            <a:off x="5284525" y="2856066"/>
            <a:ext cx="2312230" cy="1015445"/>
            <a:chOff x="5688770" y="2730523"/>
            <a:chExt cx="2312230" cy="1295914"/>
          </a:xfrm>
        </p:grpSpPr>
        <p:grpSp>
          <p:nvGrpSpPr>
            <p:cNvPr id="15" name="Group 14">
              <a:extLst>
                <a:ext uri="{FF2B5EF4-FFF2-40B4-BE49-F238E27FC236}">
                  <a16:creationId xmlns:a16="http://schemas.microsoft.com/office/drawing/2014/main" id="{82B44B19-EC1C-1051-2642-A681F1EB12F2}"/>
                </a:ext>
              </a:extLst>
            </p:cNvPr>
            <p:cNvGrpSpPr/>
            <p:nvPr/>
          </p:nvGrpSpPr>
          <p:grpSpPr>
            <a:xfrm>
              <a:off x="5688770" y="2876550"/>
              <a:ext cx="2312230" cy="1149887"/>
              <a:chOff x="5688770" y="2876550"/>
              <a:chExt cx="2312230" cy="1149887"/>
            </a:xfrm>
          </p:grpSpPr>
          <p:cxnSp>
            <p:nvCxnSpPr>
              <p:cNvPr id="6" name="Straight Arrow Connector 5">
                <a:extLst>
                  <a:ext uri="{FF2B5EF4-FFF2-40B4-BE49-F238E27FC236}">
                    <a16:creationId xmlns:a16="http://schemas.microsoft.com/office/drawing/2014/main" id="{CBFD454C-B5DF-1801-E1FE-C577A0AC42A2}"/>
                  </a:ext>
                </a:extLst>
              </p:cNvPr>
              <p:cNvCxnSpPr>
                <a:cxnSpLocks/>
              </p:cNvCxnSpPr>
              <p:nvPr/>
            </p:nvCxnSpPr>
            <p:spPr>
              <a:xfrm>
                <a:off x="5688770" y="3844201"/>
                <a:ext cx="2312230" cy="0"/>
              </a:xfrm>
              <a:prstGeom prst="straightConnector1">
                <a:avLst/>
              </a:prstGeom>
              <a:ln w="28575">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A5A8F0BC-BD63-94AF-12A1-88A1E07F9CB1}"/>
                  </a:ext>
                </a:extLst>
              </p:cNvPr>
              <p:cNvCxnSpPr>
                <a:cxnSpLocks/>
              </p:cNvCxnSpPr>
              <p:nvPr/>
            </p:nvCxnSpPr>
            <p:spPr>
              <a:xfrm flipV="1">
                <a:off x="5943600" y="2876550"/>
                <a:ext cx="0" cy="1149887"/>
              </a:xfrm>
              <a:prstGeom prst="straightConnector1">
                <a:avLst/>
              </a:prstGeom>
              <a:ln w="28575">
                <a:solidFill>
                  <a:schemeClr val="bg1"/>
                </a:solidFill>
                <a:tailEnd type="triangle"/>
              </a:ln>
            </p:spPr>
            <p:style>
              <a:lnRef idx="1">
                <a:schemeClr val="dk1"/>
              </a:lnRef>
              <a:fillRef idx="0">
                <a:schemeClr val="dk1"/>
              </a:fillRef>
              <a:effectRef idx="0">
                <a:schemeClr val="dk1"/>
              </a:effectRef>
              <a:fontRef idx="minor">
                <a:schemeClr val="tx1"/>
              </a:fontRef>
            </p:style>
          </p:cxnSp>
          <p:sp>
            <p:nvSpPr>
              <p:cNvPr id="9" name="Freeform 8">
                <a:extLst>
                  <a:ext uri="{FF2B5EF4-FFF2-40B4-BE49-F238E27FC236}">
                    <a16:creationId xmlns:a16="http://schemas.microsoft.com/office/drawing/2014/main" id="{EA91AB13-D44C-0AB3-91C4-E8890298AFF3}"/>
                  </a:ext>
                </a:extLst>
              </p:cNvPr>
              <p:cNvSpPr/>
              <p:nvPr/>
            </p:nvSpPr>
            <p:spPr>
              <a:xfrm flipV="1">
                <a:off x="6270458" y="2978653"/>
                <a:ext cx="1092200" cy="865548"/>
              </a:xfrm>
              <a:custGeom>
                <a:avLst/>
                <a:gdLst>
                  <a:gd name="connsiteX0" fmla="*/ 0 w 1092200"/>
                  <a:gd name="connsiteY0" fmla="*/ 38100 h 865548"/>
                  <a:gd name="connsiteX1" fmla="*/ 279400 w 1092200"/>
                  <a:gd name="connsiteY1" fmla="*/ 647700 h 865548"/>
                  <a:gd name="connsiteX2" fmla="*/ 609600 w 1092200"/>
                  <a:gd name="connsiteY2" fmla="*/ 863600 h 865548"/>
                  <a:gd name="connsiteX3" fmla="*/ 927100 w 1092200"/>
                  <a:gd name="connsiteY3" fmla="*/ 546100 h 865548"/>
                  <a:gd name="connsiteX4" fmla="*/ 1092200 w 1092200"/>
                  <a:gd name="connsiteY4" fmla="*/ 0 h 865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2200" h="865548">
                    <a:moveTo>
                      <a:pt x="0" y="38100"/>
                    </a:moveTo>
                    <a:cubicBezTo>
                      <a:pt x="88900" y="274108"/>
                      <a:pt x="177800" y="510117"/>
                      <a:pt x="279400" y="647700"/>
                    </a:cubicBezTo>
                    <a:cubicBezTo>
                      <a:pt x="381000" y="785283"/>
                      <a:pt x="501650" y="880533"/>
                      <a:pt x="609600" y="863600"/>
                    </a:cubicBezTo>
                    <a:cubicBezTo>
                      <a:pt x="717550" y="846667"/>
                      <a:pt x="846667" y="690033"/>
                      <a:pt x="927100" y="546100"/>
                    </a:cubicBezTo>
                    <a:cubicBezTo>
                      <a:pt x="1007533" y="402167"/>
                      <a:pt x="1049866" y="201083"/>
                      <a:pt x="1092200" y="0"/>
                    </a:cubicBezTo>
                  </a:path>
                </a:pathLst>
              </a:custGeom>
              <a:ln w="28575">
                <a:solidFill>
                  <a:schemeClr val="bg1"/>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grpSp>
        <p:sp>
          <p:nvSpPr>
            <p:cNvPr id="16" name="TextBox 53">
              <a:extLst>
                <a:ext uri="{FF2B5EF4-FFF2-40B4-BE49-F238E27FC236}">
                  <a16:creationId xmlns:a16="http://schemas.microsoft.com/office/drawing/2014/main" id="{6EE68179-7125-04E3-2AF1-0C715645F248}"/>
                </a:ext>
              </a:extLst>
            </p:cNvPr>
            <p:cNvSpPr txBox="1"/>
            <p:nvPr/>
          </p:nvSpPr>
          <p:spPr>
            <a:xfrm>
              <a:off x="6019799" y="2730523"/>
              <a:ext cx="1406509"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solidFill>
                    <a:schemeClr val="bg1"/>
                  </a:solidFill>
                  <a:cs typeface="Calibri" panose="020F0502020204030204" pitchFamily="34" charset="0"/>
                </a:rPr>
                <a:t>Price pdf</a:t>
              </a:r>
            </a:p>
          </p:txBody>
        </p:sp>
      </p:grpSp>
      <p:cxnSp>
        <p:nvCxnSpPr>
          <p:cNvPr id="19" name="Straight Arrow Connector 18">
            <a:extLst>
              <a:ext uri="{FF2B5EF4-FFF2-40B4-BE49-F238E27FC236}">
                <a16:creationId xmlns:a16="http://schemas.microsoft.com/office/drawing/2014/main" id="{81B0F8B2-D5B1-31AC-7CE7-2C7B7906C712}"/>
              </a:ext>
            </a:extLst>
          </p:cNvPr>
          <p:cNvCxnSpPr>
            <a:cxnSpLocks/>
          </p:cNvCxnSpPr>
          <p:nvPr/>
        </p:nvCxnSpPr>
        <p:spPr>
          <a:xfrm>
            <a:off x="923390" y="3569392"/>
            <a:ext cx="3134968" cy="0"/>
          </a:xfrm>
          <a:prstGeom prst="straightConnector1">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5EB9D432-0131-34C0-F024-84A7A6530FA4}"/>
              </a:ext>
            </a:extLst>
          </p:cNvPr>
          <p:cNvCxnSpPr>
            <a:cxnSpLocks/>
          </p:cNvCxnSpPr>
          <p:nvPr/>
        </p:nvCxnSpPr>
        <p:spPr>
          <a:xfrm flipV="1">
            <a:off x="3042055" y="3312810"/>
            <a:ext cx="0" cy="433783"/>
          </a:xfrm>
          <a:prstGeom prst="straightConnector1">
            <a:avLst/>
          </a:prstGeom>
          <a:ln w="19050">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22" name="Graphic 21" descr="Battery charging with solid fill">
            <a:extLst>
              <a:ext uri="{FF2B5EF4-FFF2-40B4-BE49-F238E27FC236}">
                <a16:creationId xmlns:a16="http://schemas.microsoft.com/office/drawing/2014/main" id="{55BEA3A8-72C6-5E48-8D40-B402F44EA98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513541" y="3219343"/>
            <a:ext cx="652168" cy="652168"/>
          </a:xfrm>
          <a:prstGeom prst="rect">
            <a:avLst/>
          </a:prstGeom>
        </p:spPr>
      </p:pic>
      <p:sp>
        <p:nvSpPr>
          <p:cNvPr id="24" name="TextBox 53">
            <a:extLst>
              <a:ext uri="{FF2B5EF4-FFF2-40B4-BE49-F238E27FC236}">
                <a16:creationId xmlns:a16="http://schemas.microsoft.com/office/drawing/2014/main" id="{94DEACCF-251B-CE83-97B0-37BADED922EB}"/>
              </a:ext>
            </a:extLst>
          </p:cNvPr>
          <p:cNvSpPr txBox="1"/>
          <p:nvPr/>
        </p:nvSpPr>
        <p:spPr>
          <a:xfrm>
            <a:off x="2490874" y="2982843"/>
            <a:ext cx="1406509"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solidFill>
                  <a:schemeClr val="bg1"/>
                </a:solidFill>
                <a:cs typeface="Calibri" panose="020F0502020204030204" pitchFamily="34" charset="0"/>
              </a:rPr>
              <a:t>Future price</a:t>
            </a:r>
          </a:p>
        </p:txBody>
      </p:sp>
      <p:sp>
        <p:nvSpPr>
          <p:cNvPr id="25" name="TextBox 53">
            <a:extLst>
              <a:ext uri="{FF2B5EF4-FFF2-40B4-BE49-F238E27FC236}">
                <a16:creationId xmlns:a16="http://schemas.microsoft.com/office/drawing/2014/main" id="{1CA1FB8F-ABE9-757B-1A60-B33545A5B787}"/>
              </a:ext>
            </a:extLst>
          </p:cNvPr>
          <p:cNvSpPr txBox="1"/>
          <p:nvPr/>
        </p:nvSpPr>
        <p:spPr>
          <a:xfrm>
            <a:off x="3615183" y="3615810"/>
            <a:ext cx="65216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solidFill>
                  <a:schemeClr val="bg1"/>
                </a:solidFill>
                <a:cs typeface="Calibri" panose="020F0502020204030204" pitchFamily="34" charset="0"/>
              </a:rPr>
              <a:t>Time</a:t>
            </a:r>
          </a:p>
        </p:txBody>
      </p:sp>
    </p:spTree>
    <p:extLst>
      <p:ext uri="{BB962C8B-B14F-4D97-AF65-F5344CB8AC3E}">
        <p14:creationId xmlns:p14="http://schemas.microsoft.com/office/powerpoint/2010/main" val="2777807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par>
                                <p:cTn id="8" presetID="9"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dissolve">
                                      <p:cBhvr>
                                        <p:cTn id="10" dur="500"/>
                                        <p:tgtEl>
                                          <p:spTgt spid="21"/>
                                        </p:tgtEl>
                                      </p:cBhvr>
                                    </p:animEffect>
                                  </p:childTnLst>
                                </p:cTn>
                              </p:par>
                              <p:par>
                                <p:cTn id="11" presetID="9"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dissolve">
                                      <p:cBhvr>
                                        <p:cTn id="13" dur="500"/>
                                        <p:tgtEl>
                                          <p:spTgt spid="22"/>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dissolve">
                                      <p:cBhvr>
                                        <p:cTn id="16" dur="500"/>
                                        <p:tgtEl>
                                          <p:spTgt spid="24"/>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dissolve">
                                      <p:cBhvr>
                                        <p:cTn id="19" dur="5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dissolve">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dissolve">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dissolve">
                                      <p:cBhvr>
                                        <p:cTn id="3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13" grpId="0" animBg="1"/>
      <p:bldP spid="24" grpId="0"/>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1" descr="16x9_grey.jpg">
            <a:extLst>
              <a:ext uri="{FF2B5EF4-FFF2-40B4-BE49-F238E27FC236}">
                <a16:creationId xmlns:a16="http://schemas.microsoft.com/office/drawing/2014/main" id="{787542DE-E952-CEA4-62FA-C1DBD2B635D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C81AB479-D306-05E9-0BD2-AC56097AB9ED}"/>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eaLnBrk="1" hangingPunct="1">
              <a:defRPr/>
            </a:pPr>
            <a:endParaRPr lang="zh-CN" altLang="zh-CN">
              <a:solidFill>
                <a:srgbClr val="E6B9B8"/>
              </a:solidFill>
            </a:endParaRPr>
          </a:p>
        </p:txBody>
      </p:sp>
      <p:pic>
        <p:nvPicPr>
          <p:cNvPr id="50179" name="Picture 7">
            <a:extLst>
              <a:ext uri="{FF2B5EF4-FFF2-40B4-BE49-F238E27FC236}">
                <a16:creationId xmlns:a16="http://schemas.microsoft.com/office/drawing/2014/main" id="{809258BA-E7E3-6CD4-79BC-2A806202E9A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TextBox 8">
            <a:extLst>
              <a:ext uri="{FF2B5EF4-FFF2-40B4-BE49-F238E27FC236}">
                <a16:creationId xmlns:a16="http://schemas.microsoft.com/office/drawing/2014/main" id="{28E5441C-D06F-7794-94E3-570D9D45D18C}"/>
              </a:ext>
            </a:extLst>
          </p:cNvPr>
          <p:cNvSpPr txBox="1">
            <a:spLocks noChangeArrowheads="1"/>
          </p:cNvSpPr>
          <p:nvPr/>
        </p:nvSpPr>
        <p:spPr bwMode="auto">
          <a:xfrm>
            <a:off x="1219200" y="1051336"/>
            <a:ext cx="7391400" cy="261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marL="457200" indent="-457200" eaLnBrk="1" hangingPunct="1">
              <a:lnSpc>
                <a:spcPct val="150000"/>
              </a:lnSpc>
              <a:spcBef>
                <a:spcPct val="0"/>
              </a:spcBef>
            </a:pPr>
            <a:r>
              <a:rPr lang="en-US" altLang="zh-CN" sz="2800" i="1" dirty="0">
                <a:solidFill>
                  <a:schemeClr val="accent6">
                    <a:lumMod val="75000"/>
                  </a:schemeClr>
                </a:solidFill>
              </a:rPr>
              <a:t>Background</a:t>
            </a:r>
          </a:p>
          <a:p>
            <a:pPr marL="457200" indent="-457200" eaLnBrk="1" hangingPunct="1">
              <a:lnSpc>
                <a:spcPct val="150000"/>
              </a:lnSpc>
              <a:spcBef>
                <a:spcPct val="0"/>
              </a:spcBef>
            </a:pPr>
            <a:r>
              <a:rPr lang="en-US" altLang="zh-CN" sz="2800" i="1" dirty="0">
                <a:solidFill>
                  <a:schemeClr val="bg1"/>
                </a:solidFill>
              </a:rPr>
              <a:t>Problem formulation</a:t>
            </a:r>
          </a:p>
          <a:p>
            <a:pPr marL="457200" indent="-457200" eaLnBrk="1" hangingPunct="1">
              <a:lnSpc>
                <a:spcPct val="150000"/>
              </a:lnSpc>
              <a:spcBef>
                <a:spcPct val="0"/>
              </a:spcBef>
            </a:pPr>
            <a:r>
              <a:rPr lang="en-US" altLang="en-US" sz="2800" i="1" dirty="0">
                <a:solidFill>
                  <a:schemeClr val="bg1"/>
                </a:solidFill>
              </a:rPr>
              <a:t>Main Results</a:t>
            </a:r>
          </a:p>
          <a:p>
            <a:pPr marL="457200" indent="-457200" eaLnBrk="1" hangingPunct="1">
              <a:lnSpc>
                <a:spcPct val="150000"/>
              </a:lnSpc>
              <a:spcBef>
                <a:spcPct val="0"/>
              </a:spcBef>
            </a:pPr>
            <a:r>
              <a:rPr lang="en-US" altLang="en-US" sz="2800" i="1" dirty="0">
                <a:solidFill>
                  <a:schemeClr val="bg1"/>
                </a:solidFill>
              </a:rPr>
              <a:t>Case Study and Conclusion</a:t>
            </a:r>
          </a:p>
        </p:txBody>
      </p:sp>
      <p:sp>
        <p:nvSpPr>
          <p:cNvPr id="2" name="TextBox 11">
            <a:extLst>
              <a:ext uri="{FF2B5EF4-FFF2-40B4-BE49-F238E27FC236}">
                <a16:creationId xmlns:a16="http://schemas.microsoft.com/office/drawing/2014/main" id="{B080159E-71FF-1DA0-43A2-5276E22B4B9C}"/>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4</a:t>
            </a:r>
            <a:r>
              <a:rPr lang="en-US" altLang="en-US" sz="1200" dirty="0">
                <a:solidFill>
                  <a:schemeClr val="bg1"/>
                </a:solidFill>
              </a:rPr>
              <a:t>|</a:t>
            </a:r>
            <a:endParaRPr lang="en-US" altLang="en-US" sz="900" dirty="0">
              <a:solidFill>
                <a:schemeClr val="bg1"/>
              </a:solidFill>
            </a:endParaRPr>
          </a:p>
        </p:txBody>
      </p:sp>
    </p:spTree>
    <p:extLst>
      <p:ext uri="{BB962C8B-B14F-4D97-AF65-F5344CB8AC3E}">
        <p14:creationId xmlns:p14="http://schemas.microsoft.com/office/powerpoint/2010/main" val="657697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Background</a:t>
            </a:r>
          </a:p>
        </p:txBody>
      </p:sp>
      <p:sp>
        <p:nvSpPr>
          <p:cNvPr id="9" name="Rectangle 8">
            <a:extLst>
              <a:ext uri="{FF2B5EF4-FFF2-40B4-BE49-F238E27FC236}">
                <a16:creationId xmlns:a16="http://schemas.microsoft.com/office/drawing/2014/main" id="{C3A1AEDC-7A36-4E62-8C66-BD561769A32F}"/>
              </a:ext>
            </a:extLst>
          </p:cNvPr>
          <p:cNvSpPr/>
          <p:nvPr/>
        </p:nvSpPr>
        <p:spPr>
          <a:xfrm>
            <a:off x="228600" y="576513"/>
            <a:ext cx="3880385" cy="338554"/>
          </a:xfrm>
          <a:prstGeom prst="rect">
            <a:avLst/>
          </a:prstGeom>
        </p:spPr>
        <p:txBody>
          <a:bodyPr wrap="square">
            <a:spAutoFit/>
          </a:bodyPr>
          <a:lstStyle/>
          <a:p>
            <a:pPr eaLnBrk="1" fontAlgn="auto" hangingPunct="1">
              <a:spcBef>
                <a:spcPts val="0"/>
              </a:spcBef>
              <a:spcAft>
                <a:spcPts val="0"/>
              </a:spcAft>
              <a:defRPr/>
            </a:pPr>
            <a:r>
              <a:rPr lang="en-US" altLang="zh-CN" sz="1600" b="1" dirty="0">
                <a:solidFill>
                  <a:srgbClr val="C00000"/>
                </a:solidFill>
                <a:latin typeface="+mn-lt"/>
                <a:ea typeface="+mn-ea"/>
                <a:cs typeface="Helvetica"/>
              </a:rPr>
              <a:t>Motivation</a:t>
            </a:r>
            <a:endParaRPr lang="en-US" altLang="zh-CN" sz="1600" dirty="0">
              <a:solidFill>
                <a:srgbClr val="C00000"/>
              </a:solidFill>
              <a:latin typeface="+mn-lt"/>
              <a:ea typeface="+mn-ea"/>
              <a:cs typeface="Helvetica"/>
            </a:endParaRP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5</a:t>
            </a:r>
            <a:r>
              <a:rPr lang="en-US" altLang="en-US" sz="1200" dirty="0">
                <a:solidFill>
                  <a:schemeClr val="bg1"/>
                </a:solidFill>
              </a:rPr>
              <a:t>| </a:t>
            </a:r>
            <a:r>
              <a:rPr lang="en-US" altLang="en-US" sz="1050" dirty="0">
                <a:solidFill>
                  <a:schemeClr val="bg1"/>
                </a:solidFill>
              </a:rPr>
              <a:t>Background</a:t>
            </a:r>
            <a:endParaRPr lang="en-US" altLang="en-US" sz="900" dirty="0">
              <a:solidFill>
                <a:schemeClr val="bg1"/>
              </a:solidFill>
            </a:endParaRPr>
          </a:p>
        </p:txBody>
      </p:sp>
      <p:sp>
        <p:nvSpPr>
          <p:cNvPr id="50" name="Right Arrow 49">
            <a:extLst>
              <a:ext uri="{FF2B5EF4-FFF2-40B4-BE49-F238E27FC236}">
                <a16:creationId xmlns:a16="http://schemas.microsoft.com/office/drawing/2014/main" id="{D5D7983E-D392-C89D-057D-1B925DDF523C}"/>
              </a:ext>
            </a:extLst>
          </p:cNvPr>
          <p:cNvSpPr/>
          <p:nvPr/>
        </p:nvSpPr>
        <p:spPr>
          <a:xfrm rot="5400000">
            <a:off x="4240428" y="3783932"/>
            <a:ext cx="438522" cy="62154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BC7A4A2-E81A-0AEE-EC4B-2AFF5FF6796F}"/>
              </a:ext>
            </a:extLst>
          </p:cNvPr>
          <p:cNvSpPr txBox="1"/>
          <p:nvPr/>
        </p:nvSpPr>
        <p:spPr>
          <a:xfrm>
            <a:off x="2703103" y="4313964"/>
            <a:ext cx="3803108" cy="338554"/>
          </a:xfrm>
          <a:prstGeom prst="rect">
            <a:avLst/>
          </a:prstGeom>
          <a:noFill/>
        </p:spPr>
        <p:txBody>
          <a:bodyPr wrap="square">
            <a:spAutoFit/>
          </a:bodyPr>
          <a:lstStyle/>
          <a:p>
            <a:pPr eaLnBrk="1" fontAlgn="auto" hangingPunct="1">
              <a:spcBef>
                <a:spcPts val="0"/>
              </a:spcBef>
              <a:spcAft>
                <a:spcPts val="0"/>
              </a:spcAft>
              <a:defRPr/>
            </a:pPr>
            <a:r>
              <a:rPr lang="en-US" sz="1600" b="1" dirty="0">
                <a:solidFill>
                  <a:srgbClr val="C00000"/>
                </a:solidFill>
                <a:latin typeface="+mn-lt"/>
                <a:ea typeface="+mn-ea"/>
              </a:rPr>
              <a:t>Consumers become more responsive</a:t>
            </a:r>
          </a:p>
        </p:txBody>
      </p:sp>
      <p:sp>
        <p:nvSpPr>
          <p:cNvPr id="3" name="TextBox 2">
            <a:extLst>
              <a:ext uri="{FF2B5EF4-FFF2-40B4-BE49-F238E27FC236}">
                <a16:creationId xmlns:a16="http://schemas.microsoft.com/office/drawing/2014/main" id="{D8C075A8-B621-0AA8-C59A-4DA3B9BE8AF3}"/>
              </a:ext>
            </a:extLst>
          </p:cNvPr>
          <p:cNvSpPr txBox="1"/>
          <p:nvPr/>
        </p:nvSpPr>
        <p:spPr>
          <a:xfrm>
            <a:off x="255588" y="896243"/>
            <a:ext cx="4018595" cy="307777"/>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United States DER integration increase</a:t>
            </a:r>
          </a:p>
        </p:txBody>
      </p:sp>
      <p:sp>
        <p:nvSpPr>
          <p:cNvPr id="6" name="TextBox 5">
            <a:extLst>
              <a:ext uri="{FF2B5EF4-FFF2-40B4-BE49-F238E27FC236}">
                <a16:creationId xmlns:a16="http://schemas.microsoft.com/office/drawing/2014/main" id="{DBFF0581-853C-D305-5F16-CB0E768F847E}"/>
              </a:ext>
            </a:extLst>
          </p:cNvPr>
          <p:cNvSpPr txBox="1"/>
          <p:nvPr/>
        </p:nvSpPr>
        <p:spPr>
          <a:xfrm>
            <a:off x="228600" y="3538201"/>
            <a:ext cx="3853397" cy="415498"/>
          </a:xfrm>
          <a:prstGeom prst="rect">
            <a:avLst/>
          </a:prstGeom>
          <a:noFill/>
        </p:spPr>
        <p:txBody>
          <a:bodyPr wrap="square">
            <a:spAutoFit/>
          </a:bodyPr>
          <a:lstStyle/>
          <a:p>
            <a:r>
              <a:rPr lang="en-US" sz="700" dirty="0">
                <a:hlinkClick r:id="rId4"/>
              </a:rPr>
              <a:t>https://en.wikipedia.org/wiki/Solar_power_in_the_United_States</a:t>
            </a:r>
            <a:endParaRPr lang="en-US" sz="700" dirty="0"/>
          </a:p>
          <a:p>
            <a:r>
              <a:rPr lang="en-US" sz="700" dirty="0">
                <a:hlinkClick r:id="rId5"/>
              </a:rPr>
              <a:t>https://www.eia.gov/todayinenergy/detail.php?id=60341</a:t>
            </a:r>
            <a:endParaRPr lang="en-US" sz="700" dirty="0"/>
          </a:p>
          <a:p>
            <a:r>
              <a:rPr lang="en-US" sz="700" dirty="0">
                <a:hlinkClick r:id="rId6"/>
              </a:rPr>
              <a:t>https://www.woodmac.com/news/opinion/transformation-distributed-energy-resource-market/</a:t>
            </a:r>
            <a:endParaRPr lang="en-US" sz="700" dirty="0"/>
          </a:p>
        </p:txBody>
      </p:sp>
      <p:pic>
        <p:nvPicPr>
          <p:cNvPr id="8" name="Picture 7">
            <a:extLst>
              <a:ext uri="{FF2B5EF4-FFF2-40B4-BE49-F238E27FC236}">
                <a16:creationId xmlns:a16="http://schemas.microsoft.com/office/drawing/2014/main" id="{F1D7C1B6-3672-A37C-EFD7-8436108D6C4A}"/>
              </a:ext>
            </a:extLst>
          </p:cNvPr>
          <p:cNvPicPr>
            <a:picLocks noChangeAspect="1"/>
          </p:cNvPicPr>
          <p:nvPr/>
        </p:nvPicPr>
        <p:blipFill>
          <a:blip r:embed="rId7"/>
          <a:stretch>
            <a:fillRect/>
          </a:stretch>
        </p:blipFill>
        <p:spPr>
          <a:xfrm>
            <a:off x="290682" y="1585484"/>
            <a:ext cx="3853397" cy="1834149"/>
          </a:xfrm>
          <a:prstGeom prst="rect">
            <a:avLst/>
          </a:prstGeom>
        </p:spPr>
      </p:pic>
      <p:sp>
        <p:nvSpPr>
          <p:cNvPr id="13" name="Oval 12">
            <a:extLst>
              <a:ext uri="{FF2B5EF4-FFF2-40B4-BE49-F238E27FC236}">
                <a16:creationId xmlns:a16="http://schemas.microsoft.com/office/drawing/2014/main" id="{C3BF1D95-5DE2-B93B-8115-FF0DFFD855F2}"/>
              </a:ext>
            </a:extLst>
          </p:cNvPr>
          <p:cNvSpPr/>
          <p:nvPr/>
        </p:nvSpPr>
        <p:spPr>
          <a:xfrm>
            <a:off x="3501877" y="1693810"/>
            <a:ext cx="772306" cy="322098"/>
          </a:xfrm>
          <a:prstGeom prst="ellipse">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5A94D994-EA53-A313-3F3E-8ECA86B98012}"/>
              </a:ext>
            </a:extLst>
          </p:cNvPr>
          <p:cNvSpPr txBox="1"/>
          <p:nvPr/>
        </p:nvSpPr>
        <p:spPr>
          <a:xfrm>
            <a:off x="1371600" y="1234798"/>
            <a:ext cx="2370911" cy="461665"/>
          </a:xfrm>
          <a:prstGeom prst="rect">
            <a:avLst/>
          </a:prstGeom>
          <a:noFill/>
        </p:spPr>
        <p:txBody>
          <a:bodyPr wrap="square">
            <a:spAutoFit/>
          </a:bodyPr>
          <a:lstStyle/>
          <a:p>
            <a:r>
              <a:rPr lang="en-US" sz="1200" dirty="0">
                <a:solidFill>
                  <a:srgbClr val="C00000"/>
                </a:solidFill>
                <a:cs typeface="Calibri" panose="020F0502020204030204" pitchFamily="34" charset="0"/>
              </a:rPr>
              <a:t>179 GW solar capacity until 2023</a:t>
            </a:r>
          </a:p>
          <a:p>
            <a:r>
              <a:rPr lang="en-US" sz="1200" dirty="0">
                <a:solidFill>
                  <a:srgbClr val="C00000"/>
                </a:solidFill>
                <a:cs typeface="Calibri" panose="020F0502020204030204" pitchFamily="34" charset="0"/>
              </a:rPr>
              <a:t>22% are distributed</a:t>
            </a:r>
          </a:p>
        </p:txBody>
      </p:sp>
      <p:pic>
        <p:nvPicPr>
          <p:cNvPr id="17" name="Picture 16">
            <a:extLst>
              <a:ext uri="{FF2B5EF4-FFF2-40B4-BE49-F238E27FC236}">
                <a16:creationId xmlns:a16="http://schemas.microsoft.com/office/drawing/2014/main" id="{AA81B26D-8133-6BA1-CBDB-0BD9F6B4E144}"/>
              </a:ext>
            </a:extLst>
          </p:cNvPr>
          <p:cNvPicPr>
            <a:picLocks noChangeAspect="1"/>
          </p:cNvPicPr>
          <p:nvPr/>
        </p:nvPicPr>
        <p:blipFill>
          <a:blip r:embed="rId8"/>
          <a:stretch>
            <a:fillRect/>
          </a:stretch>
        </p:blipFill>
        <p:spPr>
          <a:xfrm>
            <a:off x="552895" y="1643473"/>
            <a:ext cx="3135277" cy="1828651"/>
          </a:xfrm>
          <a:prstGeom prst="rect">
            <a:avLst/>
          </a:prstGeom>
        </p:spPr>
      </p:pic>
      <p:pic>
        <p:nvPicPr>
          <p:cNvPr id="18" name="Picture 17">
            <a:extLst>
              <a:ext uri="{FF2B5EF4-FFF2-40B4-BE49-F238E27FC236}">
                <a16:creationId xmlns:a16="http://schemas.microsoft.com/office/drawing/2014/main" id="{FDCE13AD-E4E8-84FE-2380-67CA2A23BF0F}"/>
              </a:ext>
            </a:extLst>
          </p:cNvPr>
          <p:cNvPicPr>
            <a:picLocks noChangeAspect="1"/>
          </p:cNvPicPr>
          <p:nvPr/>
        </p:nvPicPr>
        <p:blipFill>
          <a:blip r:embed="rId9"/>
          <a:stretch>
            <a:fillRect/>
          </a:stretch>
        </p:blipFill>
        <p:spPr>
          <a:xfrm>
            <a:off x="4770460" y="1215748"/>
            <a:ext cx="3681456" cy="2371806"/>
          </a:xfrm>
          <a:prstGeom prst="rect">
            <a:avLst/>
          </a:prstGeom>
        </p:spPr>
      </p:pic>
      <p:sp>
        <p:nvSpPr>
          <p:cNvPr id="2" name="TextBox 1">
            <a:extLst>
              <a:ext uri="{FF2B5EF4-FFF2-40B4-BE49-F238E27FC236}">
                <a16:creationId xmlns:a16="http://schemas.microsoft.com/office/drawing/2014/main" id="{045F0161-1291-631B-BAD6-057A357F15BA}"/>
              </a:ext>
            </a:extLst>
          </p:cNvPr>
          <p:cNvSpPr txBox="1"/>
          <p:nvPr/>
        </p:nvSpPr>
        <p:spPr>
          <a:xfrm>
            <a:off x="4572000" y="886489"/>
            <a:ext cx="4418013" cy="307777"/>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Consumers installed more smart home devices </a:t>
            </a:r>
          </a:p>
        </p:txBody>
      </p:sp>
      <p:sp>
        <p:nvSpPr>
          <p:cNvPr id="19" name="TextBox 18">
            <a:extLst>
              <a:ext uri="{FF2B5EF4-FFF2-40B4-BE49-F238E27FC236}">
                <a16:creationId xmlns:a16="http://schemas.microsoft.com/office/drawing/2014/main" id="{B0E634F1-3BAB-ACBB-A2F1-BB5C19427CC1}"/>
              </a:ext>
            </a:extLst>
          </p:cNvPr>
          <p:cNvSpPr txBox="1"/>
          <p:nvPr/>
        </p:nvSpPr>
        <p:spPr>
          <a:xfrm>
            <a:off x="4604657" y="3539484"/>
            <a:ext cx="4615542" cy="307777"/>
          </a:xfrm>
          <a:prstGeom prst="rect">
            <a:avLst/>
          </a:prstGeom>
          <a:noFill/>
        </p:spPr>
        <p:txBody>
          <a:bodyPr wrap="square">
            <a:spAutoFit/>
          </a:bodyPr>
          <a:lstStyle/>
          <a:p>
            <a:r>
              <a:rPr lang="en-US" sz="700" dirty="0">
                <a:hlinkClick r:id="rId10"/>
              </a:rPr>
              <a:t>https://www.statista.com/statistics/1075749/united-states-installed-base-of-smart-home-systems/#statisticContainer</a:t>
            </a:r>
            <a:endParaRPr lang="en-US" sz="700" dirty="0"/>
          </a:p>
          <a:p>
            <a:r>
              <a:rPr lang="en-US" sz="700" dirty="0">
                <a:hlinkClick r:id="rId11"/>
              </a:rPr>
              <a:t>https://www.techtarget.com/iotagenda/definition/smart-home-or-building</a:t>
            </a:r>
            <a:endParaRPr lang="en-US" sz="700" dirty="0"/>
          </a:p>
        </p:txBody>
      </p:sp>
      <p:sp>
        <p:nvSpPr>
          <p:cNvPr id="4" name="TextBox 3">
            <a:extLst>
              <a:ext uri="{FF2B5EF4-FFF2-40B4-BE49-F238E27FC236}">
                <a16:creationId xmlns:a16="http://schemas.microsoft.com/office/drawing/2014/main" id="{95CA9A5A-166B-4498-27B6-29286910445F}"/>
              </a:ext>
            </a:extLst>
          </p:cNvPr>
          <p:cNvSpPr txBox="1"/>
          <p:nvPr/>
        </p:nvSpPr>
        <p:spPr>
          <a:xfrm>
            <a:off x="3313022" y="1477391"/>
            <a:ext cx="744037" cy="276999"/>
          </a:xfrm>
          <a:prstGeom prst="rect">
            <a:avLst/>
          </a:prstGeom>
          <a:noFill/>
        </p:spPr>
        <p:txBody>
          <a:bodyPr wrap="square">
            <a:spAutoFit/>
          </a:bodyPr>
          <a:lstStyle/>
          <a:p>
            <a:r>
              <a:rPr lang="en-US" sz="1200" dirty="0">
                <a:solidFill>
                  <a:srgbClr val="C00000"/>
                </a:solidFill>
                <a:cs typeface="Calibri" panose="020F0502020204030204" pitchFamily="34" charset="0"/>
              </a:rPr>
              <a:t>40GW</a:t>
            </a:r>
          </a:p>
        </p:txBody>
      </p:sp>
      <p:sp>
        <p:nvSpPr>
          <p:cNvPr id="5" name="Oval 4">
            <a:extLst>
              <a:ext uri="{FF2B5EF4-FFF2-40B4-BE49-F238E27FC236}">
                <a16:creationId xmlns:a16="http://schemas.microsoft.com/office/drawing/2014/main" id="{83A753B8-B26D-9E67-0832-2563E4100AA1}"/>
              </a:ext>
            </a:extLst>
          </p:cNvPr>
          <p:cNvSpPr/>
          <p:nvPr/>
        </p:nvSpPr>
        <p:spPr>
          <a:xfrm>
            <a:off x="7690253" y="1331770"/>
            <a:ext cx="772306" cy="322098"/>
          </a:xfrm>
          <a:prstGeom prst="ellipse">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FFEBC890-0397-3C7B-A161-9CBFC6DC19BF}"/>
              </a:ext>
            </a:extLst>
          </p:cNvPr>
          <p:cNvSpPr txBox="1"/>
          <p:nvPr/>
        </p:nvSpPr>
        <p:spPr>
          <a:xfrm>
            <a:off x="7168708" y="1205200"/>
            <a:ext cx="908492" cy="276999"/>
          </a:xfrm>
          <a:prstGeom prst="rect">
            <a:avLst/>
          </a:prstGeom>
          <a:noFill/>
        </p:spPr>
        <p:txBody>
          <a:bodyPr wrap="square">
            <a:spAutoFit/>
          </a:bodyPr>
          <a:lstStyle/>
          <a:p>
            <a:r>
              <a:rPr lang="en-US" sz="1200" dirty="0">
                <a:solidFill>
                  <a:srgbClr val="C00000"/>
                </a:solidFill>
                <a:cs typeface="Calibri" panose="020F0502020204030204" pitchFamily="34" charset="0"/>
              </a:rPr>
              <a:t>2.8 Billion</a:t>
            </a:r>
          </a:p>
        </p:txBody>
      </p:sp>
      <p:sp>
        <p:nvSpPr>
          <p:cNvPr id="16" name="Oval 15">
            <a:extLst>
              <a:ext uri="{FF2B5EF4-FFF2-40B4-BE49-F238E27FC236}">
                <a16:creationId xmlns:a16="http://schemas.microsoft.com/office/drawing/2014/main" id="{7004AC87-BB8C-8C8F-EBFA-D0ECF2FBDD12}"/>
              </a:ext>
            </a:extLst>
          </p:cNvPr>
          <p:cNvSpPr/>
          <p:nvPr/>
        </p:nvSpPr>
        <p:spPr>
          <a:xfrm>
            <a:off x="1640589" y="1581150"/>
            <a:ext cx="1618094" cy="229548"/>
          </a:xfrm>
          <a:prstGeom prst="ellipse">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896869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dissolve">
                                      <p:cBhvr>
                                        <p:cTn id="10" dur="500"/>
                                        <p:tgtEl>
                                          <p:spTgt spid="1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dissolve">
                                      <p:cBhvr>
                                        <p:cTn id="18" dur="500"/>
                                        <p:tgtEl>
                                          <p:spTgt spid="17"/>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dissolv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dissolve">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dissolve">
                                      <p:cBhvr>
                                        <p:cTn id="36" dur="500"/>
                                        <p:tgtEl>
                                          <p:spTgt spid="18"/>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dissolve">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dissolve">
                                      <p:cBhvr>
                                        <p:cTn id="44" dur="500"/>
                                        <p:tgtEl>
                                          <p:spTgt spid="5"/>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dissolv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dissolve">
                                      <p:cBhvr>
                                        <p:cTn id="52" dur="500"/>
                                        <p:tgtEl>
                                          <p:spTgt spid="14"/>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dissolve">
                                      <p:cBhvr>
                                        <p:cTn id="55"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14" grpId="0"/>
      <p:bldP spid="6" grpId="0"/>
      <p:bldP spid="13" grpId="0" animBg="1"/>
      <p:bldP spid="15" grpId="0"/>
      <p:bldP spid="2" grpId="0"/>
      <p:bldP spid="19" grpId="0"/>
      <p:bldP spid="4" grpId="0"/>
      <p:bldP spid="5" grpId="0" animBg="1"/>
      <p:bldP spid="12" grpId="0"/>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Background</a:t>
            </a:r>
          </a:p>
        </p:txBody>
      </p:sp>
      <p:sp>
        <p:nvSpPr>
          <p:cNvPr id="9" name="Rectangle 8">
            <a:extLst>
              <a:ext uri="{FF2B5EF4-FFF2-40B4-BE49-F238E27FC236}">
                <a16:creationId xmlns:a16="http://schemas.microsoft.com/office/drawing/2014/main" id="{C3A1AEDC-7A36-4E62-8C66-BD561769A32F}"/>
              </a:ext>
            </a:extLst>
          </p:cNvPr>
          <p:cNvSpPr/>
          <p:nvPr/>
        </p:nvSpPr>
        <p:spPr>
          <a:xfrm>
            <a:off x="206829" y="513589"/>
            <a:ext cx="6629400" cy="338554"/>
          </a:xfrm>
          <a:prstGeom prst="rect">
            <a:avLst/>
          </a:prstGeom>
        </p:spPr>
        <p:txBody>
          <a:bodyPr wrap="square">
            <a:spAutoFit/>
          </a:bodyPr>
          <a:lstStyle/>
          <a:p>
            <a:pPr eaLnBrk="1" fontAlgn="auto" hangingPunct="1">
              <a:spcBef>
                <a:spcPts val="0"/>
              </a:spcBef>
              <a:spcAft>
                <a:spcPts val="0"/>
              </a:spcAft>
              <a:defRPr/>
            </a:pPr>
            <a:r>
              <a:rPr lang="en-US" altLang="zh-CN" sz="1600" b="1" dirty="0">
                <a:solidFill>
                  <a:srgbClr val="C00000"/>
                </a:solidFill>
                <a:latin typeface="+mn-lt"/>
                <a:ea typeface="+mn-ea"/>
                <a:cs typeface="Helvetica"/>
              </a:rPr>
              <a:t>Dynamic prices </a:t>
            </a:r>
            <a:r>
              <a:rPr lang="en-US" sz="1600" b="1" dirty="0">
                <a:solidFill>
                  <a:srgbClr val="C00000"/>
                </a:solidFill>
                <a:latin typeface="+mn-lt"/>
                <a:ea typeface="+mn-ea"/>
                <a:cs typeface="Helvetica"/>
              </a:rPr>
              <a:t>incentivize consumers’ responsiveness – uncertainty </a:t>
            </a:r>
            <a:endParaRPr lang="en-US" altLang="zh-CN" sz="1600" b="1" dirty="0">
              <a:solidFill>
                <a:srgbClr val="C00000"/>
              </a:solidFill>
              <a:latin typeface="+mn-lt"/>
              <a:ea typeface="+mn-ea"/>
              <a:cs typeface="Helvetica"/>
            </a:endParaRP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6</a:t>
            </a:r>
            <a:r>
              <a:rPr lang="en-US" altLang="en-US" sz="1200" dirty="0">
                <a:solidFill>
                  <a:schemeClr val="bg1"/>
                </a:solidFill>
              </a:rPr>
              <a:t>| </a:t>
            </a:r>
            <a:r>
              <a:rPr lang="en-US" altLang="en-US" sz="1050" dirty="0">
                <a:solidFill>
                  <a:schemeClr val="bg1"/>
                </a:solidFill>
              </a:rPr>
              <a:t>Background</a:t>
            </a:r>
            <a:endParaRPr lang="en-US" altLang="en-US" sz="900" dirty="0">
              <a:solidFill>
                <a:schemeClr val="bg1"/>
              </a:solidFill>
            </a:endParaRPr>
          </a:p>
        </p:txBody>
      </p:sp>
      <p:sp>
        <p:nvSpPr>
          <p:cNvPr id="50" name="Right Arrow 49">
            <a:extLst>
              <a:ext uri="{FF2B5EF4-FFF2-40B4-BE49-F238E27FC236}">
                <a16:creationId xmlns:a16="http://schemas.microsoft.com/office/drawing/2014/main" id="{D5D7983E-D392-C89D-057D-1B925DDF523C}"/>
              </a:ext>
            </a:extLst>
          </p:cNvPr>
          <p:cNvSpPr/>
          <p:nvPr/>
        </p:nvSpPr>
        <p:spPr>
          <a:xfrm rot="5400000">
            <a:off x="4310168" y="3809990"/>
            <a:ext cx="438522" cy="62154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437EC6F-79F2-0C9E-F6C7-56CE814F8695}"/>
              </a:ext>
            </a:extLst>
          </p:cNvPr>
          <p:cNvSpPr/>
          <p:nvPr/>
        </p:nvSpPr>
        <p:spPr>
          <a:xfrm>
            <a:off x="1537494" y="4334842"/>
            <a:ext cx="6069012" cy="338554"/>
          </a:xfrm>
          <a:prstGeom prst="rect">
            <a:avLst/>
          </a:prstGeom>
        </p:spPr>
        <p:txBody>
          <a:bodyPr wrap="square">
            <a:spAutoFit/>
          </a:bodyPr>
          <a:lstStyle/>
          <a:p>
            <a:pPr eaLnBrk="1" fontAlgn="auto" hangingPunct="1">
              <a:spcBef>
                <a:spcPts val="0"/>
              </a:spcBef>
              <a:spcAft>
                <a:spcPts val="0"/>
              </a:spcAft>
              <a:defRPr/>
            </a:pPr>
            <a:r>
              <a:rPr lang="en-US" altLang="zh-CN" sz="1600" b="1" dirty="0">
                <a:solidFill>
                  <a:srgbClr val="C00000"/>
                </a:solidFill>
                <a:latin typeface="+mn-lt"/>
                <a:ea typeface="+mn-ea"/>
                <a:cs typeface="Helvetica"/>
              </a:rPr>
              <a:t>Understand complex risk-aware behaviors facing (price) uncertainty</a:t>
            </a:r>
          </a:p>
        </p:txBody>
      </p:sp>
      <p:sp>
        <p:nvSpPr>
          <p:cNvPr id="12" name="TextBox 11">
            <a:extLst>
              <a:ext uri="{FF2B5EF4-FFF2-40B4-BE49-F238E27FC236}">
                <a16:creationId xmlns:a16="http://schemas.microsoft.com/office/drawing/2014/main" id="{C4FB1717-32F5-3439-EC94-BF6F4717A8F2}"/>
              </a:ext>
            </a:extLst>
          </p:cNvPr>
          <p:cNvSpPr txBox="1"/>
          <p:nvPr/>
        </p:nvSpPr>
        <p:spPr>
          <a:xfrm>
            <a:off x="4705861" y="855691"/>
            <a:ext cx="4410126" cy="523220"/>
          </a:xfrm>
          <a:prstGeom prst="rect">
            <a:avLst/>
          </a:prstGeom>
          <a:noFill/>
        </p:spPr>
        <p:txBody>
          <a:bodyPr wrap="square">
            <a:spAutoFit/>
          </a:bodyPr>
          <a:lstStyle/>
          <a:p>
            <a:pPr marL="285750" indent="-285750" eaLnBrk="1" fontAlgn="auto" hangingPunct="1">
              <a:spcBef>
                <a:spcPts val="300"/>
              </a:spcBef>
              <a:spcAft>
                <a:spcPts val="0"/>
              </a:spcAft>
              <a:buFont typeface="Arial" panose="020B0604020202020204" pitchFamily="34" charset="0"/>
              <a:buChar char="•"/>
              <a:defRPr/>
            </a:pPr>
            <a:r>
              <a:rPr lang="en-US" sz="1400" dirty="0">
                <a:cs typeface="Calibri" panose="020F0502020204030204" pitchFamily="34" charset="0"/>
              </a:rPr>
              <a:t>Utility companies adopt dynamic tariffs to incentivize demand responses.</a:t>
            </a:r>
          </a:p>
        </p:txBody>
      </p:sp>
      <p:sp>
        <p:nvSpPr>
          <p:cNvPr id="6" name="TextBox 5">
            <a:extLst>
              <a:ext uri="{FF2B5EF4-FFF2-40B4-BE49-F238E27FC236}">
                <a16:creationId xmlns:a16="http://schemas.microsoft.com/office/drawing/2014/main" id="{DBFF0581-853C-D305-5F16-CB0E768F847E}"/>
              </a:ext>
            </a:extLst>
          </p:cNvPr>
          <p:cNvSpPr txBox="1"/>
          <p:nvPr/>
        </p:nvSpPr>
        <p:spPr>
          <a:xfrm>
            <a:off x="164282" y="3635078"/>
            <a:ext cx="3853397" cy="415498"/>
          </a:xfrm>
          <a:prstGeom prst="rect">
            <a:avLst/>
          </a:prstGeom>
          <a:noFill/>
        </p:spPr>
        <p:txBody>
          <a:bodyPr wrap="square">
            <a:spAutoFit/>
          </a:bodyPr>
          <a:lstStyle/>
          <a:p>
            <a:r>
              <a:rPr lang="en-US" sz="700" dirty="0">
                <a:hlinkClick r:id="rId4"/>
              </a:rPr>
              <a:t>https://en.wikipedia.org/wiki/Solar_power_in_the_United_States</a:t>
            </a:r>
            <a:endParaRPr lang="en-US" sz="700" dirty="0"/>
          </a:p>
          <a:p>
            <a:r>
              <a:rPr lang="en-US" sz="700" dirty="0">
                <a:hlinkClick r:id="rId5"/>
              </a:rPr>
              <a:t>https://www.eia.gov/todayinenergy/detail.php?id=60341</a:t>
            </a:r>
            <a:endParaRPr lang="en-US" sz="700" dirty="0"/>
          </a:p>
          <a:p>
            <a:r>
              <a:rPr lang="en-US" sz="700" dirty="0">
                <a:hlinkClick r:id="rId6"/>
              </a:rPr>
              <a:t>https://www.woodmac.com/news/opinion/transformation-distributed-energy-resource-market/</a:t>
            </a:r>
            <a:endParaRPr lang="en-US" sz="700" dirty="0"/>
          </a:p>
        </p:txBody>
      </p:sp>
      <p:sp>
        <p:nvSpPr>
          <p:cNvPr id="19" name="TextBox 18">
            <a:extLst>
              <a:ext uri="{FF2B5EF4-FFF2-40B4-BE49-F238E27FC236}">
                <a16:creationId xmlns:a16="http://schemas.microsoft.com/office/drawing/2014/main" id="{9FD7E0FC-0B01-8245-2962-2E3E1C0CB528}"/>
              </a:ext>
            </a:extLst>
          </p:cNvPr>
          <p:cNvSpPr txBox="1"/>
          <p:nvPr/>
        </p:nvSpPr>
        <p:spPr>
          <a:xfrm>
            <a:off x="261256" y="871948"/>
            <a:ext cx="4724400" cy="307777"/>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Wholesale markets are inherently uncertain. </a:t>
            </a:r>
          </a:p>
        </p:txBody>
      </p:sp>
      <p:pic>
        <p:nvPicPr>
          <p:cNvPr id="22" name="Picture 21">
            <a:extLst>
              <a:ext uri="{FF2B5EF4-FFF2-40B4-BE49-F238E27FC236}">
                <a16:creationId xmlns:a16="http://schemas.microsoft.com/office/drawing/2014/main" id="{B40881F0-DC6F-4FCB-BDFF-67138FECADA1}"/>
              </a:ext>
            </a:extLst>
          </p:cNvPr>
          <p:cNvPicPr>
            <a:picLocks noChangeAspect="1"/>
          </p:cNvPicPr>
          <p:nvPr/>
        </p:nvPicPr>
        <p:blipFill>
          <a:blip r:embed="rId7"/>
          <a:stretch>
            <a:fillRect/>
          </a:stretch>
        </p:blipFill>
        <p:spPr>
          <a:xfrm>
            <a:off x="373465" y="1203390"/>
            <a:ext cx="3659736" cy="2252145"/>
          </a:xfrm>
          <a:prstGeom prst="rect">
            <a:avLst/>
          </a:prstGeom>
        </p:spPr>
      </p:pic>
      <p:pic>
        <p:nvPicPr>
          <p:cNvPr id="21" name="Picture 20">
            <a:extLst>
              <a:ext uri="{FF2B5EF4-FFF2-40B4-BE49-F238E27FC236}">
                <a16:creationId xmlns:a16="http://schemas.microsoft.com/office/drawing/2014/main" id="{46656BD5-ACC9-F020-ED23-643574BE3F2F}"/>
              </a:ext>
            </a:extLst>
          </p:cNvPr>
          <p:cNvPicPr>
            <a:picLocks noChangeAspect="1"/>
          </p:cNvPicPr>
          <p:nvPr/>
        </p:nvPicPr>
        <p:blipFill>
          <a:blip r:embed="rId8"/>
          <a:stretch>
            <a:fillRect/>
          </a:stretch>
        </p:blipFill>
        <p:spPr>
          <a:xfrm>
            <a:off x="164282" y="1340218"/>
            <a:ext cx="3659736" cy="1929163"/>
          </a:xfrm>
          <a:prstGeom prst="rect">
            <a:avLst/>
          </a:prstGeom>
        </p:spPr>
      </p:pic>
      <p:pic>
        <p:nvPicPr>
          <p:cNvPr id="23" name="Picture 22">
            <a:extLst>
              <a:ext uri="{FF2B5EF4-FFF2-40B4-BE49-F238E27FC236}">
                <a16:creationId xmlns:a16="http://schemas.microsoft.com/office/drawing/2014/main" id="{FF402113-2EBD-5EA2-CFD6-2B64B48D6CA6}"/>
              </a:ext>
            </a:extLst>
          </p:cNvPr>
          <p:cNvPicPr>
            <a:picLocks noChangeAspect="1"/>
          </p:cNvPicPr>
          <p:nvPr/>
        </p:nvPicPr>
        <p:blipFill>
          <a:blip r:embed="rId9"/>
          <a:stretch>
            <a:fillRect/>
          </a:stretch>
        </p:blipFill>
        <p:spPr>
          <a:xfrm>
            <a:off x="1222761" y="2787194"/>
            <a:ext cx="3084411" cy="796444"/>
          </a:xfrm>
          <a:prstGeom prst="rect">
            <a:avLst/>
          </a:prstGeom>
        </p:spPr>
      </p:pic>
      <p:sp>
        <p:nvSpPr>
          <p:cNvPr id="31" name="TextBox 30">
            <a:extLst>
              <a:ext uri="{FF2B5EF4-FFF2-40B4-BE49-F238E27FC236}">
                <a16:creationId xmlns:a16="http://schemas.microsoft.com/office/drawing/2014/main" id="{73AD8D1D-51FA-E7FC-0452-32B87143BFD5}"/>
              </a:ext>
            </a:extLst>
          </p:cNvPr>
          <p:cNvSpPr txBox="1"/>
          <p:nvPr/>
        </p:nvSpPr>
        <p:spPr>
          <a:xfrm>
            <a:off x="5039175" y="1386219"/>
            <a:ext cx="3393875" cy="307777"/>
          </a:xfrm>
          <a:prstGeom prst="rect">
            <a:avLst/>
          </a:prstGeom>
          <a:solidFill>
            <a:schemeClr val="bg1"/>
          </a:solidFill>
        </p:spPr>
        <p:txBody>
          <a:bodyPr wrap="square">
            <a:spAutoFit/>
          </a:bodyPr>
          <a:lstStyle/>
          <a:p>
            <a:r>
              <a:rPr lang="en-US" sz="1400" dirty="0">
                <a:cs typeface="Calibri" panose="020F0502020204030204" pitchFamily="34" charset="0"/>
              </a:rPr>
              <a:t>Ameren Power Smart Pricing in Illinois</a:t>
            </a:r>
          </a:p>
        </p:txBody>
      </p:sp>
      <p:pic>
        <p:nvPicPr>
          <p:cNvPr id="32" name="Picture 31">
            <a:extLst>
              <a:ext uri="{FF2B5EF4-FFF2-40B4-BE49-F238E27FC236}">
                <a16:creationId xmlns:a16="http://schemas.microsoft.com/office/drawing/2014/main" id="{00081755-7072-B07B-81E8-FE9634EF59CF}"/>
              </a:ext>
            </a:extLst>
          </p:cNvPr>
          <p:cNvPicPr>
            <a:picLocks noChangeAspect="1"/>
          </p:cNvPicPr>
          <p:nvPr/>
        </p:nvPicPr>
        <p:blipFill>
          <a:blip r:embed="rId10"/>
          <a:stretch>
            <a:fillRect/>
          </a:stretch>
        </p:blipFill>
        <p:spPr>
          <a:xfrm>
            <a:off x="4419600" y="1677897"/>
            <a:ext cx="4724400" cy="2029616"/>
          </a:xfrm>
          <a:prstGeom prst="rect">
            <a:avLst/>
          </a:prstGeom>
        </p:spPr>
      </p:pic>
      <p:sp>
        <p:nvSpPr>
          <p:cNvPr id="16" name="TextBox 15">
            <a:extLst>
              <a:ext uri="{FF2B5EF4-FFF2-40B4-BE49-F238E27FC236}">
                <a16:creationId xmlns:a16="http://schemas.microsoft.com/office/drawing/2014/main" id="{C2D525D0-12CC-5D2F-9D7A-25B20942870B}"/>
              </a:ext>
            </a:extLst>
          </p:cNvPr>
          <p:cNvSpPr txBox="1"/>
          <p:nvPr/>
        </p:nvSpPr>
        <p:spPr>
          <a:xfrm>
            <a:off x="5019343" y="2205562"/>
            <a:ext cx="2372058" cy="584775"/>
          </a:xfrm>
          <a:prstGeom prst="rect">
            <a:avLst/>
          </a:prstGeom>
          <a:noFill/>
        </p:spPr>
        <p:txBody>
          <a:bodyPr wrap="square">
            <a:spAutoFit/>
          </a:bodyPr>
          <a:lstStyle/>
          <a:p>
            <a:r>
              <a:rPr lang="en-US" sz="1600" b="1" dirty="0">
                <a:solidFill>
                  <a:srgbClr val="C00000"/>
                </a:solidFill>
                <a:latin typeface="+mn-lt"/>
                <a:ea typeface="+mn-ea"/>
              </a:rPr>
              <a:t>Retail consumer bear huge uncertainty </a:t>
            </a:r>
          </a:p>
        </p:txBody>
      </p:sp>
      <p:sp>
        <p:nvSpPr>
          <p:cNvPr id="33" name="TextBox 32">
            <a:extLst>
              <a:ext uri="{FF2B5EF4-FFF2-40B4-BE49-F238E27FC236}">
                <a16:creationId xmlns:a16="http://schemas.microsoft.com/office/drawing/2014/main" id="{01F78472-A9CC-ECED-5881-39981A2C528F}"/>
              </a:ext>
            </a:extLst>
          </p:cNvPr>
          <p:cNvSpPr txBox="1"/>
          <p:nvPr/>
        </p:nvSpPr>
        <p:spPr>
          <a:xfrm>
            <a:off x="5192337" y="3604279"/>
            <a:ext cx="3853397" cy="523220"/>
          </a:xfrm>
          <a:prstGeom prst="rect">
            <a:avLst/>
          </a:prstGeom>
          <a:noFill/>
        </p:spPr>
        <p:txBody>
          <a:bodyPr wrap="square">
            <a:spAutoFit/>
          </a:bodyPr>
          <a:lstStyle/>
          <a:p>
            <a:pPr algn="r"/>
            <a:r>
              <a:rPr lang="en-US" sz="700" dirty="0">
                <a:hlinkClick r:id="rId5"/>
              </a:rPr>
              <a:t>https://www.coned.com/en/accounts-billing/your-bill/time-of-use</a:t>
            </a:r>
          </a:p>
          <a:p>
            <a:pPr algn="r"/>
            <a:r>
              <a:rPr lang="en-US" sz="700" dirty="0">
                <a:hlinkClick r:id="rId6"/>
              </a:rPr>
              <a:t>https://www.srpnet.com/price-plans/residential-electric/time-of-use</a:t>
            </a:r>
          </a:p>
          <a:p>
            <a:pPr algn="r"/>
            <a:r>
              <a:rPr lang="en-US" sz="700" dirty="0">
                <a:hlinkClick r:id="rId11"/>
              </a:rPr>
              <a:t>https://www.oge.com/wps/portal/ord/residential/pricing-options/smart-hours</a:t>
            </a:r>
            <a:endParaRPr lang="en-US" sz="700" dirty="0"/>
          </a:p>
          <a:p>
            <a:pPr algn="r"/>
            <a:r>
              <a:rPr lang="en-US" sz="700" dirty="0">
                <a:hlinkClick r:id="rId12"/>
              </a:rPr>
              <a:t>https://www.ameren.com/illinois/account/customer-service/bill/power-smart-pricing/</a:t>
            </a:r>
            <a:endParaRPr lang="en-US" sz="700" dirty="0"/>
          </a:p>
        </p:txBody>
      </p:sp>
      <p:sp>
        <p:nvSpPr>
          <p:cNvPr id="2" name="TextBox 1">
            <a:extLst>
              <a:ext uri="{FF2B5EF4-FFF2-40B4-BE49-F238E27FC236}">
                <a16:creationId xmlns:a16="http://schemas.microsoft.com/office/drawing/2014/main" id="{D2396228-A152-9F69-2E9F-27338C0B7A90}"/>
              </a:ext>
            </a:extLst>
          </p:cNvPr>
          <p:cNvSpPr txBox="1"/>
          <p:nvPr/>
        </p:nvSpPr>
        <p:spPr>
          <a:xfrm>
            <a:off x="2445159" y="2004073"/>
            <a:ext cx="2091029" cy="584775"/>
          </a:xfrm>
          <a:prstGeom prst="rect">
            <a:avLst/>
          </a:prstGeom>
          <a:noFill/>
        </p:spPr>
        <p:txBody>
          <a:bodyPr wrap="square">
            <a:spAutoFit/>
          </a:bodyPr>
          <a:lstStyle/>
          <a:p>
            <a:r>
              <a:rPr lang="en-US" sz="1600" b="1" dirty="0">
                <a:solidFill>
                  <a:srgbClr val="C00000"/>
                </a:solidFill>
                <a:latin typeface="+mn-lt"/>
                <a:ea typeface="+mn-ea"/>
              </a:rPr>
              <a:t>Wholesale consumers bear huge uncertainty </a:t>
            </a:r>
          </a:p>
        </p:txBody>
      </p:sp>
    </p:spTree>
    <p:extLst>
      <p:ext uri="{BB962C8B-B14F-4D97-AF65-F5344CB8AC3E}">
        <p14:creationId xmlns:p14="http://schemas.microsoft.com/office/powerpoint/2010/main" val="2864720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par>
                                <p:cTn id="13" presetID="9"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dissolve">
                                      <p:cBhvr>
                                        <p:cTn id="15" dur="500"/>
                                        <p:tgtEl>
                                          <p:spTgt spid="21"/>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dissolv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dissolv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dissolve">
                                      <p:cBhvr>
                                        <p:cTn id="33" dur="500"/>
                                        <p:tgtEl>
                                          <p:spTgt spid="32"/>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dissolve">
                                      <p:cBhvr>
                                        <p:cTn id="36" dur="500"/>
                                        <p:tgtEl>
                                          <p:spTgt spid="31"/>
                                        </p:tgtEl>
                                      </p:cBhvr>
                                    </p:animEffect>
                                  </p:childTnLst>
                                </p:cTn>
                              </p:par>
                              <p:par>
                                <p:cTn id="37" presetID="9" presetClass="entr" presetSubtype="0" fill="hold" grpId="1"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dissolve">
                                      <p:cBhvr>
                                        <p:cTn id="39" dur="500"/>
                                        <p:tgtEl>
                                          <p:spTgt spid="33"/>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dissolv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dissolve">
                                      <p:cBhvr>
                                        <p:cTn id="49" dur="500"/>
                                        <p:tgtEl>
                                          <p:spTgt spid="4"/>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dissolve">
                                      <p:cBhvr>
                                        <p:cTn id="5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4" grpId="0"/>
      <p:bldP spid="12" grpId="0"/>
      <p:bldP spid="6" grpId="0"/>
      <p:bldP spid="31" grpId="0" animBg="1"/>
      <p:bldP spid="16" grpId="0"/>
      <p:bldP spid="33" grpId="1"/>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Background</a:t>
            </a:r>
          </a:p>
        </p:txBody>
      </p:sp>
      <p:sp>
        <p:nvSpPr>
          <p:cNvPr id="9" name="Rectangle 8">
            <a:extLst>
              <a:ext uri="{FF2B5EF4-FFF2-40B4-BE49-F238E27FC236}">
                <a16:creationId xmlns:a16="http://schemas.microsoft.com/office/drawing/2014/main" id="{C3A1AEDC-7A36-4E62-8C66-BD561769A32F}"/>
              </a:ext>
            </a:extLst>
          </p:cNvPr>
          <p:cNvSpPr/>
          <p:nvPr/>
        </p:nvSpPr>
        <p:spPr>
          <a:xfrm>
            <a:off x="169933" y="455128"/>
            <a:ext cx="3880385" cy="338554"/>
          </a:xfrm>
          <a:prstGeom prst="rect">
            <a:avLst/>
          </a:prstGeom>
        </p:spPr>
        <p:txBody>
          <a:bodyPr wrap="square">
            <a:spAutoFit/>
          </a:bodyPr>
          <a:lstStyle/>
          <a:p>
            <a:pPr eaLnBrk="1" fontAlgn="auto" hangingPunct="1">
              <a:spcBef>
                <a:spcPts val="0"/>
              </a:spcBef>
              <a:spcAft>
                <a:spcPts val="0"/>
              </a:spcAft>
              <a:defRPr/>
            </a:pPr>
            <a:r>
              <a:rPr lang="en-US" altLang="zh-CN" sz="1600" b="1" dirty="0">
                <a:solidFill>
                  <a:srgbClr val="C00000"/>
                </a:solidFill>
                <a:latin typeface="+mn-lt"/>
                <a:ea typeface="+mn-ea"/>
                <a:cs typeface="Helvetica"/>
              </a:rPr>
              <a:t>Literature</a:t>
            </a:r>
            <a:endParaRPr lang="en-US" altLang="zh-CN" sz="1600" dirty="0">
              <a:solidFill>
                <a:srgbClr val="C00000"/>
              </a:solidFill>
              <a:latin typeface="+mn-lt"/>
              <a:ea typeface="+mn-ea"/>
              <a:cs typeface="Helvetica"/>
            </a:endParaRP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7</a:t>
            </a:r>
            <a:r>
              <a:rPr lang="en-US" altLang="en-US" sz="1200" dirty="0">
                <a:solidFill>
                  <a:schemeClr val="bg1"/>
                </a:solidFill>
              </a:rPr>
              <a:t>| </a:t>
            </a:r>
            <a:r>
              <a:rPr lang="en-US" altLang="en-US" sz="1050" dirty="0">
                <a:solidFill>
                  <a:schemeClr val="bg1"/>
                </a:solidFill>
              </a:rPr>
              <a:t>Background</a:t>
            </a:r>
            <a:endParaRPr lang="en-US" altLang="en-US" sz="900" dirty="0">
              <a:solidFill>
                <a:schemeClr val="bg1"/>
              </a:solidFill>
            </a:endParaRPr>
          </a:p>
        </p:txBody>
      </p:sp>
      <p:sp>
        <p:nvSpPr>
          <p:cNvPr id="13" name="TextBox 2">
            <a:extLst>
              <a:ext uri="{FF2B5EF4-FFF2-40B4-BE49-F238E27FC236}">
                <a16:creationId xmlns:a16="http://schemas.microsoft.com/office/drawing/2014/main" id="{4257CB58-8DE5-2E10-4C2C-9B183B2EDEB8}"/>
              </a:ext>
            </a:extLst>
          </p:cNvPr>
          <p:cNvSpPr txBox="1"/>
          <p:nvPr/>
        </p:nvSpPr>
        <p:spPr>
          <a:xfrm>
            <a:off x="400627" y="3349336"/>
            <a:ext cx="3957905" cy="584775"/>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eaLnBrk="1" fontAlgn="auto" hangingPunct="1">
              <a:spcBef>
                <a:spcPts val="300"/>
              </a:spcBef>
              <a:spcAft>
                <a:spcPts val="0"/>
              </a:spcAft>
              <a:defRPr/>
            </a:pPr>
            <a:r>
              <a:rPr lang="en-US" sz="1600" b="1" dirty="0">
                <a:solidFill>
                  <a:srgbClr val="C00000"/>
                </a:solidFill>
                <a:latin typeface="+mn-lt"/>
                <a:ea typeface="+mn-ea"/>
                <a:cs typeface="Helvetica"/>
              </a:rPr>
              <a:t>Consumers naturally have </a:t>
            </a:r>
            <a:r>
              <a:rPr lang="en-US" sz="1600" b="1" dirty="0">
                <a:solidFill>
                  <a:srgbClr val="C00000"/>
                </a:solidFill>
                <a:cs typeface="Helvetica"/>
              </a:rPr>
              <a:t>high-dimensional and non-linear </a:t>
            </a:r>
            <a:r>
              <a:rPr lang="en-US" sz="1600" b="1" dirty="0">
                <a:solidFill>
                  <a:srgbClr val="C00000"/>
                </a:solidFill>
                <a:latin typeface="+mn-lt"/>
                <a:ea typeface="+mn-ea"/>
                <a:cs typeface="Helvetica"/>
              </a:rPr>
              <a:t>behavior</a:t>
            </a:r>
          </a:p>
        </p:txBody>
      </p:sp>
      <p:sp>
        <p:nvSpPr>
          <p:cNvPr id="15" name="TextBox 14">
            <a:extLst>
              <a:ext uri="{FF2B5EF4-FFF2-40B4-BE49-F238E27FC236}">
                <a16:creationId xmlns:a16="http://schemas.microsoft.com/office/drawing/2014/main" id="{5E07D5E3-4633-D0A6-D475-517E9D7A6665}"/>
              </a:ext>
            </a:extLst>
          </p:cNvPr>
          <p:cNvSpPr txBox="1"/>
          <p:nvPr/>
        </p:nvSpPr>
        <p:spPr>
          <a:xfrm>
            <a:off x="1613329" y="4341830"/>
            <a:ext cx="6743700" cy="338554"/>
          </a:xfrm>
          <a:prstGeom prst="rect">
            <a:avLst/>
          </a:prstGeom>
          <a:noFill/>
        </p:spPr>
        <p:txBody>
          <a:bodyPr wrap="square">
            <a:spAutoFit/>
          </a:bodyPr>
          <a:lstStyle/>
          <a:p>
            <a:r>
              <a:rPr lang="en-US" sz="1600" b="1" dirty="0">
                <a:solidFill>
                  <a:srgbClr val="C00000"/>
                </a:solidFill>
                <a:latin typeface="+mn-lt"/>
                <a:ea typeface="+mn-ea"/>
              </a:rPr>
              <a:t>Highlight the need for a more sophisticated utility function formulation</a:t>
            </a:r>
          </a:p>
        </p:txBody>
      </p:sp>
      <p:sp>
        <p:nvSpPr>
          <p:cNvPr id="8" name="Right Arrow 7">
            <a:extLst>
              <a:ext uri="{FF2B5EF4-FFF2-40B4-BE49-F238E27FC236}">
                <a16:creationId xmlns:a16="http://schemas.microsoft.com/office/drawing/2014/main" id="{325756F5-8EAA-96B5-2BBF-1C47617F0C0D}"/>
              </a:ext>
            </a:extLst>
          </p:cNvPr>
          <p:cNvSpPr/>
          <p:nvPr/>
        </p:nvSpPr>
        <p:spPr>
          <a:xfrm rot="5400000">
            <a:off x="6126315" y="3841802"/>
            <a:ext cx="438522" cy="62154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997DB0DB-0DD3-36BC-4B62-F25E96BF219F}"/>
              </a:ext>
            </a:extLst>
          </p:cNvPr>
          <p:cNvGrpSpPr/>
          <p:nvPr/>
        </p:nvGrpSpPr>
        <p:grpSpPr>
          <a:xfrm>
            <a:off x="816847" y="1149637"/>
            <a:ext cx="2001205" cy="1370403"/>
            <a:chOff x="380999" y="861167"/>
            <a:chExt cx="2400044" cy="1630764"/>
          </a:xfrm>
        </p:grpSpPr>
        <p:pic>
          <p:nvPicPr>
            <p:cNvPr id="1026" name="Picture 2" descr="Group Discussion - javatpoint">
              <a:extLst>
                <a:ext uri="{FF2B5EF4-FFF2-40B4-BE49-F238E27FC236}">
                  <a16:creationId xmlns:a16="http://schemas.microsoft.com/office/drawing/2014/main" id="{6301AB7D-787D-399E-DDAE-CAF1EFA3A2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861167"/>
              <a:ext cx="2148365" cy="143940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0BEE337-F720-187A-C5D2-27A9DC8D29AF}"/>
                </a:ext>
              </a:extLst>
            </p:cNvPr>
            <p:cNvSpPr txBox="1"/>
            <p:nvPr/>
          </p:nvSpPr>
          <p:spPr>
            <a:xfrm>
              <a:off x="380999" y="2253868"/>
              <a:ext cx="2400044" cy="238063"/>
            </a:xfrm>
            <a:prstGeom prst="rect">
              <a:avLst/>
            </a:prstGeom>
            <a:noFill/>
          </p:spPr>
          <p:txBody>
            <a:bodyPr wrap="square">
              <a:spAutoFit/>
            </a:bodyPr>
            <a:lstStyle/>
            <a:p>
              <a:r>
                <a:rPr lang="en-US" sz="700" dirty="0">
                  <a:hlinkClick r:id="rId5"/>
                </a:rPr>
                <a:t>https://www.javatpoint.com/group-discussion</a:t>
              </a:r>
              <a:endParaRPr lang="en-US" sz="700" dirty="0"/>
            </a:p>
          </p:txBody>
        </p:sp>
      </p:grpSp>
      <p:sp>
        <p:nvSpPr>
          <p:cNvPr id="21" name="TextBox 20">
            <a:extLst>
              <a:ext uri="{FF2B5EF4-FFF2-40B4-BE49-F238E27FC236}">
                <a16:creationId xmlns:a16="http://schemas.microsoft.com/office/drawing/2014/main" id="{A743F4C5-882D-CD01-E2BF-EDAA8B1C9FAB}"/>
              </a:ext>
            </a:extLst>
          </p:cNvPr>
          <p:cNvSpPr txBox="1"/>
          <p:nvPr/>
        </p:nvSpPr>
        <p:spPr>
          <a:xfrm>
            <a:off x="2709574" y="1149110"/>
            <a:ext cx="1611301" cy="307777"/>
          </a:xfrm>
          <a:prstGeom prst="rect">
            <a:avLst/>
          </a:prstGeom>
          <a:noFill/>
        </p:spPr>
        <p:txBody>
          <a:bodyPr wrap="square">
            <a:spAutoFit/>
          </a:bodyPr>
          <a:lstStyle/>
          <a:p>
            <a:r>
              <a:rPr lang="en-US" sz="1400" dirty="0">
                <a:cs typeface="Calibri" panose="020F0502020204030204" pitchFamily="34" charset="0"/>
              </a:rPr>
              <a:t>Infrastructure</a:t>
            </a:r>
          </a:p>
        </p:txBody>
      </p:sp>
      <p:sp>
        <p:nvSpPr>
          <p:cNvPr id="22" name="TextBox 21">
            <a:extLst>
              <a:ext uri="{FF2B5EF4-FFF2-40B4-BE49-F238E27FC236}">
                <a16:creationId xmlns:a16="http://schemas.microsoft.com/office/drawing/2014/main" id="{92EDDEE6-09D9-EECF-A30C-856F5F901D7F}"/>
              </a:ext>
            </a:extLst>
          </p:cNvPr>
          <p:cNvSpPr txBox="1"/>
          <p:nvPr/>
        </p:nvSpPr>
        <p:spPr>
          <a:xfrm>
            <a:off x="2709574" y="1778687"/>
            <a:ext cx="1167027" cy="307777"/>
          </a:xfrm>
          <a:prstGeom prst="rect">
            <a:avLst/>
          </a:prstGeom>
          <a:noFill/>
        </p:spPr>
        <p:txBody>
          <a:bodyPr wrap="square">
            <a:spAutoFit/>
          </a:bodyPr>
          <a:lstStyle/>
          <a:p>
            <a:r>
              <a:rPr lang="en-US" sz="1400" dirty="0">
                <a:cs typeface="Calibri" panose="020F0502020204030204" pitchFamily="34" charset="0"/>
              </a:rPr>
              <a:t>Privacy</a:t>
            </a:r>
          </a:p>
        </p:txBody>
      </p:sp>
      <p:sp>
        <p:nvSpPr>
          <p:cNvPr id="27" name="TextBox 26">
            <a:extLst>
              <a:ext uri="{FF2B5EF4-FFF2-40B4-BE49-F238E27FC236}">
                <a16:creationId xmlns:a16="http://schemas.microsoft.com/office/drawing/2014/main" id="{BF2DA647-7811-72FE-33CA-A4A0E1CD1DA3}"/>
              </a:ext>
            </a:extLst>
          </p:cNvPr>
          <p:cNvSpPr txBox="1"/>
          <p:nvPr/>
        </p:nvSpPr>
        <p:spPr>
          <a:xfrm>
            <a:off x="4397729" y="725099"/>
            <a:ext cx="4475284" cy="738664"/>
          </a:xfrm>
          <a:prstGeom prst="rect">
            <a:avLst/>
          </a:prstGeom>
          <a:noFill/>
        </p:spPr>
        <p:txBody>
          <a:bodyPr wrap="square">
            <a:spAutoFit/>
          </a:bodyPr>
          <a:lstStyle/>
          <a:p>
            <a:pPr marL="285750" indent="-285750">
              <a:buFont typeface="Arial" panose="020B0604020202020204" pitchFamily="34" charset="0"/>
              <a:buChar char="•"/>
            </a:pPr>
            <a:r>
              <a:rPr lang="en-US" altLang="zh-CN" sz="1400" b="1" dirty="0">
                <a:cs typeface="Calibri" panose="020F0502020204030204" pitchFamily="34" charset="0"/>
              </a:rPr>
              <a:t>Model-driven</a:t>
            </a:r>
            <a:r>
              <a:rPr lang="en-US" altLang="zh-CN" sz="1400" dirty="0">
                <a:cs typeface="Calibri" panose="020F0502020204030204" pitchFamily="34" charset="0"/>
              </a:rPr>
              <a:t>: Adopt decision-making models with </a:t>
            </a:r>
            <a:r>
              <a:rPr lang="en-US" sz="1400" b="1" dirty="0">
                <a:cs typeface="Calibri" panose="020F0502020204030204" pitchFamily="34" charset="0"/>
              </a:rPr>
              <a:t>utility functions</a:t>
            </a:r>
            <a:r>
              <a:rPr lang="en-US" sz="1400" dirty="0">
                <a:cs typeface="Calibri" panose="020F0502020204030204" pitchFamily="34" charset="0"/>
              </a:rPr>
              <a:t> to represent consumers’ decision-making process</a:t>
            </a:r>
          </a:p>
        </p:txBody>
      </p:sp>
      <p:pic>
        <p:nvPicPr>
          <p:cNvPr id="28" name="Picture 27">
            <a:extLst>
              <a:ext uri="{FF2B5EF4-FFF2-40B4-BE49-F238E27FC236}">
                <a16:creationId xmlns:a16="http://schemas.microsoft.com/office/drawing/2014/main" id="{AF90EF92-A5CB-161C-B9D0-948B14F5A183}"/>
              </a:ext>
            </a:extLst>
          </p:cNvPr>
          <p:cNvPicPr>
            <a:picLocks noChangeAspect="1"/>
          </p:cNvPicPr>
          <p:nvPr/>
        </p:nvPicPr>
        <p:blipFill>
          <a:blip r:embed="rId6"/>
          <a:stretch>
            <a:fillRect/>
          </a:stretch>
        </p:blipFill>
        <p:spPr>
          <a:xfrm>
            <a:off x="6135211" y="1390397"/>
            <a:ext cx="1167027" cy="290030"/>
          </a:xfrm>
          <a:prstGeom prst="rect">
            <a:avLst/>
          </a:prstGeom>
        </p:spPr>
      </p:pic>
      <p:pic>
        <p:nvPicPr>
          <p:cNvPr id="29" name="Picture 28">
            <a:extLst>
              <a:ext uri="{FF2B5EF4-FFF2-40B4-BE49-F238E27FC236}">
                <a16:creationId xmlns:a16="http://schemas.microsoft.com/office/drawing/2014/main" id="{5E3B6E68-B4B4-41CA-8E82-0BC1BD7EC1E2}"/>
              </a:ext>
            </a:extLst>
          </p:cNvPr>
          <p:cNvPicPr>
            <a:picLocks noChangeAspect="1"/>
          </p:cNvPicPr>
          <p:nvPr/>
        </p:nvPicPr>
        <p:blipFill>
          <a:blip r:embed="rId7"/>
          <a:stretch>
            <a:fillRect/>
          </a:stretch>
        </p:blipFill>
        <p:spPr>
          <a:xfrm>
            <a:off x="5162933" y="1900215"/>
            <a:ext cx="3330465" cy="894889"/>
          </a:xfrm>
          <a:prstGeom prst="rect">
            <a:avLst/>
          </a:prstGeom>
        </p:spPr>
      </p:pic>
      <p:pic>
        <p:nvPicPr>
          <p:cNvPr id="32" name="Picture 31">
            <a:extLst>
              <a:ext uri="{FF2B5EF4-FFF2-40B4-BE49-F238E27FC236}">
                <a16:creationId xmlns:a16="http://schemas.microsoft.com/office/drawing/2014/main" id="{CC24CCE1-52B3-4D2A-D9B7-3413C17500E6}"/>
              </a:ext>
            </a:extLst>
          </p:cNvPr>
          <p:cNvPicPr>
            <a:picLocks noChangeAspect="1"/>
          </p:cNvPicPr>
          <p:nvPr/>
        </p:nvPicPr>
        <p:blipFill>
          <a:blip r:embed="rId8"/>
          <a:stretch>
            <a:fillRect/>
          </a:stretch>
        </p:blipFill>
        <p:spPr>
          <a:xfrm>
            <a:off x="5186995" y="3035506"/>
            <a:ext cx="3306404" cy="440854"/>
          </a:xfrm>
          <a:prstGeom prst="rect">
            <a:avLst/>
          </a:prstGeom>
        </p:spPr>
      </p:pic>
      <p:sp>
        <p:nvSpPr>
          <p:cNvPr id="24" name="TextBox 23">
            <a:extLst>
              <a:ext uri="{FF2B5EF4-FFF2-40B4-BE49-F238E27FC236}">
                <a16:creationId xmlns:a16="http://schemas.microsoft.com/office/drawing/2014/main" id="{708F3F5E-DA66-196C-CFA8-307B46E9464B}"/>
              </a:ext>
            </a:extLst>
          </p:cNvPr>
          <p:cNvSpPr txBox="1"/>
          <p:nvPr/>
        </p:nvSpPr>
        <p:spPr>
          <a:xfrm>
            <a:off x="529982" y="2520267"/>
            <a:ext cx="2895600" cy="307777"/>
          </a:xfrm>
          <a:prstGeom prst="rect">
            <a:avLst/>
          </a:prstGeom>
          <a:noFill/>
        </p:spPr>
        <p:txBody>
          <a:bodyPr wrap="square">
            <a:spAutoFit/>
          </a:bodyPr>
          <a:lstStyle/>
          <a:p>
            <a:r>
              <a:rPr lang="en-US" sz="1400" dirty="0">
                <a:cs typeface="Calibri" panose="020F0502020204030204" pitchFamily="34" charset="0"/>
              </a:rPr>
              <a:t>Less data-driven previous works</a:t>
            </a:r>
          </a:p>
        </p:txBody>
      </p:sp>
      <p:sp>
        <p:nvSpPr>
          <p:cNvPr id="26" name="TextBox 25">
            <a:extLst>
              <a:ext uri="{FF2B5EF4-FFF2-40B4-BE49-F238E27FC236}">
                <a16:creationId xmlns:a16="http://schemas.microsoft.com/office/drawing/2014/main" id="{3BE5D6CA-5734-ED7A-6D84-F064F12AB412}"/>
              </a:ext>
            </a:extLst>
          </p:cNvPr>
          <p:cNvSpPr txBox="1"/>
          <p:nvPr/>
        </p:nvSpPr>
        <p:spPr>
          <a:xfrm>
            <a:off x="529982" y="2828044"/>
            <a:ext cx="3554874" cy="307777"/>
          </a:xfrm>
          <a:prstGeom prst="rect">
            <a:avLst/>
          </a:prstGeom>
          <a:noFill/>
        </p:spPr>
        <p:txBody>
          <a:bodyPr wrap="square">
            <a:spAutoFit/>
          </a:bodyPr>
          <a:lstStyle>
            <a:defPPr>
              <a:defRPr lang="en-US"/>
            </a:defPPr>
            <a:lvl1pPr>
              <a:defRPr sz="1600">
                <a:cs typeface="Calibri" panose="020F0502020204030204" pitchFamily="34" charset="0"/>
              </a:defRPr>
            </a:lvl1pPr>
          </a:lstStyle>
          <a:p>
            <a:r>
              <a:rPr lang="en-US" sz="1400" dirty="0"/>
              <a:t>Face limited application problem</a:t>
            </a:r>
          </a:p>
        </p:txBody>
      </p:sp>
      <p:sp>
        <p:nvSpPr>
          <p:cNvPr id="33" name="TextBox 32">
            <a:extLst>
              <a:ext uri="{FF2B5EF4-FFF2-40B4-BE49-F238E27FC236}">
                <a16:creationId xmlns:a16="http://schemas.microsoft.com/office/drawing/2014/main" id="{939F6C4F-86F2-AC2D-871A-14525587167D}"/>
              </a:ext>
            </a:extLst>
          </p:cNvPr>
          <p:cNvSpPr txBox="1"/>
          <p:nvPr/>
        </p:nvSpPr>
        <p:spPr>
          <a:xfrm>
            <a:off x="4696031" y="1398891"/>
            <a:ext cx="1270378" cy="307777"/>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Quadratic</a:t>
            </a:r>
          </a:p>
        </p:txBody>
      </p:sp>
      <p:sp>
        <p:nvSpPr>
          <p:cNvPr id="34" name="TextBox 33">
            <a:extLst>
              <a:ext uri="{FF2B5EF4-FFF2-40B4-BE49-F238E27FC236}">
                <a16:creationId xmlns:a16="http://schemas.microsoft.com/office/drawing/2014/main" id="{66EDF555-02BD-5863-C5ED-B5C3DB54210E}"/>
              </a:ext>
            </a:extLst>
          </p:cNvPr>
          <p:cNvSpPr txBox="1"/>
          <p:nvPr/>
        </p:nvSpPr>
        <p:spPr>
          <a:xfrm>
            <a:off x="4685921" y="1652535"/>
            <a:ext cx="1918017" cy="307777"/>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Piecewise linear</a:t>
            </a:r>
          </a:p>
        </p:txBody>
      </p:sp>
      <p:sp>
        <p:nvSpPr>
          <p:cNvPr id="35" name="TextBox 34">
            <a:extLst>
              <a:ext uri="{FF2B5EF4-FFF2-40B4-BE49-F238E27FC236}">
                <a16:creationId xmlns:a16="http://schemas.microsoft.com/office/drawing/2014/main" id="{CE7D148A-9C19-8C1B-4306-0EC90B63D997}"/>
              </a:ext>
            </a:extLst>
          </p:cNvPr>
          <p:cNvSpPr txBox="1"/>
          <p:nvPr/>
        </p:nvSpPr>
        <p:spPr>
          <a:xfrm>
            <a:off x="4741359" y="2779568"/>
            <a:ext cx="3619119" cy="307777"/>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Conditional value at risk (</a:t>
            </a:r>
            <a:r>
              <a:rPr lang="en-US" sz="1400" dirty="0" err="1">
                <a:cs typeface="Calibri" panose="020F0502020204030204" pitchFamily="34" charset="0"/>
              </a:rPr>
              <a:t>CVaR</a:t>
            </a:r>
            <a:r>
              <a:rPr lang="en-US" sz="1400" dirty="0">
                <a:cs typeface="Calibri" panose="020F0502020204030204" pitchFamily="34" charset="0"/>
              </a:rPr>
              <a:t>) or robust</a:t>
            </a:r>
          </a:p>
        </p:txBody>
      </p:sp>
      <p:sp>
        <p:nvSpPr>
          <p:cNvPr id="36" name="Right Arrow 35">
            <a:extLst>
              <a:ext uri="{FF2B5EF4-FFF2-40B4-BE49-F238E27FC236}">
                <a16:creationId xmlns:a16="http://schemas.microsoft.com/office/drawing/2014/main" id="{4F271F15-4375-5E59-904B-D0A41071EF02}"/>
              </a:ext>
            </a:extLst>
          </p:cNvPr>
          <p:cNvSpPr/>
          <p:nvPr/>
        </p:nvSpPr>
        <p:spPr>
          <a:xfrm>
            <a:off x="4139271" y="1571262"/>
            <a:ext cx="438522" cy="62154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C437EC6F-79F2-0C9E-F6C7-56CE814F8695}"/>
              </a:ext>
            </a:extLst>
          </p:cNvPr>
          <p:cNvSpPr/>
          <p:nvPr/>
        </p:nvSpPr>
        <p:spPr>
          <a:xfrm>
            <a:off x="4821637" y="3403514"/>
            <a:ext cx="3941593" cy="584775"/>
          </a:xfrm>
          <a:prstGeom prst="rect">
            <a:avLst/>
          </a:prstGeom>
        </p:spPr>
        <p:txBody>
          <a:bodyPr wrap="square">
            <a:spAutoFit/>
          </a:bodyPr>
          <a:lstStyle/>
          <a:p>
            <a:pPr eaLnBrk="1" fontAlgn="auto" hangingPunct="1">
              <a:spcBef>
                <a:spcPts val="0"/>
              </a:spcBef>
              <a:spcAft>
                <a:spcPts val="0"/>
              </a:spcAft>
              <a:defRPr/>
            </a:pPr>
            <a:r>
              <a:rPr lang="en-US" altLang="zh-CN" sz="1600" b="1" dirty="0">
                <a:solidFill>
                  <a:srgbClr val="C00000"/>
                </a:solidFill>
                <a:latin typeface="+mn-lt"/>
                <a:ea typeface="+mn-ea"/>
                <a:cs typeface="Helvetica"/>
              </a:rPr>
              <a:t>Lack of </a:t>
            </a:r>
            <a:r>
              <a:rPr lang="en-US" altLang="zh-CN" sz="1600" b="1" dirty="0">
                <a:solidFill>
                  <a:srgbClr val="C00000"/>
                </a:solidFill>
                <a:cs typeface="Helvetica"/>
              </a:rPr>
              <a:t>first-principle </a:t>
            </a:r>
            <a:r>
              <a:rPr lang="en-US" altLang="zh-CN" sz="1600" b="1" dirty="0">
                <a:solidFill>
                  <a:srgbClr val="C00000"/>
                </a:solidFill>
                <a:latin typeface="+mn-lt"/>
                <a:ea typeface="+mn-ea"/>
                <a:cs typeface="Helvetica"/>
              </a:rPr>
              <a:t>understanding of risk-aversion motivations</a:t>
            </a:r>
          </a:p>
        </p:txBody>
      </p:sp>
      <p:sp>
        <p:nvSpPr>
          <p:cNvPr id="37" name="Right Arrow 36">
            <a:extLst>
              <a:ext uri="{FF2B5EF4-FFF2-40B4-BE49-F238E27FC236}">
                <a16:creationId xmlns:a16="http://schemas.microsoft.com/office/drawing/2014/main" id="{9F2F6A3B-180A-84BC-80A3-32F44D0AA8A3}"/>
              </a:ext>
            </a:extLst>
          </p:cNvPr>
          <p:cNvSpPr/>
          <p:nvPr/>
        </p:nvSpPr>
        <p:spPr>
          <a:xfrm rot="5400000">
            <a:off x="2801084" y="3858918"/>
            <a:ext cx="438522" cy="62154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8ADBA2C6-F34D-EF27-16E5-D76EE83C49EE}"/>
              </a:ext>
            </a:extLst>
          </p:cNvPr>
          <p:cNvSpPr txBox="1"/>
          <p:nvPr/>
        </p:nvSpPr>
        <p:spPr>
          <a:xfrm>
            <a:off x="255588" y="725099"/>
            <a:ext cx="1611301" cy="307777"/>
          </a:xfrm>
          <a:prstGeom prst="rect">
            <a:avLst/>
          </a:prstGeom>
          <a:noFill/>
        </p:spPr>
        <p:txBody>
          <a:bodyPr wrap="square">
            <a:spAutoFit/>
          </a:bodyPr>
          <a:lstStyle/>
          <a:p>
            <a:pPr marL="285750" indent="-285750">
              <a:buFont typeface="Arial" panose="020B0604020202020204" pitchFamily="34" charset="0"/>
              <a:buChar char="•"/>
            </a:pPr>
            <a:r>
              <a:rPr lang="en-US" sz="1400" b="1" dirty="0">
                <a:cs typeface="Calibri" panose="020F0502020204030204" pitchFamily="34" charset="0"/>
              </a:rPr>
              <a:t>Data-driven</a:t>
            </a:r>
          </a:p>
        </p:txBody>
      </p:sp>
    </p:spTree>
    <p:extLst>
      <p:ext uri="{BB962C8B-B14F-4D97-AF65-F5344CB8AC3E}">
        <p14:creationId xmlns:p14="http://schemas.microsoft.com/office/powerpoint/2010/main" val="1427924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dissolv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dissolv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dissolv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dissolve">
                                      <p:cBhvr>
                                        <p:cTn id="32" dur="500"/>
                                        <p:tgtEl>
                                          <p:spTgt spid="36"/>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dissolve">
                                      <p:cBhvr>
                                        <p:cTn id="35" dur="500"/>
                                        <p:tgtEl>
                                          <p:spTgt spid="27"/>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dissolve">
                                      <p:cBhvr>
                                        <p:cTn id="40" dur="500"/>
                                        <p:tgtEl>
                                          <p:spTgt spid="33"/>
                                        </p:tgtEl>
                                      </p:cBhvr>
                                    </p:animEffect>
                                  </p:childTnLst>
                                </p:cTn>
                              </p:par>
                              <p:par>
                                <p:cTn id="41" presetID="9"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dissolve">
                                      <p:cBhvr>
                                        <p:cTn id="43" dur="5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dissolve">
                                      <p:cBhvr>
                                        <p:cTn id="48" dur="500"/>
                                        <p:tgtEl>
                                          <p:spTgt spid="29"/>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dissolve">
                                      <p:cBhvr>
                                        <p:cTn id="51" dur="500"/>
                                        <p:tgtEl>
                                          <p:spTgt spid="34"/>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dissolve">
                                      <p:cBhvr>
                                        <p:cTn id="56" dur="500"/>
                                        <p:tgtEl>
                                          <p:spTgt spid="35"/>
                                        </p:tgtEl>
                                      </p:cBhvr>
                                    </p:animEffect>
                                  </p:childTnLst>
                                </p:cTn>
                              </p:par>
                              <p:par>
                                <p:cTn id="57" presetID="9" presetClass="entr" presetSubtype="0" fill="hold" nodeType="with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dissolve">
                                      <p:cBhvr>
                                        <p:cTn id="59" dur="500"/>
                                        <p:tgtEl>
                                          <p:spTgt spid="32"/>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4"/>
                                        </p:tgtEl>
                                        <p:attrNameLst>
                                          <p:attrName>style.visibility</p:attrName>
                                        </p:attrNameLst>
                                      </p:cBhvr>
                                      <p:to>
                                        <p:strVal val="visible"/>
                                      </p:to>
                                    </p:set>
                                    <p:animEffect transition="in" filter="dissolve">
                                      <p:cBhvr>
                                        <p:cTn id="64" dur="500"/>
                                        <p:tgtEl>
                                          <p:spTgt spid="4"/>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dissolve">
                                      <p:cBhvr>
                                        <p:cTn id="69" dur="500"/>
                                        <p:tgtEl>
                                          <p:spTgt spid="13"/>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dissolve">
                                      <p:cBhvr>
                                        <p:cTn id="74" dur="500"/>
                                        <p:tgtEl>
                                          <p:spTgt spid="37"/>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8"/>
                                        </p:tgtEl>
                                        <p:attrNameLst>
                                          <p:attrName>style.visibility</p:attrName>
                                        </p:attrNameLst>
                                      </p:cBhvr>
                                      <p:to>
                                        <p:strVal val="visible"/>
                                      </p:to>
                                    </p:set>
                                    <p:animEffect transition="in" filter="dissolve">
                                      <p:cBhvr>
                                        <p:cTn id="77" dur="500"/>
                                        <p:tgtEl>
                                          <p:spTgt spid="8"/>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15"/>
                                        </p:tgtEl>
                                        <p:attrNameLst>
                                          <p:attrName>style.visibility</p:attrName>
                                        </p:attrNameLst>
                                      </p:cBhvr>
                                      <p:to>
                                        <p:strVal val="visible"/>
                                      </p:to>
                                    </p:set>
                                    <p:animEffect transition="in" filter="dissolve">
                                      <p:cBhvr>
                                        <p:cTn id="8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8" grpId="0" animBg="1"/>
      <p:bldP spid="21" grpId="0"/>
      <p:bldP spid="22" grpId="0"/>
      <p:bldP spid="27" grpId="0"/>
      <p:bldP spid="24" grpId="0"/>
      <p:bldP spid="26" grpId="0"/>
      <p:bldP spid="33" grpId="0"/>
      <p:bldP spid="34" grpId="0"/>
      <p:bldP spid="35" grpId="0"/>
      <p:bldP spid="36" grpId="0" animBg="1"/>
      <p:bldP spid="4" grpId="0"/>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5A3215A3-9160-69BC-A03B-510E947D73F8}"/>
              </a:ext>
            </a:extLst>
          </p:cNvPr>
          <p:cNvGrpSpPr/>
          <p:nvPr/>
        </p:nvGrpSpPr>
        <p:grpSpPr>
          <a:xfrm>
            <a:off x="333335" y="1200150"/>
            <a:ext cx="3705265" cy="739423"/>
            <a:chOff x="333335" y="1354313"/>
            <a:chExt cx="3705265" cy="739423"/>
          </a:xfrm>
        </p:grpSpPr>
        <p:pic>
          <p:nvPicPr>
            <p:cNvPr id="6" name="Picture 5">
              <a:extLst>
                <a:ext uri="{FF2B5EF4-FFF2-40B4-BE49-F238E27FC236}">
                  <a16:creationId xmlns:a16="http://schemas.microsoft.com/office/drawing/2014/main" id="{1B22100C-84EB-C5E2-2AC2-8068A8E33F97}"/>
                </a:ext>
              </a:extLst>
            </p:cNvPr>
            <p:cNvPicPr>
              <a:picLocks noChangeAspect="1"/>
            </p:cNvPicPr>
            <p:nvPr/>
          </p:nvPicPr>
          <p:blipFill rotWithShape="1">
            <a:blip r:embed="rId3"/>
            <a:srcRect l="32853" t="2086"/>
            <a:stretch/>
          </p:blipFill>
          <p:spPr>
            <a:xfrm>
              <a:off x="1223652" y="1369909"/>
              <a:ext cx="2814948" cy="723827"/>
            </a:xfrm>
            <a:prstGeom prst="rect">
              <a:avLst/>
            </a:prstGeom>
          </p:spPr>
        </p:pic>
        <p:pic>
          <p:nvPicPr>
            <p:cNvPr id="2" name="Picture 1">
              <a:extLst>
                <a:ext uri="{FF2B5EF4-FFF2-40B4-BE49-F238E27FC236}">
                  <a16:creationId xmlns:a16="http://schemas.microsoft.com/office/drawing/2014/main" id="{9B647F6F-2127-4B36-CBFE-A6CA072F3703}"/>
                </a:ext>
              </a:extLst>
            </p:cNvPr>
            <p:cNvPicPr>
              <a:picLocks noChangeAspect="1"/>
            </p:cNvPicPr>
            <p:nvPr/>
          </p:nvPicPr>
          <p:blipFill rotWithShape="1">
            <a:blip r:embed="rId3"/>
            <a:srcRect t="4635" r="87224"/>
            <a:stretch/>
          </p:blipFill>
          <p:spPr>
            <a:xfrm>
              <a:off x="333335" y="1354313"/>
              <a:ext cx="535608" cy="704987"/>
            </a:xfrm>
            <a:prstGeom prst="rect">
              <a:avLst/>
            </a:prstGeom>
          </p:spPr>
        </p:pic>
      </p:grpSp>
      <p:pic>
        <p:nvPicPr>
          <p:cNvPr id="8" name="Picture 7">
            <a:extLst>
              <a:ext uri="{FF2B5EF4-FFF2-40B4-BE49-F238E27FC236}">
                <a16:creationId xmlns:a16="http://schemas.microsoft.com/office/drawing/2014/main" id="{6B0086D1-C6CF-DD52-B092-46FB216AF267}"/>
              </a:ext>
            </a:extLst>
          </p:cNvPr>
          <p:cNvPicPr>
            <a:picLocks noChangeAspect="1"/>
          </p:cNvPicPr>
          <p:nvPr/>
        </p:nvPicPr>
        <p:blipFill rotWithShape="1">
          <a:blip r:embed="rId4"/>
          <a:srcRect r="20684" b="73674"/>
          <a:stretch/>
        </p:blipFill>
        <p:spPr>
          <a:xfrm>
            <a:off x="347564" y="2094459"/>
            <a:ext cx="4006880" cy="456685"/>
          </a:xfrm>
          <a:prstGeom prst="rect">
            <a:avLst/>
          </a:prstGeom>
        </p:spPr>
      </p:pic>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Background</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8</a:t>
            </a:r>
            <a:r>
              <a:rPr lang="en-US" altLang="en-US" sz="1200" dirty="0">
                <a:solidFill>
                  <a:schemeClr val="bg1"/>
                </a:solidFill>
              </a:rPr>
              <a:t>| </a:t>
            </a:r>
            <a:r>
              <a:rPr lang="en-US" altLang="en-US" sz="1050" dirty="0">
                <a:solidFill>
                  <a:schemeClr val="bg1"/>
                </a:solidFill>
              </a:rPr>
              <a:t>Background</a:t>
            </a:r>
            <a:endParaRPr lang="en-US" altLang="en-US" sz="900" dirty="0">
              <a:solidFill>
                <a:schemeClr val="bg1"/>
              </a:solidFill>
            </a:endParaRPr>
          </a:p>
        </p:txBody>
      </p:sp>
      <p:sp>
        <p:nvSpPr>
          <p:cNvPr id="3" name="Rectangle 2">
            <a:extLst>
              <a:ext uri="{FF2B5EF4-FFF2-40B4-BE49-F238E27FC236}">
                <a16:creationId xmlns:a16="http://schemas.microsoft.com/office/drawing/2014/main" id="{95BEDAE4-E92D-2124-575E-53149E7A20EA}"/>
              </a:ext>
            </a:extLst>
          </p:cNvPr>
          <p:cNvSpPr/>
          <p:nvPr/>
        </p:nvSpPr>
        <p:spPr>
          <a:xfrm>
            <a:off x="218208" y="605262"/>
            <a:ext cx="4006880" cy="338554"/>
          </a:xfrm>
          <a:prstGeom prst="rect">
            <a:avLst/>
          </a:prstGeom>
        </p:spPr>
        <p:txBody>
          <a:bodyPr wrap="square">
            <a:spAutoFit/>
          </a:bodyPr>
          <a:lstStyle/>
          <a:p>
            <a:pPr eaLnBrk="1" fontAlgn="auto" hangingPunct="1">
              <a:spcBef>
                <a:spcPts val="0"/>
              </a:spcBef>
              <a:spcAft>
                <a:spcPts val="0"/>
              </a:spcAft>
              <a:defRPr/>
            </a:pPr>
            <a:r>
              <a:rPr lang="en-US" altLang="zh-CN" sz="1600" b="1" dirty="0">
                <a:solidFill>
                  <a:srgbClr val="C00000"/>
                </a:solidFill>
                <a:latin typeface="+mn-lt"/>
                <a:ea typeface="+mn-ea"/>
                <a:cs typeface="Helvetica"/>
              </a:rPr>
              <a:t>What do we do</a:t>
            </a:r>
          </a:p>
        </p:txBody>
      </p:sp>
      <p:sp>
        <p:nvSpPr>
          <p:cNvPr id="5" name="TextBox 4">
            <a:extLst>
              <a:ext uri="{FF2B5EF4-FFF2-40B4-BE49-F238E27FC236}">
                <a16:creationId xmlns:a16="http://schemas.microsoft.com/office/drawing/2014/main" id="{4A55D711-383A-B35A-1550-1218713724F1}"/>
              </a:ext>
            </a:extLst>
          </p:cNvPr>
          <p:cNvSpPr txBox="1"/>
          <p:nvPr/>
        </p:nvSpPr>
        <p:spPr>
          <a:xfrm>
            <a:off x="4514540" y="2395559"/>
            <a:ext cx="4473393" cy="523220"/>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Other practical distribution – mean, variance, </a:t>
            </a:r>
            <a:r>
              <a:rPr lang="en-US" sz="1400" b="1" dirty="0">
                <a:solidFill>
                  <a:srgbClr val="C00000"/>
                </a:solidFill>
                <a:cs typeface="Calibri" panose="020F0502020204030204" pitchFamily="34" charset="0"/>
              </a:rPr>
              <a:t>skewness, </a:t>
            </a:r>
            <a:r>
              <a:rPr lang="en-US" sz="1400" dirty="0">
                <a:cs typeface="Calibri" panose="020F0502020204030204" pitchFamily="34" charset="0"/>
              </a:rPr>
              <a:t>etc. - shape</a:t>
            </a:r>
          </a:p>
        </p:txBody>
      </p:sp>
      <p:grpSp>
        <p:nvGrpSpPr>
          <p:cNvPr id="25" name="Group 24">
            <a:extLst>
              <a:ext uri="{FF2B5EF4-FFF2-40B4-BE49-F238E27FC236}">
                <a16:creationId xmlns:a16="http://schemas.microsoft.com/office/drawing/2014/main" id="{21AEFCA6-7BF2-D866-9D42-B34121CA824D}"/>
              </a:ext>
            </a:extLst>
          </p:cNvPr>
          <p:cNvGrpSpPr/>
          <p:nvPr/>
        </p:nvGrpSpPr>
        <p:grpSpPr>
          <a:xfrm>
            <a:off x="4877248" y="2911092"/>
            <a:ext cx="3961503" cy="1594721"/>
            <a:chOff x="4671811" y="1325630"/>
            <a:chExt cx="4417768" cy="1778393"/>
          </a:xfrm>
        </p:grpSpPr>
        <p:pic>
          <p:nvPicPr>
            <p:cNvPr id="12" name="Picture 11">
              <a:extLst>
                <a:ext uri="{FF2B5EF4-FFF2-40B4-BE49-F238E27FC236}">
                  <a16:creationId xmlns:a16="http://schemas.microsoft.com/office/drawing/2014/main" id="{5301F4B7-88B6-DF6B-FE0E-3F809E488E94}"/>
                </a:ext>
              </a:extLst>
            </p:cNvPr>
            <p:cNvPicPr>
              <a:picLocks noChangeAspect="1"/>
            </p:cNvPicPr>
            <p:nvPr/>
          </p:nvPicPr>
          <p:blipFill>
            <a:blip r:embed="rId6"/>
            <a:stretch>
              <a:fillRect/>
            </a:stretch>
          </p:blipFill>
          <p:spPr>
            <a:xfrm>
              <a:off x="4671811" y="1325630"/>
              <a:ext cx="4417768" cy="1678366"/>
            </a:xfrm>
            <a:prstGeom prst="rect">
              <a:avLst/>
            </a:prstGeom>
          </p:spPr>
        </p:pic>
        <p:sp>
          <p:nvSpPr>
            <p:cNvPr id="13" name="TextBox 12">
              <a:extLst>
                <a:ext uri="{FF2B5EF4-FFF2-40B4-BE49-F238E27FC236}">
                  <a16:creationId xmlns:a16="http://schemas.microsoft.com/office/drawing/2014/main" id="{62C30EF0-DF05-0399-1C42-4E2CC9EBF831}"/>
                </a:ext>
              </a:extLst>
            </p:cNvPr>
            <p:cNvSpPr txBox="1"/>
            <p:nvPr/>
          </p:nvSpPr>
          <p:spPr>
            <a:xfrm>
              <a:off x="4811240" y="2903968"/>
              <a:ext cx="3853397" cy="200055"/>
            </a:xfrm>
            <a:prstGeom prst="rect">
              <a:avLst/>
            </a:prstGeom>
            <a:noFill/>
          </p:spPr>
          <p:txBody>
            <a:bodyPr wrap="square">
              <a:spAutoFit/>
            </a:bodyPr>
            <a:lstStyle/>
            <a:p>
              <a:r>
                <a:rPr lang="en-US" sz="700" dirty="0">
                  <a:hlinkClick r:id="rId7"/>
                </a:rPr>
                <a:t>https://en.wikipedia.org/wiki/Skewness</a:t>
              </a:r>
              <a:endParaRPr lang="en-US" sz="700" dirty="0"/>
            </a:p>
          </p:txBody>
        </p:sp>
      </p:grpSp>
      <p:sp>
        <p:nvSpPr>
          <p:cNvPr id="15" name="TextBox 14">
            <a:extLst>
              <a:ext uri="{FF2B5EF4-FFF2-40B4-BE49-F238E27FC236}">
                <a16:creationId xmlns:a16="http://schemas.microsoft.com/office/drawing/2014/main" id="{047C31DF-B67F-C548-FC6B-F434B1D4D729}"/>
              </a:ext>
            </a:extLst>
          </p:cNvPr>
          <p:cNvSpPr txBox="1"/>
          <p:nvPr/>
        </p:nvSpPr>
        <p:spPr>
          <a:xfrm>
            <a:off x="593162" y="3625201"/>
            <a:ext cx="4300075" cy="584775"/>
          </a:xfrm>
          <a:prstGeom prst="rect">
            <a:avLst/>
          </a:prstGeom>
          <a:noFill/>
        </p:spPr>
        <p:txBody>
          <a:bodyPr wrap="square">
            <a:spAutoFit/>
          </a:bodyPr>
          <a:lstStyle/>
          <a:p>
            <a:pPr eaLnBrk="1" fontAlgn="auto" hangingPunct="1">
              <a:spcBef>
                <a:spcPts val="0"/>
              </a:spcBef>
              <a:spcAft>
                <a:spcPts val="0"/>
              </a:spcAft>
              <a:defRPr/>
            </a:pPr>
            <a:r>
              <a:rPr lang="en-US" sz="1600" b="1" dirty="0">
                <a:solidFill>
                  <a:srgbClr val="C00000"/>
                </a:solidFill>
                <a:latin typeface="+mn-lt"/>
                <a:ea typeface="+mn-ea"/>
                <a:cs typeface="Helvetica"/>
              </a:rPr>
              <a:t>How does the future uncertainty </a:t>
            </a:r>
            <a:r>
              <a:rPr lang="en-US" sz="1600" b="1" dirty="0">
                <a:solidFill>
                  <a:srgbClr val="C00000"/>
                </a:solidFill>
                <a:cs typeface="Helvetica"/>
              </a:rPr>
              <a:t>distribution </a:t>
            </a:r>
            <a:r>
              <a:rPr lang="en-US" sz="1600" b="1" dirty="0">
                <a:solidFill>
                  <a:srgbClr val="C00000"/>
                </a:solidFill>
                <a:latin typeface="+mn-lt"/>
                <a:ea typeface="+mn-ea"/>
                <a:cs typeface="Helvetica"/>
              </a:rPr>
              <a:t>affect the risk-neutral decision-making process?</a:t>
            </a:r>
          </a:p>
        </p:txBody>
      </p:sp>
      <p:sp>
        <p:nvSpPr>
          <p:cNvPr id="9" name="Rectangle 8">
            <a:extLst>
              <a:ext uri="{FF2B5EF4-FFF2-40B4-BE49-F238E27FC236}">
                <a16:creationId xmlns:a16="http://schemas.microsoft.com/office/drawing/2014/main" id="{DA1C2064-0880-CE7B-377A-A3288D8454FF}"/>
              </a:ext>
            </a:extLst>
          </p:cNvPr>
          <p:cNvSpPr/>
          <p:nvPr/>
        </p:nvSpPr>
        <p:spPr>
          <a:xfrm>
            <a:off x="2023348" y="1244479"/>
            <a:ext cx="1410104" cy="294208"/>
          </a:xfrm>
          <a:prstGeom prst="rect">
            <a:avLst/>
          </a:prstGeom>
          <a:noFill/>
          <a:ln w="28575">
            <a:solidFill>
              <a:schemeClr val="tx1">
                <a:lumMod val="75000"/>
                <a:lumOff val="2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dk1"/>
              </a:solidFill>
            </a:endParaRPr>
          </a:p>
        </p:txBody>
      </p:sp>
      <p:sp>
        <p:nvSpPr>
          <p:cNvPr id="14" name="TextBox 13">
            <a:extLst>
              <a:ext uri="{FF2B5EF4-FFF2-40B4-BE49-F238E27FC236}">
                <a16:creationId xmlns:a16="http://schemas.microsoft.com/office/drawing/2014/main" id="{A220A6F2-7C56-AE8C-5333-4641B13BEC78}"/>
              </a:ext>
            </a:extLst>
          </p:cNvPr>
          <p:cNvSpPr txBox="1"/>
          <p:nvPr/>
        </p:nvSpPr>
        <p:spPr>
          <a:xfrm>
            <a:off x="2849840" y="1513375"/>
            <a:ext cx="1030876" cy="276999"/>
          </a:xfrm>
          <a:prstGeom prst="rect">
            <a:avLst/>
          </a:prstGeom>
          <a:noFill/>
        </p:spPr>
        <p:txBody>
          <a:bodyPr wrap="square">
            <a:spAutoFit/>
          </a:bodyPr>
          <a:lstStyle/>
          <a:p>
            <a:r>
              <a:rPr lang="en-US" sz="1200" dirty="0">
                <a:cs typeface="Calibri" panose="020F0502020204030204" pitchFamily="34" charset="0"/>
              </a:rPr>
              <a:t>Risk operator</a:t>
            </a:r>
          </a:p>
        </p:txBody>
      </p:sp>
      <p:cxnSp>
        <p:nvCxnSpPr>
          <p:cNvPr id="16" name="Straight Arrow Connector 15">
            <a:extLst>
              <a:ext uri="{FF2B5EF4-FFF2-40B4-BE49-F238E27FC236}">
                <a16:creationId xmlns:a16="http://schemas.microsoft.com/office/drawing/2014/main" id="{9A8E30B1-60FF-F4B3-51D4-E2EC5FF3FB97}"/>
              </a:ext>
            </a:extLst>
          </p:cNvPr>
          <p:cNvCxnSpPr>
            <a:cxnSpLocks/>
          </p:cNvCxnSpPr>
          <p:nvPr/>
        </p:nvCxnSpPr>
        <p:spPr>
          <a:xfrm>
            <a:off x="2743200" y="1556984"/>
            <a:ext cx="0" cy="565100"/>
          </a:xfrm>
          <a:prstGeom prst="straightConnector1">
            <a:avLst/>
          </a:prstGeom>
          <a:ln>
            <a:solidFill>
              <a:schemeClr val="tx1">
                <a:lumMod val="75000"/>
                <a:lumOff val="25000"/>
              </a:schemeClr>
            </a:solidFill>
            <a:tailEnd type="triangle"/>
          </a:ln>
          <a:effectLst/>
        </p:spPr>
        <p:style>
          <a:lnRef idx="2">
            <a:schemeClr val="accent2"/>
          </a:lnRef>
          <a:fillRef idx="0">
            <a:schemeClr val="accent2"/>
          </a:fillRef>
          <a:effectRef idx="1">
            <a:schemeClr val="accent2"/>
          </a:effectRef>
          <a:fontRef idx="minor">
            <a:schemeClr val="tx1"/>
          </a:fontRef>
        </p:style>
      </p:cxnSp>
      <p:sp>
        <p:nvSpPr>
          <p:cNvPr id="19" name="Rectangle 18">
            <a:extLst>
              <a:ext uri="{FF2B5EF4-FFF2-40B4-BE49-F238E27FC236}">
                <a16:creationId xmlns:a16="http://schemas.microsoft.com/office/drawing/2014/main" id="{BC6200B2-55F6-6A68-9ECB-5EEAF3A94411}"/>
              </a:ext>
            </a:extLst>
          </p:cNvPr>
          <p:cNvSpPr/>
          <p:nvPr/>
        </p:nvSpPr>
        <p:spPr>
          <a:xfrm>
            <a:off x="1897870" y="2153361"/>
            <a:ext cx="1410104" cy="294208"/>
          </a:xfrm>
          <a:prstGeom prst="rect">
            <a:avLst/>
          </a:prstGeom>
          <a:noFill/>
          <a:ln w="28575">
            <a:solidFill>
              <a:schemeClr val="tx1">
                <a:lumMod val="75000"/>
                <a:lumOff val="2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dk1"/>
              </a:solidFill>
            </a:endParaRPr>
          </a:p>
        </p:txBody>
      </p:sp>
      <p:sp>
        <p:nvSpPr>
          <p:cNvPr id="20" name="TextBox 19">
            <a:extLst>
              <a:ext uri="{FF2B5EF4-FFF2-40B4-BE49-F238E27FC236}">
                <a16:creationId xmlns:a16="http://schemas.microsoft.com/office/drawing/2014/main" id="{F54EF9AF-5F54-D06D-3CC8-3B37B4F95122}"/>
              </a:ext>
            </a:extLst>
          </p:cNvPr>
          <p:cNvSpPr txBox="1"/>
          <p:nvPr/>
        </p:nvSpPr>
        <p:spPr>
          <a:xfrm>
            <a:off x="3260437" y="2128895"/>
            <a:ext cx="1030876" cy="276999"/>
          </a:xfrm>
          <a:prstGeom prst="rect">
            <a:avLst/>
          </a:prstGeom>
          <a:noFill/>
        </p:spPr>
        <p:txBody>
          <a:bodyPr wrap="square">
            <a:spAutoFit/>
          </a:bodyPr>
          <a:lstStyle/>
          <a:p>
            <a:r>
              <a:rPr lang="en-US" sz="1200" dirty="0">
                <a:cs typeface="Calibri" panose="020F0502020204030204" pitchFamily="34" charset="0"/>
              </a:rPr>
              <a:t>Expectation</a:t>
            </a:r>
          </a:p>
        </p:txBody>
      </p:sp>
      <p:sp>
        <p:nvSpPr>
          <p:cNvPr id="21" name="TextBox 20">
            <a:extLst>
              <a:ext uri="{FF2B5EF4-FFF2-40B4-BE49-F238E27FC236}">
                <a16:creationId xmlns:a16="http://schemas.microsoft.com/office/drawing/2014/main" id="{00458459-53F5-F03A-09E5-B0E2935DC3AA}"/>
              </a:ext>
            </a:extLst>
          </p:cNvPr>
          <p:cNvSpPr txBox="1"/>
          <p:nvPr/>
        </p:nvSpPr>
        <p:spPr>
          <a:xfrm>
            <a:off x="2643804" y="2411665"/>
            <a:ext cx="1387786" cy="400110"/>
          </a:xfrm>
          <a:prstGeom prst="rect">
            <a:avLst/>
          </a:prstGeom>
          <a:noFill/>
        </p:spPr>
        <p:txBody>
          <a:bodyPr wrap="square">
            <a:spAutoFit/>
          </a:bodyPr>
          <a:lstStyle/>
          <a:p>
            <a:r>
              <a:rPr lang="en-US" sz="2000" b="1" dirty="0">
                <a:cs typeface="Calibri" panose="020F0502020204030204" pitchFamily="34" charset="0"/>
              </a:rPr>
              <a:t>+</a:t>
            </a:r>
            <a:r>
              <a:rPr lang="en-US" sz="1600" dirty="0">
                <a:cs typeface="Calibri" panose="020F0502020204030204" pitchFamily="34" charset="0"/>
              </a:rPr>
              <a:t> Risk term</a:t>
            </a:r>
          </a:p>
        </p:txBody>
      </p:sp>
      <p:grpSp>
        <p:nvGrpSpPr>
          <p:cNvPr id="22" name="Group 21">
            <a:extLst>
              <a:ext uri="{FF2B5EF4-FFF2-40B4-BE49-F238E27FC236}">
                <a16:creationId xmlns:a16="http://schemas.microsoft.com/office/drawing/2014/main" id="{BEE96F07-FF29-5B0C-FA1E-904632DD3F0F}"/>
              </a:ext>
            </a:extLst>
          </p:cNvPr>
          <p:cNvGrpSpPr/>
          <p:nvPr/>
        </p:nvGrpSpPr>
        <p:grpSpPr>
          <a:xfrm>
            <a:off x="5583121" y="825719"/>
            <a:ext cx="3853397" cy="1622234"/>
            <a:chOff x="838200" y="2068145"/>
            <a:chExt cx="3853397" cy="1622234"/>
          </a:xfrm>
        </p:grpSpPr>
        <p:pic>
          <p:nvPicPr>
            <p:cNvPr id="23" name="Picture 22">
              <a:extLst>
                <a:ext uri="{FF2B5EF4-FFF2-40B4-BE49-F238E27FC236}">
                  <a16:creationId xmlns:a16="http://schemas.microsoft.com/office/drawing/2014/main" id="{4349F67A-AD0D-6D67-6D54-21B7874390B3}"/>
                </a:ext>
              </a:extLst>
            </p:cNvPr>
            <p:cNvPicPr>
              <a:picLocks noChangeAspect="1"/>
            </p:cNvPicPr>
            <p:nvPr/>
          </p:nvPicPr>
          <p:blipFill>
            <a:blip r:embed="rId8"/>
            <a:stretch>
              <a:fillRect/>
            </a:stretch>
          </p:blipFill>
          <p:spPr>
            <a:xfrm>
              <a:off x="910491" y="2068145"/>
              <a:ext cx="2061310" cy="1427457"/>
            </a:xfrm>
            <a:prstGeom prst="rect">
              <a:avLst/>
            </a:prstGeom>
          </p:spPr>
        </p:pic>
        <p:sp>
          <p:nvSpPr>
            <p:cNvPr id="24" name="TextBox 23">
              <a:extLst>
                <a:ext uri="{FF2B5EF4-FFF2-40B4-BE49-F238E27FC236}">
                  <a16:creationId xmlns:a16="http://schemas.microsoft.com/office/drawing/2014/main" id="{7D7ACEE8-4A43-35D9-8D75-33A4B80B12D0}"/>
                </a:ext>
              </a:extLst>
            </p:cNvPr>
            <p:cNvSpPr txBox="1"/>
            <p:nvPr/>
          </p:nvSpPr>
          <p:spPr>
            <a:xfrm>
              <a:off x="838200" y="3490324"/>
              <a:ext cx="3853397" cy="200055"/>
            </a:xfrm>
            <a:prstGeom prst="rect">
              <a:avLst/>
            </a:prstGeom>
            <a:noFill/>
          </p:spPr>
          <p:txBody>
            <a:bodyPr wrap="square">
              <a:spAutoFit/>
            </a:bodyPr>
            <a:lstStyle/>
            <a:p>
              <a:r>
                <a:rPr lang="en-US" sz="700" dirty="0">
                  <a:hlinkClick r:id="rId9"/>
                </a:rPr>
                <a:t>https://en.wikipedia.org/wiki/Normal_distribution</a:t>
              </a:r>
              <a:endParaRPr lang="en-US" sz="700" dirty="0"/>
            </a:p>
          </p:txBody>
        </p:sp>
      </p:grpSp>
      <p:sp>
        <p:nvSpPr>
          <p:cNvPr id="26" name="TextBox 25">
            <a:extLst>
              <a:ext uri="{FF2B5EF4-FFF2-40B4-BE49-F238E27FC236}">
                <a16:creationId xmlns:a16="http://schemas.microsoft.com/office/drawing/2014/main" id="{89992A3C-08DC-41A7-91A1-0FB1691E7920}"/>
              </a:ext>
            </a:extLst>
          </p:cNvPr>
          <p:cNvSpPr txBox="1"/>
          <p:nvPr/>
        </p:nvSpPr>
        <p:spPr>
          <a:xfrm>
            <a:off x="4514540" y="531770"/>
            <a:ext cx="3363191" cy="307777"/>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Normal distribution – mean, variance</a:t>
            </a:r>
          </a:p>
        </p:txBody>
      </p:sp>
      <p:cxnSp>
        <p:nvCxnSpPr>
          <p:cNvPr id="18" name="Straight Arrow Connector 17">
            <a:extLst>
              <a:ext uri="{FF2B5EF4-FFF2-40B4-BE49-F238E27FC236}">
                <a16:creationId xmlns:a16="http://schemas.microsoft.com/office/drawing/2014/main" id="{920F48B4-1A26-2889-3774-0F870FD2AAD5}"/>
              </a:ext>
            </a:extLst>
          </p:cNvPr>
          <p:cNvCxnSpPr>
            <a:cxnSpLocks/>
          </p:cNvCxnSpPr>
          <p:nvPr/>
        </p:nvCxnSpPr>
        <p:spPr>
          <a:xfrm flipV="1">
            <a:off x="2563014" y="2493787"/>
            <a:ext cx="1350478" cy="321229"/>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 name="TextBox 29">
            <a:extLst>
              <a:ext uri="{FF2B5EF4-FFF2-40B4-BE49-F238E27FC236}">
                <a16:creationId xmlns:a16="http://schemas.microsoft.com/office/drawing/2014/main" id="{DA3AC169-AA4F-9EAF-F366-D7A16C888432}"/>
              </a:ext>
            </a:extLst>
          </p:cNvPr>
          <p:cNvSpPr txBox="1"/>
          <p:nvPr/>
        </p:nvSpPr>
        <p:spPr>
          <a:xfrm>
            <a:off x="1527755" y="2648838"/>
            <a:ext cx="1387786" cy="307777"/>
          </a:xfrm>
          <a:prstGeom prst="rect">
            <a:avLst/>
          </a:prstGeom>
          <a:noFill/>
        </p:spPr>
        <p:txBody>
          <a:bodyPr wrap="square">
            <a:spAutoFit/>
          </a:bodyPr>
          <a:lstStyle/>
          <a:p>
            <a:r>
              <a:rPr lang="en-US" sz="1400" dirty="0">
                <a:solidFill>
                  <a:srgbClr val="C00000"/>
                </a:solidFill>
                <a:cs typeface="Calibri" panose="020F0502020204030204" pitchFamily="34" charset="0"/>
              </a:rPr>
              <a:t>Intentionally</a:t>
            </a:r>
            <a:endParaRPr lang="en-US" sz="1100" dirty="0">
              <a:solidFill>
                <a:srgbClr val="C00000"/>
              </a:solidFill>
              <a:cs typeface="Calibri" panose="020F0502020204030204" pitchFamily="34" charset="0"/>
            </a:endParaRPr>
          </a:p>
        </p:txBody>
      </p:sp>
      <p:sp>
        <p:nvSpPr>
          <p:cNvPr id="33" name="TextBox 32">
            <a:extLst>
              <a:ext uri="{FF2B5EF4-FFF2-40B4-BE49-F238E27FC236}">
                <a16:creationId xmlns:a16="http://schemas.microsoft.com/office/drawing/2014/main" id="{DE5BF313-7C86-B8E8-A8FE-C2B19CE658DA}"/>
              </a:ext>
            </a:extLst>
          </p:cNvPr>
          <p:cNvSpPr txBox="1"/>
          <p:nvPr/>
        </p:nvSpPr>
        <p:spPr>
          <a:xfrm>
            <a:off x="1806560" y="3624077"/>
            <a:ext cx="1655214" cy="338554"/>
          </a:xfrm>
          <a:prstGeom prst="rect">
            <a:avLst/>
          </a:prstGeom>
          <a:noFill/>
        </p:spPr>
        <p:txBody>
          <a:bodyPr wrap="square">
            <a:spAutoFit/>
          </a:bodyPr>
          <a:lstStyle/>
          <a:p>
            <a:r>
              <a:rPr lang="en-US" sz="1600" b="1" dirty="0">
                <a:solidFill>
                  <a:srgbClr val="C00000"/>
                </a:solidFill>
                <a:latin typeface="+mn-lt"/>
                <a:ea typeface="+mn-ea"/>
              </a:rPr>
              <a:t>future</a:t>
            </a:r>
          </a:p>
        </p:txBody>
      </p:sp>
      <p:pic>
        <p:nvPicPr>
          <p:cNvPr id="35" name="Graphic 34" descr="Badge 1 with solid fill">
            <a:extLst>
              <a:ext uri="{FF2B5EF4-FFF2-40B4-BE49-F238E27FC236}">
                <a16:creationId xmlns:a16="http://schemas.microsoft.com/office/drawing/2014/main" id="{A75D85CC-65B8-DF07-AE33-353C14C4B85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56067" y="2692001"/>
            <a:ext cx="407265" cy="407265"/>
          </a:xfrm>
          <a:prstGeom prst="rect">
            <a:avLst/>
          </a:prstGeom>
        </p:spPr>
      </p:pic>
      <p:pic>
        <p:nvPicPr>
          <p:cNvPr id="38" name="Graphic 37" descr="Badge with solid fill">
            <a:extLst>
              <a:ext uri="{FF2B5EF4-FFF2-40B4-BE49-F238E27FC236}">
                <a16:creationId xmlns:a16="http://schemas.microsoft.com/office/drawing/2014/main" id="{C0064257-0E16-E8B0-A79E-F86820C100B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6066" y="3522972"/>
            <a:ext cx="407265" cy="407265"/>
          </a:xfrm>
          <a:prstGeom prst="rect">
            <a:avLst/>
          </a:prstGeom>
        </p:spPr>
      </p:pic>
    </p:spTree>
    <p:extLst>
      <p:ext uri="{BB962C8B-B14F-4D97-AF65-F5344CB8AC3E}">
        <p14:creationId xmlns:p14="http://schemas.microsoft.com/office/powerpoint/2010/main" val="31319324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dissolv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dissolv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dissolve">
                                      <p:cBhvr>
                                        <p:cTn id="25" dur="500"/>
                                        <p:tgtEl>
                                          <p:spTgt spid="20"/>
                                        </p:tgtEl>
                                      </p:cBhvr>
                                    </p:animEffect>
                                  </p:childTnLst>
                                </p:cTn>
                              </p:par>
                              <p:par>
                                <p:cTn id="26" presetID="9"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dissolve">
                                      <p:cBhvr>
                                        <p:cTn id="28" dur="500"/>
                                        <p:tgtEl>
                                          <p:spTgt spid="1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dissolve">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dissolve">
                                      <p:cBhvr>
                                        <p:cTn id="36" dur="500"/>
                                        <p:tgtEl>
                                          <p:spTgt spid="26"/>
                                        </p:tgtEl>
                                      </p:cBhvr>
                                    </p:animEffect>
                                  </p:childTnLst>
                                </p:cTn>
                              </p:par>
                              <p:par>
                                <p:cTn id="37" presetID="9"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dissolve">
                                      <p:cBhvr>
                                        <p:cTn id="39" dur="5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dissolve">
                                      <p:cBhvr>
                                        <p:cTn id="44" dur="500"/>
                                        <p:tgtEl>
                                          <p:spTgt spid="5"/>
                                        </p:tgtEl>
                                      </p:cBhvr>
                                    </p:animEffect>
                                  </p:childTnLst>
                                </p:cTn>
                              </p:par>
                              <p:par>
                                <p:cTn id="45" presetID="9" presetClass="entr" presetSubtype="0" fill="hold"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dissolve">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dissolve">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dissolve">
                                      <p:cBhvr>
                                        <p:cTn id="57" dur="5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dissolve">
                                      <p:cBhvr>
                                        <p:cTn id="62" dur="500"/>
                                        <p:tgtEl>
                                          <p:spTgt spid="30"/>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dissolve">
                                      <p:cBhvr>
                                        <p:cTn id="67"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nodeType="click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dissolve">
                                      <p:cBhvr>
                                        <p:cTn id="72" dur="500"/>
                                        <p:tgtEl>
                                          <p:spTgt spid="38"/>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dissolve">
                                      <p:cBhvr>
                                        <p:cTn id="77" dur="500"/>
                                        <p:tgtEl>
                                          <p:spTgt spid="33"/>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dissolve">
                                      <p:cBhvr>
                                        <p:cTn id="8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0"/>
      <p:bldP spid="9" grpId="0" animBg="1"/>
      <p:bldP spid="14" grpId="0"/>
      <p:bldP spid="19" grpId="0" animBg="1"/>
      <p:bldP spid="20" grpId="0"/>
      <p:bldP spid="21" grpId="0"/>
      <p:bldP spid="26" grpId="0"/>
      <p:bldP spid="30" grpId="0"/>
      <p:bldP spid="3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Background</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9</a:t>
            </a:r>
            <a:r>
              <a:rPr lang="en-US" altLang="en-US" sz="1200" dirty="0">
                <a:solidFill>
                  <a:schemeClr val="bg1"/>
                </a:solidFill>
              </a:rPr>
              <a:t>| </a:t>
            </a:r>
            <a:r>
              <a:rPr lang="en-US" altLang="en-US" sz="1050" dirty="0">
                <a:solidFill>
                  <a:schemeClr val="bg1"/>
                </a:solidFill>
              </a:rPr>
              <a:t>Background</a:t>
            </a:r>
            <a:endParaRPr lang="en-US" altLang="en-US" sz="900" dirty="0">
              <a:solidFill>
                <a:schemeClr val="bg1"/>
              </a:solidFill>
            </a:endParaRPr>
          </a:p>
        </p:txBody>
      </p:sp>
      <p:sp>
        <p:nvSpPr>
          <p:cNvPr id="13" name="Rectangle 12">
            <a:extLst>
              <a:ext uri="{FF2B5EF4-FFF2-40B4-BE49-F238E27FC236}">
                <a16:creationId xmlns:a16="http://schemas.microsoft.com/office/drawing/2014/main" id="{45C1A370-3F02-B8EF-2602-ED4E29D5A29F}"/>
              </a:ext>
            </a:extLst>
          </p:cNvPr>
          <p:cNvSpPr/>
          <p:nvPr/>
        </p:nvSpPr>
        <p:spPr>
          <a:xfrm>
            <a:off x="152400" y="574558"/>
            <a:ext cx="3880385" cy="338554"/>
          </a:xfrm>
          <a:prstGeom prst="rect">
            <a:avLst/>
          </a:prstGeom>
        </p:spPr>
        <p:txBody>
          <a:bodyPr wrap="square">
            <a:spAutoFit/>
          </a:bodyPr>
          <a:lstStyle/>
          <a:p>
            <a:pPr eaLnBrk="1" fontAlgn="auto" hangingPunct="1">
              <a:spcBef>
                <a:spcPts val="0"/>
              </a:spcBef>
              <a:spcAft>
                <a:spcPts val="0"/>
              </a:spcAft>
              <a:defRPr/>
            </a:pPr>
            <a:r>
              <a:rPr lang="en-US" altLang="zh-CN" sz="1600" b="1" dirty="0">
                <a:solidFill>
                  <a:srgbClr val="C00000"/>
                </a:solidFill>
                <a:latin typeface="+mn-lt"/>
                <a:ea typeface="+mn-ea"/>
                <a:cs typeface="Helvetica"/>
              </a:rPr>
              <a:t>Contribution</a:t>
            </a:r>
            <a:endParaRPr lang="en-US" altLang="zh-CN" sz="1600" dirty="0">
              <a:solidFill>
                <a:srgbClr val="C00000"/>
              </a:solidFill>
              <a:latin typeface="+mn-lt"/>
              <a:ea typeface="+mn-ea"/>
              <a:cs typeface="Helvetica"/>
            </a:endParaRPr>
          </a:p>
        </p:txBody>
      </p:sp>
      <p:sp>
        <p:nvSpPr>
          <p:cNvPr id="16" name="TextBox 15">
            <a:extLst>
              <a:ext uri="{FF2B5EF4-FFF2-40B4-BE49-F238E27FC236}">
                <a16:creationId xmlns:a16="http://schemas.microsoft.com/office/drawing/2014/main" id="{55A45D32-8F88-92F0-8CC4-9749C0FB9B2A}"/>
              </a:ext>
            </a:extLst>
          </p:cNvPr>
          <p:cNvSpPr txBox="1"/>
          <p:nvPr/>
        </p:nvSpPr>
        <p:spPr>
          <a:xfrm>
            <a:off x="152400" y="913112"/>
            <a:ext cx="4388811" cy="954107"/>
          </a:xfrm>
          <a:prstGeom prst="rect">
            <a:avLst/>
          </a:prstGeom>
          <a:noFill/>
        </p:spPr>
        <p:txBody>
          <a:bodyPr wrap="square">
            <a:spAutoFit/>
          </a:bodyPr>
          <a:lstStyle/>
          <a:p>
            <a:pPr marL="285750" indent="-285750" algn="just">
              <a:spcBef>
                <a:spcPts val="0"/>
              </a:spcBef>
              <a:spcAft>
                <a:spcPts val="1800"/>
              </a:spcAft>
              <a:buFont typeface="Arial" panose="020B0604020202020204" pitchFamily="34" charset="0"/>
              <a:buChar char="•"/>
            </a:pPr>
            <a:r>
              <a:rPr lang="en-US" sz="1400" dirty="0">
                <a:cs typeface="Calibri" panose="020F0502020204030204" pitchFamily="34" charset="0"/>
              </a:rPr>
              <a:t>We establish a theoretical framework to model demand behavior to future volatile electricity prices We</a:t>
            </a:r>
            <a:r>
              <a:rPr lang="zh-CN" altLang="en-US" sz="1400" dirty="0">
                <a:cs typeface="Calibri" panose="020F0502020204030204" pitchFamily="34" charset="0"/>
              </a:rPr>
              <a:t> </a:t>
            </a:r>
            <a:r>
              <a:rPr lang="en-US" sz="1400" dirty="0">
                <a:cs typeface="Calibri" panose="020F0502020204030204" pitchFamily="34" charset="0"/>
              </a:rPr>
              <a:t>model demand with a risk-neutral cost-saving objective in a sequential decision-making context;</a:t>
            </a:r>
          </a:p>
        </p:txBody>
      </p:sp>
      <p:grpSp>
        <p:nvGrpSpPr>
          <p:cNvPr id="4" name="Group 3">
            <a:extLst>
              <a:ext uri="{FF2B5EF4-FFF2-40B4-BE49-F238E27FC236}">
                <a16:creationId xmlns:a16="http://schemas.microsoft.com/office/drawing/2014/main" id="{5936FD77-D517-4BF0-A372-13EA4DD9DB49}"/>
              </a:ext>
            </a:extLst>
          </p:cNvPr>
          <p:cNvGrpSpPr/>
          <p:nvPr/>
        </p:nvGrpSpPr>
        <p:grpSpPr>
          <a:xfrm>
            <a:off x="5341382" y="1022965"/>
            <a:ext cx="2735023" cy="1363893"/>
            <a:chOff x="5205952" y="611576"/>
            <a:chExt cx="3754516" cy="2134822"/>
          </a:xfrm>
        </p:grpSpPr>
        <p:grpSp>
          <p:nvGrpSpPr>
            <p:cNvPr id="5" name="Group 4">
              <a:extLst>
                <a:ext uri="{FF2B5EF4-FFF2-40B4-BE49-F238E27FC236}">
                  <a16:creationId xmlns:a16="http://schemas.microsoft.com/office/drawing/2014/main" id="{55BE04DC-FE30-2A95-7F46-63D4526AF4FE}"/>
                </a:ext>
              </a:extLst>
            </p:cNvPr>
            <p:cNvGrpSpPr/>
            <p:nvPr/>
          </p:nvGrpSpPr>
          <p:grpSpPr>
            <a:xfrm>
              <a:off x="5494257" y="611576"/>
              <a:ext cx="3466211" cy="2134822"/>
              <a:chOff x="5494257" y="611576"/>
              <a:chExt cx="3466211" cy="2134822"/>
            </a:xfrm>
          </p:grpSpPr>
          <p:cxnSp>
            <p:nvCxnSpPr>
              <p:cNvPr id="9" name="Straight Arrow Connector 8">
                <a:extLst>
                  <a:ext uri="{FF2B5EF4-FFF2-40B4-BE49-F238E27FC236}">
                    <a16:creationId xmlns:a16="http://schemas.microsoft.com/office/drawing/2014/main" id="{3FF29847-CEE2-7508-B065-7D2E3D6855F9}"/>
                  </a:ext>
                </a:extLst>
              </p:cNvPr>
              <p:cNvCxnSpPr>
                <a:cxnSpLocks/>
              </p:cNvCxnSpPr>
              <p:nvPr/>
            </p:nvCxnSpPr>
            <p:spPr>
              <a:xfrm>
                <a:off x="5494257" y="2343150"/>
                <a:ext cx="34211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AEB521A1-727E-66DD-FE15-12D36CDF55CA}"/>
                  </a:ext>
                </a:extLst>
              </p:cNvPr>
              <p:cNvCxnSpPr>
                <a:cxnSpLocks/>
              </p:cNvCxnSpPr>
              <p:nvPr/>
            </p:nvCxnSpPr>
            <p:spPr>
              <a:xfrm flipV="1">
                <a:off x="6809738" y="611576"/>
                <a:ext cx="0" cy="19341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Freeform 18">
                <a:extLst>
                  <a:ext uri="{FF2B5EF4-FFF2-40B4-BE49-F238E27FC236}">
                    <a16:creationId xmlns:a16="http://schemas.microsoft.com/office/drawing/2014/main" id="{F65C8399-B1BF-CEF2-2366-D068909D3304}"/>
                  </a:ext>
                </a:extLst>
              </p:cNvPr>
              <p:cNvSpPr/>
              <p:nvPr/>
            </p:nvSpPr>
            <p:spPr>
              <a:xfrm>
                <a:off x="5525812" y="1073936"/>
                <a:ext cx="3237471" cy="1150114"/>
              </a:xfrm>
              <a:custGeom>
                <a:avLst/>
                <a:gdLst>
                  <a:gd name="connsiteX0" fmla="*/ 0 w 2199503"/>
                  <a:gd name="connsiteY0" fmla="*/ 1150114 h 1150114"/>
                  <a:gd name="connsiteX1" fmla="*/ 518984 w 2199503"/>
                  <a:gd name="connsiteY1" fmla="*/ 408708 h 1150114"/>
                  <a:gd name="connsiteX2" fmla="*/ 1186249 w 2199503"/>
                  <a:gd name="connsiteY2" fmla="*/ 25649 h 1150114"/>
                  <a:gd name="connsiteX3" fmla="*/ 2199503 w 2199503"/>
                  <a:gd name="connsiteY3" fmla="*/ 1113044 h 1150114"/>
                </a:gdLst>
                <a:ahLst/>
                <a:cxnLst>
                  <a:cxn ang="0">
                    <a:pos x="connsiteX0" y="connsiteY0"/>
                  </a:cxn>
                  <a:cxn ang="0">
                    <a:pos x="connsiteX1" y="connsiteY1"/>
                  </a:cxn>
                  <a:cxn ang="0">
                    <a:pos x="connsiteX2" y="connsiteY2"/>
                  </a:cxn>
                  <a:cxn ang="0">
                    <a:pos x="connsiteX3" y="connsiteY3"/>
                  </a:cxn>
                </a:cxnLst>
                <a:rect l="l" t="t" r="r" b="b"/>
                <a:pathLst>
                  <a:path w="2199503" h="1150114">
                    <a:moveTo>
                      <a:pt x="0" y="1150114"/>
                    </a:moveTo>
                    <a:cubicBezTo>
                      <a:pt x="160638" y="873116"/>
                      <a:pt x="321276" y="596119"/>
                      <a:pt x="518984" y="408708"/>
                    </a:cubicBezTo>
                    <a:cubicBezTo>
                      <a:pt x="716692" y="221297"/>
                      <a:pt x="906163" y="-91740"/>
                      <a:pt x="1186249" y="25649"/>
                    </a:cubicBezTo>
                    <a:cubicBezTo>
                      <a:pt x="1466335" y="143038"/>
                      <a:pt x="1832919" y="628041"/>
                      <a:pt x="2199503" y="1113044"/>
                    </a:cubicBez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21" name="Freeform 20">
                <a:extLst>
                  <a:ext uri="{FF2B5EF4-FFF2-40B4-BE49-F238E27FC236}">
                    <a16:creationId xmlns:a16="http://schemas.microsoft.com/office/drawing/2014/main" id="{019A869B-A645-FDFB-FC0C-A810C640E8A4}"/>
                  </a:ext>
                </a:extLst>
              </p:cNvPr>
              <p:cNvSpPr/>
              <p:nvPr/>
            </p:nvSpPr>
            <p:spPr>
              <a:xfrm flipH="1">
                <a:off x="5724429" y="1031696"/>
                <a:ext cx="3038854" cy="1303565"/>
              </a:xfrm>
              <a:custGeom>
                <a:avLst/>
                <a:gdLst>
                  <a:gd name="connsiteX0" fmla="*/ 11448 w 3038854"/>
                  <a:gd name="connsiteY0" fmla="*/ 1303565 h 1303565"/>
                  <a:gd name="connsiteX1" fmla="*/ 122659 w 3038854"/>
                  <a:gd name="connsiteY1" fmla="*/ 6105 h 1303565"/>
                  <a:gd name="connsiteX2" fmla="*/ 888778 w 3038854"/>
                  <a:gd name="connsiteY2" fmla="*/ 834008 h 1303565"/>
                  <a:gd name="connsiteX3" fmla="*/ 3038854 w 3038854"/>
                  <a:gd name="connsiteY3" fmla="*/ 1266494 h 1303565"/>
                </a:gdLst>
                <a:ahLst/>
                <a:cxnLst>
                  <a:cxn ang="0">
                    <a:pos x="connsiteX0" y="connsiteY0"/>
                  </a:cxn>
                  <a:cxn ang="0">
                    <a:pos x="connsiteX1" y="connsiteY1"/>
                  </a:cxn>
                  <a:cxn ang="0">
                    <a:pos x="connsiteX2" y="connsiteY2"/>
                  </a:cxn>
                  <a:cxn ang="0">
                    <a:pos x="connsiteX3" y="connsiteY3"/>
                  </a:cxn>
                </a:cxnLst>
                <a:rect l="l" t="t" r="r" b="b"/>
                <a:pathLst>
                  <a:path w="3038854" h="1303565">
                    <a:moveTo>
                      <a:pt x="11448" y="1303565"/>
                    </a:moveTo>
                    <a:cubicBezTo>
                      <a:pt x="-6058" y="693964"/>
                      <a:pt x="-23563" y="84364"/>
                      <a:pt x="122659" y="6105"/>
                    </a:cubicBezTo>
                    <a:cubicBezTo>
                      <a:pt x="268881" y="-72154"/>
                      <a:pt x="402745" y="623943"/>
                      <a:pt x="888778" y="834008"/>
                    </a:cubicBezTo>
                    <a:cubicBezTo>
                      <a:pt x="1374811" y="1044073"/>
                      <a:pt x="2206832" y="1155283"/>
                      <a:pt x="3038854" y="1266494"/>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2" name="TextBox 24">
                <a:extLst>
                  <a:ext uri="{FF2B5EF4-FFF2-40B4-BE49-F238E27FC236}">
                    <a16:creationId xmlns:a16="http://schemas.microsoft.com/office/drawing/2014/main" id="{30EF35C7-62A9-DC07-3E78-BC4AFFEE494B}"/>
                  </a:ext>
                </a:extLst>
              </p:cNvPr>
              <p:cNvSpPr txBox="1"/>
              <p:nvPr/>
            </p:nvSpPr>
            <p:spPr>
              <a:xfrm>
                <a:off x="8177571" y="2366146"/>
                <a:ext cx="782897" cy="380252"/>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Price</a:t>
                </a:r>
              </a:p>
            </p:txBody>
          </p:sp>
        </p:grpSp>
        <p:sp>
          <p:nvSpPr>
            <p:cNvPr id="6" name="TextBox 5">
              <a:extLst>
                <a:ext uri="{FF2B5EF4-FFF2-40B4-BE49-F238E27FC236}">
                  <a16:creationId xmlns:a16="http://schemas.microsoft.com/office/drawing/2014/main" id="{F9272CC0-3F0D-5FCE-19A6-3BD246BC120E}"/>
                </a:ext>
              </a:extLst>
            </p:cNvPr>
            <p:cNvSpPr txBox="1"/>
            <p:nvPr/>
          </p:nvSpPr>
          <p:spPr>
            <a:xfrm>
              <a:off x="5205952" y="635353"/>
              <a:ext cx="886931" cy="380252"/>
            </a:xfrm>
            <a:prstGeom prst="rect">
              <a:avLst/>
            </a:prstGeom>
            <a:noFill/>
          </p:spPr>
          <p:txBody>
            <a:bodyPr wrap="square">
              <a:spAutoFit/>
            </a:bodyPr>
            <a:lstStyle/>
            <a:p>
              <a:r>
                <a:rPr lang="en-US" sz="1200" dirty="0">
                  <a:cs typeface="Calibri" panose="020F0502020204030204" pitchFamily="34" charset="0"/>
                </a:rPr>
                <a:t>pdf</a:t>
              </a:r>
              <a:endParaRPr lang="en-US" sz="1200" i="1" dirty="0">
                <a:cs typeface="Calibri" panose="020F0502020204030204" pitchFamily="34" charset="0"/>
              </a:endParaRPr>
            </a:p>
          </p:txBody>
        </p:sp>
        <p:sp>
          <p:nvSpPr>
            <p:cNvPr id="8" name="Freeform 7">
              <a:extLst>
                <a:ext uri="{FF2B5EF4-FFF2-40B4-BE49-F238E27FC236}">
                  <a16:creationId xmlns:a16="http://schemas.microsoft.com/office/drawing/2014/main" id="{AF50A1BA-4401-D160-4D64-45334DBA9D54}"/>
                </a:ext>
              </a:extLst>
            </p:cNvPr>
            <p:cNvSpPr/>
            <p:nvPr/>
          </p:nvSpPr>
          <p:spPr>
            <a:xfrm>
              <a:off x="5715000" y="918629"/>
              <a:ext cx="2917371" cy="1214971"/>
            </a:xfrm>
            <a:custGeom>
              <a:avLst/>
              <a:gdLst>
                <a:gd name="connsiteX0" fmla="*/ 0 w 2917371"/>
                <a:gd name="connsiteY0" fmla="*/ 1138771 h 1214971"/>
                <a:gd name="connsiteX1" fmla="*/ 990600 w 2917371"/>
                <a:gd name="connsiteY1" fmla="*/ 746885 h 1214971"/>
                <a:gd name="connsiteX2" fmla="*/ 1850571 w 2917371"/>
                <a:gd name="connsiteY2" fmla="*/ 6657 h 1214971"/>
                <a:gd name="connsiteX3" fmla="*/ 2917371 w 2917371"/>
                <a:gd name="connsiteY3" fmla="*/ 1214971 h 1214971"/>
              </a:gdLst>
              <a:ahLst/>
              <a:cxnLst>
                <a:cxn ang="0">
                  <a:pos x="connsiteX0" y="connsiteY0"/>
                </a:cxn>
                <a:cxn ang="0">
                  <a:pos x="connsiteX1" y="connsiteY1"/>
                </a:cxn>
                <a:cxn ang="0">
                  <a:pos x="connsiteX2" y="connsiteY2"/>
                </a:cxn>
                <a:cxn ang="0">
                  <a:pos x="connsiteX3" y="connsiteY3"/>
                </a:cxn>
              </a:cxnLst>
              <a:rect l="l" t="t" r="r" b="b"/>
              <a:pathLst>
                <a:path w="2917371" h="1214971">
                  <a:moveTo>
                    <a:pt x="0" y="1138771"/>
                  </a:moveTo>
                  <a:cubicBezTo>
                    <a:pt x="341086" y="1037171"/>
                    <a:pt x="682172" y="935571"/>
                    <a:pt x="990600" y="746885"/>
                  </a:cubicBezTo>
                  <a:cubicBezTo>
                    <a:pt x="1299028" y="558199"/>
                    <a:pt x="1529443" y="-71357"/>
                    <a:pt x="1850571" y="6657"/>
                  </a:cubicBezTo>
                  <a:cubicBezTo>
                    <a:pt x="2171700" y="84671"/>
                    <a:pt x="2544535" y="649821"/>
                    <a:pt x="2917371" y="1214971"/>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23" name="Straight Connector 22">
            <a:extLst>
              <a:ext uri="{FF2B5EF4-FFF2-40B4-BE49-F238E27FC236}">
                <a16:creationId xmlns:a16="http://schemas.microsoft.com/office/drawing/2014/main" id="{924716E6-FDBE-25A1-A6CB-92EACEE6FD7F}"/>
              </a:ext>
            </a:extLst>
          </p:cNvPr>
          <p:cNvCxnSpPr>
            <a:cxnSpLocks/>
          </p:cNvCxnSpPr>
          <p:nvPr/>
        </p:nvCxnSpPr>
        <p:spPr>
          <a:xfrm>
            <a:off x="7010400" y="1038156"/>
            <a:ext cx="0" cy="1105767"/>
          </a:xfrm>
          <a:prstGeom prst="line">
            <a:avLst/>
          </a:prstGeom>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D0371F83-F794-5BB5-D7B8-9C9777004D30}"/>
              </a:ext>
            </a:extLst>
          </p:cNvPr>
          <p:cNvSpPr txBox="1"/>
          <p:nvPr/>
        </p:nvSpPr>
        <p:spPr>
          <a:xfrm>
            <a:off x="6741109" y="819150"/>
            <a:ext cx="1453696" cy="276999"/>
          </a:xfrm>
          <a:prstGeom prst="rect">
            <a:avLst/>
          </a:prstGeom>
          <a:noFill/>
        </p:spPr>
        <p:txBody>
          <a:bodyPr wrap="square">
            <a:spAutoFit/>
          </a:bodyPr>
          <a:lstStyle/>
          <a:p>
            <a:r>
              <a:rPr lang="en-US" sz="1200" dirty="0">
                <a:cs typeface="Calibri" panose="020F0502020204030204" pitchFamily="34" charset="0"/>
              </a:rPr>
              <a:t>Same expectation</a:t>
            </a:r>
          </a:p>
        </p:txBody>
      </p:sp>
      <p:sp>
        <p:nvSpPr>
          <p:cNvPr id="28" name="TextBox 27">
            <a:extLst>
              <a:ext uri="{FF2B5EF4-FFF2-40B4-BE49-F238E27FC236}">
                <a16:creationId xmlns:a16="http://schemas.microsoft.com/office/drawing/2014/main" id="{8A91EB83-30CA-0553-F3EE-AF8E32BA6BF3}"/>
              </a:ext>
            </a:extLst>
          </p:cNvPr>
          <p:cNvSpPr txBox="1"/>
          <p:nvPr/>
        </p:nvSpPr>
        <p:spPr>
          <a:xfrm>
            <a:off x="152399" y="2244570"/>
            <a:ext cx="4388799" cy="523220"/>
          </a:xfrm>
          <a:prstGeom prst="rect">
            <a:avLst/>
          </a:prstGeom>
          <a:noFill/>
        </p:spPr>
        <p:txBody>
          <a:bodyPr wrap="square">
            <a:spAutoFit/>
          </a:bodyPr>
          <a:lstStyle/>
          <a:p>
            <a:pPr marL="285750" indent="-285750" algn="just">
              <a:spcBef>
                <a:spcPts val="0"/>
              </a:spcBef>
              <a:spcAft>
                <a:spcPts val="1800"/>
              </a:spcAft>
              <a:buFont typeface="Arial" panose="020B0604020202020204" pitchFamily="34" charset="0"/>
              <a:buChar char="•"/>
            </a:pPr>
            <a:r>
              <a:rPr lang="en-US" sz="1400" dirty="0">
                <a:cs typeface="Calibri" panose="020F0502020204030204" pitchFamily="34" charset="0"/>
              </a:rPr>
              <a:t>We found that demand models with </a:t>
            </a:r>
            <a:r>
              <a:rPr lang="en-US" sz="1400" b="1" dirty="0">
                <a:cs typeface="Calibri" panose="020F0502020204030204" pitchFamily="34" charset="0"/>
              </a:rPr>
              <a:t>quadratic cost functions </a:t>
            </a:r>
            <a:r>
              <a:rPr lang="en-US" sz="1400" dirty="0">
                <a:cs typeface="Calibri" panose="020F0502020204030204" pitchFamily="34" charset="0"/>
              </a:rPr>
              <a:t>are </a:t>
            </a:r>
            <a:r>
              <a:rPr lang="en-US" sz="1400" b="1" dirty="0">
                <a:cs typeface="Calibri" panose="020F0502020204030204" pitchFamily="34" charset="0"/>
              </a:rPr>
              <a:t>distribution-insensitive;</a:t>
            </a:r>
          </a:p>
        </p:txBody>
      </p:sp>
      <p:sp>
        <p:nvSpPr>
          <p:cNvPr id="29" name="TextBox 28">
            <a:extLst>
              <a:ext uri="{FF2B5EF4-FFF2-40B4-BE49-F238E27FC236}">
                <a16:creationId xmlns:a16="http://schemas.microsoft.com/office/drawing/2014/main" id="{8479537B-9547-7210-6E41-88C0316DC1B5}"/>
              </a:ext>
            </a:extLst>
          </p:cNvPr>
          <p:cNvSpPr txBox="1"/>
          <p:nvPr/>
        </p:nvSpPr>
        <p:spPr>
          <a:xfrm>
            <a:off x="152399" y="3044414"/>
            <a:ext cx="4388799" cy="523220"/>
          </a:xfrm>
          <a:prstGeom prst="rect">
            <a:avLst/>
          </a:prstGeom>
          <a:noFill/>
        </p:spPr>
        <p:txBody>
          <a:bodyPr wrap="square">
            <a:spAutoFit/>
          </a:bodyPr>
          <a:lstStyle/>
          <a:p>
            <a:pPr marL="285750" indent="-285750">
              <a:spcBef>
                <a:spcPts val="0"/>
              </a:spcBef>
              <a:spcAft>
                <a:spcPts val="1800"/>
              </a:spcAft>
              <a:buFont typeface="Arial" panose="020B0604020202020204" pitchFamily="34" charset="0"/>
              <a:buChar char="•"/>
            </a:pPr>
            <a:r>
              <a:rPr lang="en-US" sz="1400" dirty="0">
                <a:cs typeface="Calibri" panose="020F0502020204030204" pitchFamily="34" charset="0"/>
              </a:rPr>
              <a:t>We prove that </a:t>
            </a:r>
            <a:r>
              <a:rPr lang="en-US" sz="1400" b="1" dirty="0">
                <a:cs typeface="Calibri" panose="020F0502020204030204" pitchFamily="34" charset="0"/>
              </a:rPr>
              <a:t>super-quadratic cost functions </a:t>
            </a:r>
            <a:r>
              <a:rPr lang="en-US" sz="1400" dirty="0">
                <a:cs typeface="Calibri" panose="020F0502020204030204" pitchFamily="34" charset="0"/>
              </a:rPr>
              <a:t>(higher order than two) result in prudent demands;</a:t>
            </a:r>
          </a:p>
        </p:txBody>
      </p:sp>
      <p:sp>
        <p:nvSpPr>
          <p:cNvPr id="31" name="TextBox 30">
            <a:extLst>
              <a:ext uri="{FF2B5EF4-FFF2-40B4-BE49-F238E27FC236}">
                <a16:creationId xmlns:a16="http://schemas.microsoft.com/office/drawing/2014/main" id="{ADCB3305-D69C-049C-AE11-BBEA7769DB84}"/>
              </a:ext>
            </a:extLst>
          </p:cNvPr>
          <p:cNvSpPr txBox="1"/>
          <p:nvPr/>
        </p:nvSpPr>
        <p:spPr>
          <a:xfrm>
            <a:off x="152398" y="3894417"/>
            <a:ext cx="5188983" cy="307777"/>
          </a:xfrm>
          <a:prstGeom prst="rect">
            <a:avLst/>
          </a:prstGeom>
          <a:noFill/>
        </p:spPr>
        <p:txBody>
          <a:bodyPr wrap="square">
            <a:spAutoFit/>
          </a:bodyPr>
          <a:lstStyle/>
          <a:p>
            <a:pPr marL="285750" indent="-285750">
              <a:spcBef>
                <a:spcPts val="0"/>
              </a:spcBef>
              <a:spcAft>
                <a:spcPts val="1800"/>
              </a:spcAft>
              <a:buFont typeface="Arial" panose="020B0604020202020204" pitchFamily="34" charset="0"/>
              <a:buChar char="•"/>
            </a:pPr>
            <a:r>
              <a:rPr lang="en-US" sz="1400" dirty="0">
                <a:cs typeface="Calibri" panose="020F0502020204030204" pitchFamily="34" charset="0"/>
              </a:rPr>
              <a:t>We use a simulation with a real-world case to verify our results.</a:t>
            </a:r>
          </a:p>
        </p:txBody>
      </p:sp>
      <p:sp>
        <p:nvSpPr>
          <p:cNvPr id="32" name="TextBox 31">
            <a:extLst>
              <a:ext uri="{FF2B5EF4-FFF2-40B4-BE49-F238E27FC236}">
                <a16:creationId xmlns:a16="http://schemas.microsoft.com/office/drawing/2014/main" id="{9B9B8C21-C130-4FA9-DCA6-F0AFCED169D1}"/>
              </a:ext>
            </a:extLst>
          </p:cNvPr>
          <p:cNvSpPr txBox="1"/>
          <p:nvPr/>
        </p:nvSpPr>
        <p:spPr>
          <a:xfrm>
            <a:off x="4879184" y="2688848"/>
            <a:ext cx="4219889" cy="954107"/>
          </a:xfrm>
          <a:prstGeom prst="rect">
            <a:avLst/>
          </a:prstGeom>
          <a:noFill/>
        </p:spPr>
        <p:txBody>
          <a:bodyPr wrap="square">
            <a:spAutoFit/>
          </a:bodyPr>
          <a:lstStyle/>
          <a:p>
            <a:r>
              <a:rPr lang="en-US" sz="1400" b="1" dirty="0">
                <a:cs typeface="Calibri" panose="020F0502020204030204" pitchFamily="34" charset="0"/>
              </a:rPr>
              <a:t>English</a:t>
            </a:r>
            <a:r>
              <a:rPr lang="en-US" sz="1400" dirty="0">
                <a:cs typeface="Calibri" panose="020F0502020204030204" pitchFamily="34" charset="0"/>
              </a:rPr>
              <a:t>: Current demand pattern affected by future uncertainty distribution</a:t>
            </a:r>
          </a:p>
          <a:p>
            <a:endParaRPr lang="en-US" sz="1400" dirty="0">
              <a:cs typeface="Calibri" panose="020F0502020204030204" pitchFamily="34" charset="0"/>
            </a:endParaRPr>
          </a:p>
          <a:p>
            <a:r>
              <a:rPr lang="en-US" sz="1400" b="1" dirty="0">
                <a:cs typeface="Calibri" panose="020F0502020204030204" pitchFamily="34" charset="0"/>
              </a:rPr>
              <a:t>Math-wise: </a:t>
            </a:r>
            <a:r>
              <a:rPr lang="en-US" sz="1400" dirty="0">
                <a:cs typeface="Calibri" panose="020F0502020204030204" pitchFamily="34" charset="0"/>
              </a:rPr>
              <a:t>third-order derivative of the utility function</a:t>
            </a:r>
          </a:p>
        </p:txBody>
      </p:sp>
      <p:pic>
        <p:nvPicPr>
          <p:cNvPr id="33" name="Picture 32">
            <a:extLst>
              <a:ext uri="{FF2B5EF4-FFF2-40B4-BE49-F238E27FC236}">
                <a16:creationId xmlns:a16="http://schemas.microsoft.com/office/drawing/2014/main" id="{BBCFE71A-9971-AA5F-ABDB-B6EA9EC91E89}"/>
              </a:ext>
            </a:extLst>
          </p:cNvPr>
          <p:cNvPicPr>
            <a:picLocks noChangeAspect="1"/>
          </p:cNvPicPr>
          <p:nvPr/>
        </p:nvPicPr>
        <p:blipFill rotWithShape="1">
          <a:blip r:embed="rId4"/>
          <a:srcRect r="34704"/>
          <a:stretch/>
        </p:blipFill>
        <p:spPr>
          <a:xfrm>
            <a:off x="6167532" y="3567634"/>
            <a:ext cx="870090" cy="497210"/>
          </a:xfrm>
          <a:prstGeom prst="rect">
            <a:avLst/>
          </a:prstGeom>
        </p:spPr>
      </p:pic>
      <p:sp>
        <p:nvSpPr>
          <p:cNvPr id="35" name="TextBox 34">
            <a:extLst>
              <a:ext uri="{FF2B5EF4-FFF2-40B4-BE49-F238E27FC236}">
                <a16:creationId xmlns:a16="http://schemas.microsoft.com/office/drawing/2014/main" id="{1B309757-0E3B-F68A-584A-F519A99B9BB6}"/>
              </a:ext>
            </a:extLst>
          </p:cNvPr>
          <p:cNvSpPr txBox="1"/>
          <p:nvPr/>
        </p:nvSpPr>
        <p:spPr>
          <a:xfrm>
            <a:off x="2234033" y="3253786"/>
            <a:ext cx="1798752" cy="307777"/>
          </a:xfrm>
          <a:prstGeom prst="rect">
            <a:avLst/>
          </a:prstGeom>
          <a:noFill/>
        </p:spPr>
        <p:txBody>
          <a:bodyPr wrap="square">
            <a:spAutoFit/>
          </a:bodyPr>
          <a:lstStyle/>
          <a:p>
            <a:r>
              <a:rPr lang="en-US" sz="1400" b="1" dirty="0">
                <a:cs typeface="Calibri" panose="020F0502020204030204" pitchFamily="34" charset="0"/>
              </a:rPr>
              <a:t>prudent demands</a:t>
            </a:r>
          </a:p>
        </p:txBody>
      </p:sp>
      <p:cxnSp>
        <p:nvCxnSpPr>
          <p:cNvPr id="36" name="Straight Arrow Connector 35">
            <a:extLst>
              <a:ext uri="{FF2B5EF4-FFF2-40B4-BE49-F238E27FC236}">
                <a16:creationId xmlns:a16="http://schemas.microsoft.com/office/drawing/2014/main" id="{87E5D023-3FCC-0E59-BA95-EC4F0249696F}"/>
              </a:ext>
            </a:extLst>
          </p:cNvPr>
          <p:cNvCxnSpPr>
            <a:cxnSpLocks/>
          </p:cNvCxnSpPr>
          <p:nvPr/>
        </p:nvCxnSpPr>
        <p:spPr>
          <a:xfrm flipV="1">
            <a:off x="3965297" y="3201329"/>
            <a:ext cx="913887" cy="286489"/>
          </a:xfrm>
          <a:prstGeom prst="straightConnector1">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150318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dissolve">
                                      <p:cBhvr>
                                        <p:cTn id="17" dur="500"/>
                                        <p:tgtEl>
                                          <p:spTgt spid="23"/>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dissolv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dissolve">
                                      <p:cBhvr>
                                        <p:cTn id="25" dur="500"/>
                                        <p:tgtEl>
                                          <p:spTgt spid="2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dissolve">
                                      <p:cBhvr>
                                        <p:cTn id="30" dur="500"/>
                                        <p:tgtEl>
                                          <p:spTgt spid="35"/>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dissolve">
                                      <p:cBhvr>
                                        <p:cTn id="35" dur="500"/>
                                        <p:tgtEl>
                                          <p:spTgt spid="36"/>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dissolve">
                                      <p:cBhvr>
                                        <p:cTn id="40" dur="500"/>
                                        <p:tgtEl>
                                          <p:spTgt spid="33"/>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dissolve">
                                      <p:cBhvr>
                                        <p:cTn id="43" dur="500"/>
                                        <p:tgtEl>
                                          <p:spTgt spid="32"/>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dissolve">
                                      <p:cBhvr>
                                        <p:cTn id="48" dur="500"/>
                                        <p:tgtEl>
                                          <p:spTgt spid="29"/>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dissolve">
                                      <p:cBhvr>
                                        <p:cTn id="5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4" grpId="0"/>
      <p:bldP spid="28" grpId="0"/>
      <p:bldP spid="29" grpId="0"/>
      <p:bldP spid="31" grpId="0"/>
      <p:bldP spid="32" grpId="0"/>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1" descr="16x9_grey.jpg">
            <a:extLst>
              <a:ext uri="{FF2B5EF4-FFF2-40B4-BE49-F238E27FC236}">
                <a16:creationId xmlns:a16="http://schemas.microsoft.com/office/drawing/2014/main" id="{787542DE-E952-CEA4-62FA-C1DBD2B635D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C81AB479-D306-05E9-0BD2-AC56097AB9ED}"/>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eaLnBrk="1" hangingPunct="1">
              <a:defRPr/>
            </a:pPr>
            <a:endParaRPr lang="zh-CN" altLang="zh-CN">
              <a:solidFill>
                <a:srgbClr val="E6B9B8"/>
              </a:solidFill>
            </a:endParaRPr>
          </a:p>
        </p:txBody>
      </p:sp>
      <p:pic>
        <p:nvPicPr>
          <p:cNvPr id="50179" name="Picture 7">
            <a:extLst>
              <a:ext uri="{FF2B5EF4-FFF2-40B4-BE49-F238E27FC236}">
                <a16:creationId xmlns:a16="http://schemas.microsoft.com/office/drawing/2014/main" id="{809258BA-E7E3-6CD4-79BC-2A806202E9A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TextBox 8">
            <a:extLst>
              <a:ext uri="{FF2B5EF4-FFF2-40B4-BE49-F238E27FC236}">
                <a16:creationId xmlns:a16="http://schemas.microsoft.com/office/drawing/2014/main" id="{28E5441C-D06F-7794-94E3-570D9D45D18C}"/>
              </a:ext>
            </a:extLst>
          </p:cNvPr>
          <p:cNvSpPr txBox="1">
            <a:spLocks noChangeArrowheads="1"/>
          </p:cNvSpPr>
          <p:nvPr/>
        </p:nvSpPr>
        <p:spPr bwMode="auto">
          <a:xfrm>
            <a:off x="1219200" y="971550"/>
            <a:ext cx="7391400" cy="261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marL="457200" indent="-457200" eaLnBrk="1" hangingPunct="1">
              <a:lnSpc>
                <a:spcPct val="150000"/>
              </a:lnSpc>
              <a:spcBef>
                <a:spcPct val="0"/>
              </a:spcBef>
            </a:pPr>
            <a:r>
              <a:rPr lang="en-US" altLang="zh-CN" sz="2800" i="1" dirty="0">
                <a:solidFill>
                  <a:schemeClr val="bg1"/>
                </a:solidFill>
              </a:rPr>
              <a:t>Background</a:t>
            </a:r>
          </a:p>
          <a:p>
            <a:pPr marL="457200" indent="-457200" eaLnBrk="1" hangingPunct="1">
              <a:lnSpc>
                <a:spcPct val="150000"/>
              </a:lnSpc>
              <a:spcBef>
                <a:spcPct val="0"/>
              </a:spcBef>
            </a:pPr>
            <a:r>
              <a:rPr lang="en-US" altLang="zh-CN" sz="2800" i="1" dirty="0">
                <a:solidFill>
                  <a:schemeClr val="accent6">
                    <a:lumMod val="75000"/>
                  </a:schemeClr>
                </a:solidFill>
              </a:rPr>
              <a:t>Problem formulation</a:t>
            </a:r>
          </a:p>
          <a:p>
            <a:pPr marL="457200" indent="-457200" eaLnBrk="1" hangingPunct="1">
              <a:lnSpc>
                <a:spcPct val="150000"/>
              </a:lnSpc>
              <a:spcBef>
                <a:spcPct val="0"/>
              </a:spcBef>
            </a:pPr>
            <a:r>
              <a:rPr lang="en-US" altLang="en-US" sz="2800" i="1" dirty="0">
                <a:solidFill>
                  <a:schemeClr val="bg1"/>
                </a:solidFill>
              </a:rPr>
              <a:t>Main Results</a:t>
            </a:r>
          </a:p>
          <a:p>
            <a:pPr marL="457200" indent="-457200" eaLnBrk="1" hangingPunct="1">
              <a:lnSpc>
                <a:spcPct val="150000"/>
              </a:lnSpc>
              <a:spcBef>
                <a:spcPct val="0"/>
              </a:spcBef>
            </a:pPr>
            <a:r>
              <a:rPr lang="en-US" altLang="en-US" sz="2800" i="1" dirty="0">
                <a:solidFill>
                  <a:schemeClr val="bg1"/>
                </a:solidFill>
              </a:rPr>
              <a:t>Case Study and Conclusion</a:t>
            </a:r>
          </a:p>
        </p:txBody>
      </p:sp>
      <p:sp>
        <p:nvSpPr>
          <p:cNvPr id="2" name="TextBox 11">
            <a:extLst>
              <a:ext uri="{FF2B5EF4-FFF2-40B4-BE49-F238E27FC236}">
                <a16:creationId xmlns:a16="http://schemas.microsoft.com/office/drawing/2014/main" id="{B080159E-71FF-1DA0-43A2-5276E22B4B9C}"/>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10</a:t>
            </a:r>
            <a:r>
              <a:rPr lang="en-US" altLang="en-US" sz="1200" dirty="0">
                <a:solidFill>
                  <a:schemeClr val="bg1"/>
                </a:solidFill>
              </a:rPr>
              <a:t>|</a:t>
            </a:r>
            <a:endParaRPr lang="en-US" altLang="en-US" sz="900" dirty="0">
              <a:solidFill>
                <a:schemeClr val="bg1"/>
              </a:solidFill>
            </a:endParaRPr>
          </a:p>
        </p:txBody>
      </p:sp>
    </p:spTree>
    <p:extLst>
      <p:ext uri="{BB962C8B-B14F-4D97-AF65-F5344CB8AC3E}">
        <p14:creationId xmlns:p14="http://schemas.microsoft.com/office/powerpoint/2010/main" val="1614624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Problem Formulation</a:t>
            </a:r>
          </a:p>
        </p:txBody>
      </p:sp>
      <p:sp>
        <p:nvSpPr>
          <p:cNvPr id="9" name="Rectangle 8">
            <a:extLst>
              <a:ext uri="{FF2B5EF4-FFF2-40B4-BE49-F238E27FC236}">
                <a16:creationId xmlns:a16="http://schemas.microsoft.com/office/drawing/2014/main" id="{C3A1AEDC-7A36-4E62-8C66-BD561769A32F}"/>
              </a:ext>
            </a:extLst>
          </p:cNvPr>
          <p:cNvSpPr/>
          <p:nvPr/>
        </p:nvSpPr>
        <p:spPr>
          <a:xfrm>
            <a:off x="117592" y="607379"/>
            <a:ext cx="3880385" cy="338554"/>
          </a:xfrm>
          <a:prstGeom prst="rect">
            <a:avLst/>
          </a:prstGeom>
        </p:spPr>
        <p:txBody>
          <a:bodyPr wrap="square">
            <a:spAutoFit/>
          </a:bodyPr>
          <a:lstStyle/>
          <a:p>
            <a:pPr eaLnBrk="1" fontAlgn="auto" hangingPunct="1">
              <a:spcBef>
                <a:spcPts val="0"/>
              </a:spcBef>
              <a:spcAft>
                <a:spcPts val="0"/>
              </a:spcAft>
              <a:defRPr/>
            </a:pPr>
            <a:r>
              <a:rPr lang="en-US" altLang="zh-CN" sz="1600" b="1" dirty="0">
                <a:solidFill>
                  <a:srgbClr val="C00000"/>
                </a:solidFill>
                <a:latin typeface="+mn-lt"/>
                <a:ea typeface="+mn-ea"/>
                <a:cs typeface="Helvetica"/>
              </a:rPr>
              <a:t>Demand model</a:t>
            </a:r>
            <a:endParaRPr lang="en-US" altLang="zh-CN" sz="1600" dirty="0">
              <a:solidFill>
                <a:srgbClr val="C00000"/>
              </a:solidFill>
              <a:latin typeface="+mn-lt"/>
              <a:ea typeface="+mn-ea"/>
              <a:cs typeface="Helvetica"/>
            </a:endParaRP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11</a:t>
            </a:r>
            <a:r>
              <a:rPr lang="en-US" altLang="en-US" sz="1200" dirty="0">
                <a:solidFill>
                  <a:schemeClr val="bg1"/>
                </a:solidFill>
              </a:rPr>
              <a:t>| </a:t>
            </a:r>
            <a:r>
              <a:rPr lang="en-US" altLang="en-US" sz="1050" dirty="0">
                <a:solidFill>
                  <a:schemeClr val="bg1"/>
                </a:solidFill>
              </a:rPr>
              <a:t>Problem Formulation</a:t>
            </a:r>
            <a:endParaRPr lang="en-US" altLang="en-US" sz="900" dirty="0">
              <a:solidFill>
                <a:schemeClr val="bg1"/>
              </a:solidFill>
            </a:endParaRPr>
          </a:p>
        </p:txBody>
      </p:sp>
      <p:sp>
        <p:nvSpPr>
          <p:cNvPr id="12" name="TextBox 11">
            <a:extLst>
              <a:ext uri="{FF2B5EF4-FFF2-40B4-BE49-F238E27FC236}">
                <a16:creationId xmlns:a16="http://schemas.microsoft.com/office/drawing/2014/main" id="{825F56E4-DAA5-23B1-E153-1A455635524F}"/>
              </a:ext>
            </a:extLst>
          </p:cNvPr>
          <p:cNvSpPr txBox="1"/>
          <p:nvPr/>
        </p:nvSpPr>
        <p:spPr>
          <a:xfrm>
            <a:off x="219386" y="918903"/>
            <a:ext cx="4198564" cy="307777"/>
          </a:xfrm>
          <a:prstGeom prst="rect">
            <a:avLst/>
          </a:prstGeom>
          <a:noFill/>
        </p:spPr>
        <p:txBody>
          <a:bodyPr wrap="square">
            <a:spAutoFit/>
          </a:bodyPr>
          <a:lstStyle/>
          <a:p>
            <a:r>
              <a:rPr lang="en-US" sz="1400" dirty="0">
                <a:cs typeface="Calibri" panose="020F0502020204030204" pitchFamily="34" charset="0"/>
              </a:rPr>
              <a:t>Discrete time-varying system  </a:t>
            </a:r>
          </a:p>
        </p:txBody>
      </p:sp>
      <p:pic>
        <p:nvPicPr>
          <p:cNvPr id="2" name="Picture 1">
            <a:extLst>
              <a:ext uri="{FF2B5EF4-FFF2-40B4-BE49-F238E27FC236}">
                <a16:creationId xmlns:a16="http://schemas.microsoft.com/office/drawing/2014/main" id="{2B1BF617-1026-E187-6E9D-5D625DDE58FF}"/>
              </a:ext>
            </a:extLst>
          </p:cNvPr>
          <p:cNvPicPr>
            <a:picLocks noChangeAspect="1"/>
          </p:cNvPicPr>
          <p:nvPr/>
        </p:nvPicPr>
        <p:blipFill>
          <a:blip r:embed="rId4"/>
          <a:stretch>
            <a:fillRect/>
          </a:stretch>
        </p:blipFill>
        <p:spPr>
          <a:xfrm>
            <a:off x="117592" y="1763403"/>
            <a:ext cx="3880385" cy="1452755"/>
          </a:xfrm>
          <a:prstGeom prst="rect">
            <a:avLst/>
          </a:prstGeom>
        </p:spPr>
      </p:pic>
      <p:sp>
        <p:nvSpPr>
          <p:cNvPr id="4" name="TextBox 3">
            <a:extLst>
              <a:ext uri="{FF2B5EF4-FFF2-40B4-BE49-F238E27FC236}">
                <a16:creationId xmlns:a16="http://schemas.microsoft.com/office/drawing/2014/main" id="{69B33FAB-87D1-6F45-C224-28932355712A}"/>
              </a:ext>
            </a:extLst>
          </p:cNvPr>
          <p:cNvSpPr txBox="1"/>
          <p:nvPr/>
        </p:nvSpPr>
        <p:spPr>
          <a:xfrm>
            <a:off x="441726" y="3714294"/>
            <a:ext cx="2099282" cy="307777"/>
          </a:xfrm>
          <a:prstGeom prst="rect">
            <a:avLst/>
          </a:prstGeom>
          <a:noFill/>
        </p:spPr>
        <p:txBody>
          <a:bodyPr wrap="square">
            <a:spAutoFit/>
          </a:bodyPr>
          <a:lstStyle/>
          <a:p>
            <a:r>
              <a:rPr lang="en-US" sz="1400" dirty="0">
                <a:solidFill>
                  <a:schemeClr val="accent3">
                    <a:lumMod val="75000"/>
                  </a:schemeClr>
                </a:solidFill>
                <a:cs typeface="Calibri" panose="020F0502020204030204" pitchFamily="34" charset="0"/>
              </a:rPr>
              <a:t>X – state (battery SOC)</a:t>
            </a:r>
          </a:p>
        </p:txBody>
      </p:sp>
      <p:sp>
        <p:nvSpPr>
          <p:cNvPr id="13" name="Oval 12">
            <a:extLst>
              <a:ext uri="{FF2B5EF4-FFF2-40B4-BE49-F238E27FC236}">
                <a16:creationId xmlns:a16="http://schemas.microsoft.com/office/drawing/2014/main" id="{85DFDD8E-2532-E588-6775-D48F4B242113}"/>
              </a:ext>
            </a:extLst>
          </p:cNvPr>
          <p:cNvSpPr/>
          <p:nvPr/>
        </p:nvSpPr>
        <p:spPr>
          <a:xfrm>
            <a:off x="355388" y="2915865"/>
            <a:ext cx="1960262" cy="322098"/>
          </a:xfrm>
          <a:prstGeom prst="ellipse">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6" name="TextBox 15">
            <a:extLst>
              <a:ext uri="{FF2B5EF4-FFF2-40B4-BE49-F238E27FC236}">
                <a16:creationId xmlns:a16="http://schemas.microsoft.com/office/drawing/2014/main" id="{57538C99-D442-474B-710D-E6443B0AC7C7}"/>
              </a:ext>
            </a:extLst>
          </p:cNvPr>
          <p:cNvSpPr txBox="1"/>
          <p:nvPr/>
        </p:nvSpPr>
        <p:spPr>
          <a:xfrm>
            <a:off x="4726051" y="623459"/>
            <a:ext cx="4572000" cy="338554"/>
          </a:xfrm>
          <a:prstGeom prst="rect">
            <a:avLst/>
          </a:prstGeom>
          <a:noFill/>
        </p:spPr>
        <p:txBody>
          <a:bodyPr wrap="square">
            <a:spAutoFit/>
          </a:bodyPr>
          <a:lstStyle/>
          <a:p>
            <a:pPr eaLnBrk="1" fontAlgn="auto" hangingPunct="1">
              <a:spcBef>
                <a:spcPts val="0"/>
              </a:spcBef>
              <a:spcAft>
                <a:spcPts val="0"/>
              </a:spcAft>
              <a:defRPr/>
            </a:pPr>
            <a:r>
              <a:rPr lang="en-US" sz="1600" b="1" dirty="0">
                <a:solidFill>
                  <a:srgbClr val="C00000"/>
                </a:solidFill>
                <a:latin typeface="+mn-lt"/>
                <a:ea typeface="+mn-ea"/>
                <a:cs typeface="Helvetica"/>
              </a:rPr>
              <a:t>Stochastic dynamic programming reformulation</a:t>
            </a:r>
          </a:p>
        </p:txBody>
      </p:sp>
      <p:pic>
        <p:nvPicPr>
          <p:cNvPr id="19" name="Picture 18">
            <a:extLst>
              <a:ext uri="{FF2B5EF4-FFF2-40B4-BE49-F238E27FC236}">
                <a16:creationId xmlns:a16="http://schemas.microsoft.com/office/drawing/2014/main" id="{AB34FB2F-2492-FE21-488C-A8B2080CEFB6}"/>
              </a:ext>
            </a:extLst>
          </p:cNvPr>
          <p:cNvPicPr>
            <a:picLocks noChangeAspect="1"/>
          </p:cNvPicPr>
          <p:nvPr/>
        </p:nvPicPr>
        <p:blipFill>
          <a:blip r:embed="rId5"/>
          <a:stretch>
            <a:fillRect/>
          </a:stretch>
        </p:blipFill>
        <p:spPr>
          <a:xfrm>
            <a:off x="4945665" y="1480133"/>
            <a:ext cx="3952118" cy="1042416"/>
          </a:xfrm>
          <a:prstGeom prst="rect">
            <a:avLst/>
          </a:prstGeom>
        </p:spPr>
      </p:pic>
      <p:sp>
        <p:nvSpPr>
          <p:cNvPr id="8" name="Rectangle 7">
            <a:extLst>
              <a:ext uri="{FF2B5EF4-FFF2-40B4-BE49-F238E27FC236}">
                <a16:creationId xmlns:a16="http://schemas.microsoft.com/office/drawing/2014/main" id="{BEF0A42A-74CF-2385-46A1-10FA2D93E8F8}"/>
              </a:ext>
            </a:extLst>
          </p:cNvPr>
          <p:cNvSpPr/>
          <p:nvPr/>
        </p:nvSpPr>
        <p:spPr>
          <a:xfrm>
            <a:off x="1219200" y="1823406"/>
            <a:ext cx="440041" cy="508426"/>
          </a:xfrm>
          <a:prstGeom prst="rect">
            <a:avLst/>
          </a:prstGeom>
          <a:solidFill>
            <a:schemeClr val="accent1">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A813652C-B786-FA04-3607-ACA5D99E9AC6}"/>
              </a:ext>
            </a:extLst>
          </p:cNvPr>
          <p:cNvSpPr txBox="1"/>
          <p:nvPr/>
        </p:nvSpPr>
        <p:spPr>
          <a:xfrm>
            <a:off x="432594" y="3465226"/>
            <a:ext cx="4520406" cy="307777"/>
          </a:xfrm>
          <a:prstGeom prst="rect">
            <a:avLst/>
          </a:prstGeom>
          <a:noFill/>
        </p:spPr>
        <p:txBody>
          <a:bodyPr wrap="square">
            <a:spAutoFit/>
          </a:bodyPr>
          <a:lstStyle/>
          <a:p>
            <a:r>
              <a:rPr lang="en-US" sz="1400" dirty="0">
                <a:solidFill>
                  <a:schemeClr val="accent1">
                    <a:lumMod val="75000"/>
                  </a:schemeClr>
                </a:solidFill>
                <a:cs typeface="Calibri" panose="020F0502020204030204" pitchFamily="34" charset="0"/>
              </a:rPr>
              <a:t>P – power consumption (battery charging/discharging)</a:t>
            </a:r>
          </a:p>
        </p:txBody>
      </p:sp>
      <p:sp>
        <p:nvSpPr>
          <p:cNvPr id="17" name="TextBox 16">
            <a:extLst>
              <a:ext uri="{FF2B5EF4-FFF2-40B4-BE49-F238E27FC236}">
                <a16:creationId xmlns:a16="http://schemas.microsoft.com/office/drawing/2014/main" id="{143AC664-BE69-2D5F-51BF-553CADD016FD}"/>
              </a:ext>
            </a:extLst>
          </p:cNvPr>
          <p:cNvSpPr txBox="1"/>
          <p:nvPr/>
        </p:nvSpPr>
        <p:spPr>
          <a:xfrm>
            <a:off x="441726" y="4079759"/>
            <a:ext cx="3976225" cy="307777"/>
          </a:xfrm>
          <a:prstGeom prst="rect">
            <a:avLst/>
          </a:prstGeom>
          <a:noFill/>
        </p:spPr>
        <p:txBody>
          <a:bodyPr wrap="square">
            <a:spAutoFit/>
          </a:bodyPr>
          <a:lstStyle/>
          <a:p>
            <a:r>
              <a:rPr lang="en-US" sz="1400" b="1" dirty="0">
                <a:cs typeface="Calibri" panose="020F0502020204030204" pitchFamily="34" charset="0"/>
              </a:rPr>
              <a:t>*Cost function modeling soft and hard constraints</a:t>
            </a:r>
          </a:p>
        </p:txBody>
      </p:sp>
      <p:sp>
        <p:nvSpPr>
          <p:cNvPr id="18" name="TextBox 17">
            <a:extLst>
              <a:ext uri="{FF2B5EF4-FFF2-40B4-BE49-F238E27FC236}">
                <a16:creationId xmlns:a16="http://schemas.microsoft.com/office/drawing/2014/main" id="{4BFE757C-1F6F-0241-D560-8F117E382196}"/>
              </a:ext>
            </a:extLst>
          </p:cNvPr>
          <p:cNvSpPr txBox="1"/>
          <p:nvPr/>
        </p:nvSpPr>
        <p:spPr>
          <a:xfrm>
            <a:off x="441726" y="3221663"/>
            <a:ext cx="2099282" cy="307777"/>
          </a:xfrm>
          <a:prstGeom prst="rect">
            <a:avLst/>
          </a:prstGeom>
          <a:noFill/>
        </p:spPr>
        <p:txBody>
          <a:bodyPr wrap="square">
            <a:spAutoFit/>
          </a:bodyPr>
          <a:lstStyle/>
          <a:p>
            <a:r>
              <a:rPr lang="el-GR" sz="1400" b="0" i="0" dirty="0">
                <a:solidFill>
                  <a:schemeClr val="accent1">
                    <a:lumMod val="75000"/>
                  </a:schemeClr>
                </a:solidFill>
                <a:effectLst/>
                <a:latin typeface="Arial" panose="020B0604020202020204" pitchFamily="34" charset="0"/>
              </a:rPr>
              <a:t>λ</a:t>
            </a:r>
            <a:r>
              <a:rPr lang="en-US" sz="1400" dirty="0">
                <a:solidFill>
                  <a:schemeClr val="accent1">
                    <a:lumMod val="75000"/>
                  </a:schemeClr>
                </a:solidFill>
                <a:cs typeface="Calibri" panose="020F0502020204030204" pitchFamily="34" charset="0"/>
              </a:rPr>
              <a:t> – uncertain price</a:t>
            </a:r>
          </a:p>
        </p:txBody>
      </p:sp>
      <p:sp>
        <p:nvSpPr>
          <p:cNvPr id="20" name="TextBox 19">
            <a:extLst>
              <a:ext uri="{FF2B5EF4-FFF2-40B4-BE49-F238E27FC236}">
                <a16:creationId xmlns:a16="http://schemas.microsoft.com/office/drawing/2014/main" id="{D1622A70-E9BA-8F6C-CD15-45C10007C582}"/>
              </a:ext>
            </a:extLst>
          </p:cNvPr>
          <p:cNvSpPr txBox="1"/>
          <p:nvPr/>
        </p:nvSpPr>
        <p:spPr>
          <a:xfrm>
            <a:off x="946521" y="2263973"/>
            <a:ext cx="1089692" cy="307777"/>
          </a:xfrm>
          <a:prstGeom prst="rect">
            <a:avLst/>
          </a:prstGeom>
          <a:noFill/>
        </p:spPr>
        <p:txBody>
          <a:bodyPr wrap="square">
            <a:spAutoFit/>
          </a:bodyPr>
          <a:lstStyle/>
          <a:p>
            <a:r>
              <a:rPr lang="en-US" sz="1400" dirty="0">
                <a:solidFill>
                  <a:schemeClr val="accent1">
                    <a:lumMod val="75000"/>
                  </a:schemeClr>
                </a:solidFill>
                <a:cs typeface="Calibri" panose="020F0502020204030204" pitchFamily="34" charset="0"/>
              </a:rPr>
              <a:t>Energy cost</a:t>
            </a:r>
            <a:r>
              <a:rPr lang="en-US" sz="1400" dirty="0">
                <a:solidFill>
                  <a:schemeClr val="accent1">
                    <a:lumMod val="75000"/>
                  </a:schemeClr>
                </a:solidFill>
                <a:latin typeface="Arial" panose="020B0604020202020204" pitchFamily="34" charset="0"/>
                <a:cs typeface="Calibri" panose="020F0502020204030204" pitchFamily="34" charset="0"/>
              </a:rPr>
              <a:t> </a:t>
            </a:r>
            <a:endParaRPr lang="en-US" sz="1400" dirty="0">
              <a:solidFill>
                <a:schemeClr val="accent1">
                  <a:lumMod val="75000"/>
                </a:schemeClr>
              </a:solidFill>
              <a:cs typeface="Calibri" panose="020F0502020204030204" pitchFamily="34" charset="0"/>
            </a:endParaRPr>
          </a:p>
        </p:txBody>
      </p:sp>
      <p:sp>
        <p:nvSpPr>
          <p:cNvPr id="21" name="Rectangle 20">
            <a:extLst>
              <a:ext uri="{FF2B5EF4-FFF2-40B4-BE49-F238E27FC236}">
                <a16:creationId xmlns:a16="http://schemas.microsoft.com/office/drawing/2014/main" id="{96841F27-F215-355B-5B5F-26129ED91ACE}"/>
              </a:ext>
            </a:extLst>
          </p:cNvPr>
          <p:cNvSpPr/>
          <p:nvPr/>
        </p:nvSpPr>
        <p:spPr>
          <a:xfrm>
            <a:off x="2531876" y="1823406"/>
            <a:ext cx="546008" cy="508426"/>
          </a:xfrm>
          <a:prstGeom prst="rect">
            <a:avLst/>
          </a:prstGeom>
          <a:solidFill>
            <a:schemeClr val="accent2">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5692A87D-B84D-453B-B6AF-D73DC82CC71D}"/>
              </a:ext>
            </a:extLst>
          </p:cNvPr>
          <p:cNvSpPr/>
          <p:nvPr/>
        </p:nvSpPr>
        <p:spPr>
          <a:xfrm>
            <a:off x="1784780" y="1823406"/>
            <a:ext cx="546008" cy="508426"/>
          </a:xfrm>
          <a:prstGeom prst="rect">
            <a:avLst/>
          </a:prstGeom>
          <a:solidFill>
            <a:schemeClr val="accent3">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23" name="TextBox 22">
            <a:extLst>
              <a:ext uri="{FF2B5EF4-FFF2-40B4-BE49-F238E27FC236}">
                <a16:creationId xmlns:a16="http://schemas.microsoft.com/office/drawing/2014/main" id="{BEC86F6E-8670-ECA4-2C56-027E6C8D6B8E}"/>
              </a:ext>
            </a:extLst>
          </p:cNvPr>
          <p:cNvSpPr txBox="1"/>
          <p:nvPr/>
        </p:nvSpPr>
        <p:spPr>
          <a:xfrm>
            <a:off x="2260034" y="2260198"/>
            <a:ext cx="1089692" cy="307777"/>
          </a:xfrm>
          <a:prstGeom prst="rect">
            <a:avLst/>
          </a:prstGeom>
          <a:noFill/>
        </p:spPr>
        <p:txBody>
          <a:bodyPr wrap="square">
            <a:spAutoFit/>
          </a:bodyPr>
          <a:lstStyle/>
          <a:p>
            <a:r>
              <a:rPr lang="en-US" sz="1400" dirty="0">
                <a:solidFill>
                  <a:schemeClr val="accent2">
                    <a:lumMod val="75000"/>
                  </a:schemeClr>
                </a:solidFill>
                <a:cs typeface="Calibri" panose="020F0502020204030204" pitchFamily="34" charset="0"/>
              </a:rPr>
              <a:t>Action cost</a:t>
            </a:r>
            <a:r>
              <a:rPr lang="en-US" sz="1400" dirty="0">
                <a:solidFill>
                  <a:schemeClr val="accent2">
                    <a:lumMod val="75000"/>
                  </a:schemeClr>
                </a:solidFill>
                <a:latin typeface="Arial" panose="020B0604020202020204" pitchFamily="34" charset="0"/>
                <a:cs typeface="Calibri" panose="020F0502020204030204" pitchFamily="34" charset="0"/>
              </a:rPr>
              <a:t> </a:t>
            </a:r>
            <a:endParaRPr lang="en-US" sz="1400" dirty="0">
              <a:solidFill>
                <a:schemeClr val="accent2">
                  <a:lumMod val="75000"/>
                </a:schemeClr>
              </a:solidFill>
              <a:cs typeface="Calibri" panose="020F0502020204030204" pitchFamily="34" charset="0"/>
            </a:endParaRPr>
          </a:p>
        </p:txBody>
      </p:sp>
      <p:sp>
        <p:nvSpPr>
          <p:cNvPr id="24" name="TextBox 23">
            <a:extLst>
              <a:ext uri="{FF2B5EF4-FFF2-40B4-BE49-F238E27FC236}">
                <a16:creationId xmlns:a16="http://schemas.microsoft.com/office/drawing/2014/main" id="{AAE4987B-2FEC-3A07-DEAB-61996BDC63AD}"/>
              </a:ext>
            </a:extLst>
          </p:cNvPr>
          <p:cNvSpPr txBox="1"/>
          <p:nvPr/>
        </p:nvSpPr>
        <p:spPr>
          <a:xfrm>
            <a:off x="1617419" y="1591881"/>
            <a:ext cx="1089692" cy="307777"/>
          </a:xfrm>
          <a:prstGeom prst="rect">
            <a:avLst/>
          </a:prstGeom>
          <a:noFill/>
        </p:spPr>
        <p:txBody>
          <a:bodyPr wrap="square">
            <a:spAutoFit/>
          </a:bodyPr>
          <a:lstStyle/>
          <a:p>
            <a:r>
              <a:rPr lang="en-US" sz="1400" dirty="0">
                <a:solidFill>
                  <a:schemeClr val="accent3">
                    <a:lumMod val="75000"/>
                  </a:schemeClr>
                </a:solidFill>
                <a:cs typeface="Calibri" panose="020F0502020204030204" pitchFamily="34" charset="0"/>
              </a:rPr>
              <a:t>State cost</a:t>
            </a:r>
            <a:r>
              <a:rPr lang="en-US" sz="1400" dirty="0">
                <a:solidFill>
                  <a:schemeClr val="accent3">
                    <a:lumMod val="75000"/>
                  </a:schemeClr>
                </a:solidFill>
                <a:latin typeface="Arial" panose="020B0604020202020204" pitchFamily="34" charset="0"/>
                <a:cs typeface="Calibri" panose="020F0502020204030204" pitchFamily="34" charset="0"/>
              </a:rPr>
              <a:t> </a:t>
            </a:r>
            <a:endParaRPr lang="en-US" sz="1400" dirty="0">
              <a:solidFill>
                <a:schemeClr val="accent3">
                  <a:lumMod val="75000"/>
                </a:schemeClr>
              </a:solidFill>
              <a:cs typeface="Calibri" panose="020F0502020204030204" pitchFamily="34" charset="0"/>
            </a:endParaRPr>
          </a:p>
        </p:txBody>
      </p:sp>
      <p:sp>
        <p:nvSpPr>
          <p:cNvPr id="26" name="Rectangle 25">
            <a:extLst>
              <a:ext uri="{FF2B5EF4-FFF2-40B4-BE49-F238E27FC236}">
                <a16:creationId xmlns:a16="http://schemas.microsoft.com/office/drawing/2014/main" id="{CB1B1A75-92CA-EAAD-E0C7-D59927EC0BBF}"/>
              </a:ext>
            </a:extLst>
          </p:cNvPr>
          <p:cNvSpPr/>
          <p:nvPr/>
        </p:nvSpPr>
        <p:spPr>
          <a:xfrm>
            <a:off x="3332398" y="1823406"/>
            <a:ext cx="546008" cy="508426"/>
          </a:xfrm>
          <a:prstGeom prst="rect">
            <a:avLst/>
          </a:prstGeom>
          <a:solidFill>
            <a:schemeClr val="accent4">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91760B0F-DBB3-8473-0B4D-DD88B2D6D782}"/>
              </a:ext>
            </a:extLst>
          </p:cNvPr>
          <p:cNvSpPr txBox="1"/>
          <p:nvPr/>
        </p:nvSpPr>
        <p:spPr>
          <a:xfrm>
            <a:off x="3163539" y="2266103"/>
            <a:ext cx="1782126" cy="738664"/>
          </a:xfrm>
          <a:prstGeom prst="rect">
            <a:avLst/>
          </a:prstGeom>
          <a:noFill/>
        </p:spPr>
        <p:txBody>
          <a:bodyPr wrap="square">
            <a:spAutoFit/>
          </a:bodyPr>
          <a:lstStyle/>
          <a:p>
            <a:r>
              <a:rPr lang="en-US" sz="1400" dirty="0">
                <a:solidFill>
                  <a:schemeClr val="accent4">
                    <a:lumMod val="75000"/>
                  </a:schemeClr>
                </a:solidFill>
                <a:cs typeface="Calibri" panose="020F0502020204030204" pitchFamily="34" charset="0"/>
              </a:rPr>
              <a:t>End value function: for value continuity, set to 0</a:t>
            </a:r>
          </a:p>
        </p:txBody>
      </p:sp>
      <p:sp>
        <p:nvSpPr>
          <p:cNvPr id="31" name="TextBox 30">
            <a:extLst>
              <a:ext uri="{FF2B5EF4-FFF2-40B4-BE49-F238E27FC236}">
                <a16:creationId xmlns:a16="http://schemas.microsoft.com/office/drawing/2014/main" id="{17790321-4129-5F2F-469E-5E9C8BE23F8F}"/>
              </a:ext>
            </a:extLst>
          </p:cNvPr>
          <p:cNvSpPr txBox="1"/>
          <p:nvPr/>
        </p:nvSpPr>
        <p:spPr>
          <a:xfrm>
            <a:off x="4813113" y="934406"/>
            <a:ext cx="4245379" cy="523220"/>
          </a:xfrm>
          <a:prstGeom prst="rect">
            <a:avLst/>
          </a:prstGeom>
          <a:noFill/>
        </p:spPr>
        <p:txBody>
          <a:bodyPr wrap="square">
            <a:spAutoFit/>
          </a:bodyPr>
          <a:lstStyle/>
          <a:p>
            <a:r>
              <a:rPr lang="en-US" sz="1400" dirty="0">
                <a:cs typeface="Calibri" panose="020F0502020204030204" pitchFamily="34" charset="0"/>
              </a:rPr>
              <a:t>Working backward and recursively solving </a:t>
            </a:r>
            <a:r>
              <a:rPr lang="en-US" sz="1400" b="1" dirty="0">
                <a:cs typeface="Calibri" panose="020F0502020204030204" pitchFamily="34" charset="0"/>
              </a:rPr>
              <a:t>a single-stage </a:t>
            </a:r>
            <a:r>
              <a:rPr lang="en-US" sz="1400" dirty="0">
                <a:cs typeface="Calibri" panose="020F0502020204030204" pitchFamily="34" charset="0"/>
              </a:rPr>
              <a:t>optimization for all time </a:t>
            </a:r>
            <a:r>
              <a:rPr lang="en-US" sz="1400" i="1" dirty="0">
                <a:cs typeface="Calibri" panose="020F0502020204030204" pitchFamily="34" charset="0"/>
              </a:rPr>
              <a:t>t</a:t>
            </a:r>
          </a:p>
        </p:txBody>
      </p:sp>
      <p:sp>
        <p:nvSpPr>
          <p:cNvPr id="32" name="Rectangle 31">
            <a:extLst>
              <a:ext uri="{FF2B5EF4-FFF2-40B4-BE49-F238E27FC236}">
                <a16:creationId xmlns:a16="http://schemas.microsoft.com/office/drawing/2014/main" id="{F19AC0E6-4F05-FABC-880F-E86D18AD2E2C}"/>
              </a:ext>
            </a:extLst>
          </p:cNvPr>
          <p:cNvSpPr/>
          <p:nvPr/>
        </p:nvSpPr>
        <p:spPr>
          <a:xfrm>
            <a:off x="8213052" y="1368650"/>
            <a:ext cx="507908" cy="441981"/>
          </a:xfrm>
          <a:prstGeom prst="rect">
            <a:avLst/>
          </a:prstGeom>
          <a:solidFill>
            <a:schemeClr val="accent4">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E2B81044-D578-0882-6A9C-DC3319967AFD}"/>
              </a:ext>
            </a:extLst>
          </p:cNvPr>
          <p:cNvSpPr txBox="1"/>
          <p:nvPr/>
        </p:nvSpPr>
        <p:spPr>
          <a:xfrm>
            <a:off x="5146025" y="2509002"/>
            <a:ext cx="3762549" cy="738664"/>
          </a:xfrm>
          <a:prstGeom prst="rect">
            <a:avLst/>
          </a:prstGeom>
          <a:noFill/>
        </p:spPr>
        <p:txBody>
          <a:bodyPr wrap="square">
            <a:spAutoFit/>
          </a:bodyPr>
          <a:lstStyle/>
          <a:p>
            <a:r>
              <a:rPr lang="en-US" sz="1400" dirty="0">
                <a:solidFill>
                  <a:schemeClr val="accent4">
                    <a:lumMod val="75000"/>
                  </a:schemeClr>
                </a:solidFill>
                <a:cs typeface="Calibri" panose="020F0502020204030204" pitchFamily="34" charset="0"/>
              </a:rPr>
              <a:t>Value function: rewards from the future about the current decision, it is a function of time-dependent state value.  </a:t>
            </a:r>
          </a:p>
        </p:txBody>
      </p:sp>
      <p:grpSp>
        <p:nvGrpSpPr>
          <p:cNvPr id="32779" name="Group 32778">
            <a:extLst>
              <a:ext uri="{FF2B5EF4-FFF2-40B4-BE49-F238E27FC236}">
                <a16:creationId xmlns:a16="http://schemas.microsoft.com/office/drawing/2014/main" id="{14B9E8A8-2C21-A9CE-3CE3-4C1D9FFBEF28}"/>
              </a:ext>
            </a:extLst>
          </p:cNvPr>
          <p:cNvGrpSpPr/>
          <p:nvPr/>
        </p:nvGrpSpPr>
        <p:grpSpPr>
          <a:xfrm>
            <a:off x="4836501" y="3259002"/>
            <a:ext cx="1878770" cy="1218360"/>
            <a:chOff x="4696251" y="3432572"/>
            <a:chExt cx="1878770" cy="1218360"/>
          </a:xfrm>
        </p:grpSpPr>
        <p:cxnSp>
          <p:nvCxnSpPr>
            <p:cNvPr id="35" name="Straight Arrow Connector 34">
              <a:extLst>
                <a:ext uri="{FF2B5EF4-FFF2-40B4-BE49-F238E27FC236}">
                  <a16:creationId xmlns:a16="http://schemas.microsoft.com/office/drawing/2014/main" id="{43E165C0-77B7-F99A-80AC-27C2D537CF8A}"/>
                </a:ext>
              </a:extLst>
            </p:cNvPr>
            <p:cNvCxnSpPr>
              <a:cxnSpLocks/>
            </p:cNvCxnSpPr>
            <p:nvPr/>
          </p:nvCxnSpPr>
          <p:spPr>
            <a:xfrm>
              <a:off x="4898621" y="4476750"/>
              <a:ext cx="1676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26EC136D-71C5-F7B7-765B-2C56AE5BFF30}"/>
                </a:ext>
              </a:extLst>
            </p:cNvPr>
            <p:cNvCxnSpPr>
              <a:cxnSpLocks/>
            </p:cNvCxnSpPr>
            <p:nvPr/>
          </p:nvCxnSpPr>
          <p:spPr>
            <a:xfrm flipV="1">
              <a:off x="5638800" y="3501045"/>
              <a:ext cx="0" cy="1149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Freeform 49">
              <a:extLst>
                <a:ext uri="{FF2B5EF4-FFF2-40B4-BE49-F238E27FC236}">
                  <a16:creationId xmlns:a16="http://schemas.microsoft.com/office/drawing/2014/main" id="{F6A6AC77-3EB5-C685-2003-E9F52A8D7D6D}"/>
                </a:ext>
              </a:extLst>
            </p:cNvPr>
            <p:cNvSpPr/>
            <p:nvPr/>
          </p:nvSpPr>
          <p:spPr>
            <a:xfrm>
              <a:off x="5068948" y="3606440"/>
              <a:ext cx="1092200" cy="865548"/>
            </a:xfrm>
            <a:custGeom>
              <a:avLst/>
              <a:gdLst>
                <a:gd name="connsiteX0" fmla="*/ 0 w 1092200"/>
                <a:gd name="connsiteY0" fmla="*/ 38100 h 865548"/>
                <a:gd name="connsiteX1" fmla="*/ 279400 w 1092200"/>
                <a:gd name="connsiteY1" fmla="*/ 647700 h 865548"/>
                <a:gd name="connsiteX2" fmla="*/ 609600 w 1092200"/>
                <a:gd name="connsiteY2" fmla="*/ 863600 h 865548"/>
                <a:gd name="connsiteX3" fmla="*/ 927100 w 1092200"/>
                <a:gd name="connsiteY3" fmla="*/ 546100 h 865548"/>
                <a:gd name="connsiteX4" fmla="*/ 1092200 w 1092200"/>
                <a:gd name="connsiteY4" fmla="*/ 0 h 865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2200" h="865548">
                  <a:moveTo>
                    <a:pt x="0" y="38100"/>
                  </a:moveTo>
                  <a:cubicBezTo>
                    <a:pt x="88900" y="274108"/>
                    <a:pt x="177800" y="510117"/>
                    <a:pt x="279400" y="647700"/>
                  </a:cubicBezTo>
                  <a:cubicBezTo>
                    <a:pt x="381000" y="785283"/>
                    <a:pt x="501650" y="880533"/>
                    <a:pt x="609600" y="863600"/>
                  </a:cubicBezTo>
                  <a:cubicBezTo>
                    <a:pt x="717550" y="846667"/>
                    <a:pt x="846667" y="690033"/>
                    <a:pt x="927100" y="546100"/>
                  </a:cubicBezTo>
                  <a:cubicBezTo>
                    <a:pt x="1007533" y="402167"/>
                    <a:pt x="1049866" y="201083"/>
                    <a:pt x="1092200" y="0"/>
                  </a:cubicBez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32776" name="TextBox 32775">
              <a:extLst>
                <a:ext uri="{FF2B5EF4-FFF2-40B4-BE49-F238E27FC236}">
                  <a16:creationId xmlns:a16="http://schemas.microsoft.com/office/drawing/2014/main" id="{2DB03A96-3959-B051-E0A9-C17D49CE130D}"/>
                </a:ext>
              </a:extLst>
            </p:cNvPr>
            <p:cNvSpPr txBox="1"/>
            <p:nvPr/>
          </p:nvSpPr>
          <p:spPr>
            <a:xfrm>
              <a:off x="4696251" y="3432572"/>
              <a:ext cx="1449718" cy="276999"/>
            </a:xfrm>
            <a:prstGeom prst="rect">
              <a:avLst/>
            </a:prstGeom>
            <a:noFill/>
          </p:spPr>
          <p:txBody>
            <a:bodyPr wrap="square">
              <a:spAutoFit/>
            </a:bodyPr>
            <a:lstStyle/>
            <a:p>
              <a:r>
                <a:rPr lang="en-US" sz="1200" dirty="0">
                  <a:solidFill>
                    <a:srgbClr val="C00000"/>
                  </a:solidFill>
                  <a:cs typeface="Calibri" panose="020F0502020204030204" pitchFamily="34" charset="0"/>
                </a:rPr>
                <a:t>Soft</a:t>
              </a:r>
            </a:p>
          </p:txBody>
        </p:sp>
      </p:grpSp>
      <p:grpSp>
        <p:nvGrpSpPr>
          <p:cNvPr id="32778" name="Group 32777">
            <a:extLst>
              <a:ext uri="{FF2B5EF4-FFF2-40B4-BE49-F238E27FC236}">
                <a16:creationId xmlns:a16="http://schemas.microsoft.com/office/drawing/2014/main" id="{EA2BCADC-0E22-B211-E419-E0FE7D4077D7}"/>
              </a:ext>
            </a:extLst>
          </p:cNvPr>
          <p:cNvGrpSpPr/>
          <p:nvPr/>
        </p:nvGrpSpPr>
        <p:grpSpPr>
          <a:xfrm>
            <a:off x="7063666" y="3326863"/>
            <a:ext cx="1775534" cy="1149887"/>
            <a:chOff x="6784266" y="3501045"/>
            <a:chExt cx="1775534" cy="1149887"/>
          </a:xfrm>
        </p:grpSpPr>
        <p:cxnSp>
          <p:nvCxnSpPr>
            <p:cNvPr id="42" name="Straight Arrow Connector 41">
              <a:extLst>
                <a:ext uri="{FF2B5EF4-FFF2-40B4-BE49-F238E27FC236}">
                  <a16:creationId xmlns:a16="http://schemas.microsoft.com/office/drawing/2014/main" id="{2A978D61-CC37-DF17-3601-3272E4152D25}"/>
                </a:ext>
              </a:extLst>
            </p:cNvPr>
            <p:cNvCxnSpPr>
              <a:cxnSpLocks/>
            </p:cNvCxnSpPr>
            <p:nvPr/>
          </p:nvCxnSpPr>
          <p:spPr>
            <a:xfrm>
              <a:off x="6883400" y="4476750"/>
              <a:ext cx="1676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8D6F9C4-57A8-9F66-DAF6-68208821BC1A}"/>
                </a:ext>
              </a:extLst>
            </p:cNvPr>
            <p:cNvCxnSpPr>
              <a:cxnSpLocks/>
            </p:cNvCxnSpPr>
            <p:nvPr/>
          </p:nvCxnSpPr>
          <p:spPr>
            <a:xfrm flipV="1">
              <a:off x="7623579" y="3501045"/>
              <a:ext cx="0" cy="1149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B4B32962-E230-5849-44F2-85F31A997A95}"/>
                </a:ext>
              </a:extLst>
            </p:cNvPr>
            <p:cNvCxnSpPr>
              <a:cxnSpLocks/>
            </p:cNvCxnSpPr>
            <p:nvPr/>
          </p:nvCxnSpPr>
          <p:spPr>
            <a:xfrm>
              <a:off x="7189851" y="3837117"/>
              <a:ext cx="0" cy="641339"/>
            </a:xfrm>
            <a:prstGeom prst="line">
              <a:avLst/>
            </a:prstGeom>
          </p:spPr>
          <p:style>
            <a:lnRef idx="1">
              <a:schemeClr val="accent2"/>
            </a:lnRef>
            <a:fillRef idx="0">
              <a:schemeClr val="accent2"/>
            </a:fillRef>
            <a:effectRef idx="0">
              <a:schemeClr val="accent2"/>
            </a:effectRef>
            <a:fontRef idx="minor">
              <a:schemeClr val="tx1"/>
            </a:fontRef>
          </p:style>
        </p:cxnSp>
        <p:cxnSp>
          <p:nvCxnSpPr>
            <p:cNvPr id="62" name="Straight Connector 61">
              <a:extLst>
                <a:ext uri="{FF2B5EF4-FFF2-40B4-BE49-F238E27FC236}">
                  <a16:creationId xmlns:a16="http://schemas.microsoft.com/office/drawing/2014/main" id="{CC718CF1-58C4-64CE-73B1-85A78CD71FB7}"/>
                </a:ext>
              </a:extLst>
            </p:cNvPr>
            <p:cNvCxnSpPr>
              <a:cxnSpLocks/>
            </p:cNvCxnSpPr>
            <p:nvPr/>
          </p:nvCxnSpPr>
          <p:spPr>
            <a:xfrm flipH="1">
              <a:off x="7239000" y="4471988"/>
              <a:ext cx="837406" cy="6468"/>
            </a:xfrm>
            <a:prstGeom prst="line">
              <a:avLst/>
            </a:prstGeom>
          </p:spPr>
          <p:style>
            <a:lnRef idx="1">
              <a:schemeClr val="accent2"/>
            </a:lnRef>
            <a:fillRef idx="0">
              <a:schemeClr val="accent2"/>
            </a:fillRef>
            <a:effectRef idx="0">
              <a:schemeClr val="accent2"/>
            </a:effectRef>
            <a:fontRef idx="minor">
              <a:schemeClr val="tx1"/>
            </a:fontRef>
          </p:style>
        </p:cxnSp>
        <p:cxnSp>
          <p:nvCxnSpPr>
            <p:cNvPr id="32769" name="Straight Connector 32768">
              <a:extLst>
                <a:ext uri="{FF2B5EF4-FFF2-40B4-BE49-F238E27FC236}">
                  <a16:creationId xmlns:a16="http://schemas.microsoft.com/office/drawing/2014/main" id="{1CF92C90-C6B7-11C1-F1F7-CA391C691380}"/>
                </a:ext>
              </a:extLst>
            </p:cNvPr>
            <p:cNvCxnSpPr>
              <a:cxnSpLocks/>
            </p:cNvCxnSpPr>
            <p:nvPr/>
          </p:nvCxnSpPr>
          <p:spPr>
            <a:xfrm flipV="1">
              <a:off x="8060610" y="3837117"/>
              <a:ext cx="0" cy="634871"/>
            </a:xfrm>
            <a:prstGeom prst="line">
              <a:avLst/>
            </a:prstGeom>
          </p:spPr>
          <p:style>
            <a:lnRef idx="1">
              <a:schemeClr val="accent2"/>
            </a:lnRef>
            <a:fillRef idx="0">
              <a:schemeClr val="accent2"/>
            </a:fillRef>
            <a:effectRef idx="0">
              <a:schemeClr val="accent2"/>
            </a:effectRef>
            <a:fontRef idx="minor">
              <a:schemeClr val="tx1"/>
            </a:fontRef>
          </p:style>
        </p:cxnSp>
        <p:sp>
          <p:nvSpPr>
            <p:cNvPr id="32777" name="TextBox 32776">
              <a:extLst>
                <a:ext uri="{FF2B5EF4-FFF2-40B4-BE49-F238E27FC236}">
                  <a16:creationId xmlns:a16="http://schemas.microsoft.com/office/drawing/2014/main" id="{3FC4A8B6-4227-0C3B-1FC1-D0ED78BFDDB0}"/>
                </a:ext>
              </a:extLst>
            </p:cNvPr>
            <p:cNvSpPr txBox="1"/>
            <p:nvPr/>
          </p:nvSpPr>
          <p:spPr>
            <a:xfrm>
              <a:off x="6784266" y="3501380"/>
              <a:ext cx="1449718" cy="276999"/>
            </a:xfrm>
            <a:prstGeom prst="rect">
              <a:avLst/>
            </a:prstGeom>
            <a:noFill/>
          </p:spPr>
          <p:txBody>
            <a:bodyPr wrap="square">
              <a:spAutoFit/>
            </a:bodyPr>
            <a:lstStyle/>
            <a:p>
              <a:r>
                <a:rPr lang="en-US" sz="1200" dirty="0">
                  <a:solidFill>
                    <a:srgbClr val="C00000"/>
                  </a:solidFill>
                  <a:cs typeface="Calibri" panose="020F0502020204030204" pitchFamily="34" charset="0"/>
                </a:rPr>
                <a:t>Hard</a:t>
              </a:r>
            </a:p>
          </p:txBody>
        </p:sp>
      </p:grpSp>
      <p:sp>
        <p:nvSpPr>
          <p:cNvPr id="32780" name="Rectangle 32779">
            <a:extLst>
              <a:ext uri="{FF2B5EF4-FFF2-40B4-BE49-F238E27FC236}">
                <a16:creationId xmlns:a16="http://schemas.microsoft.com/office/drawing/2014/main" id="{C3BA0677-FC3A-BEC3-0B5A-6A2D09A43786}"/>
              </a:ext>
            </a:extLst>
          </p:cNvPr>
          <p:cNvSpPr/>
          <p:nvPr/>
        </p:nvSpPr>
        <p:spPr>
          <a:xfrm>
            <a:off x="412013" y="2626742"/>
            <a:ext cx="1763876" cy="334684"/>
          </a:xfrm>
          <a:prstGeom prst="rect">
            <a:avLst/>
          </a:prstGeom>
          <a:solidFill>
            <a:schemeClr val="accent6">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32781" name="Straight Arrow Connector 32780">
            <a:extLst>
              <a:ext uri="{FF2B5EF4-FFF2-40B4-BE49-F238E27FC236}">
                <a16:creationId xmlns:a16="http://schemas.microsoft.com/office/drawing/2014/main" id="{254D802E-0718-B565-27F4-5F149F675D7C}"/>
              </a:ext>
            </a:extLst>
          </p:cNvPr>
          <p:cNvCxnSpPr>
            <a:cxnSpLocks/>
          </p:cNvCxnSpPr>
          <p:nvPr/>
        </p:nvCxnSpPr>
        <p:spPr>
          <a:xfrm flipV="1">
            <a:off x="1066800" y="1196789"/>
            <a:ext cx="0" cy="53672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2784" name="TextBox 32783">
            <a:extLst>
              <a:ext uri="{FF2B5EF4-FFF2-40B4-BE49-F238E27FC236}">
                <a16:creationId xmlns:a16="http://schemas.microsoft.com/office/drawing/2014/main" id="{C0477CE7-4021-D25F-1212-2C7A7DF89DB4}"/>
              </a:ext>
            </a:extLst>
          </p:cNvPr>
          <p:cNvSpPr txBox="1"/>
          <p:nvPr/>
        </p:nvSpPr>
        <p:spPr>
          <a:xfrm>
            <a:off x="1113473" y="1135233"/>
            <a:ext cx="3131903" cy="307777"/>
          </a:xfrm>
          <a:prstGeom prst="rect">
            <a:avLst/>
          </a:prstGeom>
          <a:noFill/>
        </p:spPr>
        <p:txBody>
          <a:bodyPr wrap="square">
            <a:spAutoFit/>
          </a:bodyPr>
          <a:lstStyle/>
          <a:p>
            <a:r>
              <a:rPr lang="en-US" sz="1400" dirty="0">
                <a:cs typeface="Calibri" panose="020F0502020204030204" pitchFamily="34" charset="0"/>
              </a:rPr>
              <a:t>Linear system transition</a:t>
            </a:r>
          </a:p>
        </p:txBody>
      </p:sp>
      <p:cxnSp>
        <p:nvCxnSpPr>
          <p:cNvPr id="32785" name="Straight Arrow Connector 32784">
            <a:extLst>
              <a:ext uri="{FF2B5EF4-FFF2-40B4-BE49-F238E27FC236}">
                <a16:creationId xmlns:a16="http://schemas.microsoft.com/office/drawing/2014/main" id="{2BA585C5-040B-8CCC-D816-37C924EA9C5F}"/>
              </a:ext>
            </a:extLst>
          </p:cNvPr>
          <p:cNvCxnSpPr>
            <a:cxnSpLocks/>
          </p:cNvCxnSpPr>
          <p:nvPr/>
        </p:nvCxnSpPr>
        <p:spPr>
          <a:xfrm flipH="1" flipV="1">
            <a:off x="1213056" y="1434524"/>
            <a:ext cx="6144" cy="119221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2788" name="TextBox 32787">
            <a:extLst>
              <a:ext uri="{FF2B5EF4-FFF2-40B4-BE49-F238E27FC236}">
                <a16:creationId xmlns:a16="http://schemas.microsoft.com/office/drawing/2014/main" id="{9F90AE2B-8802-DF76-A6FB-EF5E3AAD4109}"/>
              </a:ext>
            </a:extLst>
          </p:cNvPr>
          <p:cNvSpPr txBox="1"/>
          <p:nvPr/>
        </p:nvSpPr>
        <p:spPr>
          <a:xfrm>
            <a:off x="1553776" y="1376141"/>
            <a:ext cx="2837855" cy="307777"/>
          </a:xfrm>
          <a:prstGeom prst="rect">
            <a:avLst/>
          </a:prstGeom>
          <a:noFill/>
        </p:spPr>
        <p:txBody>
          <a:bodyPr wrap="square">
            <a:spAutoFit/>
          </a:bodyPr>
          <a:lstStyle/>
          <a:p>
            <a:r>
              <a:rPr lang="en-US" sz="1400" b="1" dirty="0">
                <a:cs typeface="Calibri" panose="020F0502020204030204" pitchFamily="34" charset="0"/>
              </a:rPr>
              <a:t>Risk-neutral, cost-saving objective</a:t>
            </a:r>
          </a:p>
        </p:txBody>
      </p:sp>
    </p:spTree>
    <p:extLst>
      <p:ext uri="{BB962C8B-B14F-4D97-AF65-F5344CB8AC3E}">
        <p14:creationId xmlns:p14="http://schemas.microsoft.com/office/powerpoint/2010/main" val="1384660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2781"/>
                                        </p:tgtEl>
                                        <p:attrNameLst>
                                          <p:attrName>style.visibility</p:attrName>
                                        </p:attrNameLst>
                                      </p:cBhvr>
                                      <p:to>
                                        <p:strVal val="visible"/>
                                      </p:to>
                                    </p:set>
                                    <p:animEffect transition="in" filter="dissolve">
                                      <p:cBhvr>
                                        <p:cTn id="7" dur="500"/>
                                        <p:tgtEl>
                                          <p:spTgt spid="3278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1" nodeType="clickEffect">
                                  <p:stCondLst>
                                    <p:cond delay="0"/>
                                  </p:stCondLst>
                                  <p:childTnLst>
                                    <p:set>
                                      <p:cBhvr>
                                        <p:cTn id="14" dur="1" fill="hold">
                                          <p:stCondLst>
                                            <p:cond delay="0"/>
                                          </p:stCondLst>
                                        </p:cTn>
                                        <p:tgtEl>
                                          <p:spTgt spid="32780"/>
                                        </p:tgtEl>
                                        <p:attrNameLst>
                                          <p:attrName>style.visibility</p:attrName>
                                        </p:attrNameLst>
                                      </p:cBhvr>
                                      <p:to>
                                        <p:strVal val="visible"/>
                                      </p:to>
                                    </p:set>
                                    <p:animEffect transition="in" filter="dissolve">
                                      <p:cBhvr>
                                        <p:cTn id="15" dur="500"/>
                                        <p:tgtEl>
                                          <p:spTgt spid="32780"/>
                                        </p:tgtEl>
                                      </p:cBhvr>
                                    </p:animEffect>
                                  </p:childTnLst>
                                </p:cTn>
                              </p:par>
                              <p:par>
                                <p:cTn id="16" presetID="9" presetClass="entr" presetSubtype="0" fill="hold" nodeType="withEffect">
                                  <p:stCondLst>
                                    <p:cond delay="0"/>
                                  </p:stCondLst>
                                  <p:childTnLst>
                                    <p:set>
                                      <p:cBhvr>
                                        <p:cTn id="17" dur="1" fill="hold">
                                          <p:stCondLst>
                                            <p:cond delay="0"/>
                                          </p:stCondLst>
                                        </p:cTn>
                                        <p:tgtEl>
                                          <p:spTgt spid="32785"/>
                                        </p:tgtEl>
                                        <p:attrNameLst>
                                          <p:attrName>style.visibility</p:attrName>
                                        </p:attrNameLst>
                                      </p:cBhvr>
                                      <p:to>
                                        <p:strVal val="visible"/>
                                      </p:to>
                                    </p:set>
                                    <p:animEffect transition="in" filter="dissolve">
                                      <p:cBhvr>
                                        <p:cTn id="18" dur="500"/>
                                        <p:tgtEl>
                                          <p:spTgt spid="32785"/>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32784"/>
                                        </p:tgtEl>
                                        <p:attrNameLst>
                                          <p:attrName>style.visibility</p:attrName>
                                        </p:attrNameLst>
                                      </p:cBhvr>
                                      <p:to>
                                        <p:strVal val="visible"/>
                                      </p:to>
                                    </p:set>
                                    <p:animEffect transition="in" filter="dissolve">
                                      <p:cBhvr>
                                        <p:cTn id="21" dur="500"/>
                                        <p:tgtEl>
                                          <p:spTgt spid="32784"/>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dissolve">
                                      <p:cBhvr>
                                        <p:cTn id="29" dur="500"/>
                                        <p:tgtEl>
                                          <p:spTgt spid="20"/>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dissolve">
                                      <p:cBhvr>
                                        <p:cTn id="32" dur="500"/>
                                        <p:tgtEl>
                                          <p:spTgt spid="18"/>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dissolve">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dissolve">
                                      <p:cBhvr>
                                        <p:cTn id="40" dur="500"/>
                                        <p:tgtEl>
                                          <p:spTgt spid="22"/>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dissolve">
                                      <p:cBhvr>
                                        <p:cTn id="43" dur="500"/>
                                        <p:tgtEl>
                                          <p:spTgt spid="24"/>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dissolve">
                                      <p:cBhvr>
                                        <p:cTn id="46" dur="500"/>
                                        <p:tgtEl>
                                          <p:spTgt spid="4"/>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dissolve">
                                      <p:cBhvr>
                                        <p:cTn id="51" dur="500"/>
                                        <p:tgtEl>
                                          <p:spTgt spid="23"/>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dissolve">
                                      <p:cBhvr>
                                        <p:cTn id="54" dur="500"/>
                                        <p:tgtEl>
                                          <p:spTgt spid="21"/>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dissolve">
                                      <p:cBhvr>
                                        <p:cTn id="59" dur="500"/>
                                        <p:tgtEl>
                                          <p:spTgt spid="17"/>
                                        </p:tgtEl>
                                      </p:cBhvr>
                                    </p:animEffect>
                                  </p:childTnLst>
                                </p:cTn>
                              </p:par>
                              <p:par>
                                <p:cTn id="60" presetID="9" presetClass="entr" presetSubtype="0" fill="hold" nodeType="withEffect">
                                  <p:stCondLst>
                                    <p:cond delay="0"/>
                                  </p:stCondLst>
                                  <p:childTnLst>
                                    <p:set>
                                      <p:cBhvr>
                                        <p:cTn id="61" dur="1" fill="hold">
                                          <p:stCondLst>
                                            <p:cond delay="0"/>
                                          </p:stCondLst>
                                        </p:cTn>
                                        <p:tgtEl>
                                          <p:spTgt spid="32779"/>
                                        </p:tgtEl>
                                        <p:attrNameLst>
                                          <p:attrName>style.visibility</p:attrName>
                                        </p:attrNameLst>
                                      </p:cBhvr>
                                      <p:to>
                                        <p:strVal val="visible"/>
                                      </p:to>
                                    </p:set>
                                    <p:animEffect transition="in" filter="dissolve">
                                      <p:cBhvr>
                                        <p:cTn id="62" dur="500"/>
                                        <p:tgtEl>
                                          <p:spTgt spid="32779"/>
                                        </p:tgtEl>
                                      </p:cBhvr>
                                    </p:animEffect>
                                  </p:childTnLst>
                                </p:cTn>
                              </p:par>
                              <p:par>
                                <p:cTn id="63" presetID="9" presetClass="entr" presetSubtype="0" fill="hold" nodeType="withEffect">
                                  <p:stCondLst>
                                    <p:cond delay="0"/>
                                  </p:stCondLst>
                                  <p:childTnLst>
                                    <p:set>
                                      <p:cBhvr>
                                        <p:cTn id="64" dur="1" fill="hold">
                                          <p:stCondLst>
                                            <p:cond delay="0"/>
                                          </p:stCondLst>
                                        </p:cTn>
                                        <p:tgtEl>
                                          <p:spTgt spid="32778"/>
                                        </p:tgtEl>
                                        <p:attrNameLst>
                                          <p:attrName>style.visibility</p:attrName>
                                        </p:attrNameLst>
                                      </p:cBhvr>
                                      <p:to>
                                        <p:strVal val="visible"/>
                                      </p:to>
                                    </p:set>
                                    <p:animEffect transition="in" filter="dissolve">
                                      <p:cBhvr>
                                        <p:cTn id="65" dur="500"/>
                                        <p:tgtEl>
                                          <p:spTgt spid="32778"/>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dissolve">
                                      <p:cBhvr>
                                        <p:cTn id="70" dur="500"/>
                                        <p:tgtEl>
                                          <p:spTgt spid="26"/>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dissolve">
                                      <p:cBhvr>
                                        <p:cTn id="73" dur="500"/>
                                        <p:tgtEl>
                                          <p:spTgt spid="27"/>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nodeType="clickEffect">
                                  <p:stCondLst>
                                    <p:cond delay="0"/>
                                  </p:stCondLst>
                                  <p:childTnLst>
                                    <p:set>
                                      <p:cBhvr>
                                        <p:cTn id="77" dur="1" fill="hold">
                                          <p:stCondLst>
                                            <p:cond delay="0"/>
                                          </p:stCondLst>
                                        </p:cTn>
                                        <p:tgtEl>
                                          <p:spTgt spid="32788">
                                            <p:txEl>
                                              <p:pRg st="0" end="0"/>
                                            </p:txEl>
                                          </p:spTgt>
                                        </p:tgtEl>
                                        <p:attrNameLst>
                                          <p:attrName>style.visibility</p:attrName>
                                        </p:attrNameLst>
                                      </p:cBhvr>
                                      <p:to>
                                        <p:strVal val="visible"/>
                                      </p:to>
                                    </p:set>
                                    <p:animEffect transition="in" filter="dissolve">
                                      <p:cBhvr>
                                        <p:cTn id="78" dur="500"/>
                                        <p:tgtEl>
                                          <p:spTgt spid="32788">
                                            <p:txEl>
                                              <p:pRg st="0" end="0"/>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9" presetClass="entr" presetSubtype="0" fill="hold" grpId="0" nodeType="clickEffect">
                                  <p:stCondLst>
                                    <p:cond delay="0"/>
                                  </p:stCondLst>
                                  <p:childTnLst>
                                    <p:set>
                                      <p:cBhvr>
                                        <p:cTn id="82" dur="1" fill="hold">
                                          <p:stCondLst>
                                            <p:cond delay="0"/>
                                          </p:stCondLst>
                                        </p:cTn>
                                        <p:tgtEl>
                                          <p:spTgt spid="13"/>
                                        </p:tgtEl>
                                        <p:attrNameLst>
                                          <p:attrName>style.visibility</p:attrName>
                                        </p:attrNameLst>
                                      </p:cBhvr>
                                      <p:to>
                                        <p:strVal val="visible"/>
                                      </p:to>
                                    </p:set>
                                    <p:animEffect transition="in" filter="dissolve">
                                      <p:cBhvr>
                                        <p:cTn id="83" dur="500"/>
                                        <p:tgtEl>
                                          <p:spTgt spid="13"/>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16"/>
                                        </p:tgtEl>
                                        <p:attrNameLst>
                                          <p:attrName>style.visibility</p:attrName>
                                        </p:attrNameLst>
                                      </p:cBhvr>
                                      <p:to>
                                        <p:strVal val="visible"/>
                                      </p:to>
                                    </p:set>
                                    <p:animEffect transition="in" filter="dissolve">
                                      <p:cBhvr>
                                        <p:cTn id="88" dur="500"/>
                                        <p:tgtEl>
                                          <p:spTgt spid="16"/>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dissolve">
                                      <p:cBhvr>
                                        <p:cTn id="91" dur="500"/>
                                        <p:tgtEl>
                                          <p:spTgt spid="31"/>
                                        </p:tgtEl>
                                      </p:cBhvr>
                                    </p:animEffect>
                                  </p:childTnLst>
                                </p:cTn>
                              </p:par>
                              <p:par>
                                <p:cTn id="92" presetID="9" presetClass="entr" presetSubtype="0" fill="hold" nodeType="withEffect">
                                  <p:stCondLst>
                                    <p:cond delay="0"/>
                                  </p:stCondLst>
                                  <p:childTnLst>
                                    <p:set>
                                      <p:cBhvr>
                                        <p:cTn id="93" dur="1" fill="hold">
                                          <p:stCondLst>
                                            <p:cond delay="0"/>
                                          </p:stCondLst>
                                        </p:cTn>
                                        <p:tgtEl>
                                          <p:spTgt spid="19"/>
                                        </p:tgtEl>
                                        <p:attrNameLst>
                                          <p:attrName>style.visibility</p:attrName>
                                        </p:attrNameLst>
                                      </p:cBhvr>
                                      <p:to>
                                        <p:strVal val="visible"/>
                                      </p:to>
                                    </p:set>
                                    <p:animEffect transition="in" filter="dissolve">
                                      <p:cBhvr>
                                        <p:cTn id="94" dur="500"/>
                                        <p:tgtEl>
                                          <p:spTgt spid="19"/>
                                        </p:tgtEl>
                                      </p:cBhvr>
                                    </p:animEffect>
                                  </p:childTnLst>
                                </p:cTn>
                              </p:par>
                            </p:childTnLst>
                          </p:cTn>
                        </p:par>
                      </p:childTnLst>
                    </p:cTn>
                  </p:par>
                  <p:par>
                    <p:cTn id="95" fill="hold">
                      <p:stCondLst>
                        <p:cond delay="indefinite"/>
                      </p:stCondLst>
                      <p:childTnLst>
                        <p:par>
                          <p:cTn id="96" fill="hold">
                            <p:stCondLst>
                              <p:cond delay="0"/>
                            </p:stCondLst>
                            <p:childTnLst>
                              <p:par>
                                <p:cTn id="97" presetID="9" presetClass="entr" presetSubtype="0" fill="hold" grpId="0" nodeType="click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dissolve">
                                      <p:cBhvr>
                                        <p:cTn id="99" dur="500"/>
                                        <p:tgtEl>
                                          <p:spTgt spid="32"/>
                                        </p:tgtEl>
                                      </p:cBhvr>
                                    </p:animEffect>
                                  </p:childTnLst>
                                </p:cTn>
                              </p:par>
                              <p:par>
                                <p:cTn id="100" presetID="9" presetClass="entr" presetSubtype="0"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dissolve">
                                      <p:cBhvr>
                                        <p:cTn id="10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p:bldP spid="13" grpId="0" animBg="1"/>
      <p:bldP spid="16" grpId="0"/>
      <p:bldP spid="8" grpId="0" animBg="1"/>
      <p:bldP spid="14" grpId="0"/>
      <p:bldP spid="17" grpId="0"/>
      <p:bldP spid="18" grpId="0"/>
      <p:bldP spid="20" grpId="0"/>
      <p:bldP spid="21" grpId="0" animBg="1"/>
      <p:bldP spid="22" grpId="0" animBg="1"/>
      <p:bldP spid="23" grpId="0"/>
      <p:bldP spid="24" grpId="0"/>
      <p:bldP spid="26" grpId="0" animBg="1"/>
      <p:bldP spid="27" grpId="0"/>
      <p:bldP spid="31" grpId="0"/>
      <p:bldP spid="32" grpId="0" animBg="1"/>
      <p:bldP spid="33" grpId="0"/>
      <p:bldP spid="32780" grpId="1" animBg="1"/>
      <p:bldP spid="3278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4D86C6F-E97B-8493-0FA3-BE5EE7035D74}"/>
              </a:ext>
            </a:extLst>
          </p:cNvPr>
          <p:cNvPicPr>
            <a:picLocks noChangeAspect="1"/>
          </p:cNvPicPr>
          <p:nvPr/>
        </p:nvPicPr>
        <p:blipFill>
          <a:blip r:embed="rId3"/>
          <a:stretch>
            <a:fillRect/>
          </a:stretch>
        </p:blipFill>
        <p:spPr>
          <a:xfrm>
            <a:off x="4927397" y="2597510"/>
            <a:ext cx="4198564" cy="1938505"/>
          </a:xfrm>
          <a:prstGeom prst="rect">
            <a:avLst/>
          </a:prstGeom>
        </p:spPr>
      </p:pic>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Problem Formulation</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12</a:t>
            </a:r>
            <a:r>
              <a:rPr lang="en-US" altLang="en-US" sz="1200" dirty="0">
                <a:solidFill>
                  <a:schemeClr val="bg1"/>
                </a:solidFill>
              </a:rPr>
              <a:t>| </a:t>
            </a:r>
            <a:r>
              <a:rPr lang="en-US" altLang="en-US" sz="1050" dirty="0">
                <a:solidFill>
                  <a:schemeClr val="bg1"/>
                </a:solidFill>
              </a:rPr>
              <a:t>Problem Formulation</a:t>
            </a:r>
            <a:endParaRPr lang="en-US" altLang="en-US" sz="900" dirty="0">
              <a:solidFill>
                <a:schemeClr val="bg1"/>
              </a:solidFill>
            </a:endParaRPr>
          </a:p>
        </p:txBody>
      </p:sp>
      <p:sp>
        <p:nvSpPr>
          <p:cNvPr id="3" name="Rectangle 2">
            <a:extLst>
              <a:ext uri="{FF2B5EF4-FFF2-40B4-BE49-F238E27FC236}">
                <a16:creationId xmlns:a16="http://schemas.microsoft.com/office/drawing/2014/main" id="{95BEDAE4-E92D-2124-575E-53149E7A20EA}"/>
              </a:ext>
            </a:extLst>
          </p:cNvPr>
          <p:cNvSpPr/>
          <p:nvPr/>
        </p:nvSpPr>
        <p:spPr>
          <a:xfrm>
            <a:off x="228600" y="719686"/>
            <a:ext cx="4006880" cy="338554"/>
          </a:xfrm>
          <a:prstGeom prst="rect">
            <a:avLst/>
          </a:prstGeom>
        </p:spPr>
        <p:txBody>
          <a:bodyPr wrap="square">
            <a:spAutoFit/>
          </a:bodyPr>
          <a:lstStyle/>
          <a:p>
            <a:pPr eaLnBrk="1" fontAlgn="auto" hangingPunct="1">
              <a:spcBef>
                <a:spcPts val="0"/>
              </a:spcBef>
              <a:spcAft>
                <a:spcPts val="0"/>
              </a:spcAft>
              <a:defRPr/>
            </a:pPr>
            <a:r>
              <a:rPr lang="en-US" altLang="zh-CN" sz="1600" b="1" dirty="0">
                <a:solidFill>
                  <a:srgbClr val="C00000"/>
                </a:solidFill>
                <a:latin typeface="+mn-lt"/>
                <a:ea typeface="+mn-ea"/>
                <a:cs typeface="Helvetica"/>
              </a:rPr>
              <a:t>Definition - Normalized power and state cost</a:t>
            </a:r>
          </a:p>
        </p:txBody>
      </p:sp>
      <p:sp>
        <p:nvSpPr>
          <p:cNvPr id="5" name="TextBox 4">
            <a:extLst>
              <a:ext uri="{FF2B5EF4-FFF2-40B4-BE49-F238E27FC236}">
                <a16:creationId xmlns:a16="http://schemas.microsoft.com/office/drawing/2014/main" id="{4A55D711-383A-B35A-1550-1218713724F1}"/>
              </a:ext>
            </a:extLst>
          </p:cNvPr>
          <p:cNvSpPr txBox="1"/>
          <p:nvPr/>
        </p:nvSpPr>
        <p:spPr>
          <a:xfrm>
            <a:off x="4710610" y="801938"/>
            <a:ext cx="4433390" cy="1169551"/>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The system is in equilibrium at zero power and state;</a:t>
            </a:r>
          </a:p>
          <a:p>
            <a:pPr marL="285750" indent="-285750">
              <a:buFont typeface="Arial" panose="020B0604020202020204" pitchFamily="34" charset="0"/>
              <a:buChar char="•"/>
            </a:pPr>
            <a:endParaRPr lang="en-US" sz="1400" dirty="0">
              <a:cs typeface="Calibri" panose="020F0502020204030204" pitchFamily="34" charset="0"/>
            </a:endParaRPr>
          </a:p>
          <a:p>
            <a:pPr marL="285750" indent="-285750">
              <a:buFont typeface="Arial" panose="020B0604020202020204" pitchFamily="34" charset="0"/>
              <a:buChar char="•"/>
            </a:pPr>
            <a:r>
              <a:rPr lang="en-US" sz="1400" dirty="0">
                <a:cs typeface="Calibri" panose="020F0502020204030204" pitchFamily="34" charset="0"/>
              </a:rPr>
              <a:t>Deviate from reference (0) increase discomfort (cost);</a:t>
            </a:r>
          </a:p>
          <a:p>
            <a:pPr marL="285750" indent="-285750">
              <a:buFont typeface="Arial" panose="020B0604020202020204" pitchFamily="34" charset="0"/>
              <a:buChar char="•"/>
            </a:pPr>
            <a:endParaRPr lang="en-US" sz="1400" dirty="0">
              <a:cs typeface="Calibri" panose="020F0502020204030204" pitchFamily="34" charset="0"/>
            </a:endParaRPr>
          </a:p>
          <a:p>
            <a:pPr marL="285750" indent="-285750">
              <a:buFont typeface="Arial" panose="020B0604020202020204" pitchFamily="34" charset="0"/>
              <a:buChar char="•"/>
            </a:pPr>
            <a:r>
              <a:rPr lang="en-US" sz="1400" dirty="0">
                <a:cs typeface="Calibri" panose="020F0502020204030204" pitchFamily="34" charset="0"/>
              </a:rPr>
              <a:t>Highlight our focus on disturbances and variations.</a:t>
            </a:r>
          </a:p>
        </p:txBody>
      </p:sp>
      <p:cxnSp>
        <p:nvCxnSpPr>
          <p:cNvPr id="8" name="Straight Arrow Connector 7">
            <a:extLst>
              <a:ext uri="{FF2B5EF4-FFF2-40B4-BE49-F238E27FC236}">
                <a16:creationId xmlns:a16="http://schemas.microsoft.com/office/drawing/2014/main" id="{95E79B9E-69E3-2782-CB43-6B39BE860156}"/>
              </a:ext>
            </a:extLst>
          </p:cNvPr>
          <p:cNvCxnSpPr>
            <a:cxnSpLocks/>
          </p:cNvCxnSpPr>
          <p:nvPr/>
        </p:nvCxnSpPr>
        <p:spPr>
          <a:xfrm>
            <a:off x="1484312" y="3047669"/>
            <a:ext cx="1295400" cy="0"/>
          </a:xfrm>
          <a:prstGeom prst="straightConnector1">
            <a:avLst/>
          </a:prstGeom>
          <a:ln>
            <a:solidFill>
              <a:schemeClr val="tx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6602BE2A-0C42-5440-76C4-D7CF64FD3A37}"/>
              </a:ext>
            </a:extLst>
          </p:cNvPr>
          <p:cNvCxnSpPr>
            <a:cxnSpLocks/>
          </p:cNvCxnSpPr>
          <p:nvPr/>
        </p:nvCxnSpPr>
        <p:spPr>
          <a:xfrm flipV="1">
            <a:off x="2132012" y="1917102"/>
            <a:ext cx="0" cy="24072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C3DFFB01-D530-1414-C1F8-4614B19D8590}"/>
              </a:ext>
            </a:extLst>
          </p:cNvPr>
          <p:cNvSpPr txBox="1"/>
          <p:nvPr/>
        </p:nvSpPr>
        <p:spPr>
          <a:xfrm>
            <a:off x="228600" y="1190007"/>
            <a:ext cx="2678112" cy="307777"/>
          </a:xfrm>
          <a:prstGeom prst="rect">
            <a:avLst/>
          </a:prstGeom>
          <a:noFill/>
        </p:spPr>
        <p:txBody>
          <a:bodyPr wrap="square">
            <a:spAutoFit/>
          </a:bodyPr>
          <a:lstStyle/>
          <a:p>
            <a:r>
              <a:rPr lang="en-US" sz="1400" dirty="0">
                <a:cs typeface="Calibri" panose="020F0502020204030204" pitchFamily="34" charset="0"/>
              </a:rPr>
              <a:t>HVAC system (air conditioning)</a:t>
            </a:r>
          </a:p>
        </p:txBody>
      </p:sp>
      <p:sp>
        <p:nvSpPr>
          <p:cNvPr id="20" name="TextBox 19">
            <a:extLst>
              <a:ext uri="{FF2B5EF4-FFF2-40B4-BE49-F238E27FC236}">
                <a16:creationId xmlns:a16="http://schemas.microsoft.com/office/drawing/2014/main" id="{BA15981E-97EA-280D-1640-8A7E096D1C9F}"/>
              </a:ext>
            </a:extLst>
          </p:cNvPr>
          <p:cNvSpPr txBox="1"/>
          <p:nvPr/>
        </p:nvSpPr>
        <p:spPr>
          <a:xfrm>
            <a:off x="2086502" y="1567306"/>
            <a:ext cx="1195781" cy="307777"/>
          </a:xfrm>
          <a:prstGeom prst="rect">
            <a:avLst/>
          </a:prstGeom>
          <a:noFill/>
        </p:spPr>
        <p:txBody>
          <a:bodyPr wrap="square">
            <a:spAutoFit/>
          </a:bodyPr>
          <a:lstStyle/>
          <a:p>
            <a:r>
              <a:rPr lang="en-US" sz="1400" dirty="0">
                <a:cs typeface="Calibri" panose="020F0502020204030204" pitchFamily="34" charset="0"/>
              </a:rPr>
              <a:t>Temperature</a:t>
            </a:r>
          </a:p>
        </p:txBody>
      </p:sp>
      <p:sp>
        <p:nvSpPr>
          <p:cNvPr id="21" name="TextBox 20">
            <a:extLst>
              <a:ext uri="{FF2B5EF4-FFF2-40B4-BE49-F238E27FC236}">
                <a16:creationId xmlns:a16="http://schemas.microsoft.com/office/drawing/2014/main" id="{9E8AD636-0272-3417-97AF-D7C1C3C0B870}"/>
              </a:ext>
            </a:extLst>
          </p:cNvPr>
          <p:cNvSpPr txBox="1"/>
          <p:nvPr/>
        </p:nvSpPr>
        <p:spPr>
          <a:xfrm>
            <a:off x="418883" y="2905263"/>
            <a:ext cx="1138231" cy="307777"/>
          </a:xfrm>
          <a:prstGeom prst="rect">
            <a:avLst/>
          </a:prstGeom>
          <a:noFill/>
          <a:ln>
            <a:noFill/>
          </a:ln>
        </p:spPr>
        <p:txBody>
          <a:bodyPr wrap="square">
            <a:spAutoFit/>
          </a:bodyPr>
          <a:lstStyle/>
          <a:p>
            <a:r>
              <a:rPr lang="en-US" sz="1400" dirty="0">
                <a:cs typeface="Calibri" panose="020F0502020204030204" pitchFamily="34" charset="0"/>
              </a:rPr>
              <a:t>Set point 25 </a:t>
            </a:r>
          </a:p>
        </p:txBody>
      </p:sp>
      <p:cxnSp>
        <p:nvCxnSpPr>
          <p:cNvPr id="22" name="Straight Arrow Connector 21">
            <a:extLst>
              <a:ext uri="{FF2B5EF4-FFF2-40B4-BE49-F238E27FC236}">
                <a16:creationId xmlns:a16="http://schemas.microsoft.com/office/drawing/2014/main" id="{64E345DC-31B5-BB9E-1ECC-3E3610D6A197}"/>
              </a:ext>
            </a:extLst>
          </p:cNvPr>
          <p:cNvCxnSpPr>
            <a:cxnSpLocks/>
          </p:cNvCxnSpPr>
          <p:nvPr/>
        </p:nvCxnSpPr>
        <p:spPr>
          <a:xfrm>
            <a:off x="1742562" y="3043947"/>
            <a:ext cx="1295400"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23" name="TextBox 22">
            <a:extLst>
              <a:ext uri="{FF2B5EF4-FFF2-40B4-BE49-F238E27FC236}">
                <a16:creationId xmlns:a16="http://schemas.microsoft.com/office/drawing/2014/main" id="{17C5047A-4B7A-D6E3-DD2B-37B1AA07EAB0}"/>
              </a:ext>
            </a:extLst>
          </p:cNvPr>
          <p:cNvSpPr txBox="1"/>
          <p:nvPr/>
        </p:nvSpPr>
        <p:spPr>
          <a:xfrm>
            <a:off x="3212019" y="2876550"/>
            <a:ext cx="1287747" cy="523220"/>
          </a:xfrm>
          <a:prstGeom prst="rect">
            <a:avLst/>
          </a:prstGeom>
          <a:noFill/>
          <a:ln>
            <a:noFill/>
          </a:ln>
        </p:spPr>
        <p:txBody>
          <a:bodyPr wrap="square">
            <a:spAutoFit/>
          </a:bodyPr>
          <a:lstStyle/>
          <a:p>
            <a:r>
              <a:rPr lang="en-US" sz="1400" dirty="0">
                <a:solidFill>
                  <a:srgbClr val="C00000"/>
                </a:solidFill>
                <a:cs typeface="Calibri" panose="020F0502020204030204" pitchFamily="34" charset="0"/>
              </a:rPr>
              <a:t>x = 0</a:t>
            </a:r>
          </a:p>
          <a:p>
            <a:r>
              <a:rPr lang="en-US" sz="1400" dirty="0">
                <a:solidFill>
                  <a:srgbClr val="C00000"/>
                </a:solidFill>
                <a:cs typeface="Calibri" panose="020F0502020204030204" pitchFamily="34" charset="0"/>
              </a:rPr>
              <a:t>No discomfort</a:t>
            </a:r>
          </a:p>
        </p:txBody>
      </p:sp>
      <p:cxnSp>
        <p:nvCxnSpPr>
          <p:cNvPr id="24" name="Straight Arrow Connector 23">
            <a:extLst>
              <a:ext uri="{FF2B5EF4-FFF2-40B4-BE49-F238E27FC236}">
                <a16:creationId xmlns:a16="http://schemas.microsoft.com/office/drawing/2014/main" id="{0AB230B1-D79A-461C-37C5-2B9721616C39}"/>
              </a:ext>
            </a:extLst>
          </p:cNvPr>
          <p:cNvCxnSpPr>
            <a:cxnSpLocks/>
          </p:cNvCxnSpPr>
          <p:nvPr/>
        </p:nvCxnSpPr>
        <p:spPr>
          <a:xfrm>
            <a:off x="1742562" y="3943350"/>
            <a:ext cx="1295400" cy="0"/>
          </a:xfrm>
          <a:prstGeom prst="straightConnector1">
            <a:avLst/>
          </a:prstGeom>
          <a:ln>
            <a:solidFill>
              <a:schemeClr val="accent3">
                <a:lumMod val="75000"/>
              </a:schemeClr>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25" name="Straight Arrow Connector 24">
            <a:extLst>
              <a:ext uri="{FF2B5EF4-FFF2-40B4-BE49-F238E27FC236}">
                <a16:creationId xmlns:a16="http://schemas.microsoft.com/office/drawing/2014/main" id="{76CE8E5F-1DA4-E2B1-CC07-598D0809B44F}"/>
              </a:ext>
            </a:extLst>
          </p:cNvPr>
          <p:cNvCxnSpPr>
            <a:cxnSpLocks/>
          </p:cNvCxnSpPr>
          <p:nvPr/>
        </p:nvCxnSpPr>
        <p:spPr>
          <a:xfrm>
            <a:off x="2445262" y="3167282"/>
            <a:ext cx="0" cy="633849"/>
          </a:xfrm>
          <a:prstGeom prst="straightConnector1">
            <a:avLst/>
          </a:prstGeom>
          <a:ln w="19050">
            <a:solidFill>
              <a:schemeClr val="accent3">
                <a:lumMod val="75000"/>
              </a:schemeClr>
            </a:solidFill>
            <a:prstDash val="sysDot"/>
            <a:tailEnd type="triangle"/>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417C2513-02DD-4DF9-8C59-26738AE140C5}"/>
              </a:ext>
            </a:extLst>
          </p:cNvPr>
          <p:cNvSpPr txBox="1"/>
          <p:nvPr/>
        </p:nvSpPr>
        <p:spPr>
          <a:xfrm>
            <a:off x="3212019" y="3497041"/>
            <a:ext cx="1407973" cy="954107"/>
          </a:xfrm>
          <a:prstGeom prst="rect">
            <a:avLst/>
          </a:prstGeom>
          <a:noFill/>
          <a:ln>
            <a:noFill/>
          </a:ln>
        </p:spPr>
        <p:txBody>
          <a:bodyPr wrap="square">
            <a:spAutoFit/>
          </a:bodyPr>
          <a:lstStyle/>
          <a:p>
            <a:r>
              <a:rPr lang="en-US" sz="1400" dirty="0">
                <a:solidFill>
                  <a:schemeClr val="accent3">
                    <a:lumMod val="75000"/>
                  </a:schemeClr>
                </a:solidFill>
                <a:cs typeface="Calibri" panose="020F0502020204030204" pitchFamily="34" charset="0"/>
              </a:rPr>
              <a:t>x = -5</a:t>
            </a:r>
          </a:p>
          <a:p>
            <a:r>
              <a:rPr lang="en-US" sz="1400" dirty="0">
                <a:solidFill>
                  <a:schemeClr val="accent3">
                    <a:lumMod val="75000"/>
                  </a:schemeClr>
                </a:solidFill>
                <a:cs typeface="Calibri" panose="020F0502020204030204" pitchFamily="34" charset="0"/>
              </a:rPr>
              <a:t>Discomfort reflected by cost function C(5)</a:t>
            </a:r>
          </a:p>
        </p:txBody>
      </p:sp>
      <p:sp>
        <p:nvSpPr>
          <p:cNvPr id="28" name="TextBox 27">
            <a:extLst>
              <a:ext uri="{FF2B5EF4-FFF2-40B4-BE49-F238E27FC236}">
                <a16:creationId xmlns:a16="http://schemas.microsoft.com/office/drawing/2014/main" id="{5B212771-2A56-316C-89F6-DE4E18B109A7}"/>
              </a:ext>
            </a:extLst>
          </p:cNvPr>
          <p:cNvSpPr txBox="1"/>
          <p:nvPr/>
        </p:nvSpPr>
        <p:spPr>
          <a:xfrm>
            <a:off x="1052004" y="3768636"/>
            <a:ext cx="457708" cy="307777"/>
          </a:xfrm>
          <a:prstGeom prst="rect">
            <a:avLst/>
          </a:prstGeom>
          <a:noFill/>
          <a:ln>
            <a:noFill/>
          </a:ln>
        </p:spPr>
        <p:txBody>
          <a:bodyPr wrap="square">
            <a:spAutoFit/>
          </a:bodyPr>
          <a:lstStyle/>
          <a:p>
            <a:r>
              <a:rPr lang="en-US" sz="1400" dirty="0">
                <a:solidFill>
                  <a:schemeClr val="accent3">
                    <a:lumMod val="75000"/>
                  </a:schemeClr>
                </a:solidFill>
                <a:cs typeface="Calibri" panose="020F0502020204030204" pitchFamily="34" charset="0"/>
              </a:rPr>
              <a:t>20</a:t>
            </a:r>
          </a:p>
        </p:txBody>
      </p:sp>
      <p:cxnSp>
        <p:nvCxnSpPr>
          <p:cNvPr id="31" name="Straight Arrow Connector 30">
            <a:extLst>
              <a:ext uri="{FF2B5EF4-FFF2-40B4-BE49-F238E27FC236}">
                <a16:creationId xmlns:a16="http://schemas.microsoft.com/office/drawing/2014/main" id="{1139C88C-04A8-D849-D172-25E8B2F12D4B}"/>
              </a:ext>
            </a:extLst>
          </p:cNvPr>
          <p:cNvCxnSpPr>
            <a:cxnSpLocks/>
          </p:cNvCxnSpPr>
          <p:nvPr/>
        </p:nvCxnSpPr>
        <p:spPr>
          <a:xfrm>
            <a:off x="1742562" y="2242701"/>
            <a:ext cx="1295400" cy="0"/>
          </a:xfrm>
          <a:prstGeom prst="straightConnector1">
            <a:avLst/>
          </a:prstGeom>
          <a:ln>
            <a:solidFill>
              <a:schemeClr val="tx2">
                <a:lumMod val="60000"/>
                <a:lumOff val="40000"/>
              </a:schemeClr>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2" name="Straight Arrow Connector 31">
            <a:extLst>
              <a:ext uri="{FF2B5EF4-FFF2-40B4-BE49-F238E27FC236}">
                <a16:creationId xmlns:a16="http://schemas.microsoft.com/office/drawing/2014/main" id="{98AD7DBA-618A-4F8B-2F49-E09643AB7EBA}"/>
              </a:ext>
            </a:extLst>
          </p:cNvPr>
          <p:cNvCxnSpPr>
            <a:cxnSpLocks/>
          </p:cNvCxnSpPr>
          <p:nvPr/>
        </p:nvCxnSpPr>
        <p:spPr>
          <a:xfrm flipV="1">
            <a:off x="2445262" y="2321803"/>
            <a:ext cx="0" cy="638106"/>
          </a:xfrm>
          <a:prstGeom prst="straightConnector1">
            <a:avLst/>
          </a:prstGeom>
          <a:ln w="19050">
            <a:solidFill>
              <a:schemeClr val="tx2">
                <a:lumMod val="60000"/>
                <a:lumOff val="40000"/>
              </a:schemeClr>
            </a:solidFill>
            <a:prstDash val="sysDot"/>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CEE57BB7-8068-384B-52CF-6CA674F4591F}"/>
              </a:ext>
            </a:extLst>
          </p:cNvPr>
          <p:cNvSpPr txBox="1"/>
          <p:nvPr/>
        </p:nvSpPr>
        <p:spPr>
          <a:xfrm>
            <a:off x="1052004" y="2092534"/>
            <a:ext cx="457708" cy="307777"/>
          </a:xfrm>
          <a:prstGeom prst="rect">
            <a:avLst/>
          </a:prstGeom>
          <a:noFill/>
          <a:ln>
            <a:noFill/>
          </a:ln>
        </p:spPr>
        <p:txBody>
          <a:bodyPr wrap="square">
            <a:spAutoFit/>
          </a:bodyPr>
          <a:lstStyle/>
          <a:p>
            <a:r>
              <a:rPr lang="en-US" sz="1400" dirty="0">
                <a:cs typeface="Calibri" panose="020F0502020204030204" pitchFamily="34" charset="0"/>
              </a:rPr>
              <a:t>29</a:t>
            </a:r>
          </a:p>
        </p:txBody>
      </p:sp>
      <p:sp>
        <p:nvSpPr>
          <p:cNvPr id="37" name="TextBox 36">
            <a:extLst>
              <a:ext uri="{FF2B5EF4-FFF2-40B4-BE49-F238E27FC236}">
                <a16:creationId xmlns:a16="http://schemas.microsoft.com/office/drawing/2014/main" id="{7464B8BB-E897-9740-A4C3-43B282B758CB}"/>
              </a:ext>
            </a:extLst>
          </p:cNvPr>
          <p:cNvSpPr txBox="1"/>
          <p:nvPr/>
        </p:nvSpPr>
        <p:spPr>
          <a:xfrm>
            <a:off x="3199825" y="1825172"/>
            <a:ext cx="1407977" cy="954107"/>
          </a:xfrm>
          <a:prstGeom prst="rect">
            <a:avLst/>
          </a:prstGeom>
          <a:noFill/>
          <a:ln>
            <a:noFill/>
          </a:ln>
        </p:spPr>
        <p:txBody>
          <a:bodyPr wrap="square">
            <a:spAutoFit/>
          </a:bodyPr>
          <a:lstStyle/>
          <a:p>
            <a:r>
              <a:rPr lang="en-US" sz="1400" dirty="0">
                <a:solidFill>
                  <a:schemeClr val="tx2">
                    <a:lumMod val="60000"/>
                    <a:lumOff val="40000"/>
                  </a:schemeClr>
                </a:solidFill>
                <a:cs typeface="Calibri" panose="020F0502020204030204" pitchFamily="34" charset="0"/>
              </a:rPr>
              <a:t>x = 4</a:t>
            </a:r>
          </a:p>
          <a:p>
            <a:r>
              <a:rPr lang="en-US" sz="1400" dirty="0">
                <a:solidFill>
                  <a:schemeClr val="tx2">
                    <a:lumMod val="60000"/>
                    <a:lumOff val="40000"/>
                  </a:schemeClr>
                </a:solidFill>
                <a:cs typeface="Calibri" panose="020F0502020204030204" pitchFamily="34" charset="0"/>
              </a:rPr>
              <a:t>Discomfort reflected by cost function C(4)</a:t>
            </a:r>
          </a:p>
        </p:txBody>
      </p:sp>
      <p:sp>
        <p:nvSpPr>
          <p:cNvPr id="2" name="TextBox 1">
            <a:extLst>
              <a:ext uri="{FF2B5EF4-FFF2-40B4-BE49-F238E27FC236}">
                <a16:creationId xmlns:a16="http://schemas.microsoft.com/office/drawing/2014/main" id="{19461C9D-C359-1622-11D9-80635ACA6AE7}"/>
              </a:ext>
            </a:extLst>
          </p:cNvPr>
          <p:cNvSpPr txBox="1"/>
          <p:nvPr/>
        </p:nvSpPr>
        <p:spPr>
          <a:xfrm>
            <a:off x="4983133" y="2203036"/>
            <a:ext cx="4006880" cy="553998"/>
          </a:xfrm>
          <a:prstGeom prst="rect">
            <a:avLst/>
          </a:prstGeom>
          <a:noFill/>
        </p:spPr>
        <p:txBody>
          <a:bodyPr wrap="square">
            <a:spAutoFit/>
          </a:bodyPr>
          <a:lstStyle/>
          <a:p>
            <a:r>
              <a:rPr lang="en-US" sz="1600" b="1" dirty="0">
                <a:solidFill>
                  <a:srgbClr val="C00000"/>
                </a:solidFill>
                <a:cs typeface="Calibri" panose="020F0502020204030204" pitchFamily="34" charset="0"/>
              </a:rPr>
              <a:t>Definition/assumption</a:t>
            </a:r>
          </a:p>
          <a:p>
            <a:r>
              <a:rPr lang="en-US" sz="1400" dirty="0">
                <a:cs typeface="Calibri" panose="020F0502020204030204" pitchFamily="34" charset="0"/>
              </a:rPr>
              <a:t>Convex and continuous</a:t>
            </a:r>
          </a:p>
        </p:txBody>
      </p:sp>
    </p:spTree>
    <p:extLst>
      <p:ext uri="{BB962C8B-B14F-4D97-AF65-F5344CB8AC3E}">
        <p14:creationId xmlns:p14="http://schemas.microsoft.com/office/powerpoint/2010/main" val="10450208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dissolve">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dissolve">
                                      <p:cBhvr>
                                        <p:cTn id="15" dur="500"/>
                                        <p:tgtEl>
                                          <p:spTgt spid="23"/>
                                        </p:tgtEl>
                                      </p:cBhvr>
                                    </p:animEffect>
                                  </p:childTnLst>
                                </p:cTn>
                              </p:par>
                              <p:par>
                                <p:cTn id="16" presetID="9"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dissolve">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dissolve">
                                      <p:cBhvr>
                                        <p:cTn id="23" dur="500"/>
                                        <p:tgtEl>
                                          <p:spTgt spid="25"/>
                                        </p:tgtEl>
                                      </p:cBhvr>
                                    </p:animEffect>
                                  </p:childTnLst>
                                </p:cTn>
                              </p:par>
                              <p:par>
                                <p:cTn id="24" presetID="9"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dissolve">
                                      <p:cBhvr>
                                        <p:cTn id="29" dur="500"/>
                                        <p:tgtEl>
                                          <p:spTgt spid="28"/>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dissolve">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dissolve">
                                      <p:cBhvr>
                                        <p:cTn id="37" dur="500"/>
                                        <p:tgtEl>
                                          <p:spTgt spid="32"/>
                                        </p:tgtEl>
                                      </p:cBhvr>
                                    </p:animEffect>
                                  </p:childTnLst>
                                </p:cTn>
                              </p:par>
                              <p:par>
                                <p:cTn id="38" presetID="9" presetClass="entr" presetSubtype="0" fill="hold"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dissolve">
                                      <p:cBhvr>
                                        <p:cTn id="40" dur="500"/>
                                        <p:tgtEl>
                                          <p:spTgt spid="31"/>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dissolve">
                                      <p:cBhvr>
                                        <p:cTn id="43" dur="500"/>
                                        <p:tgtEl>
                                          <p:spTgt spid="36"/>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dissolve">
                                      <p:cBhvr>
                                        <p:cTn id="46" dur="500"/>
                                        <p:tgtEl>
                                          <p:spTgt spid="37"/>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dissolve">
                                      <p:cBhvr>
                                        <p:cTn id="51" dur="500"/>
                                        <p:tgtEl>
                                          <p:spTgt spid="5"/>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dissolve">
                                      <p:cBhvr>
                                        <p:cTn id="56" dur="500"/>
                                        <p:tgtEl>
                                          <p:spTgt spid="2"/>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dissolve">
                                      <p:cBhvr>
                                        <p:cTn id="6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1" grpId="0"/>
      <p:bldP spid="23" grpId="0"/>
      <p:bldP spid="27" grpId="0"/>
      <p:bldP spid="28" grpId="0"/>
      <p:bldP spid="36" grpId="0"/>
      <p:bldP spid="37"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1" descr="16x9_grey.jpg">
            <a:extLst>
              <a:ext uri="{FF2B5EF4-FFF2-40B4-BE49-F238E27FC236}">
                <a16:creationId xmlns:a16="http://schemas.microsoft.com/office/drawing/2014/main" id="{787542DE-E952-CEA4-62FA-C1DBD2B635D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C81AB479-D306-05E9-0BD2-AC56097AB9ED}"/>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eaLnBrk="1" hangingPunct="1">
              <a:defRPr/>
            </a:pPr>
            <a:endParaRPr lang="zh-CN" altLang="zh-CN">
              <a:solidFill>
                <a:srgbClr val="E6B9B8"/>
              </a:solidFill>
            </a:endParaRPr>
          </a:p>
        </p:txBody>
      </p:sp>
      <p:pic>
        <p:nvPicPr>
          <p:cNvPr id="50179" name="Picture 7">
            <a:extLst>
              <a:ext uri="{FF2B5EF4-FFF2-40B4-BE49-F238E27FC236}">
                <a16:creationId xmlns:a16="http://schemas.microsoft.com/office/drawing/2014/main" id="{809258BA-E7E3-6CD4-79BC-2A806202E9A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TextBox 8">
            <a:extLst>
              <a:ext uri="{FF2B5EF4-FFF2-40B4-BE49-F238E27FC236}">
                <a16:creationId xmlns:a16="http://schemas.microsoft.com/office/drawing/2014/main" id="{28E5441C-D06F-7794-94E3-570D9D45D18C}"/>
              </a:ext>
            </a:extLst>
          </p:cNvPr>
          <p:cNvSpPr txBox="1">
            <a:spLocks noChangeArrowheads="1"/>
          </p:cNvSpPr>
          <p:nvPr/>
        </p:nvSpPr>
        <p:spPr bwMode="auto">
          <a:xfrm>
            <a:off x="1219200" y="1037729"/>
            <a:ext cx="7391400" cy="261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marL="457200" indent="-457200" eaLnBrk="1" hangingPunct="1">
              <a:lnSpc>
                <a:spcPct val="150000"/>
              </a:lnSpc>
              <a:spcBef>
                <a:spcPct val="0"/>
              </a:spcBef>
            </a:pPr>
            <a:r>
              <a:rPr lang="en-US" altLang="zh-CN" sz="2800" i="1" dirty="0">
                <a:solidFill>
                  <a:schemeClr val="bg1"/>
                </a:solidFill>
              </a:rPr>
              <a:t>Background</a:t>
            </a:r>
          </a:p>
          <a:p>
            <a:pPr marL="457200" indent="-457200" eaLnBrk="1" hangingPunct="1">
              <a:lnSpc>
                <a:spcPct val="150000"/>
              </a:lnSpc>
              <a:spcBef>
                <a:spcPct val="0"/>
              </a:spcBef>
            </a:pPr>
            <a:r>
              <a:rPr lang="en-US" altLang="zh-CN" sz="2800" i="1" dirty="0">
                <a:solidFill>
                  <a:schemeClr val="bg1"/>
                </a:solidFill>
              </a:rPr>
              <a:t>Problem formulation</a:t>
            </a:r>
          </a:p>
          <a:p>
            <a:pPr marL="457200" indent="-457200" eaLnBrk="1" hangingPunct="1">
              <a:lnSpc>
                <a:spcPct val="150000"/>
              </a:lnSpc>
              <a:spcBef>
                <a:spcPct val="0"/>
              </a:spcBef>
            </a:pPr>
            <a:r>
              <a:rPr lang="en-US" altLang="en-US" sz="2800" i="1" dirty="0">
                <a:solidFill>
                  <a:schemeClr val="accent6">
                    <a:lumMod val="75000"/>
                  </a:schemeClr>
                </a:solidFill>
              </a:rPr>
              <a:t>Main Results</a:t>
            </a:r>
          </a:p>
          <a:p>
            <a:pPr marL="457200" indent="-457200" eaLnBrk="1" hangingPunct="1">
              <a:lnSpc>
                <a:spcPct val="150000"/>
              </a:lnSpc>
              <a:spcBef>
                <a:spcPct val="0"/>
              </a:spcBef>
            </a:pPr>
            <a:r>
              <a:rPr lang="en-US" altLang="en-US" sz="2800" i="1" dirty="0">
                <a:solidFill>
                  <a:schemeClr val="bg1"/>
                </a:solidFill>
              </a:rPr>
              <a:t>Case Study and Conclusion</a:t>
            </a:r>
          </a:p>
        </p:txBody>
      </p:sp>
      <p:sp>
        <p:nvSpPr>
          <p:cNvPr id="2" name="TextBox 11">
            <a:extLst>
              <a:ext uri="{FF2B5EF4-FFF2-40B4-BE49-F238E27FC236}">
                <a16:creationId xmlns:a16="http://schemas.microsoft.com/office/drawing/2014/main" id="{B080159E-71FF-1DA0-43A2-5276E22B4B9C}"/>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13</a:t>
            </a:r>
            <a:r>
              <a:rPr lang="en-US" altLang="en-US" sz="1200" dirty="0">
                <a:solidFill>
                  <a:schemeClr val="bg1"/>
                </a:solidFill>
              </a:rPr>
              <a:t>|</a:t>
            </a:r>
            <a:endParaRPr lang="en-US" altLang="en-US" sz="900" dirty="0">
              <a:solidFill>
                <a:schemeClr val="bg1"/>
              </a:solidFill>
            </a:endParaRPr>
          </a:p>
        </p:txBody>
      </p:sp>
    </p:spTree>
    <p:extLst>
      <p:ext uri="{BB962C8B-B14F-4D97-AF65-F5344CB8AC3E}">
        <p14:creationId xmlns:p14="http://schemas.microsoft.com/office/powerpoint/2010/main" val="1167592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C406C7BF-6287-418F-F301-1B43790B79F5}"/>
              </a:ext>
            </a:extLst>
          </p:cNvPr>
          <p:cNvPicPr>
            <a:picLocks noChangeAspect="1"/>
          </p:cNvPicPr>
          <p:nvPr/>
        </p:nvPicPr>
        <p:blipFill>
          <a:blip r:embed="rId3"/>
          <a:stretch>
            <a:fillRect/>
          </a:stretch>
        </p:blipFill>
        <p:spPr>
          <a:xfrm>
            <a:off x="1823768" y="4104031"/>
            <a:ext cx="4454003" cy="457199"/>
          </a:xfrm>
          <a:prstGeom prst="rect">
            <a:avLst/>
          </a:prstGeom>
        </p:spPr>
      </p:pic>
      <p:sp>
        <p:nvSpPr>
          <p:cNvPr id="60" name="Rectangle 59">
            <a:extLst>
              <a:ext uri="{FF2B5EF4-FFF2-40B4-BE49-F238E27FC236}">
                <a16:creationId xmlns:a16="http://schemas.microsoft.com/office/drawing/2014/main" id="{7D195176-8850-5C5F-0BC7-BEDFF465A172}"/>
              </a:ext>
            </a:extLst>
          </p:cNvPr>
          <p:cNvSpPr/>
          <p:nvPr/>
        </p:nvSpPr>
        <p:spPr>
          <a:xfrm>
            <a:off x="5330736" y="598339"/>
            <a:ext cx="3681581" cy="2347509"/>
          </a:xfrm>
          <a:prstGeom prst="rect">
            <a:avLst/>
          </a:prstGeom>
          <a:solidFill>
            <a:schemeClr val="tx2">
              <a:lumMod val="40000"/>
              <a:lumOff val="6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62" name="Rectangle 61">
            <a:extLst>
              <a:ext uri="{FF2B5EF4-FFF2-40B4-BE49-F238E27FC236}">
                <a16:creationId xmlns:a16="http://schemas.microsoft.com/office/drawing/2014/main" id="{7CD90F4E-5AA0-584D-3C34-A8A18F44A62D}"/>
              </a:ext>
            </a:extLst>
          </p:cNvPr>
          <p:cNvSpPr/>
          <p:nvPr/>
        </p:nvSpPr>
        <p:spPr>
          <a:xfrm>
            <a:off x="5330736" y="3033525"/>
            <a:ext cx="3681581" cy="917326"/>
          </a:xfrm>
          <a:prstGeom prst="rect">
            <a:avLst/>
          </a:prstGeom>
          <a:solidFill>
            <a:schemeClr val="tx2">
              <a:lumMod val="40000"/>
              <a:lumOff val="6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Main Results </a:t>
            </a:r>
          </a:p>
        </p:txBody>
      </p:sp>
      <p:sp>
        <p:nvSpPr>
          <p:cNvPr id="9" name="Rectangle 8">
            <a:extLst>
              <a:ext uri="{FF2B5EF4-FFF2-40B4-BE49-F238E27FC236}">
                <a16:creationId xmlns:a16="http://schemas.microsoft.com/office/drawing/2014/main" id="{C3A1AEDC-7A36-4E62-8C66-BD561769A32F}"/>
              </a:ext>
            </a:extLst>
          </p:cNvPr>
          <p:cNvSpPr/>
          <p:nvPr/>
        </p:nvSpPr>
        <p:spPr>
          <a:xfrm>
            <a:off x="150700" y="524337"/>
            <a:ext cx="4880388" cy="338554"/>
          </a:xfrm>
          <a:prstGeom prst="rect">
            <a:avLst/>
          </a:prstGeom>
        </p:spPr>
        <p:txBody>
          <a:bodyPr wrap="square">
            <a:spAutoFit/>
          </a:bodyPr>
          <a:lstStyle/>
          <a:p>
            <a:pPr eaLnBrk="1" fontAlgn="auto" hangingPunct="1">
              <a:spcBef>
                <a:spcPts val="0"/>
              </a:spcBef>
              <a:spcAft>
                <a:spcPts val="0"/>
              </a:spcAft>
              <a:defRPr/>
            </a:pPr>
            <a:r>
              <a:rPr lang="en-US" altLang="zh-CN" sz="1600" b="1" dirty="0">
                <a:solidFill>
                  <a:srgbClr val="C00000"/>
                </a:solidFill>
                <a:latin typeface="+mn-lt"/>
                <a:ea typeface="+mn-ea"/>
                <a:cs typeface="Helvetica"/>
              </a:rPr>
              <a:t>Theorem 1 – Distribution-insensitive demand models</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14</a:t>
            </a:r>
            <a:r>
              <a:rPr lang="en-US" altLang="en-US" sz="1200" dirty="0">
                <a:solidFill>
                  <a:schemeClr val="bg1"/>
                </a:solidFill>
              </a:rPr>
              <a:t>| </a:t>
            </a:r>
            <a:r>
              <a:rPr lang="en-US" altLang="en-US" sz="1050" dirty="0">
                <a:solidFill>
                  <a:schemeClr val="bg1"/>
                </a:solidFill>
              </a:rPr>
              <a:t>Main results</a:t>
            </a:r>
            <a:endParaRPr lang="en-US" altLang="en-US" sz="900" dirty="0">
              <a:solidFill>
                <a:schemeClr val="bg1"/>
              </a:solidFill>
            </a:endParaRPr>
          </a:p>
        </p:txBody>
      </p:sp>
      <p:pic>
        <p:nvPicPr>
          <p:cNvPr id="8" name="Picture 7">
            <a:extLst>
              <a:ext uri="{FF2B5EF4-FFF2-40B4-BE49-F238E27FC236}">
                <a16:creationId xmlns:a16="http://schemas.microsoft.com/office/drawing/2014/main" id="{BC7DFA3A-D3DD-0FFC-442D-1C01146AA612}"/>
              </a:ext>
            </a:extLst>
          </p:cNvPr>
          <p:cNvPicPr>
            <a:picLocks noChangeAspect="1"/>
          </p:cNvPicPr>
          <p:nvPr/>
        </p:nvPicPr>
        <p:blipFill>
          <a:blip r:embed="rId5"/>
          <a:stretch>
            <a:fillRect/>
          </a:stretch>
        </p:blipFill>
        <p:spPr>
          <a:xfrm>
            <a:off x="1757514" y="2361846"/>
            <a:ext cx="2246923" cy="584002"/>
          </a:xfrm>
          <a:prstGeom prst="rect">
            <a:avLst/>
          </a:prstGeom>
        </p:spPr>
      </p:pic>
      <p:sp>
        <p:nvSpPr>
          <p:cNvPr id="20" name="TextBox 19">
            <a:extLst>
              <a:ext uri="{FF2B5EF4-FFF2-40B4-BE49-F238E27FC236}">
                <a16:creationId xmlns:a16="http://schemas.microsoft.com/office/drawing/2014/main" id="{46D6AD91-EAFA-07B2-B117-26B349428D17}"/>
              </a:ext>
            </a:extLst>
          </p:cNvPr>
          <p:cNvSpPr txBox="1"/>
          <p:nvPr/>
        </p:nvSpPr>
        <p:spPr>
          <a:xfrm>
            <a:off x="214396" y="2484525"/>
            <a:ext cx="3101782" cy="307777"/>
          </a:xfrm>
          <a:prstGeom prst="rect">
            <a:avLst/>
          </a:prstGeom>
          <a:noFill/>
        </p:spPr>
        <p:txBody>
          <a:bodyPr wrap="square">
            <a:spAutoFit/>
          </a:bodyPr>
          <a:lstStyle/>
          <a:p>
            <a:r>
              <a:rPr lang="en-US" sz="1400" dirty="0">
                <a:cs typeface="Calibri" panose="020F0502020204030204" pitchFamily="34" charset="0"/>
              </a:rPr>
              <a:t>Quadratic function:</a:t>
            </a:r>
          </a:p>
        </p:txBody>
      </p:sp>
      <p:pic>
        <p:nvPicPr>
          <p:cNvPr id="28" name="Picture 27">
            <a:extLst>
              <a:ext uri="{FF2B5EF4-FFF2-40B4-BE49-F238E27FC236}">
                <a16:creationId xmlns:a16="http://schemas.microsoft.com/office/drawing/2014/main" id="{854FD458-7AB4-49BD-7855-611256044B3E}"/>
              </a:ext>
            </a:extLst>
          </p:cNvPr>
          <p:cNvPicPr>
            <a:picLocks noChangeAspect="1"/>
          </p:cNvPicPr>
          <p:nvPr/>
        </p:nvPicPr>
        <p:blipFill>
          <a:blip r:embed="rId6"/>
          <a:stretch>
            <a:fillRect/>
          </a:stretch>
        </p:blipFill>
        <p:spPr>
          <a:xfrm>
            <a:off x="412953" y="1226726"/>
            <a:ext cx="4370414" cy="1152746"/>
          </a:xfrm>
          <a:prstGeom prst="rect">
            <a:avLst/>
          </a:prstGeom>
        </p:spPr>
      </p:pic>
      <p:grpSp>
        <p:nvGrpSpPr>
          <p:cNvPr id="2" name="Group 1">
            <a:extLst>
              <a:ext uri="{FF2B5EF4-FFF2-40B4-BE49-F238E27FC236}">
                <a16:creationId xmlns:a16="http://schemas.microsoft.com/office/drawing/2014/main" id="{4B06601B-2634-1929-DB83-766F020E051C}"/>
              </a:ext>
            </a:extLst>
          </p:cNvPr>
          <p:cNvGrpSpPr/>
          <p:nvPr/>
        </p:nvGrpSpPr>
        <p:grpSpPr>
          <a:xfrm>
            <a:off x="5257800" y="824693"/>
            <a:ext cx="3754517" cy="2031568"/>
            <a:chOff x="5205951" y="611576"/>
            <a:chExt cx="3754517" cy="2031568"/>
          </a:xfrm>
        </p:grpSpPr>
        <p:grpSp>
          <p:nvGrpSpPr>
            <p:cNvPr id="3" name="Group 2">
              <a:extLst>
                <a:ext uri="{FF2B5EF4-FFF2-40B4-BE49-F238E27FC236}">
                  <a16:creationId xmlns:a16="http://schemas.microsoft.com/office/drawing/2014/main" id="{1CEDA35A-A126-52FA-E4C8-EA2478052C88}"/>
                </a:ext>
              </a:extLst>
            </p:cNvPr>
            <p:cNvGrpSpPr/>
            <p:nvPr/>
          </p:nvGrpSpPr>
          <p:grpSpPr>
            <a:xfrm>
              <a:off x="5494257" y="611576"/>
              <a:ext cx="3466211" cy="2031568"/>
              <a:chOff x="5494257" y="611576"/>
              <a:chExt cx="3466211" cy="2031568"/>
            </a:xfrm>
          </p:grpSpPr>
          <p:cxnSp>
            <p:nvCxnSpPr>
              <p:cNvPr id="6" name="Straight Arrow Connector 5">
                <a:extLst>
                  <a:ext uri="{FF2B5EF4-FFF2-40B4-BE49-F238E27FC236}">
                    <a16:creationId xmlns:a16="http://schemas.microsoft.com/office/drawing/2014/main" id="{DB96E8C3-D8AA-B832-D007-1D01E1C86381}"/>
                  </a:ext>
                </a:extLst>
              </p:cNvPr>
              <p:cNvCxnSpPr>
                <a:cxnSpLocks/>
              </p:cNvCxnSpPr>
              <p:nvPr/>
            </p:nvCxnSpPr>
            <p:spPr>
              <a:xfrm>
                <a:off x="5494257" y="2343150"/>
                <a:ext cx="34211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7974DA72-2497-E865-8C9F-8F9636F8DB0F}"/>
                  </a:ext>
                </a:extLst>
              </p:cNvPr>
              <p:cNvCxnSpPr>
                <a:cxnSpLocks/>
              </p:cNvCxnSpPr>
              <p:nvPr/>
            </p:nvCxnSpPr>
            <p:spPr>
              <a:xfrm flipV="1">
                <a:off x="6809738" y="611576"/>
                <a:ext cx="0" cy="19341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Freeform 12">
                <a:extLst>
                  <a:ext uri="{FF2B5EF4-FFF2-40B4-BE49-F238E27FC236}">
                    <a16:creationId xmlns:a16="http://schemas.microsoft.com/office/drawing/2014/main" id="{10BD7C87-2475-B264-F3CB-521CAF8A7C7E}"/>
                  </a:ext>
                </a:extLst>
              </p:cNvPr>
              <p:cNvSpPr/>
              <p:nvPr/>
            </p:nvSpPr>
            <p:spPr>
              <a:xfrm>
                <a:off x="5525812" y="1073936"/>
                <a:ext cx="3237471" cy="1150114"/>
              </a:xfrm>
              <a:custGeom>
                <a:avLst/>
                <a:gdLst>
                  <a:gd name="connsiteX0" fmla="*/ 0 w 2199503"/>
                  <a:gd name="connsiteY0" fmla="*/ 1150114 h 1150114"/>
                  <a:gd name="connsiteX1" fmla="*/ 518984 w 2199503"/>
                  <a:gd name="connsiteY1" fmla="*/ 408708 h 1150114"/>
                  <a:gd name="connsiteX2" fmla="*/ 1186249 w 2199503"/>
                  <a:gd name="connsiteY2" fmla="*/ 25649 h 1150114"/>
                  <a:gd name="connsiteX3" fmla="*/ 2199503 w 2199503"/>
                  <a:gd name="connsiteY3" fmla="*/ 1113044 h 1150114"/>
                </a:gdLst>
                <a:ahLst/>
                <a:cxnLst>
                  <a:cxn ang="0">
                    <a:pos x="connsiteX0" y="connsiteY0"/>
                  </a:cxn>
                  <a:cxn ang="0">
                    <a:pos x="connsiteX1" y="connsiteY1"/>
                  </a:cxn>
                  <a:cxn ang="0">
                    <a:pos x="connsiteX2" y="connsiteY2"/>
                  </a:cxn>
                  <a:cxn ang="0">
                    <a:pos x="connsiteX3" y="connsiteY3"/>
                  </a:cxn>
                </a:cxnLst>
                <a:rect l="l" t="t" r="r" b="b"/>
                <a:pathLst>
                  <a:path w="2199503" h="1150114">
                    <a:moveTo>
                      <a:pt x="0" y="1150114"/>
                    </a:moveTo>
                    <a:cubicBezTo>
                      <a:pt x="160638" y="873116"/>
                      <a:pt x="321276" y="596119"/>
                      <a:pt x="518984" y="408708"/>
                    </a:cubicBezTo>
                    <a:cubicBezTo>
                      <a:pt x="716692" y="221297"/>
                      <a:pt x="906163" y="-91740"/>
                      <a:pt x="1186249" y="25649"/>
                    </a:cubicBezTo>
                    <a:cubicBezTo>
                      <a:pt x="1466335" y="143038"/>
                      <a:pt x="1832919" y="628041"/>
                      <a:pt x="2199503" y="1113044"/>
                    </a:cubicBez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14" name="Freeform 13">
                <a:extLst>
                  <a:ext uri="{FF2B5EF4-FFF2-40B4-BE49-F238E27FC236}">
                    <a16:creationId xmlns:a16="http://schemas.microsoft.com/office/drawing/2014/main" id="{806DE6CC-A073-E414-9948-4D807A0E26E9}"/>
                  </a:ext>
                </a:extLst>
              </p:cNvPr>
              <p:cNvSpPr/>
              <p:nvPr/>
            </p:nvSpPr>
            <p:spPr>
              <a:xfrm flipH="1">
                <a:off x="5724429" y="1031696"/>
                <a:ext cx="3038854" cy="1303565"/>
              </a:xfrm>
              <a:custGeom>
                <a:avLst/>
                <a:gdLst>
                  <a:gd name="connsiteX0" fmla="*/ 11448 w 3038854"/>
                  <a:gd name="connsiteY0" fmla="*/ 1303565 h 1303565"/>
                  <a:gd name="connsiteX1" fmla="*/ 122659 w 3038854"/>
                  <a:gd name="connsiteY1" fmla="*/ 6105 h 1303565"/>
                  <a:gd name="connsiteX2" fmla="*/ 888778 w 3038854"/>
                  <a:gd name="connsiteY2" fmla="*/ 834008 h 1303565"/>
                  <a:gd name="connsiteX3" fmla="*/ 3038854 w 3038854"/>
                  <a:gd name="connsiteY3" fmla="*/ 1266494 h 1303565"/>
                </a:gdLst>
                <a:ahLst/>
                <a:cxnLst>
                  <a:cxn ang="0">
                    <a:pos x="connsiteX0" y="connsiteY0"/>
                  </a:cxn>
                  <a:cxn ang="0">
                    <a:pos x="connsiteX1" y="connsiteY1"/>
                  </a:cxn>
                  <a:cxn ang="0">
                    <a:pos x="connsiteX2" y="connsiteY2"/>
                  </a:cxn>
                  <a:cxn ang="0">
                    <a:pos x="connsiteX3" y="connsiteY3"/>
                  </a:cxn>
                </a:cxnLst>
                <a:rect l="l" t="t" r="r" b="b"/>
                <a:pathLst>
                  <a:path w="3038854" h="1303565">
                    <a:moveTo>
                      <a:pt x="11448" y="1303565"/>
                    </a:moveTo>
                    <a:cubicBezTo>
                      <a:pt x="-6058" y="693964"/>
                      <a:pt x="-23563" y="84364"/>
                      <a:pt x="122659" y="6105"/>
                    </a:cubicBezTo>
                    <a:cubicBezTo>
                      <a:pt x="268881" y="-72154"/>
                      <a:pt x="402745" y="623943"/>
                      <a:pt x="888778" y="834008"/>
                    </a:cubicBezTo>
                    <a:cubicBezTo>
                      <a:pt x="1374811" y="1044073"/>
                      <a:pt x="2206832" y="1155283"/>
                      <a:pt x="3038854" y="1266494"/>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TextBox 24">
                <a:extLst>
                  <a:ext uri="{FF2B5EF4-FFF2-40B4-BE49-F238E27FC236}">
                    <a16:creationId xmlns:a16="http://schemas.microsoft.com/office/drawing/2014/main" id="{A7C07E0C-B96F-0C15-70CA-9FB4EE743251}"/>
                  </a:ext>
                </a:extLst>
              </p:cNvPr>
              <p:cNvSpPr txBox="1"/>
              <p:nvPr/>
            </p:nvSpPr>
            <p:spPr>
              <a:xfrm>
                <a:off x="8367810" y="2366145"/>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Price</a:t>
                </a:r>
              </a:p>
            </p:txBody>
          </p:sp>
        </p:grpSp>
        <p:sp>
          <p:nvSpPr>
            <p:cNvPr id="4" name="TextBox 3">
              <a:extLst>
                <a:ext uri="{FF2B5EF4-FFF2-40B4-BE49-F238E27FC236}">
                  <a16:creationId xmlns:a16="http://schemas.microsoft.com/office/drawing/2014/main" id="{1263CA4F-1CC8-3B63-6CFD-7DF1C880E89A}"/>
                </a:ext>
              </a:extLst>
            </p:cNvPr>
            <p:cNvSpPr txBox="1"/>
            <p:nvPr/>
          </p:nvSpPr>
          <p:spPr>
            <a:xfrm>
              <a:off x="5205951" y="635354"/>
              <a:ext cx="1667876" cy="276999"/>
            </a:xfrm>
            <a:prstGeom prst="rect">
              <a:avLst/>
            </a:prstGeom>
            <a:noFill/>
          </p:spPr>
          <p:txBody>
            <a:bodyPr wrap="square">
              <a:spAutoFit/>
            </a:bodyPr>
            <a:lstStyle/>
            <a:p>
              <a:r>
                <a:rPr lang="en-US" sz="1200" dirty="0">
                  <a:cs typeface="Calibri" panose="020F0502020204030204" pitchFamily="34" charset="0"/>
                </a:rPr>
                <a:t>Price distribution set</a:t>
              </a:r>
              <a:r>
                <a:rPr lang="en-US" sz="1200" i="1" dirty="0">
                  <a:cs typeface="Calibri" panose="020F0502020204030204" pitchFamily="34" charset="0"/>
                </a:rPr>
                <a:t> L </a:t>
              </a:r>
            </a:p>
          </p:txBody>
        </p:sp>
        <p:sp>
          <p:nvSpPr>
            <p:cNvPr id="5" name="Freeform 4">
              <a:extLst>
                <a:ext uri="{FF2B5EF4-FFF2-40B4-BE49-F238E27FC236}">
                  <a16:creationId xmlns:a16="http://schemas.microsoft.com/office/drawing/2014/main" id="{25848A5F-116D-23DC-FC7C-5EC5166E3C02}"/>
                </a:ext>
              </a:extLst>
            </p:cNvPr>
            <p:cNvSpPr/>
            <p:nvPr/>
          </p:nvSpPr>
          <p:spPr>
            <a:xfrm>
              <a:off x="5715000" y="918629"/>
              <a:ext cx="2917371" cy="1214971"/>
            </a:xfrm>
            <a:custGeom>
              <a:avLst/>
              <a:gdLst>
                <a:gd name="connsiteX0" fmla="*/ 0 w 2917371"/>
                <a:gd name="connsiteY0" fmla="*/ 1138771 h 1214971"/>
                <a:gd name="connsiteX1" fmla="*/ 990600 w 2917371"/>
                <a:gd name="connsiteY1" fmla="*/ 746885 h 1214971"/>
                <a:gd name="connsiteX2" fmla="*/ 1850571 w 2917371"/>
                <a:gd name="connsiteY2" fmla="*/ 6657 h 1214971"/>
                <a:gd name="connsiteX3" fmla="*/ 2917371 w 2917371"/>
                <a:gd name="connsiteY3" fmla="*/ 1214971 h 1214971"/>
              </a:gdLst>
              <a:ahLst/>
              <a:cxnLst>
                <a:cxn ang="0">
                  <a:pos x="connsiteX0" y="connsiteY0"/>
                </a:cxn>
                <a:cxn ang="0">
                  <a:pos x="connsiteX1" y="connsiteY1"/>
                </a:cxn>
                <a:cxn ang="0">
                  <a:pos x="connsiteX2" y="connsiteY2"/>
                </a:cxn>
                <a:cxn ang="0">
                  <a:pos x="connsiteX3" y="connsiteY3"/>
                </a:cxn>
              </a:cxnLst>
              <a:rect l="l" t="t" r="r" b="b"/>
              <a:pathLst>
                <a:path w="2917371" h="1214971">
                  <a:moveTo>
                    <a:pt x="0" y="1138771"/>
                  </a:moveTo>
                  <a:cubicBezTo>
                    <a:pt x="341086" y="1037171"/>
                    <a:pt x="682172" y="935571"/>
                    <a:pt x="990600" y="746885"/>
                  </a:cubicBezTo>
                  <a:cubicBezTo>
                    <a:pt x="1299028" y="558199"/>
                    <a:pt x="1529443" y="-71357"/>
                    <a:pt x="1850571" y="6657"/>
                  </a:cubicBezTo>
                  <a:cubicBezTo>
                    <a:pt x="2171700" y="84671"/>
                    <a:pt x="2544535" y="649821"/>
                    <a:pt x="2917371" y="1214971"/>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7AA39207-8D07-5168-9D89-566846AA1F66}"/>
              </a:ext>
            </a:extLst>
          </p:cNvPr>
          <p:cNvSpPr/>
          <p:nvPr/>
        </p:nvSpPr>
        <p:spPr>
          <a:xfrm>
            <a:off x="198220" y="966368"/>
            <a:ext cx="3880385" cy="307777"/>
          </a:xfrm>
          <a:prstGeom prst="rect">
            <a:avLst/>
          </a:prstGeom>
        </p:spPr>
        <p:txBody>
          <a:bodyPr wrap="square">
            <a:spAutoFit/>
          </a:bodyPr>
          <a:lstStyle/>
          <a:p>
            <a:pPr eaLnBrk="1" fontAlgn="auto" hangingPunct="1">
              <a:spcBef>
                <a:spcPts val="0"/>
              </a:spcBef>
              <a:spcAft>
                <a:spcPts val="0"/>
              </a:spcAft>
              <a:defRPr/>
            </a:pPr>
            <a:r>
              <a:rPr lang="en-US" altLang="zh-CN" sz="1400" dirty="0">
                <a:cs typeface="Calibri" panose="020F0502020204030204" pitchFamily="34" charset="0"/>
              </a:rPr>
              <a:t>Demand model:</a:t>
            </a:r>
          </a:p>
        </p:txBody>
      </p:sp>
      <p:sp>
        <p:nvSpPr>
          <p:cNvPr id="17" name="Rectangle 16">
            <a:extLst>
              <a:ext uri="{FF2B5EF4-FFF2-40B4-BE49-F238E27FC236}">
                <a16:creationId xmlns:a16="http://schemas.microsoft.com/office/drawing/2014/main" id="{0DB485B4-1D88-7238-BEDD-012864011B10}"/>
              </a:ext>
            </a:extLst>
          </p:cNvPr>
          <p:cNvSpPr/>
          <p:nvPr/>
        </p:nvSpPr>
        <p:spPr>
          <a:xfrm>
            <a:off x="3337990" y="1167708"/>
            <a:ext cx="546008" cy="508426"/>
          </a:xfrm>
          <a:prstGeom prst="rect">
            <a:avLst/>
          </a:prstGeom>
          <a:solidFill>
            <a:schemeClr val="accent2">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9A2F13B8-E096-D6FC-92D6-AE1AF0A1385B}"/>
              </a:ext>
            </a:extLst>
          </p:cNvPr>
          <p:cNvSpPr/>
          <p:nvPr/>
        </p:nvSpPr>
        <p:spPr>
          <a:xfrm>
            <a:off x="2590894" y="1167708"/>
            <a:ext cx="546008" cy="508426"/>
          </a:xfrm>
          <a:prstGeom prst="rect">
            <a:avLst/>
          </a:prstGeom>
          <a:solidFill>
            <a:schemeClr val="accent3">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21" name="TextBox 20">
            <a:extLst>
              <a:ext uri="{FF2B5EF4-FFF2-40B4-BE49-F238E27FC236}">
                <a16:creationId xmlns:a16="http://schemas.microsoft.com/office/drawing/2014/main" id="{AB348BCE-2DDD-573D-5F44-7E7474F18EB2}"/>
              </a:ext>
            </a:extLst>
          </p:cNvPr>
          <p:cNvSpPr txBox="1"/>
          <p:nvPr/>
        </p:nvSpPr>
        <p:spPr>
          <a:xfrm>
            <a:off x="1933582" y="1578891"/>
            <a:ext cx="1894788" cy="307777"/>
          </a:xfrm>
          <a:prstGeom prst="rect">
            <a:avLst/>
          </a:prstGeom>
          <a:noFill/>
        </p:spPr>
        <p:txBody>
          <a:bodyPr wrap="square">
            <a:spAutoFit/>
          </a:bodyPr>
          <a:lstStyle/>
          <a:p>
            <a:r>
              <a:rPr lang="en-US" sz="1400" dirty="0">
                <a:solidFill>
                  <a:schemeClr val="accent3">
                    <a:lumMod val="75000"/>
                  </a:schemeClr>
                </a:solidFill>
                <a:cs typeface="Calibri" panose="020F0502020204030204" pitchFamily="34" charset="0"/>
              </a:rPr>
              <a:t>Quadratic State cost</a:t>
            </a:r>
            <a:r>
              <a:rPr lang="en-US" sz="1400" dirty="0">
                <a:solidFill>
                  <a:schemeClr val="accent3">
                    <a:lumMod val="75000"/>
                  </a:schemeClr>
                </a:solidFill>
                <a:latin typeface="Arial" panose="020B0604020202020204" pitchFamily="34" charset="0"/>
                <a:cs typeface="Calibri" panose="020F0502020204030204" pitchFamily="34" charset="0"/>
              </a:rPr>
              <a:t> </a:t>
            </a:r>
            <a:endParaRPr lang="en-US" sz="1400" dirty="0">
              <a:solidFill>
                <a:schemeClr val="accent3">
                  <a:lumMod val="75000"/>
                </a:schemeClr>
              </a:solidFill>
              <a:cs typeface="Calibri" panose="020F0502020204030204" pitchFamily="34" charset="0"/>
            </a:endParaRPr>
          </a:p>
        </p:txBody>
      </p:sp>
      <p:sp>
        <p:nvSpPr>
          <p:cNvPr id="22" name="Rectangle 21">
            <a:extLst>
              <a:ext uri="{FF2B5EF4-FFF2-40B4-BE49-F238E27FC236}">
                <a16:creationId xmlns:a16="http://schemas.microsoft.com/office/drawing/2014/main" id="{07924A9C-DF6B-1982-DA9D-9E22098F9DF3}"/>
              </a:ext>
            </a:extLst>
          </p:cNvPr>
          <p:cNvSpPr/>
          <p:nvPr/>
        </p:nvSpPr>
        <p:spPr>
          <a:xfrm>
            <a:off x="4254350" y="1603321"/>
            <a:ext cx="654528" cy="7959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AB12435-9B53-AC47-E965-42DA62284665}"/>
              </a:ext>
            </a:extLst>
          </p:cNvPr>
          <p:cNvSpPr txBox="1"/>
          <p:nvPr/>
        </p:nvSpPr>
        <p:spPr>
          <a:xfrm>
            <a:off x="2686838" y="909382"/>
            <a:ext cx="1813625" cy="307777"/>
          </a:xfrm>
          <a:prstGeom prst="rect">
            <a:avLst/>
          </a:prstGeom>
          <a:noFill/>
        </p:spPr>
        <p:txBody>
          <a:bodyPr wrap="square">
            <a:spAutoFit/>
          </a:bodyPr>
          <a:lstStyle/>
          <a:p>
            <a:r>
              <a:rPr lang="en-US" sz="1400" dirty="0">
                <a:solidFill>
                  <a:schemeClr val="accent2">
                    <a:lumMod val="75000"/>
                  </a:schemeClr>
                </a:solidFill>
                <a:cs typeface="Calibri" panose="020F0502020204030204" pitchFamily="34" charset="0"/>
              </a:rPr>
              <a:t>Quadratic action cost</a:t>
            </a:r>
            <a:r>
              <a:rPr lang="en-US" sz="1400" dirty="0">
                <a:solidFill>
                  <a:schemeClr val="accent2">
                    <a:lumMod val="75000"/>
                  </a:schemeClr>
                </a:solidFill>
                <a:latin typeface="Arial" panose="020B0604020202020204" pitchFamily="34" charset="0"/>
                <a:cs typeface="Calibri" panose="020F0502020204030204" pitchFamily="34" charset="0"/>
              </a:rPr>
              <a:t> </a:t>
            </a:r>
            <a:endParaRPr lang="en-US" sz="1400" dirty="0">
              <a:solidFill>
                <a:schemeClr val="accent2">
                  <a:lumMod val="75000"/>
                </a:schemeClr>
              </a:solidFill>
              <a:cs typeface="Calibri" panose="020F0502020204030204" pitchFamily="34" charset="0"/>
            </a:endParaRPr>
          </a:p>
        </p:txBody>
      </p:sp>
      <p:sp>
        <p:nvSpPr>
          <p:cNvPr id="24" name="Rectangle 23">
            <a:extLst>
              <a:ext uri="{FF2B5EF4-FFF2-40B4-BE49-F238E27FC236}">
                <a16:creationId xmlns:a16="http://schemas.microsoft.com/office/drawing/2014/main" id="{CB1B1A75-92CA-EAAD-E0C7-D59927EC0BBF}"/>
              </a:ext>
            </a:extLst>
          </p:cNvPr>
          <p:cNvSpPr/>
          <p:nvPr/>
        </p:nvSpPr>
        <p:spPr>
          <a:xfrm>
            <a:off x="4050770" y="1165636"/>
            <a:ext cx="546008" cy="508426"/>
          </a:xfrm>
          <a:prstGeom prst="rect">
            <a:avLst/>
          </a:prstGeom>
          <a:solidFill>
            <a:schemeClr val="accent4">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dirty="0"/>
          </a:p>
        </p:txBody>
      </p:sp>
      <p:sp>
        <p:nvSpPr>
          <p:cNvPr id="25" name="TextBox 26">
            <a:extLst>
              <a:ext uri="{FF2B5EF4-FFF2-40B4-BE49-F238E27FC236}">
                <a16:creationId xmlns:a16="http://schemas.microsoft.com/office/drawing/2014/main" id="{91760B0F-DBB3-8473-0B4D-DD88B2D6D782}"/>
              </a:ext>
            </a:extLst>
          </p:cNvPr>
          <p:cNvSpPr txBox="1"/>
          <p:nvPr/>
        </p:nvSpPr>
        <p:spPr>
          <a:xfrm>
            <a:off x="3776274" y="1665115"/>
            <a:ext cx="1184822" cy="523220"/>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400" dirty="0">
                <a:solidFill>
                  <a:schemeClr val="accent4">
                    <a:lumMod val="75000"/>
                  </a:schemeClr>
                </a:solidFill>
                <a:cs typeface="Calibri" panose="020F0502020204030204" pitchFamily="34" charset="0"/>
              </a:rPr>
              <a:t>Set end value function to 0</a:t>
            </a:r>
          </a:p>
        </p:txBody>
      </p:sp>
      <p:cxnSp>
        <p:nvCxnSpPr>
          <p:cNvPr id="31" name="Straight Connector 30">
            <a:extLst>
              <a:ext uri="{FF2B5EF4-FFF2-40B4-BE49-F238E27FC236}">
                <a16:creationId xmlns:a16="http://schemas.microsoft.com/office/drawing/2014/main" id="{CBABF7F1-2EEB-F990-4459-3E401FAEE74F}"/>
              </a:ext>
            </a:extLst>
          </p:cNvPr>
          <p:cNvCxnSpPr/>
          <p:nvPr/>
        </p:nvCxnSpPr>
        <p:spPr>
          <a:xfrm>
            <a:off x="7183517" y="919335"/>
            <a:ext cx="0" cy="1839509"/>
          </a:xfrm>
          <a:prstGeom prst="line">
            <a:avLst/>
          </a:prstGeom>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E514DEE5-AA22-4EA3-5DE6-33BBB047965C}"/>
              </a:ext>
            </a:extLst>
          </p:cNvPr>
          <p:cNvSpPr txBox="1"/>
          <p:nvPr/>
        </p:nvSpPr>
        <p:spPr>
          <a:xfrm>
            <a:off x="6908366" y="597281"/>
            <a:ext cx="1453696" cy="276999"/>
          </a:xfrm>
          <a:prstGeom prst="rect">
            <a:avLst/>
          </a:prstGeom>
          <a:noFill/>
        </p:spPr>
        <p:txBody>
          <a:bodyPr wrap="square">
            <a:spAutoFit/>
          </a:bodyPr>
          <a:lstStyle/>
          <a:p>
            <a:r>
              <a:rPr lang="en-US" sz="1200" dirty="0">
                <a:cs typeface="Calibri" panose="020F0502020204030204" pitchFamily="34" charset="0"/>
              </a:rPr>
              <a:t>Same expectation</a:t>
            </a:r>
          </a:p>
        </p:txBody>
      </p:sp>
      <p:sp>
        <p:nvSpPr>
          <p:cNvPr id="34" name="Rectangle 33">
            <a:extLst>
              <a:ext uri="{FF2B5EF4-FFF2-40B4-BE49-F238E27FC236}">
                <a16:creationId xmlns:a16="http://schemas.microsoft.com/office/drawing/2014/main" id="{8E97CB8B-6E1C-7274-5622-CE79043E56E3}"/>
              </a:ext>
            </a:extLst>
          </p:cNvPr>
          <p:cNvSpPr/>
          <p:nvPr/>
        </p:nvSpPr>
        <p:spPr>
          <a:xfrm>
            <a:off x="228600" y="3261603"/>
            <a:ext cx="4507906" cy="553998"/>
          </a:xfrm>
          <a:prstGeom prst="rect">
            <a:avLst/>
          </a:prstGeom>
        </p:spPr>
        <p:txBody>
          <a:bodyPr wrap="square">
            <a:spAutoFit/>
          </a:bodyPr>
          <a:lstStyle/>
          <a:p>
            <a:pPr eaLnBrk="1" fontAlgn="auto" hangingPunct="1">
              <a:spcBef>
                <a:spcPts val="0"/>
              </a:spcBef>
              <a:spcAft>
                <a:spcPts val="0"/>
              </a:spcAft>
              <a:defRPr/>
            </a:pPr>
            <a:r>
              <a:rPr lang="en-US" altLang="zh-CN" sz="1600" b="1" dirty="0">
                <a:solidFill>
                  <a:srgbClr val="C00000"/>
                </a:solidFill>
                <a:latin typeface="+mn-lt"/>
                <a:ea typeface="+mn-ea"/>
              </a:rPr>
              <a:t>Theorem</a:t>
            </a:r>
            <a:r>
              <a:rPr lang="en-US" altLang="zh-CN" sz="1600" dirty="0">
                <a:latin typeface="+mn-lt"/>
                <a:ea typeface="+mn-ea"/>
              </a:rPr>
              <a:t> - </a:t>
            </a:r>
            <a:r>
              <a:rPr lang="en-US" altLang="zh-CN" sz="1400" b="1" dirty="0">
                <a:latin typeface="+mn-lt"/>
                <a:ea typeface="+mn-ea"/>
              </a:rPr>
              <a:t>The demand model at time t-1 is </a:t>
            </a:r>
          </a:p>
          <a:p>
            <a:pPr eaLnBrk="1" fontAlgn="auto" hangingPunct="1">
              <a:spcBef>
                <a:spcPts val="0"/>
              </a:spcBef>
              <a:spcAft>
                <a:spcPts val="0"/>
              </a:spcAft>
              <a:defRPr/>
            </a:pPr>
            <a:r>
              <a:rPr lang="en-US" altLang="zh-CN" sz="1400" b="1" dirty="0">
                <a:latin typeface="+mn-lt"/>
                <a:ea typeface="+mn-ea"/>
              </a:rPr>
              <a:t>distribution-insensitive to price distribution at time t</a:t>
            </a:r>
          </a:p>
        </p:txBody>
      </p:sp>
      <p:sp>
        <p:nvSpPr>
          <p:cNvPr id="35" name="Rectangle 34">
            <a:extLst>
              <a:ext uri="{FF2B5EF4-FFF2-40B4-BE49-F238E27FC236}">
                <a16:creationId xmlns:a16="http://schemas.microsoft.com/office/drawing/2014/main" id="{8DAE8B39-1A15-52D8-1E49-15680CF69416}"/>
              </a:ext>
            </a:extLst>
          </p:cNvPr>
          <p:cNvSpPr/>
          <p:nvPr/>
        </p:nvSpPr>
        <p:spPr>
          <a:xfrm>
            <a:off x="4939009" y="4069081"/>
            <a:ext cx="1308631" cy="508426"/>
          </a:xfrm>
          <a:prstGeom prst="rect">
            <a:avLst/>
          </a:prstGeom>
          <a:solidFill>
            <a:schemeClr val="accent4">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dirty="0"/>
          </a:p>
        </p:txBody>
      </p:sp>
      <p:sp>
        <p:nvSpPr>
          <p:cNvPr id="36" name="TextBox 26">
            <a:extLst>
              <a:ext uri="{FF2B5EF4-FFF2-40B4-BE49-F238E27FC236}">
                <a16:creationId xmlns:a16="http://schemas.microsoft.com/office/drawing/2014/main" id="{8E2CF5DB-85AB-ADA5-C6A1-D09B0232BF04}"/>
              </a:ext>
            </a:extLst>
          </p:cNvPr>
          <p:cNvSpPr txBox="1"/>
          <p:nvPr/>
        </p:nvSpPr>
        <p:spPr>
          <a:xfrm>
            <a:off x="6687206" y="4072048"/>
            <a:ext cx="2410137" cy="523220"/>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400" dirty="0">
                <a:solidFill>
                  <a:schemeClr val="accent4">
                    <a:lumMod val="75000"/>
                  </a:schemeClr>
                </a:solidFill>
                <a:cs typeface="Calibri" panose="020F0502020204030204" pitchFamily="34" charset="0"/>
              </a:rPr>
              <a:t>Value function with different uncertainty distribution</a:t>
            </a:r>
          </a:p>
        </p:txBody>
      </p:sp>
      <p:sp>
        <p:nvSpPr>
          <p:cNvPr id="37" name="Right Arrow 36">
            <a:extLst>
              <a:ext uri="{FF2B5EF4-FFF2-40B4-BE49-F238E27FC236}">
                <a16:creationId xmlns:a16="http://schemas.microsoft.com/office/drawing/2014/main" id="{1B0089B9-E2A2-8868-FCAA-B5D4E0AC9D5E}"/>
              </a:ext>
            </a:extLst>
          </p:cNvPr>
          <p:cNvSpPr/>
          <p:nvPr/>
        </p:nvSpPr>
        <p:spPr>
          <a:xfrm rot="8108164">
            <a:off x="4729495" y="3293905"/>
            <a:ext cx="486975" cy="62154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3B5893B-10AA-7CA9-2F74-63A3E44E0EEB}"/>
              </a:ext>
            </a:extLst>
          </p:cNvPr>
          <p:cNvSpPr/>
          <p:nvPr/>
        </p:nvSpPr>
        <p:spPr>
          <a:xfrm>
            <a:off x="1976434" y="4078417"/>
            <a:ext cx="644216" cy="508426"/>
          </a:xfrm>
          <a:prstGeom prst="rect">
            <a:avLst/>
          </a:prstGeom>
          <a:solidFill>
            <a:schemeClr val="accent2">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9FA9C039-B63C-A6FE-60B3-5586ACBF632E}"/>
              </a:ext>
            </a:extLst>
          </p:cNvPr>
          <p:cNvSpPr/>
          <p:nvPr/>
        </p:nvSpPr>
        <p:spPr>
          <a:xfrm>
            <a:off x="4264662" y="4070310"/>
            <a:ext cx="644216" cy="508426"/>
          </a:xfrm>
          <a:prstGeom prst="rect">
            <a:avLst/>
          </a:prstGeom>
          <a:solidFill>
            <a:schemeClr val="accent2">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85324E87-DF6B-00E1-11DB-2FDBD046B09F}"/>
              </a:ext>
            </a:extLst>
          </p:cNvPr>
          <p:cNvSpPr/>
          <p:nvPr/>
        </p:nvSpPr>
        <p:spPr>
          <a:xfrm>
            <a:off x="2659848" y="4069081"/>
            <a:ext cx="1299154" cy="508426"/>
          </a:xfrm>
          <a:prstGeom prst="rect">
            <a:avLst/>
          </a:prstGeom>
          <a:solidFill>
            <a:schemeClr val="accent4">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dirty="0"/>
          </a:p>
        </p:txBody>
      </p:sp>
      <p:cxnSp>
        <p:nvCxnSpPr>
          <p:cNvPr id="41" name="Straight Arrow Connector 40">
            <a:extLst>
              <a:ext uri="{FF2B5EF4-FFF2-40B4-BE49-F238E27FC236}">
                <a16:creationId xmlns:a16="http://schemas.microsoft.com/office/drawing/2014/main" id="{E4DD6DA7-272B-5223-C058-99361BF95C52}"/>
              </a:ext>
            </a:extLst>
          </p:cNvPr>
          <p:cNvCxnSpPr>
            <a:cxnSpLocks/>
          </p:cNvCxnSpPr>
          <p:nvPr/>
        </p:nvCxnSpPr>
        <p:spPr>
          <a:xfrm>
            <a:off x="5608369" y="3486150"/>
            <a:ext cx="31349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TextBox 24">
            <a:extLst>
              <a:ext uri="{FF2B5EF4-FFF2-40B4-BE49-F238E27FC236}">
                <a16:creationId xmlns:a16="http://schemas.microsoft.com/office/drawing/2014/main" id="{DD2FF915-C45C-62D6-B4B4-7AE8887C227D}"/>
              </a:ext>
            </a:extLst>
          </p:cNvPr>
          <p:cNvSpPr txBox="1"/>
          <p:nvPr/>
        </p:nvSpPr>
        <p:spPr>
          <a:xfrm>
            <a:off x="8504685" y="3514454"/>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Time</a:t>
            </a:r>
          </a:p>
        </p:txBody>
      </p:sp>
      <p:sp>
        <p:nvSpPr>
          <p:cNvPr id="44" name="TextBox 24">
            <a:extLst>
              <a:ext uri="{FF2B5EF4-FFF2-40B4-BE49-F238E27FC236}">
                <a16:creationId xmlns:a16="http://schemas.microsoft.com/office/drawing/2014/main" id="{750902B6-363D-A09A-7191-C1BE5864962C}"/>
              </a:ext>
            </a:extLst>
          </p:cNvPr>
          <p:cNvSpPr txBox="1"/>
          <p:nvPr/>
        </p:nvSpPr>
        <p:spPr>
          <a:xfrm>
            <a:off x="7541194" y="3742254"/>
            <a:ext cx="592656" cy="276999"/>
          </a:xfrm>
          <a:prstGeom prst="rect">
            <a:avLst/>
          </a:prstGeom>
          <a:noFill/>
          <a:ln>
            <a:noFill/>
          </a:ln>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t+1</a:t>
            </a:r>
          </a:p>
        </p:txBody>
      </p:sp>
      <p:cxnSp>
        <p:nvCxnSpPr>
          <p:cNvPr id="45" name="Straight Arrow Connector 44">
            <a:extLst>
              <a:ext uri="{FF2B5EF4-FFF2-40B4-BE49-F238E27FC236}">
                <a16:creationId xmlns:a16="http://schemas.microsoft.com/office/drawing/2014/main" id="{DF984111-33DF-7CE3-4CA8-AA85BB429E9D}"/>
              </a:ext>
            </a:extLst>
          </p:cNvPr>
          <p:cNvCxnSpPr>
            <a:cxnSpLocks/>
          </p:cNvCxnSpPr>
          <p:nvPr/>
        </p:nvCxnSpPr>
        <p:spPr>
          <a:xfrm>
            <a:off x="6115863" y="1215576"/>
            <a:ext cx="1526263" cy="1932481"/>
          </a:xfrm>
          <a:prstGeom prst="straightConnector1">
            <a:avLst/>
          </a:prstGeom>
          <a:ln w="19050">
            <a:solidFill>
              <a:srgbClr val="C00000"/>
            </a:solidFill>
            <a:tailEnd type="triangle"/>
          </a:ln>
        </p:spPr>
        <p:style>
          <a:lnRef idx="1">
            <a:schemeClr val="accent2"/>
          </a:lnRef>
          <a:fillRef idx="0">
            <a:schemeClr val="accent2"/>
          </a:fillRef>
          <a:effectRef idx="0">
            <a:schemeClr val="accent2"/>
          </a:effectRef>
          <a:fontRef idx="minor">
            <a:schemeClr val="tx1"/>
          </a:fontRef>
        </p:style>
      </p:cxnSp>
      <p:cxnSp>
        <p:nvCxnSpPr>
          <p:cNvPr id="46" name="Straight Arrow Connector 45">
            <a:extLst>
              <a:ext uri="{FF2B5EF4-FFF2-40B4-BE49-F238E27FC236}">
                <a16:creationId xmlns:a16="http://schemas.microsoft.com/office/drawing/2014/main" id="{2F09AB18-298B-7C59-58B8-E0604B3C8BDA}"/>
              </a:ext>
            </a:extLst>
          </p:cNvPr>
          <p:cNvCxnSpPr>
            <a:cxnSpLocks/>
          </p:cNvCxnSpPr>
          <p:nvPr/>
        </p:nvCxnSpPr>
        <p:spPr>
          <a:xfrm flipV="1">
            <a:off x="7727034" y="3229568"/>
            <a:ext cx="0" cy="433783"/>
          </a:xfrm>
          <a:prstGeom prst="straightConnector1">
            <a:avLst/>
          </a:prstGeom>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2" name="TextBox 24">
            <a:extLst>
              <a:ext uri="{FF2B5EF4-FFF2-40B4-BE49-F238E27FC236}">
                <a16:creationId xmlns:a16="http://schemas.microsoft.com/office/drawing/2014/main" id="{2B0F2888-745F-7C3A-0B3D-3CBF30A8451C}"/>
              </a:ext>
            </a:extLst>
          </p:cNvPr>
          <p:cNvSpPr txBox="1"/>
          <p:nvPr/>
        </p:nvSpPr>
        <p:spPr>
          <a:xfrm>
            <a:off x="6926056" y="3733535"/>
            <a:ext cx="448675" cy="276999"/>
          </a:xfrm>
          <a:prstGeom prst="rect">
            <a:avLst/>
          </a:prstGeom>
          <a:noFill/>
          <a:ln>
            <a:noFill/>
          </a:ln>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t</a:t>
            </a:r>
          </a:p>
        </p:txBody>
      </p:sp>
      <p:pic>
        <p:nvPicPr>
          <p:cNvPr id="53" name="Graphic 52" descr="Battery charging with solid fill">
            <a:extLst>
              <a:ext uri="{FF2B5EF4-FFF2-40B4-BE49-F238E27FC236}">
                <a16:creationId xmlns:a16="http://schemas.microsoft.com/office/drawing/2014/main" id="{C9741C0D-896F-08F8-480E-9960BA0E1AD5}"/>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6799891" y="3137256"/>
            <a:ext cx="652168" cy="652168"/>
          </a:xfrm>
          <a:prstGeom prst="rect">
            <a:avLst/>
          </a:prstGeom>
        </p:spPr>
      </p:pic>
      <p:sp>
        <p:nvSpPr>
          <p:cNvPr id="56" name="TextBox 55">
            <a:extLst>
              <a:ext uri="{FF2B5EF4-FFF2-40B4-BE49-F238E27FC236}">
                <a16:creationId xmlns:a16="http://schemas.microsoft.com/office/drawing/2014/main" id="{DF182A83-D12C-1C33-3DBD-D48F1A9C5348}"/>
              </a:ext>
            </a:extLst>
          </p:cNvPr>
          <p:cNvSpPr txBox="1"/>
          <p:nvPr/>
        </p:nvSpPr>
        <p:spPr>
          <a:xfrm>
            <a:off x="6480939" y="3018326"/>
            <a:ext cx="1274467" cy="276999"/>
          </a:xfrm>
          <a:prstGeom prst="rect">
            <a:avLst/>
          </a:prstGeom>
          <a:noFill/>
        </p:spPr>
        <p:txBody>
          <a:bodyPr wrap="square">
            <a:spAutoFit/>
          </a:bodyPr>
          <a:lstStyle/>
          <a:p>
            <a:r>
              <a:rPr lang="en-US" sz="1200" dirty="0">
                <a:cs typeface="Calibri" panose="020F0502020204030204" pitchFamily="34" charset="0"/>
              </a:rPr>
              <a:t>Demand model</a:t>
            </a:r>
          </a:p>
        </p:txBody>
      </p:sp>
      <p:sp>
        <p:nvSpPr>
          <p:cNvPr id="58" name="Rectangle 57">
            <a:extLst>
              <a:ext uri="{FF2B5EF4-FFF2-40B4-BE49-F238E27FC236}">
                <a16:creationId xmlns:a16="http://schemas.microsoft.com/office/drawing/2014/main" id="{D5276330-B259-255C-6A63-12C7E9B504F1}"/>
              </a:ext>
            </a:extLst>
          </p:cNvPr>
          <p:cNvSpPr/>
          <p:nvPr/>
        </p:nvSpPr>
        <p:spPr>
          <a:xfrm>
            <a:off x="200169" y="923267"/>
            <a:ext cx="4814051" cy="2118701"/>
          </a:xfrm>
          <a:prstGeom prst="rect">
            <a:avLst/>
          </a:prstGeom>
          <a:solidFill>
            <a:schemeClr val="tx2">
              <a:lumMod val="40000"/>
              <a:lumOff val="6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59" name="TextBox 58">
            <a:extLst>
              <a:ext uri="{FF2B5EF4-FFF2-40B4-BE49-F238E27FC236}">
                <a16:creationId xmlns:a16="http://schemas.microsoft.com/office/drawing/2014/main" id="{0B0F4C86-1776-EC51-CD88-7595011D66B8}"/>
              </a:ext>
            </a:extLst>
          </p:cNvPr>
          <p:cNvSpPr txBox="1"/>
          <p:nvPr/>
        </p:nvSpPr>
        <p:spPr>
          <a:xfrm>
            <a:off x="3747301" y="2716511"/>
            <a:ext cx="1454533" cy="319766"/>
          </a:xfrm>
          <a:prstGeom prst="rect">
            <a:avLst/>
          </a:prstGeom>
          <a:noFill/>
        </p:spPr>
        <p:txBody>
          <a:bodyPr wrap="square">
            <a:spAutoFit/>
          </a:bodyPr>
          <a:lstStyle/>
          <a:p>
            <a:r>
              <a:rPr lang="en-US" sz="1400" b="1" dirty="0">
                <a:solidFill>
                  <a:srgbClr val="C00000"/>
                </a:solidFill>
                <a:cs typeface="Calibri" panose="020F0502020204030204" pitchFamily="34" charset="0"/>
              </a:rPr>
              <a:t>Demand model</a:t>
            </a:r>
          </a:p>
        </p:txBody>
      </p:sp>
      <p:sp>
        <p:nvSpPr>
          <p:cNvPr id="61" name="TextBox 60">
            <a:extLst>
              <a:ext uri="{FF2B5EF4-FFF2-40B4-BE49-F238E27FC236}">
                <a16:creationId xmlns:a16="http://schemas.microsoft.com/office/drawing/2014/main" id="{6B4B11BC-E9EE-202C-A315-EFA90997BC1E}"/>
              </a:ext>
            </a:extLst>
          </p:cNvPr>
          <p:cNvSpPr txBox="1"/>
          <p:nvPr/>
        </p:nvSpPr>
        <p:spPr>
          <a:xfrm>
            <a:off x="5307256" y="2610322"/>
            <a:ext cx="1800839" cy="307777"/>
          </a:xfrm>
          <a:prstGeom prst="rect">
            <a:avLst/>
          </a:prstGeom>
          <a:noFill/>
        </p:spPr>
        <p:txBody>
          <a:bodyPr wrap="square">
            <a:spAutoFit/>
          </a:bodyPr>
          <a:lstStyle/>
          <a:p>
            <a:r>
              <a:rPr lang="en-US" sz="1400" b="1" dirty="0">
                <a:solidFill>
                  <a:srgbClr val="C00000"/>
                </a:solidFill>
                <a:cs typeface="Calibri" panose="020F0502020204030204" pitchFamily="34" charset="0"/>
              </a:rPr>
              <a:t>Price distribution</a:t>
            </a:r>
          </a:p>
        </p:txBody>
      </p:sp>
      <p:sp>
        <p:nvSpPr>
          <p:cNvPr id="63" name="TextBox 62">
            <a:extLst>
              <a:ext uri="{FF2B5EF4-FFF2-40B4-BE49-F238E27FC236}">
                <a16:creationId xmlns:a16="http://schemas.microsoft.com/office/drawing/2014/main" id="{DA761345-B8B4-3354-C134-86A487EC7011}"/>
              </a:ext>
            </a:extLst>
          </p:cNvPr>
          <p:cNvSpPr txBox="1"/>
          <p:nvPr/>
        </p:nvSpPr>
        <p:spPr>
          <a:xfrm>
            <a:off x="5332409" y="3648284"/>
            <a:ext cx="1277416" cy="307777"/>
          </a:xfrm>
          <a:prstGeom prst="rect">
            <a:avLst/>
          </a:prstGeom>
          <a:noFill/>
        </p:spPr>
        <p:txBody>
          <a:bodyPr wrap="square">
            <a:spAutoFit/>
          </a:bodyPr>
          <a:lstStyle/>
          <a:p>
            <a:r>
              <a:rPr lang="en-US" sz="1400" b="1" dirty="0">
                <a:solidFill>
                  <a:srgbClr val="C00000"/>
                </a:solidFill>
                <a:cs typeface="Calibri" panose="020F0502020204030204" pitchFamily="34" charset="0"/>
              </a:rPr>
              <a:t>Time domain </a:t>
            </a:r>
          </a:p>
        </p:txBody>
      </p:sp>
      <p:sp>
        <p:nvSpPr>
          <p:cNvPr id="32768" name="Rectangle 32767">
            <a:extLst>
              <a:ext uri="{FF2B5EF4-FFF2-40B4-BE49-F238E27FC236}">
                <a16:creationId xmlns:a16="http://schemas.microsoft.com/office/drawing/2014/main" id="{9E0DD678-E0A9-4C66-8EB5-B86A3BBB1887}"/>
              </a:ext>
            </a:extLst>
          </p:cNvPr>
          <p:cNvSpPr/>
          <p:nvPr/>
        </p:nvSpPr>
        <p:spPr>
          <a:xfrm>
            <a:off x="274208" y="3545612"/>
            <a:ext cx="1773334" cy="294208"/>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dk1"/>
              </a:solidFill>
            </a:endParaRPr>
          </a:p>
        </p:txBody>
      </p:sp>
      <p:sp>
        <p:nvSpPr>
          <p:cNvPr id="32774" name="Rectangle 32773">
            <a:extLst>
              <a:ext uri="{FF2B5EF4-FFF2-40B4-BE49-F238E27FC236}">
                <a16:creationId xmlns:a16="http://schemas.microsoft.com/office/drawing/2014/main" id="{72CACA2C-51F4-CB31-0A3F-81E05CF7DBD0}"/>
              </a:ext>
            </a:extLst>
          </p:cNvPr>
          <p:cNvSpPr/>
          <p:nvPr/>
        </p:nvSpPr>
        <p:spPr>
          <a:xfrm>
            <a:off x="1544072" y="3225952"/>
            <a:ext cx="1142766" cy="292605"/>
          </a:xfrm>
          <a:prstGeom prst="rect">
            <a:avLst/>
          </a:prstGeom>
          <a:solidFill>
            <a:schemeClr val="accent1">
              <a:lumMod val="60000"/>
              <a:lumOff val="4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32775" name="Rectangle 32774">
            <a:extLst>
              <a:ext uri="{FF2B5EF4-FFF2-40B4-BE49-F238E27FC236}">
                <a16:creationId xmlns:a16="http://schemas.microsoft.com/office/drawing/2014/main" id="{109EAD0D-1C97-3F6D-C1D2-405D5FC91722}"/>
              </a:ext>
            </a:extLst>
          </p:cNvPr>
          <p:cNvSpPr/>
          <p:nvPr/>
        </p:nvSpPr>
        <p:spPr>
          <a:xfrm>
            <a:off x="2229397" y="3545612"/>
            <a:ext cx="1299154" cy="294208"/>
          </a:xfrm>
          <a:prstGeom prst="rect">
            <a:avLst/>
          </a:prstGeom>
          <a:solidFill>
            <a:schemeClr val="accent1">
              <a:lumMod val="60000"/>
              <a:lumOff val="4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32776" name="Rectangle 32775">
            <a:extLst>
              <a:ext uri="{FF2B5EF4-FFF2-40B4-BE49-F238E27FC236}">
                <a16:creationId xmlns:a16="http://schemas.microsoft.com/office/drawing/2014/main" id="{72CACA2C-51F4-CB31-0A3F-81E05CF7DBD0}"/>
              </a:ext>
            </a:extLst>
          </p:cNvPr>
          <p:cNvSpPr/>
          <p:nvPr/>
        </p:nvSpPr>
        <p:spPr>
          <a:xfrm>
            <a:off x="2846516" y="3228465"/>
            <a:ext cx="617972" cy="299555"/>
          </a:xfrm>
          <a:prstGeom prst="rect">
            <a:avLst/>
          </a:prstGeom>
          <a:solidFill>
            <a:schemeClr val="accent1">
              <a:lumMod val="60000"/>
              <a:lumOff val="4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dirty="0">
              <a:solidFill>
                <a:schemeClr val="accent3">
                  <a:lumMod val="75000"/>
                </a:schemeClr>
              </a:solidFill>
            </a:endParaRPr>
          </a:p>
        </p:txBody>
      </p:sp>
      <p:sp>
        <p:nvSpPr>
          <p:cNvPr id="32777" name="Rectangle 32776">
            <a:extLst>
              <a:ext uri="{FF2B5EF4-FFF2-40B4-BE49-F238E27FC236}">
                <a16:creationId xmlns:a16="http://schemas.microsoft.com/office/drawing/2014/main" id="{56446B29-0C5E-4D1A-22B9-9CD7C0728A0C}"/>
              </a:ext>
            </a:extLst>
          </p:cNvPr>
          <p:cNvSpPr/>
          <p:nvPr/>
        </p:nvSpPr>
        <p:spPr>
          <a:xfrm>
            <a:off x="3716939" y="3533112"/>
            <a:ext cx="547723" cy="299555"/>
          </a:xfrm>
          <a:prstGeom prst="rect">
            <a:avLst/>
          </a:prstGeom>
          <a:solidFill>
            <a:schemeClr val="accent1">
              <a:lumMod val="60000"/>
              <a:lumOff val="4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dirty="0">
              <a:solidFill>
                <a:schemeClr val="accent3">
                  <a:lumMod val="75000"/>
                </a:schemeClr>
              </a:solidFill>
            </a:endParaRPr>
          </a:p>
        </p:txBody>
      </p:sp>
    </p:spTree>
    <p:extLst>
      <p:ext uri="{BB962C8B-B14F-4D97-AF65-F5344CB8AC3E}">
        <p14:creationId xmlns:p14="http://schemas.microsoft.com/office/powerpoint/2010/main" val="4133357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dissolv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dissolve">
                                      <p:cBhvr>
                                        <p:cTn id="15" dur="500"/>
                                        <p:tgtEl>
                                          <p:spTgt spid="21"/>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dissolve">
                                      <p:cBhvr>
                                        <p:cTn id="18" dur="500"/>
                                        <p:tgtEl>
                                          <p:spTgt spid="18"/>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dissolve">
                                      <p:cBhvr>
                                        <p:cTn id="21" dur="500"/>
                                        <p:tgtEl>
                                          <p:spTgt spid="17"/>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dissolve">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dissolve">
                                      <p:cBhvr>
                                        <p:cTn id="29" dur="500"/>
                                        <p:tgtEl>
                                          <p:spTgt spid="8"/>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dissolv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dissolve">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dissolve">
                                      <p:cBhvr>
                                        <p:cTn id="42" dur="500"/>
                                        <p:tgtEl>
                                          <p:spTgt spid="31"/>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dissolve">
                                      <p:cBhvr>
                                        <p:cTn id="45" dur="500"/>
                                        <p:tgtEl>
                                          <p:spTgt spid="32"/>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dissolve">
                                      <p:cBhvr>
                                        <p:cTn id="50" dur="500"/>
                                        <p:tgtEl>
                                          <p:spTgt spid="43"/>
                                        </p:tgtEl>
                                      </p:cBhvr>
                                    </p:animEffect>
                                  </p:childTnLst>
                                </p:cTn>
                              </p:par>
                              <p:par>
                                <p:cTn id="51" presetID="9" presetClass="entr" presetSubtype="0"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dissolve">
                                      <p:cBhvr>
                                        <p:cTn id="53" dur="500"/>
                                        <p:tgtEl>
                                          <p:spTgt spid="41"/>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nodeType="click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dissolve">
                                      <p:cBhvr>
                                        <p:cTn id="58" dur="500"/>
                                        <p:tgtEl>
                                          <p:spTgt spid="46"/>
                                        </p:tgtEl>
                                      </p:cBhvr>
                                    </p:animEffect>
                                  </p:childTnLst>
                                </p:cTn>
                              </p:par>
                              <p:par>
                                <p:cTn id="59" presetID="9" presetClass="entr" presetSubtype="0" fill="hold" nodeType="withEffect">
                                  <p:stCondLst>
                                    <p:cond delay="0"/>
                                  </p:stCondLst>
                                  <p:childTnLst>
                                    <p:set>
                                      <p:cBhvr>
                                        <p:cTn id="60" dur="1" fill="hold">
                                          <p:stCondLst>
                                            <p:cond delay="0"/>
                                          </p:stCondLst>
                                        </p:cTn>
                                        <p:tgtEl>
                                          <p:spTgt spid="45"/>
                                        </p:tgtEl>
                                        <p:attrNameLst>
                                          <p:attrName>style.visibility</p:attrName>
                                        </p:attrNameLst>
                                      </p:cBhvr>
                                      <p:to>
                                        <p:strVal val="visible"/>
                                      </p:to>
                                    </p:set>
                                    <p:animEffect transition="in" filter="dissolve">
                                      <p:cBhvr>
                                        <p:cTn id="61" dur="500"/>
                                        <p:tgtEl>
                                          <p:spTgt spid="45"/>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dissolve">
                                      <p:cBhvr>
                                        <p:cTn id="64" dur="500"/>
                                        <p:tgtEl>
                                          <p:spTgt spid="44"/>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53"/>
                                        </p:tgtEl>
                                        <p:attrNameLst>
                                          <p:attrName>style.visibility</p:attrName>
                                        </p:attrNameLst>
                                      </p:cBhvr>
                                      <p:to>
                                        <p:strVal val="visible"/>
                                      </p:to>
                                    </p:set>
                                    <p:animEffect transition="in" filter="dissolve">
                                      <p:cBhvr>
                                        <p:cTn id="69" dur="500"/>
                                        <p:tgtEl>
                                          <p:spTgt spid="53"/>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52"/>
                                        </p:tgtEl>
                                        <p:attrNameLst>
                                          <p:attrName>style.visibility</p:attrName>
                                        </p:attrNameLst>
                                      </p:cBhvr>
                                      <p:to>
                                        <p:strVal val="visible"/>
                                      </p:to>
                                    </p:set>
                                    <p:animEffect transition="in" filter="dissolve">
                                      <p:cBhvr>
                                        <p:cTn id="72" dur="500"/>
                                        <p:tgtEl>
                                          <p:spTgt spid="52"/>
                                        </p:tgtEl>
                                      </p:cBhvr>
                                    </p:animEffect>
                                  </p:childTnLst>
                                </p:cTn>
                              </p:par>
                              <p:par>
                                <p:cTn id="73" presetID="9" presetClass="entr" presetSubtype="0" fill="hold" grpId="1" nodeType="withEffect">
                                  <p:stCondLst>
                                    <p:cond delay="0"/>
                                  </p:stCondLst>
                                  <p:childTnLst>
                                    <p:set>
                                      <p:cBhvr>
                                        <p:cTn id="74" dur="1" fill="hold">
                                          <p:stCondLst>
                                            <p:cond delay="0"/>
                                          </p:stCondLst>
                                        </p:cTn>
                                        <p:tgtEl>
                                          <p:spTgt spid="56"/>
                                        </p:tgtEl>
                                        <p:attrNameLst>
                                          <p:attrName>style.visibility</p:attrName>
                                        </p:attrNameLst>
                                      </p:cBhvr>
                                      <p:to>
                                        <p:strVal val="visible"/>
                                      </p:to>
                                    </p:set>
                                    <p:animEffect transition="in" filter="dissolve">
                                      <p:cBhvr>
                                        <p:cTn id="75" dur="500"/>
                                        <p:tgtEl>
                                          <p:spTgt spid="56"/>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37"/>
                                        </p:tgtEl>
                                        <p:attrNameLst>
                                          <p:attrName>style.visibility</p:attrName>
                                        </p:attrNameLst>
                                      </p:cBhvr>
                                      <p:to>
                                        <p:strVal val="visible"/>
                                      </p:to>
                                    </p:set>
                                    <p:animEffect transition="in" filter="dissolve">
                                      <p:cBhvr>
                                        <p:cTn id="80" dur="500"/>
                                        <p:tgtEl>
                                          <p:spTgt spid="37"/>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dissolve">
                                      <p:cBhvr>
                                        <p:cTn id="83" dur="500"/>
                                        <p:tgtEl>
                                          <p:spTgt spid="34"/>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59"/>
                                        </p:tgtEl>
                                        <p:attrNameLst>
                                          <p:attrName>style.visibility</p:attrName>
                                        </p:attrNameLst>
                                      </p:cBhvr>
                                      <p:to>
                                        <p:strVal val="visible"/>
                                      </p:to>
                                    </p:set>
                                    <p:animEffect transition="in" filter="dissolve">
                                      <p:cBhvr>
                                        <p:cTn id="88" dur="500"/>
                                        <p:tgtEl>
                                          <p:spTgt spid="59"/>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dissolve">
                                      <p:cBhvr>
                                        <p:cTn id="91" dur="500"/>
                                        <p:tgtEl>
                                          <p:spTgt spid="58"/>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32774"/>
                                        </p:tgtEl>
                                        <p:attrNameLst>
                                          <p:attrName>style.visibility</p:attrName>
                                        </p:attrNameLst>
                                      </p:cBhvr>
                                      <p:to>
                                        <p:strVal val="visible"/>
                                      </p:to>
                                    </p:set>
                                    <p:animEffect transition="in" filter="dissolve">
                                      <p:cBhvr>
                                        <p:cTn id="94" dur="500"/>
                                        <p:tgtEl>
                                          <p:spTgt spid="32774"/>
                                        </p:tgtEl>
                                      </p:cBhvr>
                                    </p:animEffect>
                                  </p:childTnLst>
                                </p:cTn>
                              </p:par>
                            </p:childTnLst>
                          </p:cTn>
                        </p:par>
                      </p:childTnLst>
                    </p:cTn>
                  </p:par>
                  <p:par>
                    <p:cTn id="95" fill="hold">
                      <p:stCondLst>
                        <p:cond delay="indefinite"/>
                      </p:stCondLst>
                      <p:childTnLst>
                        <p:par>
                          <p:cTn id="96" fill="hold">
                            <p:stCondLst>
                              <p:cond delay="0"/>
                            </p:stCondLst>
                            <p:childTnLst>
                              <p:par>
                                <p:cTn id="97" presetID="9" presetClass="entr" presetSubtype="0" fill="hold" grpId="0" nodeType="clickEffect">
                                  <p:stCondLst>
                                    <p:cond delay="0"/>
                                  </p:stCondLst>
                                  <p:childTnLst>
                                    <p:set>
                                      <p:cBhvr>
                                        <p:cTn id="98" dur="1" fill="hold">
                                          <p:stCondLst>
                                            <p:cond delay="0"/>
                                          </p:stCondLst>
                                        </p:cTn>
                                        <p:tgtEl>
                                          <p:spTgt spid="60"/>
                                        </p:tgtEl>
                                        <p:attrNameLst>
                                          <p:attrName>style.visibility</p:attrName>
                                        </p:attrNameLst>
                                      </p:cBhvr>
                                      <p:to>
                                        <p:strVal val="visible"/>
                                      </p:to>
                                    </p:set>
                                    <p:animEffect transition="in" filter="dissolve">
                                      <p:cBhvr>
                                        <p:cTn id="99" dur="500"/>
                                        <p:tgtEl>
                                          <p:spTgt spid="60"/>
                                        </p:tgtEl>
                                      </p:cBhvr>
                                    </p:animEffect>
                                  </p:childTnLst>
                                </p:cTn>
                              </p:par>
                              <p:par>
                                <p:cTn id="100" presetID="9" presetClass="entr" presetSubtype="0" fill="hold" grpId="0" nodeType="withEffect">
                                  <p:stCondLst>
                                    <p:cond delay="0"/>
                                  </p:stCondLst>
                                  <p:childTnLst>
                                    <p:set>
                                      <p:cBhvr>
                                        <p:cTn id="101" dur="1" fill="hold">
                                          <p:stCondLst>
                                            <p:cond delay="0"/>
                                          </p:stCondLst>
                                        </p:cTn>
                                        <p:tgtEl>
                                          <p:spTgt spid="32775"/>
                                        </p:tgtEl>
                                        <p:attrNameLst>
                                          <p:attrName>style.visibility</p:attrName>
                                        </p:attrNameLst>
                                      </p:cBhvr>
                                      <p:to>
                                        <p:strVal val="visible"/>
                                      </p:to>
                                    </p:set>
                                    <p:animEffect transition="in" filter="dissolve">
                                      <p:cBhvr>
                                        <p:cTn id="102" dur="500"/>
                                        <p:tgtEl>
                                          <p:spTgt spid="32775"/>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61"/>
                                        </p:tgtEl>
                                        <p:attrNameLst>
                                          <p:attrName>style.visibility</p:attrName>
                                        </p:attrNameLst>
                                      </p:cBhvr>
                                      <p:to>
                                        <p:strVal val="visible"/>
                                      </p:to>
                                    </p:set>
                                    <p:animEffect transition="in" filter="dissolve">
                                      <p:cBhvr>
                                        <p:cTn id="105" dur="500"/>
                                        <p:tgtEl>
                                          <p:spTgt spid="61"/>
                                        </p:tgtEl>
                                      </p:cBhvr>
                                    </p:animEffect>
                                  </p:childTnLst>
                                </p:cTn>
                              </p:par>
                            </p:childTnLst>
                          </p:cTn>
                        </p:par>
                      </p:childTnLst>
                    </p:cTn>
                  </p:par>
                  <p:par>
                    <p:cTn id="106" fill="hold">
                      <p:stCondLst>
                        <p:cond delay="indefinite"/>
                      </p:stCondLst>
                      <p:childTnLst>
                        <p:par>
                          <p:cTn id="107" fill="hold">
                            <p:stCondLst>
                              <p:cond delay="0"/>
                            </p:stCondLst>
                            <p:childTnLst>
                              <p:par>
                                <p:cTn id="108" presetID="9" presetClass="entr" presetSubtype="0" fill="hold" grpId="0" nodeType="clickEffect">
                                  <p:stCondLst>
                                    <p:cond delay="0"/>
                                  </p:stCondLst>
                                  <p:childTnLst>
                                    <p:set>
                                      <p:cBhvr>
                                        <p:cTn id="109" dur="1" fill="hold">
                                          <p:stCondLst>
                                            <p:cond delay="0"/>
                                          </p:stCondLst>
                                        </p:cTn>
                                        <p:tgtEl>
                                          <p:spTgt spid="63"/>
                                        </p:tgtEl>
                                        <p:attrNameLst>
                                          <p:attrName>style.visibility</p:attrName>
                                        </p:attrNameLst>
                                      </p:cBhvr>
                                      <p:to>
                                        <p:strVal val="visible"/>
                                      </p:to>
                                    </p:set>
                                    <p:animEffect transition="in" filter="dissolve">
                                      <p:cBhvr>
                                        <p:cTn id="110" dur="500"/>
                                        <p:tgtEl>
                                          <p:spTgt spid="63"/>
                                        </p:tgtEl>
                                      </p:cBhvr>
                                    </p:animEffect>
                                  </p:childTnLst>
                                </p:cTn>
                              </p:par>
                              <p:par>
                                <p:cTn id="111" presetID="9" presetClass="entr" presetSubtype="0" fill="hold" grpId="0" nodeType="withEffect">
                                  <p:stCondLst>
                                    <p:cond delay="0"/>
                                  </p:stCondLst>
                                  <p:childTnLst>
                                    <p:set>
                                      <p:cBhvr>
                                        <p:cTn id="112" dur="1" fill="hold">
                                          <p:stCondLst>
                                            <p:cond delay="0"/>
                                          </p:stCondLst>
                                        </p:cTn>
                                        <p:tgtEl>
                                          <p:spTgt spid="32776"/>
                                        </p:tgtEl>
                                        <p:attrNameLst>
                                          <p:attrName>style.visibility</p:attrName>
                                        </p:attrNameLst>
                                      </p:cBhvr>
                                      <p:to>
                                        <p:strVal val="visible"/>
                                      </p:to>
                                    </p:set>
                                    <p:animEffect transition="in" filter="dissolve">
                                      <p:cBhvr>
                                        <p:cTn id="113" dur="500"/>
                                        <p:tgtEl>
                                          <p:spTgt spid="32776"/>
                                        </p:tgtEl>
                                      </p:cBhvr>
                                    </p:animEffect>
                                  </p:childTnLst>
                                </p:cTn>
                              </p:par>
                              <p:par>
                                <p:cTn id="114" presetID="9" presetClass="entr" presetSubtype="0" fill="hold" grpId="0" nodeType="withEffect">
                                  <p:stCondLst>
                                    <p:cond delay="0"/>
                                  </p:stCondLst>
                                  <p:childTnLst>
                                    <p:set>
                                      <p:cBhvr>
                                        <p:cTn id="115" dur="1" fill="hold">
                                          <p:stCondLst>
                                            <p:cond delay="0"/>
                                          </p:stCondLst>
                                        </p:cTn>
                                        <p:tgtEl>
                                          <p:spTgt spid="32777"/>
                                        </p:tgtEl>
                                        <p:attrNameLst>
                                          <p:attrName>style.visibility</p:attrName>
                                        </p:attrNameLst>
                                      </p:cBhvr>
                                      <p:to>
                                        <p:strVal val="visible"/>
                                      </p:to>
                                    </p:set>
                                    <p:animEffect transition="in" filter="dissolve">
                                      <p:cBhvr>
                                        <p:cTn id="116" dur="500"/>
                                        <p:tgtEl>
                                          <p:spTgt spid="32777"/>
                                        </p:tgtEl>
                                      </p:cBhvr>
                                    </p:animEffect>
                                  </p:childTnLst>
                                </p:cTn>
                              </p:par>
                              <p:par>
                                <p:cTn id="117" presetID="9" presetClass="entr" presetSubtype="0" fill="hold" grpId="0" nodeType="withEffect">
                                  <p:stCondLst>
                                    <p:cond delay="0"/>
                                  </p:stCondLst>
                                  <p:childTnLst>
                                    <p:set>
                                      <p:cBhvr>
                                        <p:cTn id="118" dur="1" fill="hold">
                                          <p:stCondLst>
                                            <p:cond delay="0"/>
                                          </p:stCondLst>
                                        </p:cTn>
                                        <p:tgtEl>
                                          <p:spTgt spid="62"/>
                                        </p:tgtEl>
                                        <p:attrNameLst>
                                          <p:attrName>style.visibility</p:attrName>
                                        </p:attrNameLst>
                                      </p:cBhvr>
                                      <p:to>
                                        <p:strVal val="visible"/>
                                      </p:to>
                                    </p:set>
                                    <p:animEffect transition="in" filter="dissolve">
                                      <p:cBhvr>
                                        <p:cTn id="119" dur="500"/>
                                        <p:tgtEl>
                                          <p:spTgt spid="62"/>
                                        </p:tgtEl>
                                      </p:cBhvr>
                                    </p:animEffect>
                                  </p:childTnLst>
                                </p:cTn>
                              </p:par>
                            </p:childTnLst>
                          </p:cTn>
                        </p:par>
                      </p:childTnLst>
                    </p:cTn>
                  </p:par>
                  <p:par>
                    <p:cTn id="120" fill="hold">
                      <p:stCondLst>
                        <p:cond delay="indefinite"/>
                      </p:stCondLst>
                      <p:childTnLst>
                        <p:par>
                          <p:cTn id="121" fill="hold">
                            <p:stCondLst>
                              <p:cond delay="0"/>
                            </p:stCondLst>
                            <p:childTnLst>
                              <p:par>
                                <p:cTn id="122" presetID="9" presetClass="entr" presetSubtype="0" fill="hold" grpId="0" nodeType="clickEffect">
                                  <p:stCondLst>
                                    <p:cond delay="0"/>
                                  </p:stCondLst>
                                  <p:childTnLst>
                                    <p:set>
                                      <p:cBhvr>
                                        <p:cTn id="123" dur="1" fill="hold">
                                          <p:stCondLst>
                                            <p:cond delay="0"/>
                                          </p:stCondLst>
                                        </p:cTn>
                                        <p:tgtEl>
                                          <p:spTgt spid="32768"/>
                                        </p:tgtEl>
                                        <p:attrNameLst>
                                          <p:attrName>style.visibility</p:attrName>
                                        </p:attrNameLst>
                                      </p:cBhvr>
                                      <p:to>
                                        <p:strVal val="visible"/>
                                      </p:to>
                                    </p:set>
                                    <p:animEffect transition="in" filter="dissolve">
                                      <p:cBhvr>
                                        <p:cTn id="124" dur="500"/>
                                        <p:tgtEl>
                                          <p:spTgt spid="32768"/>
                                        </p:tgtEl>
                                      </p:cBhvr>
                                    </p:animEffect>
                                  </p:childTnLst>
                                </p:cTn>
                              </p:par>
                            </p:childTnLst>
                          </p:cTn>
                        </p:par>
                      </p:childTnLst>
                    </p:cTn>
                  </p:par>
                  <p:par>
                    <p:cTn id="125" fill="hold">
                      <p:stCondLst>
                        <p:cond delay="indefinite"/>
                      </p:stCondLst>
                      <p:childTnLst>
                        <p:par>
                          <p:cTn id="126" fill="hold">
                            <p:stCondLst>
                              <p:cond delay="0"/>
                            </p:stCondLst>
                            <p:childTnLst>
                              <p:par>
                                <p:cTn id="127" presetID="9" presetClass="entr" presetSubtype="0" fill="hold" nodeType="clickEffect">
                                  <p:stCondLst>
                                    <p:cond delay="0"/>
                                  </p:stCondLst>
                                  <p:childTnLst>
                                    <p:set>
                                      <p:cBhvr>
                                        <p:cTn id="128" dur="1" fill="hold">
                                          <p:stCondLst>
                                            <p:cond delay="0"/>
                                          </p:stCondLst>
                                        </p:cTn>
                                        <p:tgtEl>
                                          <p:spTgt spid="23"/>
                                        </p:tgtEl>
                                        <p:attrNameLst>
                                          <p:attrName>style.visibility</p:attrName>
                                        </p:attrNameLst>
                                      </p:cBhvr>
                                      <p:to>
                                        <p:strVal val="visible"/>
                                      </p:to>
                                    </p:set>
                                    <p:animEffect transition="in" filter="dissolve">
                                      <p:cBhvr>
                                        <p:cTn id="129" dur="500"/>
                                        <p:tgtEl>
                                          <p:spTgt spid="23"/>
                                        </p:tgtEl>
                                      </p:cBhvr>
                                    </p:animEffect>
                                  </p:childTnLst>
                                </p:cTn>
                              </p:par>
                            </p:childTnLst>
                          </p:cTn>
                        </p:par>
                      </p:childTnLst>
                    </p:cTn>
                  </p:par>
                  <p:par>
                    <p:cTn id="130" fill="hold">
                      <p:stCondLst>
                        <p:cond delay="indefinite"/>
                      </p:stCondLst>
                      <p:childTnLst>
                        <p:par>
                          <p:cTn id="131" fill="hold">
                            <p:stCondLst>
                              <p:cond delay="0"/>
                            </p:stCondLst>
                            <p:childTnLst>
                              <p:par>
                                <p:cTn id="132" presetID="9" presetClass="entr" presetSubtype="0" fill="hold" grpId="0" nodeType="click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dissolve">
                                      <p:cBhvr>
                                        <p:cTn id="134" dur="500"/>
                                        <p:tgtEl>
                                          <p:spTgt spid="35"/>
                                        </p:tgtEl>
                                      </p:cBhvr>
                                    </p:animEffect>
                                  </p:childTnLst>
                                </p:cTn>
                              </p:par>
                              <p:par>
                                <p:cTn id="135" presetID="9" presetClass="entr" presetSubtype="0" fill="hold" grpId="0" nodeType="withEffect">
                                  <p:stCondLst>
                                    <p:cond delay="0"/>
                                  </p:stCondLst>
                                  <p:childTnLst>
                                    <p:set>
                                      <p:cBhvr>
                                        <p:cTn id="136" dur="1" fill="hold">
                                          <p:stCondLst>
                                            <p:cond delay="0"/>
                                          </p:stCondLst>
                                        </p:cTn>
                                        <p:tgtEl>
                                          <p:spTgt spid="40"/>
                                        </p:tgtEl>
                                        <p:attrNameLst>
                                          <p:attrName>style.visibility</p:attrName>
                                        </p:attrNameLst>
                                      </p:cBhvr>
                                      <p:to>
                                        <p:strVal val="visible"/>
                                      </p:to>
                                    </p:set>
                                    <p:animEffect transition="in" filter="dissolve">
                                      <p:cBhvr>
                                        <p:cTn id="137" dur="500"/>
                                        <p:tgtEl>
                                          <p:spTgt spid="40"/>
                                        </p:tgtEl>
                                      </p:cBhvr>
                                    </p:animEffect>
                                  </p:childTnLst>
                                </p:cTn>
                              </p:par>
                              <p:par>
                                <p:cTn id="138" presetID="9" presetClass="entr" presetSubtype="0" fill="hold" grpId="0" nodeType="withEffect">
                                  <p:stCondLst>
                                    <p:cond delay="0"/>
                                  </p:stCondLst>
                                  <p:childTnLst>
                                    <p:set>
                                      <p:cBhvr>
                                        <p:cTn id="139" dur="1" fill="hold">
                                          <p:stCondLst>
                                            <p:cond delay="0"/>
                                          </p:stCondLst>
                                        </p:cTn>
                                        <p:tgtEl>
                                          <p:spTgt spid="36"/>
                                        </p:tgtEl>
                                        <p:attrNameLst>
                                          <p:attrName>style.visibility</p:attrName>
                                        </p:attrNameLst>
                                      </p:cBhvr>
                                      <p:to>
                                        <p:strVal val="visible"/>
                                      </p:to>
                                    </p:set>
                                    <p:animEffect transition="in" filter="dissolve">
                                      <p:cBhvr>
                                        <p:cTn id="140" dur="500"/>
                                        <p:tgtEl>
                                          <p:spTgt spid="36"/>
                                        </p:tgtEl>
                                      </p:cBhvr>
                                    </p:animEffect>
                                  </p:childTnLst>
                                </p:cTn>
                              </p:par>
                            </p:childTnLst>
                          </p:cTn>
                        </p:par>
                      </p:childTnLst>
                    </p:cTn>
                  </p:par>
                  <p:par>
                    <p:cTn id="141" fill="hold">
                      <p:stCondLst>
                        <p:cond delay="indefinite"/>
                      </p:stCondLst>
                      <p:childTnLst>
                        <p:par>
                          <p:cTn id="142" fill="hold">
                            <p:stCondLst>
                              <p:cond delay="0"/>
                            </p:stCondLst>
                            <p:childTnLst>
                              <p:par>
                                <p:cTn id="143" presetID="9" presetClass="entr" presetSubtype="0" fill="hold" grpId="0" nodeType="clickEffect">
                                  <p:stCondLst>
                                    <p:cond delay="0"/>
                                  </p:stCondLst>
                                  <p:childTnLst>
                                    <p:set>
                                      <p:cBhvr>
                                        <p:cTn id="144" dur="1" fill="hold">
                                          <p:stCondLst>
                                            <p:cond delay="0"/>
                                          </p:stCondLst>
                                        </p:cTn>
                                        <p:tgtEl>
                                          <p:spTgt spid="38"/>
                                        </p:tgtEl>
                                        <p:attrNameLst>
                                          <p:attrName>style.visibility</p:attrName>
                                        </p:attrNameLst>
                                      </p:cBhvr>
                                      <p:to>
                                        <p:strVal val="visible"/>
                                      </p:to>
                                    </p:set>
                                    <p:animEffect transition="in" filter="dissolve">
                                      <p:cBhvr>
                                        <p:cTn id="145" dur="500"/>
                                        <p:tgtEl>
                                          <p:spTgt spid="38"/>
                                        </p:tgtEl>
                                      </p:cBhvr>
                                    </p:animEffect>
                                  </p:childTnLst>
                                </p:cTn>
                              </p:par>
                              <p:par>
                                <p:cTn id="146" presetID="9" presetClass="entr" presetSubtype="0" fill="hold" grpId="1" nodeType="withEffect">
                                  <p:stCondLst>
                                    <p:cond delay="0"/>
                                  </p:stCondLst>
                                  <p:childTnLst>
                                    <p:set>
                                      <p:cBhvr>
                                        <p:cTn id="147" dur="1" fill="hold">
                                          <p:stCondLst>
                                            <p:cond delay="0"/>
                                          </p:stCondLst>
                                        </p:cTn>
                                        <p:tgtEl>
                                          <p:spTgt spid="39"/>
                                        </p:tgtEl>
                                        <p:attrNameLst>
                                          <p:attrName>style.visibility</p:attrName>
                                        </p:attrNameLst>
                                      </p:cBhvr>
                                      <p:to>
                                        <p:strVal val="visible"/>
                                      </p:to>
                                    </p:set>
                                    <p:animEffect transition="in" filter="dissolve">
                                      <p:cBhvr>
                                        <p:cTn id="14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2" grpId="0" animBg="1"/>
      <p:bldP spid="20" grpId="0"/>
      <p:bldP spid="17" grpId="0" animBg="1"/>
      <p:bldP spid="18" grpId="0" animBg="1"/>
      <p:bldP spid="21" grpId="0"/>
      <p:bldP spid="19" grpId="0"/>
      <p:bldP spid="24" grpId="0" animBg="1"/>
      <p:bldP spid="25" grpId="0"/>
      <p:bldP spid="32" grpId="0"/>
      <p:bldP spid="34" grpId="0"/>
      <p:bldP spid="35" grpId="0" animBg="1"/>
      <p:bldP spid="36" grpId="0"/>
      <p:bldP spid="37" grpId="0" animBg="1"/>
      <p:bldP spid="38" grpId="0" animBg="1"/>
      <p:bldP spid="39" grpId="1" animBg="1"/>
      <p:bldP spid="40" grpId="0" animBg="1"/>
      <p:bldP spid="43" grpId="0"/>
      <p:bldP spid="44" grpId="0"/>
      <p:bldP spid="52" grpId="0"/>
      <p:bldP spid="56" grpId="1"/>
      <p:bldP spid="58" grpId="0" animBg="1"/>
      <p:bldP spid="59" grpId="0"/>
      <p:bldP spid="61" grpId="0"/>
      <p:bldP spid="63" grpId="0"/>
      <p:bldP spid="32768" grpId="0" animBg="1"/>
      <p:bldP spid="32774" grpId="0" animBg="1"/>
      <p:bldP spid="32775" grpId="0" animBg="1"/>
      <p:bldP spid="32776" grpId="0" animBg="1"/>
      <p:bldP spid="3277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C41284E9-C6C3-8D06-AC04-968F4100C17F}"/>
              </a:ext>
            </a:extLst>
          </p:cNvPr>
          <p:cNvSpPr/>
          <p:nvPr/>
        </p:nvSpPr>
        <p:spPr>
          <a:xfrm>
            <a:off x="1440444" y="3089805"/>
            <a:ext cx="3674119" cy="1413985"/>
          </a:xfrm>
          <a:prstGeom prst="rect">
            <a:avLst/>
          </a:prstGeom>
          <a:solidFill>
            <a:schemeClr val="accent2">
              <a:lumMod val="40000"/>
              <a:lumOff val="6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54" name="Rectangle 53">
            <a:extLst>
              <a:ext uri="{FF2B5EF4-FFF2-40B4-BE49-F238E27FC236}">
                <a16:creationId xmlns:a16="http://schemas.microsoft.com/office/drawing/2014/main" id="{FE4B274E-E257-BEF2-9512-7E788F2DEF3A}"/>
              </a:ext>
            </a:extLst>
          </p:cNvPr>
          <p:cNvSpPr/>
          <p:nvPr/>
        </p:nvSpPr>
        <p:spPr>
          <a:xfrm>
            <a:off x="78330" y="3089805"/>
            <a:ext cx="1281256" cy="1413985"/>
          </a:xfrm>
          <a:prstGeom prst="rect">
            <a:avLst/>
          </a:prstGeom>
          <a:solidFill>
            <a:schemeClr val="accent3">
              <a:lumMod val="60000"/>
              <a:lumOff val="4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Main Results </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15</a:t>
            </a:r>
            <a:r>
              <a:rPr lang="en-US" altLang="en-US" sz="1200" dirty="0">
                <a:solidFill>
                  <a:schemeClr val="bg1"/>
                </a:solidFill>
              </a:rPr>
              <a:t>| </a:t>
            </a:r>
            <a:r>
              <a:rPr lang="en-US" altLang="en-US" sz="1050" dirty="0">
                <a:solidFill>
                  <a:schemeClr val="bg1"/>
                </a:solidFill>
              </a:rPr>
              <a:t>Main results</a:t>
            </a:r>
            <a:endParaRPr lang="en-US" altLang="en-US" sz="900" dirty="0">
              <a:solidFill>
                <a:schemeClr val="bg1"/>
              </a:solidFill>
            </a:endParaRPr>
          </a:p>
        </p:txBody>
      </p:sp>
      <p:sp>
        <p:nvSpPr>
          <p:cNvPr id="24" name="TextBox 23">
            <a:extLst>
              <a:ext uri="{FF2B5EF4-FFF2-40B4-BE49-F238E27FC236}">
                <a16:creationId xmlns:a16="http://schemas.microsoft.com/office/drawing/2014/main" id="{04913758-377E-4D5F-B3CA-C9B15B0CBD5E}"/>
              </a:ext>
            </a:extLst>
          </p:cNvPr>
          <p:cNvSpPr txBox="1"/>
          <p:nvPr/>
        </p:nvSpPr>
        <p:spPr>
          <a:xfrm>
            <a:off x="152398" y="514117"/>
            <a:ext cx="4755673" cy="338554"/>
          </a:xfrm>
          <a:prstGeom prst="rect">
            <a:avLst/>
          </a:prstGeom>
          <a:noFill/>
        </p:spPr>
        <p:txBody>
          <a:bodyPr wrap="square">
            <a:spAutoFit/>
          </a:bodyPr>
          <a:lstStyle/>
          <a:p>
            <a:r>
              <a:rPr lang="en-US" sz="1600" b="1" dirty="0">
                <a:solidFill>
                  <a:srgbClr val="C00000"/>
                </a:solidFill>
                <a:latin typeface="+mn-lt"/>
                <a:ea typeface="+mn-ea"/>
              </a:rPr>
              <a:t>Sketch of the proof:</a:t>
            </a:r>
          </a:p>
        </p:txBody>
      </p:sp>
      <p:sp>
        <p:nvSpPr>
          <p:cNvPr id="13" name="TextBox 12">
            <a:extLst>
              <a:ext uri="{FF2B5EF4-FFF2-40B4-BE49-F238E27FC236}">
                <a16:creationId xmlns:a16="http://schemas.microsoft.com/office/drawing/2014/main" id="{52BB4E84-6055-7491-A54D-991A5141CEE6}"/>
              </a:ext>
            </a:extLst>
          </p:cNvPr>
          <p:cNvSpPr txBox="1"/>
          <p:nvPr/>
        </p:nvSpPr>
        <p:spPr>
          <a:xfrm>
            <a:off x="4410478" y="-257392"/>
            <a:ext cx="4612192" cy="523220"/>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Show the </a:t>
            </a:r>
            <a:r>
              <a:rPr lang="en-US" sz="1400" b="1" i="1" dirty="0">
                <a:cs typeface="Calibri" panose="020F0502020204030204" pitchFamily="34" charset="0"/>
              </a:rPr>
              <a:t>price uncertainty </a:t>
            </a:r>
            <a:r>
              <a:rPr lang="en-US" sz="1400" dirty="0">
                <a:cs typeface="Calibri" panose="020F0502020204030204" pitchFamily="34" charset="0"/>
              </a:rPr>
              <a:t>doesn’t affect the </a:t>
            </a:r>
            <a:r>
              <a:rPr lang="en-US" sz="1400" b="1" i="1" dirty="0">
                <a:cs typeface="Calibri" panose="020F0502020204030204" pitchFamily="34" charset="0"/>
              </a:rPr>
              <a:t>value function</a:t>
            </a:r>
          </a:p>
        </p:txBody>
      </p:sp>
      <p:pic>
        <p:nvPicPr>
          <p:cNvPr id="18" name="Picture 17">
            <a:extLst>
              <a:ext uri="{FF2B5EF4-FFF2-40B4-BE49-F238E27FC236}">
                <a16:creationId xmlns:a16="http://schemas.microsoft.com/office/drawing/2014/main" id="{9ABF7CE0-44E0-7CA0-D098-8F330BC302A6}"/>
              </a:ext>
            </a:extLst>
          </p:cNvPr>
          <p:cNvPicPr>
            <a:picLocks noChangeAspect="1"/>
          </p:cNvPicPr>
          <p:nvPr/>
        </p:nvPicPr>
        <p:blipFill>
          <a:blip r:embed="rId4"/>
          <a:stretch>
            <a:fillRect/>
          </a:stretch>
        </p:blipFill>
        <p:spPr>
          <a:xfrm>
            <a:off x="549036" y="1041765"/>
            <a:ext cx="3962400" cy="1045128"/>
          </a:xfrm>
          <a:prstGeom prst="rect">
            <a:avLst/>
          </a:prstGeom>
        </p:spPr>
      </p:pic>
      <p:sp>
        <p:nvSpPr>
          <p:cNvPr id="25" name="TextBox 24">
            <a:extLst>
              <a:ext uri="{FF2B5EF4-FFF2-40B4-BE49-F238E27FC236}">
                <a16:creationId xmlns:a16="http://schemas.microsoft.com/office/drawing/2014/main" id="{F3554725-6CBB-A0CB-A873-1FBCF2679AE9}"/>
              </a:ext>
            </a:extLst>
          </p:cNvPr>
          <p:cNvSpPr txBox="1"/>
          <p:nvPr/>
        </p:nvSpPr>
        <p:spPr>
          <a:xfrm>
            <a:off x="172133" y="2089653"/>
            <a:ext cx="2958510" cy="461665"/>
          </a:xfrm>
          <a:prstGeom prst="rect">
            <a:avLst/>
          </a:prstGeom>
          <a:noFill/>
        </p:spPr>
        <p:txBody>
          <a:bodyPr wrap="square">
            <a:spAutoFit/>
          </a:bodyPr>
          <a:lstStyle/>
          <a:p>
            <a:r>
              <a:rPr lang="en-US" sz="1200" dirty="0">
                <a:solidFill>
                  <a:srgbClr val="C00000"/>
                </a:solidFill>
                <a:cs typeface="Calibri" panose="020F0502020204030204" pitchFamily="34" charset="0"/>
              </a:rPr>
              <a:t>Capital letter: function</a:t>
            </a:r>
          </a:p>
          <a:p>
            <a:r>
              <a:rPr lang="en-US" sz="1200" dirty="0">
                <a:solidFill>
                  <a:srgbClr val="C00000"/>
                </a:solidFill>
                <a:cs typeface="Calibri" panose="020F0502020204030204" pitchFamily="34" charset="0"/>
              </a:rPr>
              <a:t>Lowercase letter: function derivative</a:t>
            </a:r>
          </a:p>
        </p:txBody>
      </p:sp>
      <p:pic>
        <p:nvPicPr>
          <p:cNvPr id="2" name="Picture 1">
            <a:extLst>
              <a:ext uri="{FF2B5EF4-FFF2-40B4-BE49-F238E27FC236}">
                <a16:creationId xmlns:a16="http://schemas.microsoft.com/office/drawing/2014/main" id="{B04A55FA-77C7-385D-E968-A19B657F8419}"/>
              </a:ext>
            </a:extLst>
          </p:cNvPr>
          <p:cNvPicPr>
            <a:picLocks noChangeAspect="1"/>
          </p:cNvPicPr>
          <p:nvPr/>
        </p:nvPicPr>
        <p:blipFill>
          <a:blip r:embed="rId5"/>
          <a:stretch>
            <a:fillRect/>
          </a:stretch>
        </p:blipFill>
        <p:spPr>
          <a:xfrm>
            <a:off x="5180807" y="535136"/>
            <a:ext cx="3809206" cy="851366"/>
          </a:xfrm>
          <a:prstGeom prst="rect">
            <a:avLst/>
          </a:prstGeom>
        </p:spPr>
      </p:pic>
      <p:pic>
        <p:nvPicPr>
          <p:cNvPr id="3" name="Picture 2">
            <a:extLst>
              <a:ext uri="{FF2B5EF4-FFF2-40B4-BE49-F238E27FC236}">
                <a16:creationId xmlns:a16="http://schemas.microsoft.com/office/drawing/2014/main" id="{0ABBF8BB-D217-13B9-A7D4-0140B8974717}"/>
              </a:ext>
            </a:extLst>
          </p:cNvPr>
          <p:cNvPicPr>
            <a:picLocks noChangeAspect="1"/>
          </p:cNvPicPr>
          <p:nvPr/>
        </p:nvPicPr>
        <p:blipFill>
          <a:blip r:embed="rId6"/>
          <a:stretch>
            <a:fillRect/>
          </a:stretch>
        </p:blipFill>
        <p:spPr>
          <a:xfrm>
            <a:off x="5253242" y="1544580"/>
            <a:ext cx="3664336" cy="990866"/>
          </a:xfrm>
          <a:prstGeom prst="rect">
            <a:avLst/>
          </a:prstGeom>
        </p:spPr>
      </p:pic>
      <p:pic>
        <p:nvPicPr>
          <p:cNvPr id="4" name="Picture 3">
            <a:extLst>
              <a:ext uri="{FF2B5EF4-FFF2-40B4-BE49-F238E27FC236}">
                <a16:creationId xmlns:a16="http://schemas.microsoft.com/office/drawing/2014/main" id="{33ACE3E8-EC76-AE7B-F29B-66B0C0013C46}"/>
              </a:ext>
            </a:extLst>
          </p:cNvPr>
          <p:cNvPicPr>
            <a:picLocks noChangeAspect="1"/>
          </p:cNvPicPr>
          <p:nvPr/>
        </p:nvPicPr>
        <p:blipFill>
          <a:blip r:embed="rId7"/>
          <a:stretch>
            <a:fillRect/>
          </a:stretch>
        </p:blipFill>
        <p:spPr>
          <a:xfrm>
            <a:off x="5180807" y="2033561"/>
            <a:ext cx="3870224" cy="1776496"/>
          </a:xfrm>
          <a:prstGeom prst="rect">
            <a:avLst/>
          </a:prstGeom>
        </p:spPr>
      </p:pic>
      <p:pic>
        <p:nvPicPr>
          <p:cNvPr id="5" name="Picture 4">
            <a:extLst>
              <a:ext uri="{FF2B5EF4-FFF2-40B4-BE49-F238E27FC236}">
                <a16:creationId xmlns:a16="http://schemas.microsoft.com/office/drawing/2014/main" id="{EC846560-C79E-4649-3C31-7446B70AAB44}"/>
              </a:ext>
            </a:extLst>
          </p:cNvPr>
          <p:cNvPicPr>
            <a:picLocks noChangeAspect="1"/>
          </p:cNvPicPr>
          <p:nvPr/>
        </p:nvPicPr>
        <p:blipFill>
          <a:blip r:embed="rId8"/>
          <a:stretch>
            <a:fillRect/>
          </a:stretch>
        </p:blipFill>
        <p:spPr>
          <a:xfrm>
            <a:off x="5256272" y="3256373"/>
            <a:ext cx="3794759" cy="877824"/>
          </a:xfrm>
          <a:prstGeom prst="rect">
            <a:avLst/>
          </a:prstGeom>
        </p:spPr>
      </p:pic>
      <p:pic>
        <p:nvPicPr>
          <p:cNvPr id="6" name="Picture 5">
            <a:extLst>
              <a:ext uri="{FF2B5EF4-FFF2-40B4-BE49-F238E27FC236}">
                <a16:creationId xmlns:a16="http://schemas.microsoft.com/office/drawing/2014/main" id="{8D41C0D6-A71B-DC31-ACDC-39535D2EE5A0}"/>
              </a:ext>
            </a:extLst>
          </p:cNvPr>
          <p:cNvPicPr>
            <a:picLocks noChangeAspect="1"/>
          </p:cNvPicPr>
          <p:nvPr/>
        </p:nvPicPr>
        <p:blipFill>
          <a:blip r:embed="rId9"/>
          <a:stretch>
            <a:fillRect/>
          </a:stretch>
        </p:blipFill>
        <p:spPr>
          <a:xfrm>
            <a:off x="5306759" y="4325530"/>
            <a:ext cx="3500880" cy="338795"/>
          </a:xfrm>
          <a:prstGeom prst="rect">
            <a:avLst/>
          </a:prstGeom>
        </p:spPr>
      </p:pic>
      <p:sp>
        <p:nvSpPr>
          <p:cNvPr id="8" name="TextBox 7">
            <a:extLst>
              <a:ext uri="{FF2B5EF4-FFF2-40B4-BE49-F238E27FC236}">
                <a16:creationId xmlns:a16="http://schemas.microsoft.com/office/drawing/2014/main" id="{0F4B2181-65EF-4AB7-5FC2-BA052F6E1BD3}"/>
              </a:ext>
            </a:extLst>
          </p:cNvPr>
          <p:cNvSpPr txBox="1"/>
          <p:nvPr/>
        </p:nvSpPr>
        <p:spPr>
          <a:xfrm>
            <a:off x="228600" y="832287"/>
            <a:ext cx="1274467" cy="276999"/>
          </a:xfrm>
          <a:prstGeom prst="rect">
            <a:avLst/>
          </a:prstGeom>
          <a:noFill/>
        </p:spPr>
        <p:txBody>
          <a:bodyPr wrap="square">
            <a:spAutoFit/>
          </a:bodyPr>
          <a:lstStyle/>
          <a:p>
            <a:r>
              <a:rPr lang="en-US" sz="1200" dirty="0">
                <a:cs typeface="Calibri" panose="020F0502020204030204" pitchFamily="34" charset="0"/>
              </a:rPr>
              <a:t>Demand model</a:t>
            </a:r>
          </a:p>
        </p:txBody>
      </p:sp>
      <p:sp>
        <p:nvSpPr>
          <p:cNvPr id="9" name="TextBox 8">
            <a:extLst>
              <a:ext uri="{FF2B5EF4-FFF2-40B4-BE49-F238E27FC236}">
                <a16:creationId xmlns:a16="http://schemas.microsoft.com/office/drawing/2014/main" id="{F72BC346-DCC0-A4A3-48FD-2BD6328CAF64}"/>
              </a:ext>
            </a:extLst>
          </p:cNvPr>
          <p:cNvSpPr txBox="1"/>
          <p:nvPr/>
        </p:nvSpPr>
        <p:spPr>
          <a:xfrm>
            <a:off x="2712581" y="4216645"/>
            <a:ext cx="1454533" cy="319766"/>
          </a:xfrm>
          <a:prstGeom prst="rect">
            <a:avLst/>
          </a:prstGeom>
          <a:noFill/>
        </p:spPr>
        <p:txBody>
          <a:bodyPr wrap="square">
            <a:spAutoFit/>
          </a:bodyPr>
          <a:lstStyle/>
          <a:p>
            <a:r>
              <a:rPr lang="en-US" sz="1400" b="1" dirty="0">
                <a:solidFill>
                  <a:srgbClr val="C00000"/>
                </a:solidFill>
                <a:cs typeface="Calibri" panose="020F0502020204030204" pitchFamily="34" charset="0"/>
              </a:rPr>
              <a:t>Demand model</a:t>
            </a:r>
          </a:p>
        </p:txBody>
      </p:sp>
      <p:sp>
        <p:nvSpPr>
          <p:cNvPr id="12" name="TextBox 11">
            <a:extLst>
              <a:ext uri="{FF2B5EF4-FFF2-40B4-BE49-F238E27FC236}">
                <a16:creationId xmlns:a16="http://schemas.microsoft.com/office/drawing/2014/main" id="{C2AA4BC1-957B-9923-6B54-B079BB656C7B}"/>
              </a:ext>
            </a:extLst>
          </p:cNvPr>
          <p:cNvSpPr txBox="1"/>
          <p:nvPr/>
        </p:nvSpPr>
        <p:spPr>
          <a:xfrm>
            <a:off x="8206" y="4217266"/>
            <a:ext cx="1676400" cy="307777"/>
          </a:xfrm>
          <a:prstGeom prst="rect">
            <a:avLst/>
          </a:prstGeom>
          <a:noFill/>
        </p:spPr>
        <p:txBody>
          <a:bodyPr wrap="square">
            <a:spAutoFit/>
          </a:bodyPr>
          <a:lstStyle/>
          <a:p>
            <a:r>
              <a:rPr lang="en-US" sz="1400" b="1" dirty="0">
                <a:solidFill>
                  <a:srgbClr val="C00000"/>
                </a:solidFill>
                <a:cs typeface="Calibri" panose="020F0502020204030204" pitchFamily="34" charset="0"/>
              </a:rPr>
              <a:t>Price distribution</a:t>
            </a:r>
          </a:p>
        </p:txBody>
      </p:sp>
      <p:grpSp>
        <p:nvGrpSpPr>
          <p:cNvPr id="38" name="Group 37">
            <a:extLst>
              <a:ext uri="{FF2B5EF4-FFF2-40B4-BE49-F238E27FC236}">
                <a16:creationId xmlns:a16="http://schemas.microsoft.com/office/drawing/2014/main" id="{CF52771B-5602-F7A0-8103-FD680A657195}"/>
              </a:ext>
            </a:extLst>
          </p:cNvPr>
          <p:cNvGrpSpPr/>
          <p:nvPr/>
        </p:nvGrpSpPr>
        <p:grpSpPr>
          <a:xfrm>
            <a:off x="171492" y="3292369"/>
            <a:ext cx="1143000" cy="648518"/>
            <a:chOff x="194648" y="2431280"/>
            <a:chExt cx="1143000" cy="648518"/>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992A9EF-4D94-2B4B-816F-FD6DCBA456B4}"/>
                    </a:ext>
                  </a:extLst>
                </p:cNvPr>
                <p:cNvSpPr txBox="1"/>
                <p:nvPr/>
              </p:nvSpPr>
              <p:spPr>
                <a:xfrm>
                  <a:off x="353874" y="2431280"/>
                  <a:ext cx="75924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𝝀</m:t>
                            </m:r>
                          </m:e>
                          <m:sub>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𝒕</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𝟏</m:t>
                            </m:r>
                          </m:sub>
                        </m:sSub>
                      </m:oMath>
                    </m:oMathPara>
                  </a14:m>
                  <a:endParaRPr lang="en-US" sz="2400" b="1" dirty="0">
                    <a:solidFill>
                      <a:srgbClr val="C00000"/>
                    </a:solidFill>
                    <a:cs typeface="Calibri" panose="020F0502020204030204" pitchFamily="34" charset="0"/>
                  </a:endParaRPr>
                </a:p>
              </p:txBody>
            </p:sp>
          </mc:Choice>
          <mc:Fallback xmlns="">
            <p:sp>
              <p:nvSpPr>
                <p:cNvPr id="27" name="TextBox 26">
                  <a:extLst>
                    <a:ext uri="{FF2B5EF4-FFF2-40B4-BE49-F238E27FC236}">
                      <a16:creationId xmlns:a16="http://schemas.microsoft.com/office/drawing/2014/main" id="{9992A9EF-4D94-2B4B-816F-FD6DCBA456B4}"/>
                    </a:ext>
                  </a:extLst>
                </p:cNvPr>
                <p:cNvSpPr txBox="1">
                  <a:spLocks noRot="1" noChangeAspect="1" noMove="1" noResize="1" noEditPoints="1" noAdjustHandles="1" noChangeArrowheads="1" noChangeShapeType="1" noTextEdit="1"/>
                </p:cNvSpPr>
                <p:nvPr/>
              </p:nvSpPr>
              <p:spPr>
                <a:xfrm>
                  <a:off x="353874" y="2431280"/>
                  <a:ext cx="759245" cy="461665"/>
                </a:xfrm>
                <a:prstGeom prst="rect">
                  <a:avLst/>
                </a:prstGeom>
                <a:blipFill>
                  <a:blip r:embed="rId10"/>
                  <a:stretch>
                    <a:fillRect l="-1639" b="-5405"/>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8CDA7A21-69E4-08B4-71FB-C76699B1E8C3}"/>
                </a:ext>
              </a:extLst>
            </p:cNvPr>
            <p:cNvSpPr txBox="1"/>
            <p:nvPr/>
          </p:nvSpPr>
          <p:spPr>
            <a:xfrm>
              <a:off x="194648" y="2772021"/>
              <a:ext cx="1143000" cy="307777"/>
            </a:xfrm>
            <a:prstGeom prst="rect">
              <a:avLst/>
            </a:prstGeom>
            <a:noFill/>
          </p:spPr>
          <p:txBody>
            <a:bodyPr wrap="square">
              <a:spAutoFit/>
            </a:bodyPr>
            <a:lstStyle/>
            <a:p>
              <a:r>
                <a:rPr lang="en-US" sz="1400" dirty="0">
                  <a:cs typeface="Calibri" panose="020F0502020204030204" pitchFamily="34" charset="0"/>
                </a:rPr>
                <a:t>Future price</a:t>
              </a:r>
            </a:p>
          </p:txBody>
        </p:sp>
      </p:grpSp>
      <p:grpSp>
        <p:nvGrpSpPr>
          <p:cNvPr id="40" name="Group 39">
            <a:extLst>
              <a:ext uri="{FF2B5EF4-FFF2-40B4-BE49-F238E27FC236}">
                <a16:creationId xmlns:a16="http://schemas.microsoft.com/office/drawing/2014/main" id="{06A80C29-0677-F6FF-0901-45DBB1D7A785}"/>
              </a:ext>
            </a:extLst>
          </p:cNvPr>
          <p:cNvGrpSpPr/>
          <p:nvPr/>
        </p:nvGrpSpPr>
        <p:grpSpPr>
          <a:xfrm>
            <a:off x="2180419" y="3309167"/>
            <a:ext cx="1143000" cy="640778"/>
            <a:chOff x="2203575" y="2448078"/>
            <a:chExt cx="1143000" cy="640778"/>
          </a:xfrm>
        </p:grpSpPr>
        <p:sp>
          <p:nvSpPr>
            <p:cNvPr id="29" name="TextBox 28">
              <a:extLst>
                <a:ext uri="{FF2B5EF4-FFF2-40B4-BE49-F238E27FC236}">
                  <a16:creationId xmlns:a16="http://schemas.microsoft.com/office/drawing/2014/main" id="{C7C16069-9B6E-8EC5-1BCC-B130E9C4C5E2}"/>
                </a:ext>
              </a:extLst>
            </p:cNvPr>
            <p:cNvSpPr txBox="1"/>
            <p:nvPr/>
          </p:nvSpPr>
          <p:spPr>
            <a:xfrm>
              <a:off x="2203575" y="2781079"/>
              <a:ext cx="1143000" cy="307777"/>
            </a:xfrm>
            <a:prstGeom prst="rect">
              <a:avLst/>
            </a:prstGeom>
            <a:noFill/>
          </p:spPr>
          <p:txBody>
            <a:bodyPr wrap="square">
              <a:spAutoFit/>
            </a:bodyPr>
            <a:lstStyle/>
            <a:p>
              <a:r>
                <a:rPr lang="en-US" sz="1400" dirty="0">
                  <a:cs typeface="Calibri" panose="020F0502020204030204" pitchFamily="34" charset="0"/>
                </a:rPr>
                <a:t>State cost</a:t>
              </a:r>
            </a:p>
          </p:txBody>
        </p:sp>
        <mc:AlternateContent xmlns:mc="http://schemas.openxmlformats.org/markup-compatibility/2006" xmlns:a14="http://schemas.microsoft.com/office/drawing/2010/main">
          <mc:Choice Requires="a14">
            <p:sp>
              <p:nvSpPr>
                <p:cNvPr id="33" name="TextBox 26">
                  <a:extLst>
                    <a:ext uri="{FF2B5EF4-FFF2-40B4-BE49-F238E27FC236}">
                      <a16:creationId xmlns:a16="http://schemas.microsoft.com/office/drawing/2014/main" id="{9992A9EF-4D94-2B4B-816F-FD6DCBA456B4}"/>
                    </a:ext>
                  </a:extLst>
                </p:cNvPr>
                <p:cNvSpPr txBox="1"/>
                <p:nvPr/>
              </p:nvSpPr>
              <p:spPr>
                <a:xfrm>
                  <a:off x="2314279" y="2448078"/>
                  <a:ext cx="759245" cy="461665"/>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𝒉</m:t>
                            </m:r>
                          </m:e>
                          <m:sub>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𝒕</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𝟏</m:t>
                            </m:r>
                          </m:sub>
                        </m:sSub>
                      </m:oMath>
                    </m:oMathPara>
                  </a14:m>
                  <a:endParaRPr lang="en-US" sz="2400" b="1" dirty="0">
                    <a:solidFill>
                      <a:srgbClr val="C00000"/>
                    </a:solidFill>
                    <a:cs typeface="Calibri" panose="020F0502020204030204" pitchFamily="34" charset="0"/>
                  </a:endParaRPr>
                </a:p>
              </p:txBody>
            </p:sp>
          </mc:Choice>
          <mc:Fallback xmlns="">
            <p:sp>
              <p:nvSpPr>
                <p:cNvPr id="33" name="TextBox 26">
                  <a:extLst>
                    <a:ext uri="{FF2B5EF4-FFF2-40B4-BE49-F238E27FC236}">
                      <a16:creationId xmlns:a16="http://schemas.microsoft.com/office/drawing/2014/main" id="{9992A9EF-4D94-2B4B-816F-FD6DCBA456B4}"/>
                    </a:ext>
                  </a:extLst>
                </p:cNvPr>
                <p:cNvSpPr txBox="1">
                  <a:spLocks noRot="1" noChangeAspect="1" noMove="1" noResize="1" noEditPoints="1" noAdjustHandles="1" noChangeArrowheads="1" noChangeShapeType="1" noTextEdit="1"/>
                </p:cNvSpPr>
                <p:nvPr/>
              </p:nvSpPr>
              <p:spPr>
                <a:xfrm>
                  <a:off x="2314279" y="2448078"/>
                  <a:ext cx="759245" cy="461665"/>
                </a:xfrm>
                <a:prstGeom prst="rect">
                  <a:avLst/>
                </a:prstGeom>
                <a:blipFill>
                  <a:blip r:embed="rId11"/>
                  <a:stretch>
                    <a:fillRect l="-1639" b="-2632"/>
                  </a:stretch>
                </a:blipFill>
              </p:spPr>
              <p:txBody>
                <a:bodyPr/>
                <a:lstStyle/>
                <a:p>
                  <a:r>
                    <a:rPr lang="en-US">
                      <a:noFill/>
                    </a:rPr>
                    <a:t> </a:t>
                  </a:r>
                </a:p>
              </p:txBody>
            </p:sp>
          </mc:Fallback>
        </mc:AlternateContent>
      </p:grpSp>
      <p:grpSp>
        <p:nvGrpSpPr>
          <p:cNvPr id="39" name="Group 38">
            <a:extLst>
              <a:ext uri="{FF2B5EF4-FFF2-40B4-BE49-F238E27FC236}">
                <a16:creationId xmlns:a16="http://schemas.microsoft.com/office/drawing/2014/main" id="{CE691802-5021-B1A7-F1F6-39E7F75C915E}"/>
              </a:ext>
            </a:extLst>
          </p:cNvPr>
          <p:cNvGrpSpPr/>
          <p:nvPr/>
        </p:nvGrpSpPr>
        <p:grpSpPr>
          <a:xfrm>
            <a:off x="1372015" y="3291047"/>
            <a:ext cx="1196929" cy="649840"/>
            <a:chOff x="1395171" y="2429958"/>
            <a:chExt cx="1196929" cy="649840"/>
          </a:xfrm>
        </p:grpSpPr>
        <p:sp>
          <p:nvSpPr>
            <p:cNvPr id="30" name="TextBox 29">
              <a:extLst>
                <a:ext uri="{FF2B5EF4-FFF2-40B4-BE49-F238E27FC236}">
                  <a16:creationId xmlns:a16="http://schemas.microsoft.com/office/drawing/2014/main" id="{D5073EE4-2FAB-CBE6-7AA0-B1DBD638D1C6}"/>
                </a:ext>
              </a:extLst>
            </p:cNvPr>
            <p:cNvSpPr txBox="1"/>
            <p:nvPr/>
          </p:nvSpPr>
          <p:spPr>
            <a:xfrm>
              <a:off x="1449100" y="2772021"/>
              <a:ext cx="1143000" cy="307777"/>
            </a:xfrm>
            <a:prstGeom prst="rect">
              <a:avLst/>
            </a:prstGeom>
            <a:noFill/>
          </p:spPr>
          <p:txBody>
            <a:bodyPr wrap="square">
              <a:spAutoFit/>
            </a:bodyPr>
            <a:lstStyle/>
            <a:p>
              <a:r>
                <a:rPr lang="en-US" sz="1400" dirty="0">
                  <a:cs typeface="Calibri" panose="020F0502020204030204" pitchFamily="34" charset="0"/>
                </a:rPr>
                <a:t>Action</a:t>
              </a:r>
            </a:p>
          </p:txBody>
        </p:sp>
        <mc:AlternateContent xmlns:mc="http://schemas.openxmlformats.org/markup-compatibility/2006" xmlns:a14="http://schemas.microsoft.com/office/drawing/2010/main">
          <mc:Choice Requires="a14">
            <p:sp>
              <p:nvSpPr>
                <p:cNvPr id="34" name="TextBox 26">
                  <a:extLst>
                    <a:ext uri="{FF2B5EF4-FFF2-40B4-BE49-F238E27FC236}">
                      <a16:creationId xmlns:a16="http://schemas.microsoft.com/office/drawing/2014/main" id="{9992A9EF-4D94-2B4B-816F-FD6DCBA456B4}"/>
                    </a:ext>
                  </a:extLst>
                </p:cNvPr>
                <p:cNvSpPr txBox="1"/>
                <p:nvPr/>
              </p:nvSpPr>
              <p:spPr>
                <a:xfrm>
                  <a:off x="1395171" y="2429958"/>
                  <a:ext cx="759245" cy="461665"/>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𝒑</m:t>
                            </m:r>
                          </m:e>
                          <m:sub>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𝒕</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𝟏</m:t>
                            </m:r>
                          </m:sub>
                        </m:sSub>
                      </m:oMath>
                    </m:oMathPara>
                  </a14:m>
                  <a:endParaRPr lang="en-US" sz="2400" b="1" dirty="0">
                    <a:solidFill>
                      <a:srgbClr val="C00000"/>
                    </a:solidFill>
                    <a:cs typeface="Calibri" panose="020F0502020204030204" pitchFamily="34" charset="0"/>
                  </a:endParaRPr>
                </a:p>
              </p:txBody>
            </p:sp>
          </mc:Choice>
          <mc:Fallback xmlns="">
            <p:sp>
              <p:nvSpPr>
                <p:cNvPr id="34" name="TextBox 26">
                  <a:extLst>
                    <a:ext uri="{FF2B5EF4-FFF2-40B4-BE49-F238E27FC236}">
                      <a16:creationId xmlns:a16="http://schemas.microsoft.com/office/drawing/2014/main" id="{9992A9EF-4D94-2B4B-816F-FD6DCBA456B4}"/>
                    </a:ext>
                  </a:extLst>
                </p:cNvPr>
                <p:cNvSpPr txBox="1">
                  <a:spLocks noRot="1" noChangeAspect="1" noMove="1" noResize="1" noEditPoints="1" noAdjustHandles="1" noChangeArrowheads="1" noChangeShapeType="1" noTextEdit="1"/>
                </p:cNvSpPr>
                <p:nvPr/>
              </p:nvSpPr>
              <p:spPr>
                <a:xfrm>
                  <a:off x="1395171" y="2429958"/>
                  <a:ext cx="759245" cy="461665"/>
                </a:xfrm>
                <a:prstGeom prst="rect">
                  <a:avLst/>
                </a:prstGeom>
                <a:blipFill>
                  <a:blip r:embed="rId12"/>
                  <a:stretch>
                    <a:fillRect l="-3333" b="-10811"/>
                  </a:stretch>
                </a:blipFill>
              </p:spPr>
              <p:txBody>
                <a:bodyPr/>
                <a:lstStyle/>
                <a:p>
                  <a:r>
                    <a:rPr lang="en-US">
                      <a:noFill/>
                    </a:rPr>
                    <a:t> </a:t>
                  </a:r>
                </a:p>
              </p:txBody>
            </p:sp>
          </mc:Fallback>
        </mc:AlternateContent>
      </p:grpSp>
      <p:grpSp>
        <p:nvGrpSpPr>
          <p:cNvPr id="41" name="Group 40">
            <a:extLst>
              <a:ext uri="{FF2B5EF4-FFF2-40B4-BE49-F238E27FC236}">
                <a16:creationId xmlns:a16="http://schemas.microsoft.com/office/drawing/2014/main" id="{770A3A36-551D-D3EF-3F9F-A949723B0909}"/>
              </a:ext>
            </a:extLst>
          </p:cNvPr>
          <p:cNvGrpSpPr/>
          <p:nvPr/>
        </p:nvGrpSpPr>
        <p:grpSpPr>
          <a:xfrm>
            <a:off x="3152764" y="3307686"/>
            <a:ext cx="944189" cy="642258"/>
            <a:chOff x="3175920" y="2446597"/>
            <a:chExt cx="944189" cy="642258"/>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D9803E9-F43E-6430-C418-7E94CE556177}"/>
                    </a:ext>
                  </a:extLst>
                </p:cNvPr>
                <p:cNvSpPr txBox="1"/>
                <p:nvPr/>
              </p:nvSpPr>
              <p:spPr>
                <a:xfrm>
                  <a:off x="3418690" y="2446597"/>
                  <a:ext cx="52238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𝒒</m:t>
                            </m:r>
                          </m:e>
                          <m:sub>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𝒕</m:t>
                            </m:r>
                          </m:sub>
                        </m:sSub>
                      </m:oMath>
                    </m:oMathPara>
                  </a14:m>
                  <a:endParaRPr lang="en-US" sz="2400" b="1" dirty="0">
                    <a:solidFill>
                      <a:srgbClr val="C00000"/>
                    </a:solidFill>
                    <a:cs typeface="Calibri" panose="020F0502020204030204" pitchFamily="34" charset="0"/>
                  </a:endParaRPr>
                </a:p>
              </p:txBody>
            </p:sp>
          </mc:Choice>
          <mc:Fallback xmlns="">
            <p:sp>
              <p:nvSpPr>
                <p:cNvPr id="32" name="TextBox 31">
                  <a:extLst>
                    <a:ext uri="{FF2B5EF4-FFF2-40B4-BE49-F238E27FC236}">
                      <a16:creationId xmlns:a16="http://schemas.microsoft.com/office/drawing/2014/main" id="{FD9803E9-F43E-6430-C418-7E94CE556177}"/>
                    </a:ext>
                  </a:extLst>
                </p:cNvPr>
                <p:cNvSpPr txBox="1">
                  <a:spLocks noRot="1" noChangeAspect="1" noMove="1" noResize="1" noEditPoints="1" noAdjustHandles="1" noChangeArrowheads="1" noChangeShapeType="1" noTextEdit="1"/>
                </p:cNvSpPr>
                <p:nvPr/>
              </p:nvSpPr>
              <p:spPr>
                <a:xfrm>
                  <a:off x="3418690" y="2446597"/>
                  <a:ext cx="522386" cy="461665"/>
                </a:xfrm>
                <a:prstGeom prst="rect">
                  <a:avLst/>
                </a:prstGeom>
                <a:blipFill>
                  <a:blip r:embed="rId13"/>
                  <a:stretch>
                    <a:fillRect b="-10811"/>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380BEFE5-B014-ABBA-E7F8-B18831CF34B4}"/>
                </a:ext>
              </a:extLst>
            </p:cNvPr>
            <p:cNvSpPr txBox="1"/>
            <p:nvPr/>
          </p:nvSpPr>
          <p:spPr>
            <a:xfrm>
              <a:off x="3175920" y="2781078"/>
              <a:ext cx="944189" cy="307777"/>
            </a:xfrm>
            <a:prstGeom prst="rect">
              <a:avLst/>
            </a:prstGeom>
            <a:noFill/>
          </p:spPr>
          <p:txBody>
            <a:bodyPr wrap="square">
              <a:spAutoFit/>
            </a:bodyPr>
            <a:lstStyle/>
            <a:p>
              <a:r>
                <a:rPr lang="en-US" sz="1400" dirty="0">
                  <a:cs typeface="Calibri" panose="020F0502020204030204" pitchFamily="34" charset="0"/>
                </a:rPr>
                <a:t>Stage cost </a:t>
              </a:r>
            </a:p>
          </p:txBody>
        </p:sp>
      </p:grpSp>
      <p:grpSp>
        <p:nvGrpSpPr>
          <p:cNvPr id="43" name="Group 42">
            <a:extLst>
              <a:ext uri="{FF2B5EF4-FFF2-40B4-BE49-F238E27FC236}">
                <a16:creationId xmlns:a16="http://schemas.microsoft.com/office/drawing/2014/main" id="{4939923E-DF6E-36C1-5423-3D06ED1925F6}"/>
              </a:ext>
            </a:extLst>
          </p:cNvPr>
          <p:cNvGrpSpPr/>
          <p:nvPr/>
        </p:nvGrpSpPr>
        <p:grpSpPr>
          <a:xfrm>
            <a:off x="3936143" y="3300406"/>
            <a:ext cx="1271714" cy="639080"/>
            <a:chOff x="3959299" y="2439317"/>
            <a:chExt cx="1271714" cy="639080"/>
          </a:xfrm>
        </p:grpSpPr>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D71DC15-A96F-75A4-5434-446DA6966BE3}"/>
                    </a:ext>
                  </a:extLst>
                </p:cNvPr>
                <p:cNvSpPr txBox="1"/>
                <p:nvPr/>
              </p:nvSpPr>
              <p:spPr>
                <a:xfrm>
                  <a:off x="4280919" y="2439317"/>
                  <a:ext cx="57475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𝒗</m:t>
                            </m:r>
                          </m:e>
                          <m:sub>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𝒕</m:t>
                            </m:r>
                          </m:sub>
                        </m:sSub>
                      </m:oMath>
                    </m:oMathPara>
                  </a14:m>
                  <a:endParaRPr lang="en-US" sz="2400" b="1" dirty="0">
                    <a:solidFill>
                      <a:srgbClr val="C00000"/>
                    </a:solidFill>
                    <a:cs typeface="Calibri" panose="020F0502020204030204" pitchFamily="34" charset="0"/>
                  </a:endParaRPr>
                </a:p>
              </p:txBody>
            </p:sp>
          </mc:Choice>
          <mc:Fallback xmlns="">
            <p:sp>
              <p:nvSpPr>
                <p:cNvPr id="35" name="TextBox 34">
                  <a:extLst>
                    <a:ext uri="{FF2B5EF4-FFF2-40B4-BE49-F238E27FC236}">
                      <a16:creationId xmlns:a16="http://schemas.microsoft.com/office/drawing/2014/main" id="{2D71DC15-A96F-75A4-5434-446DA6966BE3}"/>
                    </a:ext>
                  </a:extLst>
                </p:cNvPr>
                <p:cNvSpPr txBox="1">
                  <a:spLocks noRot="1" noChangeAspect="1" noMove="1" noResize="1" noEditPoints="1" noAdjustHandles="1" noChangeArrowheads="1" noChangeShapeType="1" noTextEdit="1"/>
                </p:cNvSpPr>
                <p:nvPr/>
              </p:nvSpPr>
              <p:spPr>
                <a:xfrm>
                  <a:off x="4280919" y="2439317"/>
                  <a:ext cx="574751" cy="461665"/>
                </a:xfrm>
                <a:prstGeom prst="rect">
                  <a:avLst/>
                </a:prstGeom>
                <a:blipFill>
                  <a:blip r:embed="rId14"/>
                  <a:stretch>
                    <a:fillRect b="-2632"/>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40A3D940-C288-D4E9-B3C2-FFDFAD6DCBC9}"/>
                </a:ext>
              </a:extLst>
            </p:cNvPr>
            <p:cNvSpPr txBox="1"/>
            <p:nvPr/>
          </p:nvSpPr>
          <p:spPr>
            <a:xfrm>
              <a:off x="3959299" y="2770620"/>
              <a:ext cx="1271714" cy="307777"/>
            </a:xfrm>
            <a:prstGeom prst="rect">
              <a:avLst/>
            </a:prstGeom>
            <a:noFill/>
          </p:spPr>
          <p:txBody>
            <a:bodyPr wrap="square">
              <a:spAutoFit/>
            </a:bodyPr>
            <a:lstStyle/>
            <a:p>
              <a:r>
                <a:rPr lang="en-US" sz="1400" dirty="0">
                  <a:cs typeface="Calibri" panose="020F0502020204030204" pitchFamily="34" charset="0"/>
                </a:rPr>
                <a:t>Value function</a:t>
              </a:r>
            </a:p>
          </p:txBody>
        </p:sp>
      </p:grpSp>
      <p:sp>
        <p:nvSpPr>
          <p:cNvPr id="44" name="Block Arc 43">
            <a:extLst>
              <a:ext uri="{FF2B5EF4-FFF2-40B4-BE49-F238E27FC236}">
                <a16:creationId xmlns:a16="http://schemas.microsoft.com/office/drawing/2014/main" id="{EB2F0DD0-CF77-5AAF-E2E6-056DF4294726}"/>
              </a:ext>
            </a:extLst>
          </p:cNvPr>
          <p:cNvSpPr/>
          <p:nvPr/>
        </p:nvSpPr>
        <p:spPr>
          <a:xfrm>
            <a:off x="873057" y="3239658"/>
            <a:ext cx="768864" cy="392751"/>
          </a:xfrm>
          <a:prstGeom prst="blockArc">
            <a:avLst>
              <a:gd name="adj1" fmla="val 10800000"/>
              <a:gd name="adj2" fmla="val 118008"/>
              <a:gd name="adj3" fmla="val 10882"/>
            </a:avLst>
          </a:prstGeom>
          <a:solidFill>
            <a:schemeClr val="accent6">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51" name="Block Arc 50">
            <a:extLst>
              <a:ext uri="{FF2B5EF4-FFF2-40B4-BE49-F238E27FC236}">
                <a16:creationId xmlns:a16="http://schemas.microsoft.com/office/drawing/2014/main" id="{A988B928-8DD5-9C93-FCB6-4C0551FB7826}"/>
              </a:ext>
            </a:extLst>
          </p:cNvPr>
          <p:cNvSpPr/>
          <p:nvPr/>
        </p:nvSpPr>
        <p:spPr>
          <a:xfrm>
            <a:off x="1792090" y="3239892"/>
            <a:ext cx="768864" cy="392751"/>
          </a:xfrm>
          <a:prstGeom prst="blockArc">
            <a:avLst>
              <a:gd name="adj1" fmla="val 10800000"/>
              <a:gd name="adj2" fmla="val 118008"/>
              <a:gd name="adj3" fmla="val 10882"/>
            </a:avLst>
          </a:prstGeom>
          <a:solidFill>
            <a:schemeClr val="accent3">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accent3">
                  <a:lumMod val="75000"/>
                </a:schemeClr>
              </a:solidFill>
            </a:endParaRPr>
          </a:p>
        </p:txBody>
      </p:sp>
      <p:sp>
        <p:nvSpPr>
          <p:cNvPr id="52" name="Block Arc 51">
            <a:extLst>
              <a:ext uri="{FF2B5EF4-FFF2-40B4-BE49-F238E27FC236}">
                <a16:creationId xmlns:a16="http://schemas.microsoft.com/office/drawing/2014/main" id="{EB2F0DD0-CF77-5AAF-E2E6-056DF4294726}"/>
              </a:ext>
            </a:extLst>
          </p:cNvPr>
          <p:cNvSpPr/>
          <p:nvPr/>
        </p:nvSpPr>
        <p:spPr>
          <a:xfrm>
            <a:off x="2774875" y="3235254"/>
            <a:ext cx="768864" cy="392751"/>
          </a:xfrm>
          <a:prstGeom prst="blockArc">
            <a:avLst>
              <a:gd name="adj1" fmla="val 10800000"/>
              <a:gd name="adj2" fmla="val 118008"/>
              <a:gd name="adj3" fmla="val 10882"/>
            </a:avLst>
          </a:prstGeom>
          <a:solidFill>
            <a:schemeClr val="accent5">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solidFill>
                <a:schemeClr val="tx1"/>
              </a:solidFill>
            </a:endParaRPr>
          </a:p>
        </p:txBody>
      </p:sp>
      <p:sp>
        <p:nvSpPr>
          <p:cNvPr id="53" name="Block Arc 52">
            <a:extLst>
              <a:ext uri="{FF2B5EF4-FFF2-40B4-BE49-F238E27FC236}">
                <a16:creationId xmlns:a16="http://schemas.microsoft.com/office/drawing/2014/main" id="{EB2F0DD0-CF77-5AAF-E2E6-056DF4294726}"/>
              </a:ext>
            </a:extLst>
          </p:cNvPr>
          <p:cNvSpPr/>
          <p:nvPr/>
        </p:nvSpPr>
        <p:spPr>
          <a:xfrm>
            <a:off x="3730558" y="3222324"/>
            <a:ext cx="768864" cy="392751"/>
          </a:xfrm>
          <a:prstGeom prst="blockArc">
            <a:avLst>
              <a:gd name="adj1" fmla="val 10800000"/>
              <a:gd name="adj2" fmla="val 118008"/>
              <a:gd name="adj3" fmla="val 10882"/>
            </a:avLst>
          </a:prstGeom>
          <a:solidFill>
            <a:schemeClr val="accent4">
              <a:lumMod val="60000"/>
              <a:lumOff val="4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solidFill>
                <a:schemeClr val="tx1"/>
              </a:solidFill>
            </a:endParaRPr>
          </a:p>
        </p:txBody>
      </p:sp>
      <p:sp>
        <p:nvSpPr>
          <p:cNvPr id="56" name="Up-Down Arrow 55">
            <a:extLst>
              <a:ext uri="{FF2B5EF4-FFF2-40B4-BE49-F238E27FC236}">
                <a16:creationId xmlns:a16="http://schemas.microsoft.com/office/drawing/2014/main" id="{46DA5ADA-0D20-10BC-6DE8-8A3B0EE9CA5E}"/>
              </a:ext>
            </a:extLst>
          </p:cNvPr>
          <p:cNvSpPr/>
          <p:nvPr/>
        </p:nvSpPr>
        <p:spPr>
          <a:xfrm rot="5400000">
            <a:off x="1986423" y="3816608"/>
            <a:ext cx="196311" cy="1142999"/>
          </a:xfrm>
          <a:prstGeom prst="upDownArrow">
            <a:avLst>
              <a:gd name="adj1" fmla="val 36103"/>
              <a:gd name="adj2" fmla="val 129929"/>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58" name="TextBox 57">
            <a:extLst>
              <a:ext uri="{FF2B5EF4-FFF2-40B4-BE49-F238E27FC236}">
                <a16:creationId xmlns:a16="http://schemas.microsoft.com/office/drawing/2014/main" id="{E34A7527-3BC8-1926-5B59-8EB49B535D66}"/>
              </a:ext>
            </a:extLst>
          </p:cNvPr>
          <p:cNvSpPr txBox="1"/>
          <p:nvPr/>
        </p:nvSpPr>
        <p:spPr>
          <a:xfrm>
            <a:off x="1871524" y="3994502"/>
            <a:ext cx="428114" cy="769441"/>
          </a:xfrm>
          <a:prstGeom prst="rect">
            <a:avLst/>
          </a:prstGeom>
          <a:noFill/>
        </p:spPr>
        <p:txBody>
          <a:bodyPr wrap="square">
            <a:spAutoFit/>
          </a:bodyPr>
          <a:lstStyle/>
          <a:p>
            <a:r>
              <a:rPr lang="en-US" sz="4400" dirty="0">
                <a:solidFill>
                  <a:srgbClr val="C00000"/>
                </a:solidFill>
                <a:cs typeface="Calibri" panose="020F0502020204030204" pitchFamily="34" charset="0"/>
              </a:rPr>
              <a:t>?</a:t>
            </a:r>
          </a:p>
        </p:txBody>
      </p:sp>
      <p:sp>
        <p:nvSpPr>
          <p:cNvPr id="59" name="TextBox 58">
            <a:extLst>
              <a:ext uri="{FF2B5EF4-FFF2-40B4-BE49-F238E27FC236}">
                <a16:creationId xmlns:a16="http://schemas.microsoft.com/office/drawing/2014/main" id="{DC0403AD-1A7A-E4AA-B52A-896BB22FCEC6}"/>
              </a:ext>
            </a:extLst>
          </p:cNvPr>
          <p:cNvSpPr txBox="1"/>
          <p:nvPr/>
        </p:nvSpPr>
        <p:spPr>
          <a:xfrm>
            <a:off x="2679260" y="2903424"/>
            <a:ext cx="949652" cy="307777"/>
          </a:xfrm>
          <a:prstGeom prst="rect">
            <a:avLst/>
          </a:prstGeom>
          <a:noFill/>
        </p:spPr>
        <p:txBody>
          <a:bodyPr wrap="square">
            <a:spAutoFit/>
          </a:bodyPr>
          <a:lstStyle/>
          <a:p>
            <a:r>
              <a:rPr lang="en-US" sz="1400" b="1" dirty="0">
                <a:solidFill>
                  <a:schemeClr val="accent5">
                    <a:lumMod val="75000"/>
                  </a:schemeClr>
                </a:solidFill>
                <a:cs typeface="Calibri" panose="020F0502020204030204" pitchFamily="34" charset="0"/>
              </a:rPr>
              <a:t>Lemma 12</a:t>
            </a:r>
          </a:p>
        </p:txBody>
      </p:sp>
      <p:sp>
        <p:nvSpPr>
          <p:cNvPr id="60" name="Rectangle 59">
            <a:extLst>
              <a:ext uri="{FF2B5EF4-FFF2-40B4-BE49-F238E27FC236}">
                <a16:creationId xmlns:a16="http://schemas.microsoft.com/office/drawing/2014/main" id="{9897B8E8-248A-3D96-B56A-78ADEA44CC5F}"/>
              </a:ext>
            </a:extLst>
          </p:cNvPr>
          <p:cNvSpPr/>
          <p:nvPr/>
        </p:nvSpPr>
        <p:spPr>
          <a:xfrm>
            <a:off x="2572339" y="1051122"/>
            <a:ext cx="486544" cy="294208"/>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dk1"/>
              </a:solidFill>
            </a:endParaRPr>
          </a:p>
        </p:txBody>
      </p:sp>
      <p:sp>
        <p:nvSpPr>
          <p:cNvPr id="61" name="Rectangle 60">
            <a:extLst>
              <a:ext uri="{FF2B5EF4-FFF2-40B4-BE49-F238E27FC236}">
                <a16:creationId xmlns:a16="http://schemas.microsoft.com/office/drawing/2014/main" id="{E385335E-D9E8-38BB-1525-8CC3BD81218D}"/>
              </a:ext>
            </a:extLst>
          </p:cNvPr>
          <p:cNvSpPr/>
          <p:nvPr/>
        </p:nvSpPr>
        <p:spPr>
          <a:xfrm>
            <a:off x="3810000" y="1037118"/>
            <a:ext cx="486544" cy="294208"/>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dk1"/>
              </a:solidFill>
            </a:endParaRPr>
          </a:p>
        </p:txBody>
      </p:sp>
      <mc:AlternateContent xmlns:mc="http://schemas.openxmlformats.org/markup-compatibility/2006" xmlns:a14="http://schemas.microsoft.com/office/drawing/2010/main">
        <mc:Choice Requires="a14">
          <p:sp>
            <p:nvSpPr>
              <p:cNvPr id="62" name="TextBox 26">
                <a:extLst>
                  <a:ext uri="{FF2B5EF4-FFF2-40B4-BE49-F238E27FC236}">
                    <a16:creationId xmlns:a16="http://schemas.microsoft.com/office/drawing/2014/main" id="{D28DA2AB-6BFB-0D9D-E735-5F95BC12A409}"/>
                  </a:ext>
                </a:extLst>
              </p:cNvPr>
              <p:cNvSpPr txBox="1"/>
              <p:nvPr/>
            </p:nvSpPr>
            <p:spPr>
              <a:xfrm>
                <a:off x="2305361" y="734973"/>
                <a:ext cx="2806227" cy="307777"/>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400" dirty="0">
                    <a:solidFill>
                      <a:srgbClr val="C00000"/>
                    </a:solidFill>
                    <a:ea typeface="Cambria Math" panose="02040503050406030204" pitchFamily="18" charset="0"/>
                    <a:cs typeface="Calibri" panose="020F0502020204030204" pitchFamily="34" charset="0"/>
                  </a:rPr>
                  <a:t>State-related cost </a:t>
                </a:r>
                <a14:m>
                  <m:oMath xmlns:m="http://schemas.openxmlformats.org/officeDocument/2006/math">
                    <m:r>
                      <a:rPr lang="en-US" sz="14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h</m:t>
                    </m:r>
                    <m:r>
                      <a:rPr lang="en-US" sz="14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m:t>
                    </m:r>
                    <m:r>
                      <a:rPr lang="en-US" sz="14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𝑐</m:t>
                    </m:r>
                    <m:r>
                      <a:rPr lang="en-US" sz="14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m:t>
                    </m:r>
                    <m:r>
                      <a:rPr lang="en-US" sz="14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𝑣</m:t>
                    </m:r>
                  </m:oMath>
                </a14:m>
                <a:endParaRPr lang="en-US" sz="1400" dirty="0">
                  <a:solidFill>
                    <a:srgbClr val="C00000"/>
                  </a:solidFill>
                  <a:cs typeface="Calibri" panose="020F0502020204030204" pitchFamily="34" charset="0"/>
                </a:endParaRPr>
              </a:p>
            </p:txBody>
          </p:sp>
        </mc:Choice>
        <mc:Fallback xmlns="">
          <p:sp>
            <p:nvSpPr>
              <p:cNvPr id="62" name="TextBox 26">
                <a:extLst>
                  <a:ext uri="{FF2B5EF4-FFF2-40B4-BE49-F238E27FC236}">
                    <a16:creationId xmlns:a16="http://schemas.microsoft.com/office/drawing/2014/main" id="{D28DA2AB-6BFB-0D9D-E735-5F95BC12A409}"/>
                  </a:ext>
                </a:extLst>
              </p:cNvPr>
              <p:cNvSpPr txBox="1">
                <a:spLocks noRot="1" noChangeAspect="1" noMove="1" noResize="1" noEditPoints="1" noAdjustHandles="1" noChangeArrowheads="1" noChangeShapeType="1" noTextEdit="1"/>
              </p:cNvSpPr>
              <p:nvPr/>
            </p:nvSpPr>
            <p:spPr>
              <a:xfrm>
                <a:off x="2305361" y="734973"/>
                <a:ext cx="2806227" cy="307777"/>
              </a:xfrm>
              <a:prstGeom prst="rect">
                <a:avLst/>
              </a:prstGeom>
              <a:blipFill>
                <a:blip r:embed="rId15"/>
                <a:stretch>
                  <a:fillRect l="-450" t="-4000" b="-20000"/>
                </a:stretch>
              </a:blipFill>
            </p:spPr>
            <p:txBody>
              <a:bodyPr/>
              <a:lstStyle/>
              <a:p>
                <a:r>
                  <a:rPr lang="en-US">
                    <a:noFill/>
                  </a:rPr>
                  <a:t> </a:t>
                </a:r>
              </a:p>
            </p:txBody>
          </p:sp>
        </mc:Fallback>
      </mc:AlternateContent>
      <p:pic>
        <p:nvPicPr>
          <p:cNvPr id="63" name="Picture 62">
            <a:extLst>
              <a:ext uri="{FF2B5EF4-FFF2-40B4-BE49-F238E27FC236}">
                <a16:creationId xmlns:a16="http://schemas.microsoft.com/office/drawing/2014/main" id="{8679CA74-42E4-FE5F-EC73-6657CD1C6CF6}"/>
              </a:ext>
            </a:extLst>
          </p:cNvPr>
          <p:cNvPicPr>
            <a:picLocks noChangeAspect="1"/>
          </p:cNvPicPr>
          <p:nvPr/>
        </p:nvPicPr>
        <p:blipFill>
          <a:blip r:embed="rId16"/>
          <a:stretch>
            <a:fillRect/>
          </a:stretch>
        </p:blipFill>
        <p:spPr>
          <a:xfrm>
            <a:off x="617993" y="2583998"/>
            <a:ext cx="1608604" cy="202225"/>
          </a:xfrm>
          <a:prstGeom prst="rect">
            <a:avLst/>
          </a:prstGeom>
        </p:spPr>
      </p:pic>
      <p:sp>
        <p:nvSpPr>
          <p:cNvPr id="32768" name="TextBox 32767">
            <a:extLst>
              <a:ext uri="{FF2B5EF4-FFF2-40B4-BE49-F238E27FC236}">
                <a16:creationId xmlns:a16="http://schemas.microsoft.com/office/drawing/2014/main" id="{A1E66E35-1F03-28FA-D2DE-5FDF21E5E41F}"/>
              </a:ext>
            </a:extLst>
          </p:cNvPr>
          <p:cNvSpPr txBox="1"/>
          <p:nvPr/>
        </p:nvSpPr>
        <p:spPr>
          <a:xfrm>
            <a:off x="1927174" y="3986433"/>
            <a:ext cx="428114" cy="769441"/>
          </a:xfrm>
          <a:prstGeom prst="rect">
            <a:avLst/>
          </a:prstGeom>
          <a:noFill/>
        </p:spPr>
        <p:txBody>
          <a:bodyPr wrap="square">
            <a:spAutoFit/>
          </a:bodyPr>
          <a:lstStyle/>
          <a:p>
            <a:r>
              <a:rPr lang="en-US" sz="4400" dirty="0">
                <a:solidFill>
                  <a:srgbClr val="C00000"/>
                </a:solidFill>
                <a:cs typeface="Calibri" panose="020F0502020204030204" pitchFamily="34" charset="0"/>
              </a:rPr>
              <a:t>X</a:t>
            </a:r>
          </a:p>
        </p:txBody>
      </p:sp>
      <p:sp>
        <p:nvSpPr>
          <p:cNvPr id="32769" name="TextBox 32768">
            <a:extLst>
              <a:ext uri="{FF2B5EF4-FFF2-40B4-BE49-F238E27FC236}">
                <a16:creationId xmlns:a16="http://schemas.microsoft.com/office/drawing/2014/main" id="{BD1ADA9A-67B1-2602-D35B-8A994C077D6B}"/>
              </a:ext>
            </a:extLst>
          </p:cNvPr>
          <p:cNvSpPr txBox="1"/>
          <p:nvPr/>
        </p:nvSpPr>
        <p:spPr>
          <a:xfrm>
            <a:off x="801197" y="2906526"/>
            <a:ext cx="949652" cy="307777"/>
          </a:xfrm>
          <a:prstGeom prst="rect">
            <a:avLst/>
          </a:prstGeom>
          <a:noFill/>
        </p:spPr>
        <p:txBody>
          <a:bodyPr wrap="square">
            <a:spAutoFit/>
          </a:bodyPr>
          <a:lstStyle/>
          <a:p>
            <a:r>
              <a:rPr lang="en-US" sz="1400" b="1" dirty="0">
                <a:solidFill>
                  <a:schemeClr val="accent6">
                    <a:lumMod val="75000"/>
                  </a:schemeClr>
                </a:solidFill>
                <a:cs typeface="Calibri" panose="020F0502020204030204" pitchFamily="34" charset="0"/>
              </a:rPr>
              <a:t>Lemma 13</a:t>
            </a:r>
          </a:p>
        </p:txBody>
      </p:sp>
      <p:pic>
        <p:nvPicPr>
          <p:cNvPr id="32774" name="Picture 32773">
            <a:extLst>
              <a:ext uri="{FF2B5EF4-FFF2-40B4-BE49-F238E27FC236}">
                <a16:creationId xmlns:a16="http://schemas.microsoft.com/office/drawing/2014/main" id="{CF0B3472-B7FD-5606-0EC6-AC7E950FF93E}"/>
              </a:ext>
            </a:extLst>
          </p:cNvPr>
          <p:cNvPicPr>
            <a:picLocks noChangeAspect="1"/>
          </p:cNvPicPr>
          <p:nvPr/>
        </p:nvPicPr>
        <p:blipFill>
          <a:blip r:embed="rId17"/>
          <a:stretch>
            <a:fillRect/>
          </a:stretch>
        </p:blipFill>
        <p:spPr>
          <a:xfrm>
            <a:off x="5266412" y="553325"/>
            <a:ext cx="3726948" cy="705129"/>
          </a:xfrm>
          <a:prstGeom prst="rect">
            <a:avLst/>
          </a:prstGeom>
        </p:spPr>
      </p:pic>
      <p:pic>
        <p:nvPicPr>
          <p:cNvPr id="32775" name="Picture 32774">
            <a:extLst>
              <a:ext uri="{FF2B5EF4-FFF2-40B4-BE49-F238E27FC236}">
                <a16:creationId xmlns:a16="http://schemas.microsoft.com/office/drawing/2014/main" id="{2963754E-DA28-9919-8083-8E63E56D27BF}"/>
              </a:ext>
            </a:extLst>
          </p:cNvPr>
          <p:cNvPicPr>
            <a:picLocks noChangeAspect="1"/>
          </p:cNvPicPr>
          <p:nvPr/>
        </p:nvPicPr>
        <p:blipFill>
          <a:blip r:embed="rId18"/>
          <a:stretch>
            <a:fillRect/>
          </a:stretch>
        </p:blipFill>
        <p:spPr>
          <a:xfrm>
            <a:off x="5244641" y="1166120"/>
            <a:ext cx="3708922" cy="1734881"/>
          </a:xfrm>
          <a:prstGeom prst="rect">
            <a:avLst/>
          </a:prstGeom>
        </p:spPr>
      </p:pic>
      <p:pic>
        <p:nvPicPr>
          <p:cNvPr id="32776" name="Picture 32775">
            <a:extLst>
              <a:ext uri="{FF2B5EF4-FFF2-40B4-BE49-F238E27FC236}">
                <a16:creationId xmlns:a16="http://schemas.microsoft.com/office/drawing/2014/main" id="{977B795A-DDEA-FB7A-4849-A80B6B161643}"/>
              </a:ext>
            </a:extLst>
          </p:cNvPr>
          <p:cNvPicPr>
            <a:picLocks noChangeAspect="1"/>
          </p:cNvPicPr>
          <p:nvPr/>
        </p:nvPicPr>
        <p:blipFill>
          <a:blip r:embed="rId19"/>
          <a:stretch>
            <a:fillRect/>
          </a:stretch>
        </p:blipFill>
        <p:spPr>
          <a:xfrm>
            <a:off x="5263508" y="2792727"/>
            <a:ext cx="3708921" cy="1244759"/>
          </a:xfrm>
          <a:prstGeom prst="rect">
            <a:avLst/>
          </a:prstGeom>
        </p:spPr>
      </p:pic>
      <p:sp>
        <p:nvSpPr>
          <p:cNvPr id="32777" name="Rectangle 32776">
            <a:extLst>
              <a:ext uri="{FF2B5EF4-FFF2-40B4-BE49-F238E27FC236}">
                <a16:creationId xmlns:a16="http://schemas.microsoft.com/office/drawing/2014/main" id="{E170EB9C-4CAA-0761-165D-F4FB3378FD48}"/>
              </a:ext>
            </a:extLst>
          </p:cNvPr>
          <p:cNvSpPr/>
          <p:nvPr/>
        </p:nvSpPr>
        <p:spPr>
          <a:xfrm>
            <a:off x="5198353" y="540495"/>
            <a:ext cx="3908769" cy="3619847"/>
          </a:xfrm>
          <a:prstGeom prst="rect">
            <a:avLst/>
          </a:prstGeom>
          <a:solidFill>
            <a:schemeClr val="tx2">
              <a:lumMod val="20000"/>
              <a:lumOff val="80000"/>
              <a:alpha val="98784"/>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32778" name="Right Arrow 32777">
            <a:extLst>
              <a:ext uri="{FF2B5EF4-FFF2-40B4-BE49-F238E27FC236}">
                <a16:creationId xmlns:a16="http://schemas.microsoft.com/office/drawing/2014/main" id="{E2B2E980-24CE-D28E-477C-BC822C0996CE}"/>
              </a:ext>
            </a:extLst>
          </p:cNvPr>
          <p:cNvSpPr/>
          <p:nvPr/>
        </p:nvSpPr>
        <p:spPr>
          <a:xfrm rot="5400000">
            <a:off x="6948418" y="4081436"/>
            <a:ext cx="273982" cy="39251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79" name="TextBox 26">
            <a:extLst>
              <a:ext uri="{FF2B5EF4-FFF2-40B4-BE49-F238E27FC236}">
                <a16:creationId xmlns:a16="http://schemas.microsoft.com/office/drawing/2014/main" id="{B03E92A3-3A65-43BB-BA37-9BAA7B8A1BCD}"/>
              </a:ext>
            </a:extLst>
          </p:cNvPr>
          <p:cNvSpPr txBox="1"/>
          <p:nvPr/>
        </p:nvSpPr>
        <p:spPr>
          <a:xfrm>
            <a:off x="5545489" y="589868"/>
            <a:ext cx="3284795"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cs typeface="Calibri" panose="020F0502020204030204" pitchFamily="34" charset="0"/>
              </a:rPr>
              <a:t>KKT conditions/optimality condition</a:t>
            </a:r>
          </a:p>
        </p:txBody>
      </p:sp>
      <mc:AlternateContent xmlns:mc="http://schemas.openxmlformats.org/markup-compatibility/2006" xmlns:a14="http://schemas.microsoft.com/office/drawing/2010/main">
        <mc:Choice Requires="a14">
          <p:sp>
            <p:nvSpPr>
              <p:cNvPr id="32780" name="TextBox 26">
                <a:extLst>
                  <a:ext uri="{FF2B5EF4-FFF2-40B4-BE49-F238E27FC236}">
                    <a16:creationId xmlns:a16="http://schemas.microsoft.com/office/drawing/2014/main" id="{E56497EF-1B21-EEDD-62BB-80CBF577D383}"/>
                  </a:ext>
                </a:extLst>
              </p:cNvPr>
              <p:cNvSpPr txBox="1"/>
              <p:nvPr/>
            </p:nvSpPr>
            <p:spPr>
              <a:xfrm>
                <a:off x="5418170" y="932392"/>
                <a:ext cx="3528123"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𝝀</m:t>
                          </m:r>
                        </m:e>
                        <m:sub>
                          <m:r>
                            <a:rPr lang="en-US" sz="1600" b="1"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𝒕</m:t>
                          </m:r>
                          <m:r>
                            <a:rPr lang="en-US" sz="1600" b="1"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r>
                            <a:rPr lang="en-US" sz="1600" b="1"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sSub>
                        <m:sSubPr>
                          <m:ctrlPr>
                            <a:rPr lang="en-US" sz="1600" b="1" i="1">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latin typeface="Cambria Math" panose="02040503050406030204" pitchFamily="18" charset="0"/>
                              <a:ea typeface="Cambria Math" panose="02040503050406030204" pitchFamily="18" charset="0"/>
                              <a:cs typeface="Calibri" panose="020F0502020204030204" pitchFamily="34" charset="0"/>
                            </a:rPr>
                            <m:t>𝒈</m:t>
                          </m:r>
                        </m:e>
                        <m:sub>
                          <m:r>
                            <a:rPr lang="en-US" sz="1600" b="1" i="1" smtClean="0">
                              <a:latin typeface="Cambria Math" panose="02040503050406030204" pitchFamily="18" charset="0"/>
                              <a:ea typeface="Cambria Math" panose="02040503050406030204" pitchFamily="18" charset="0"/>
                              <a:cs typeface="Calibri" panose="020F0502020204030204" pitchFamily="34" charset="0"/>
                            </a:rPr>
                            <m:t>𝒕</m:t>
                          </m:r>
                          <m:r>
                            <a:rPr lang="en-US" sz="1600" b="1" i="1" smtClean="0">
                              <a:latin typeface="Cambria Math" panose="02040503050406030204" pitchFamily="18" charset="0"/>
                              <a:ea typeface="Cambria Math" panose="02040503050406030204" pitchFamily="18" charset="0"/>
                              <a:cs typeface="Calibri" panose="020F0502020204030204" pitchFamily="34" charset="0"/>
                            </a:rPr>
                            <m:t>+</m:t>
                          </m:r>
                          <m:r>
                            <a:rPr lang="en-US" sz="1600" b="1" i="1" smtClean="0">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smtClean="0">
                          <a:latin typeface="Cambria Math" panose="02040503050406030204" pitchFamily="18" charset="0"/>
                          <a:ea typeface="Cambria Math" panose="02040503050406030204" pitchFamily="18" charset="0"/>
                          <a:cs typeface="Calibri" panose="020F0502020204030204" pitchFamily="34" charset="0"/>
                        </a:rPr>
                        <m:t>(</m:t>
                      </m:r>
                      <m:sSub>
                        <m:sSubPr>
                          <m:ctrlPr>
                            <a:rPr lang="en-US" sz="1600" b="1" i="1">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latin typeface="Cambria Math" panose="02040503050406030204" pitchFamily="18" charset="0"/>
                              <a:ea typeface="Cambria Math" panose="02040503050406030204" pitchFamily="18" charset="0"/>
                              <a:cs typeface="Calibri" panose="020F0502020204030204" pitchFamily="34" charset="0"/>
                            </a:rPr>
                            <m:t>𝒑</m:t>
                          </m:r>
                        </m:e>
                        <m:sub>
                          <m:r>
                            <a:rPr lang="en-US" sz="1600" b="1" i="1" smtClean="0">
                              <a:latin typeface="Cambria Math" panose="02040503050406030204" pitchFamily="18" charset="0"/>
                              <a:ea typeface="Cambria Math" panose="02040503050406030204" pitchFamily="18" charset="0"/>
                              <a:cs typeface="Calibri" panose="020F0502020204030204" pitchFamily="34" charset="0"/>
                            </a:rPr>
                            <m:t>𝒕</m:t>
                          </m:r>
                          <m:r>
                            <a:rPr lang="en-US" sz="1600" b="1" i="1" smtClean="0">
                              <a:latin typeface="Cambria Math" panose="02040503050406030204" pitchFamily="18" charset="0"/>
                              <a:ea typeface="Cambria Math" panose="02040503050406030204" pitchFamily="18" charset="0"/>
                              <a:cs typeface="Calibri" panose="020F0502020204030204" pitchFamily="34" charset="0"/>
                            </a:rPr>
                            <m:t>+</m:t>
                          </m:r>
                          <m:r>
                            <a:rPr lang="en-US" sz="1600" b="1" i="1" smtClean="0">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smtClean="0">
                          <a:latin typeface="Cambria Math" panose="02040503050406030204" pitchFamily="18" charset="0"/>
                          <a:ea typeface="Cambria Math" panose="02040503050406030204" pitchFamily="18" charset="0"/>
                          <a:cs typeface="Calibri" panose="020F0502020204030204" pitchFamily="34" charset="0"/>
                        </a:rPr>
                        <m:t>)+</m:t>
                      </m:r>
                      <m:sSub>
                        <m:sSubPr>
                          <m:ctrlPr>
                            <a:rPr lang="en-US" sz="1600" b="1" i="1">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latin typeface="Cambria Math" panose="02040503050406030204" pitchFamily="18" charset="0"/>
                              <a:ea typeface="Cambria Math" panose="02040503050406030204" pitchFamily="18" charset="0"/>
                              <a:cs typeface="Calibri" panose="020F0502020204030204" pitchFamily="34" charset="0"/>
                            </a:rPr>
                            <m:t>𝒉</m:t>
                          </m:r>
                        </m:e>
                        <m:sub>
                          <m:r>
                            <a:rPr lang="en-US" sz="1600" b="1" i="1" smtClean="0">
                              <a:latin typeface="Cambria Math" panose="02040503050406030204" pitchFamily="18" charset="0"/>
                              <a:ea typeface="Cambria Math" panose="02040503050406030204" pitchFamily="18" charset="0"/>
                              <a:cs typeface="Calibri" panose="020F0502020204030204" pitchFamily="34" charset="0"/>
                            </a:rPr>
                            <m:t>𝒕</m:t>
                          </m:r>
                          <m:r>
                            <a:rPr lang="en-US" sz="1600" b="1" i="1" smtClean="0">
                              <a:latin typeface="Cambria Math" panose="02040503050406030204" pitchFamily="18" charset="0"/>
                              <a:ea typeface="Cambria Math" panose="02040503050406030204" pitchFamily="18" charset="0"/>
                              <a:cs typeface="Calibri" panose="020F0502020204030204" pitchFamily="34" charset="0"/>
                            </a:rPr>
                            <m:t>+</m:t>
                          </m:r>
                          <m:r>
                            <a:rPr lang="en-US" sz="1600" b="1" i="1" smtClean="0">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smtClean="0">
                          <a:latin typeface="Cambria Math" panose="02040503050406030204" pitchFamily="18" charset="0"/>
                          <a:ea typeface="Cambria Math" panose="02040503050406030204" pitchFamily="18" charset="0"/>
                          <a:cs typeface="Calibri" panose="020F0502020204030204" pitchFamily="34" charset="0"/>
                        </a:rPr>
                        <m:t>(</m:t>
                      </m:r>
                      <m:sSub>
                        <m:sSubPr>
                          <m:ctrlPr>
                            <a:rPr lang="en-US" sz="1600" b="1" i="1">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latin typeface="Cambria Math" panose="02040503050406030204" pitchFamily="18" charset="0"/>
                              <a:ea typeface="Cambria Math" panose="02040503050406030204" pitchFamily="18" charset="0"/>
                              <a:cs typeface="Calibri" panose="020F0502020204030204" pitchFamily="34" charset="0"/>
                            </a:rPr>
                            <m:t>𝒙</m:t>
                          </m:r>
                        </m:e>
                        <m:sub>
                          <m:r>
                            <a:rPr lang="en-US" sz="1600" b="1" i="1" smtClean="0">
                              <a:latin typeface="Cambria Math" panose="02040503050406030204" pitchFamily="18" charset="0"/>
                              <a:ea typeface="Cambria Math" panose="02040503050406030204" pitchFamily="18" charset="0"/>
                              <a:cs typeface="Calibri" panose="020F0502020204030204" pitchFamily="34" charset="0"/>
                            </a:rPr>
                            <m:t>𝒕</m:t>
                          </m:r>
                          <m:r>
                            <a:rPr lang="en-US" sz="1600" b="1" i="1" smtClean="0">
                              <a:latin typeface="Cambria Math" panose="02040503050406030204" pitchFamily="18" charset="0"/>
                              <a:ea typeface="Cambria Math" panose="02040503050406030204" pitchFamily="18" charset="0"/>
                              <a:cs typeface="Calibri" panose="020F0502020204030204" pitchFamily="34" charset="0"/>
                            </a:rPr>
                            <m:t>+</m:t>
                          </m:r>
                          <m:r>
                            <a:rPr lang="en-US" sz="1600" b="1" i="1" smtClean="0">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smtClean="0">
                          <a:latin typeface="Cambria Math" panose="02040503050406030204" pitchFamily="18" charset="0"/>
                          <a:ea typeface="Cambria Math" panose="02040503050406030204" pitchFamily="18" charset="0"/>
                          <a:cs typeface="Calibri" panose="020F0502020204030204" pitchFamily="34" charset="0"/>
                        </a:rPr>
                        <m:t>)=</m:t>
                      </m:r>
                      <m:r>
                        <a:rPr lang="en-US" sz="1600" b="1" i="1" smtClean="0">
                          <a:latin typeface="Cambria Math" panose="02040503050406030204" pitchFamily="18" charset="0"/>
                          <a:ea typeface="Cambria Math" panose="02040503050406030204" pitchFamily="18" charset="0"/>
                          <a:cs typeface="Calibri" panose="020F0502020204030204" pitchFamily="34" charset="0"/>
                        </a:rPr>
                        <m:t>𝟎</m:t>
                      </m:r>
                    </m:oMath>
                  </m:oMathPara>
                </a14:m>
                <a:endParaRPr lang="en-US" sz="1600" b="1" dirty="0">
                  <a:solidFill>
                    <a:schemeClr val="tx1"/>
                  </a:solidFill>
                  <a:cs typeface="Calibri" panose="020F0502020204030204" pitchFamily="34" charset="0"/>
                </a:endParaRPr>
              </a:p>
            </p:txBody>
          </p:sp>
        </mc:Choice>
        <mc:Fallback xmlns="">
          <p:sp>
            <p:nvSpPr>
              <p:cNvPr id="32780" name="TextBox 26">
                <a:extLst>
                  <a:ext uri="{FF2B5EF4-FFF2-40B4-BE49-F238E27FC236}">
                    <a16:creationId xmlns:a16="http://schemas.microsoft.com/office/drawing/2014/main" id="{E56497EF-1B21-EEDD-62BB-80CBF577D383}"/>
                  </a:ext>
                </a:extLst>
              </p:cNvPr>
              <p:cNvSpPr txBox="1">
                <a:spLocks noRot="1" noChangeAspect="1" noMove="1" noResize="1" noEditPoints="1" noAdjustHandles="1" noChangeArrowheads="1" noChangeShapeType="1" noTextEdit="1"/>
              </p:cNvSpPr>
              <p:nvPr/>
            </p:nvSpPr>
            <p:spPr>
              <a:xfrm>
                <a:off x="5418170" y="932392"/>
                <a:ext cx="3528123" cy="338554"/>
              </a:xfrm>
              <a:prstGeom prst="rect">
                <a:avLst/>
              </a:prstGeom>
              <a:blipFill>
                <a:blip r:embed="rId20"/>
                <a:stretch>
                  <a:fillRect b="-14815"/>
                </a:stretch>
              </a:blipFill>
            </p:spPr>
            <p:txBody>
              <a:bodyPr/>
              <a:lstStyle/>
              <a:p>
                <a:r>
                  <a:rPr lang="en-US">
                    <a:noFill/>
                  </a:rPr>
                  <a:t> </a:t>
                </a:r>
              </a:p>
            </p:txBody>
          </p:sp>
        </mc:Fallback>
      </mc:AlternateContent>
      <p:sp>
        <p:nvSpPr>
          <p:cNvPr id="32781" name="TextBox 32780">
            <a:extLst>
              <a:ext uri="{FF2B5EF4-FFF2-40B4-BE49-F238E27FC236}">
                <a16:creationId xmlns:a16="http://schemas.microsoft.com/office/drawing/2014/main" id="{929F9DC2-32EC-AC57-9B38-B77A01FAB974}"/>
              </a:ext>
            </a:extLst>
          </p:cNvPr>
          <p:cNvSpPr txBox="1"/>
          <p:nvPr/>
        </p:nvSpPr>
        <p:spPr>
          <a:xfrm>
            <a:off x="1740229" y="2907845"/>
            <a:ext cx="949652" cy="307777"/>
          </a:xfrm>
          <a:prstGeom prst="rect">
            <a:avLst/>
          </a:prstGeom>
          <a:noFill/>
        </p:spPr>
        <p:txBody>
          <a:bodyPr wrap="square">
            <a:spAutoFit/>
          </a:bodyPr>
          <a:lstStyle/>
          <a:p>
            <a:r>
              <a:rPr lang="en-US" sz="1400" b="1" dirty="0">
                <a:solidFill>
                  <a:schemeClr val="accent3">
                    <a:lumMod val="75000"/>
                  </a:schemeClr>
                </a:solidFill>
                <a:cs typeface="Calibri" panose="020F0502020204030204" pitchFamily="34" charset="0"/>
              </a:rPr>
              <a:t>Lemma 14</a:t>
            </a:r>
          </a:p>
        </p:txBody>
      </p:sp>
      <p:sp>
        <p:nvSpPr>
          <p:cNvPr id="32783" name="Down Arrow 32782">
            <a:extLst>
              <a:ext uri="{FF2B5EF4-FFF2-40B4-BE49-F238E27FC236}">
                <a16:creationId xmlns:a16="http://schemas.microsoft.com/office/drawing/2014/main" id="{B26AE95A-20B9-426B-CB11-306DE528D6D8}"/>
              </a:ext>
            </a:extLst>
          </p:cNvPr>
          <p:cNvSpPr/>
          <p:nvPr/>
        </p:nvSpPr>
        <p:spPr>
          <a:xfrm>
            <a:off x="7880150" y="1556418"/>
            <a:ext cx="392511" cy="30963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84" name="TextBox 26">
            <a:extLst>
              <a:ext uri="{FF2B5EF4-FFF2-40B4-BE49-F238E27FC236}">
                <a16:creationId xmlns:a16="http://schemas.microsoft.com/office/drawing/2014/main" id="{7769BB7D-6109-F47A-6CAA-8521A5E7CE4E}"/>
              </a:ext>
            </a:extLst>
          </p:cNvPr>
          <p:cNvSpPr txBox="1"/>
          <p:nvPr/>
        </p:nvSpPr>
        <p:spPr>
          <a:xfrm>
            <a:off x="7162800" y="1885216"/>
            <a:ext cx="2115644"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solidFill>
                  <a:schemeClr val="accent5">
                    <a:lumMod val="75000"/>
                  </a:schemeClr>
                </a:solidFill>
                <a:cs typeface="Calibri" panose="020F0502020204030204" pitchFamily="34" charset="0"/>
              </a:rPr>
              <a:t>First-order derivative</a:t>
            </a:r>
          </a:p>
        </p:txBody>
      </p:sp>
      <mc:AlternateContent xmlns:mc="http://schemas.openxmlformats.org/markup-compatibility/2006" xmlns:a14="http://schemas.microsoft.com/office/drawing/2010/main">
        <mc:Choice Requires="a14">
          <p:sp>
            <p:nvSpPr>
              <p:cNvPr id="32785" name="TextBox 26">
                <a:extLst>
                  <a:ext uri="{FF2B5EF4-FFF2-40B4-BE49-F238E27FC236}">
                    <a16:creationId xmlns:a16="http://schemas.microsoft.com/office/drawing/2014/main" id="{D2958679-FFAA-18E1-3650-592EA562934C}"/>
                  </a:ext>
                </a:extLst>
              </p:cNvPr>
              <p:cNvSpPr txBox="1"/>
              <p:nvPr/>
            </p:nvSpPr>
            <p:spPr>
              <a:xfrm>
                <a:off x="7040212" y="2198390"/>
                <a:ext cx="2115644" cy="601960"/>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𝒒</m:t>
                          </m:r>
                        </m:e>
                        <m:sub>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sub>
                      </m:sSub>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m:t>
                      </m:r>
                      <m:f>
                        <m:fPr>
                          <m:ctrlP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ctrlPr>
                        </m:fPr>
                        <m:num>
                          <m:sSub>
                            <m:sSubPr>
                              <m:ctrlP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𝑸</m:t>
                              </m:r>
                            </m:e>
                            <m:sub>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sub>
                          </m:sSub>
                        </m:num>
                        <m:den>
                          <m:sSub>
                            <m:sSubPr>
                              <m:ctrlP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𝒙</m:t>
                              </m:r>
                            </m:e>
                            <m:sub>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sub>
                          </m:sSub>
                        </m:den>
                      </m:f>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 ~ </m:t>
                      </m:r>
                      <m:sSub>
                        <m:sSubPr>
                          <m:ctrlP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𝒉</m:t>
                          </m:r>
                        </m:e>
                        <m:sub>
                          <m: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𝟏</m:t>
                          </m:r>
                        </m:sub>
                      </m:sSub>
                    </m:oMath>
                  </m:oMathPara>
                </a14:m>
                <a:endParaRPr lang="en-US" sz="1600" b="1" dirty="0">
                  <a:solidFill>
                    <a:schemeClr val="accent5">
                      <a:lumMod val="75000"/>
                    </a:schemeClr>
                  </a:solidFill>
                  <a:cs typeface="Calibri" panose="020F0502020204030204" pitchFamily="34" charset="0"/>
                </a:endParaRPr>
              </a:p>
            </p:txBody>
          </p:sp>
        </mc:Choice>
        <mc:Fallback xmlns="">
          <p:sp>
            <p:nvSpPr>
              <p:cNvPr id="32785" name="TextBox 26">
                <a:extLst>
                  <a:ext uri="{FF2B5EF4-FFF2-40B4-BE49-F238E27FC236}">
                    <a16:creationId xmlns:a16="http://schemas.microsoft.com/office/drawing/2014/main" id="{D2958679-FFAA-18E1-3650-592EA562934C}"/>
                  </a:ext>
                </a:extLst>
              </p:cNvPr>
              <p:cNvSpPr txBox="1">
                <a:spLocks noRot="1" noChangeAspect="1" noMove="1" noResize="1" noEditPoints="1" noAdjustHandles="1" noChangeArrowheads="1" noChangeShapeType="1" noTextEdit="1"/>
              </p:cNvSpPr>
              <p:nvPr/>
            </p:nvSpPr>
            <p:spPr>
              <a:xfrm>
                <a:off x="7040212" y="2198390"/>
                <a:ext cx="2115644" cy="601960"/>
              </a:xfrm>
              <a:prstGeom prst="rect">
                <a:avLst/>
              </a:prstGeom>
              <a:blipFill>
                <a:blip r:embed="rId21"/>
                <a:stretch>
                  <a:fillRect/>
                </a:stretch>
              </a:blipFill>
            </p:spPr>
            <p:txBody>
              <a:bodyPr/>
              <a:lstStyle/>
              <a:p>
                <a:r>
                  <a:rPr lang="en-US">
                    <a:noFill/>
                  </a:rPr>
                  <a:t> </a:t>
                </a:r>
              </a:p>
            </p:txBody>
          </p:sp>
        </mc:Fallback>
      </mc:AlternateContent>
      <p:sp>
        <p:nvSpPr>
          <p:cNvPr id="32790" name="Down Arrow 32789">
            <a:extLst>
              <a:ext uri="{FF2B5EF4-FFF2-40B4-BE49-F238E27FC236}">
                <a16:creationId xmlns:a16="http://schemas.microsoft.com/office/drawing/2014/main" id="{2DAF1F24-3E3E-28DE-1FB1-900B5561194E}"/>
              </a:ext>
            </a:extLst>
          </p:cNvPr>
          <p:cNvSpPr/>
          <p:nvPr/>
        </p:nvSpPr>
        <p:spPr>
          <a:xfrm>
            <a:off x="5981422" y="1552838"/>
            <a:ext cx="392511" cy="30963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91" name="TextBox 26">
            <a:extLst>
              <a:ext uri="{FF2B5EF4-FFF2-40B4-BE49-F238E27FC236}">
                <a16:creationId xmlns:a16="http://schemas.microsoft.com/office/drawing/2014/main" id="{C0772A12-E7CB-6E5F-6A5E-D0382405C27A}"/>
              </a:ext>
            </a:extLst>
          </p:cNvPr>
          <p:cNvSpPr txBox="1"/>
          <p:nvPr/>
        </p:nvSpPr>
        <p:spPr>
          <a:xfrm>
            <a:off x="5472345" y="1866050"/>
            <a:ext cx="2303111"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solidFill>
                  <a:schemeClr val="accent6">
                    <a:lumMod val="75000"/>
                  </a:schemeClr>
                </a:solidFill>
                <a:cs typeface="Calibri" panose="020F0502020204030204" pitchFamily="34" charset="0"/>
              </a:rPr>
              <a:t>Transformation</a:t>
            </a:r>
          </a:p>
        </p:txBody>
      </p:sp>
      <mc:AlternateContent xmlns:mc="http://schemas.openxmlformats.org/markup-compatibility/2006" xmlns:a14="http://schemas.microsoft.com/office/drawing/2010/main">
        <mc:Choice Requires="a14">
          <p:sp>
            <p:nvSpPr>
              <p:cNvPr id="32792" name="TextBox 26">
                <a:extLst>
                  <a:ext uri="{FF2B5EF4-FFF2-40B4-BE49-F238E27FC236}">
                    <a16:creationId xmlns:a16="http://schemas.microsoft.com/office/drawing/2014/main" id="{473ABE7F-FEA7-1585-1186-96AEA638CC4B}"/>
                  </a:ext>
                </a:extLst>
              </p:cNvPr>
              <p:cNvSpPr txBox="1"/>
              <p:nvPr/>
            </p:nvSpPr>
            <p:spPr>
              <a:xfrm>
                <a:off x="5216792" y="2346583"/>
                <a:ext cx="2028423"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𝝀</m:t>
                          </m:r>
                        </m:e>
                        <m:sub>
                          <m: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 </m:t>
                      </m:r>
                      <m:sSub>
                        <m:sSubPr>
                          <m:ctrlP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𝒑</m:t>
                          </m:r>
                        </m:e>
                        <m:sub>
                          <m: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𝟏</m:t>
                          </m:r>
                        </m:sub>
                      </m:sSub>
                    </m:oMath>
                  </m:oMathPara>
                </a14:m>
                <a:endParaRPr lang="en-US" sz="1600" b="1" dirty="0">
                  <a:solidFill>
                    <a:schemeClr val="accent6">
                      <a:lumMod val="75000"/>
                    </a:schemeClr>
                  </a:solidFill>
                  <a:cs typeface="Calibri" panose="020F0502020204030204" pitchFamily="34" charset="0"/>
                </a:endParaRPr>
              </a:p>
            </p:txBody>
          </p:sp>
        </mc:Choice>
        <mc:Fallback xmlns="">
          <p:sp>
            <p:nvSpPr>
              <p:cNvPr id="32792" name="TextBox 26">
                <a:extLst>
                  <a:ext uri="{FF2B5EF4-FFF2-40B4-BE49-F238E27FC236}">
                    <a16:creationId xmlns:a16="http://schemas.microsoft.com/office/drawing/2014/main" id="{473ABE7F-FEA7-1585-1186-96AEA638CC4B}"/>
                  </a:ext>
                </a:extLst>
              </p:cNvPr>
              <p:cNvSpPr txBox="1">
                <a:spLocks noRot="1" noChangeAspect="1" noMove="1" noResize="1" noEditPoints="1" noAdjustHandles="1" noChangeArrowheads="1" noChangeShapeType="1" noTextEdit="1"/>
              </p:cNvSpPr>
              <p:nvPr/>
            </p:nvSpPr>
            <p:spPr>
              <a:xfrm>
                <a:off x="5216792" y="2346583"/>
                <a:ext cx="2028423" cy="338554"/>
              </a:xfrm>
              <a:prstGeom prst="rect">
                <a:avLst/>
              </a:prstGeom>
              <a:blipFill>
                <a:blip r:embed="rId22"/>
                <a:stretch>
                  <a:fillRect b="-14286"/>
                </a:stretch>
              </a:blipFill>
            </p:spPr>
            <p:txBody>
              <a:bodyPr/>
              <a:lstStyle/>
              <a:p>
                <a:r>
                  <a:rPr lang="en-US">
                    <a:noFill/>
                  </a:rPr>
                  <a:t> </a:t>
                </a:r>
              </a:p>
            </p:txBody>
          </p:sp>
        </mc:Fallback>
      </mc:AlternateContent>
      <p:sp>
        <p:nvSpPr>
          <p:cNvPr id="32793" name="Down Arrow 32792">
            <a:extLst>
              <a:ext uri="{FF2B5EF4-FFF2-40B4-BE49-F238E27FC236}">
                <a16:creationId xmlns:a16="http://schemas.microsoft.com/office/drawing/2014/main" id="{90CCFD7B-8C0A-841E-400B-149FDEE5A204}"/>
              </a:ext>
            </a:extLst>
          </p:cNvPr>
          <p:cNvSpPr/>
          <p:nvPr/>
        </p:nvSpPr>
        <p:spPr>
          <a:xfrm>
            <a:off x="6889153" y="2836487"/>
            <a:ext cx="392511" cy="30963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94" name="TextBox 26">
            <a:extLst>
              <a:ext uri="{FF2B5EF4-FFF2-40B4-BE49-F238E27FC236}">
                <a16:creationId xmlns:a16="http://schemas.microsoft.com/office/drawing/2014/main" id="{31926480-5389-1C23-5E41-698E6F0AD90F}"/>
              </a:ext>
            </a:extLst>
          </p:cNvPr>
          <p:cNvSpPr txBox="1"/>
          <p:nvPr/>
        </p:nvSpPr>
        <p:spPr>
          <a:xfrm>
            <a:off x="6324600" y="3160632"/>
            <a:ext cx="1812941"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solidFill>
                  <a:schemeClr val="accent3">
                    <a:lumMod val="75000"/>
                  </a:schemeClr>
                </a:solidFill>
                <a:cs typeface="Calibri" panose="020F0502020204030204" pitchFamily="34" charset="0"/>
              </a:rPr>
              <a:t>Model definition</a:t>
            </a:r>
          </a:p>
        </p:txBody>
      </p:sp>
      <mc:AlternateContent xmlns:mc="http://schemas.openxmlformats.org/markup-compatibility/2006" xmlns:a14="http://schemas.microsoft.com/office/drawing/2010/main">
        <mc:Choice Requires="a14">
          <p:sp>
            <p:nvSpPr>
              <p:cNvPr id="32795" name="TextBox 26">
                <a:extLst>
                  <a:ext uri="{FF2B5EF4-FFF2-40B4-BE49-F238E27FC236}">
                    <a16:creationId xmlns:a16="http://schemas.microsoft.com/office/drawing/2014/main" id="{4F11609B-1FFF-B6FB-CBFE-1C2B704611CA}"/>
                  </a:ext>
                </a:extLst>
              </p:cNvPr>
              <p:cNvSpPr txBox="1"/>
              <p:nvPr/>
            </p:nvSpPr>
            <p:spPr>
              <a:xfrm>
                <a:off x="5981422" y="3502800"/>
                <a:ext cx="2366845"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𝒑</m:t>
                          </m:r>
                        </m:e>
                        <m:sub>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 </m:t>
                      </m:r>
                      <m:sSub>
                        <m:sSubPr>
                          <m:ctrlP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𝒙</m:t>
                          </m:r>
                        </m:e>
                        <m:sub>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 </m:t>
                      </m:r>
                      <m:sSub>
                        <m:sSubPr>
                          <m:ctrlP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𝒄</m:t>
                          </m:r>
                        </m:e>
                        <m:sub>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 </m:t>
                      </m:r>
                      <m:sSub>
                        <m:sSubPr>
                          <m:ctrlP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𝒉</m:t>
                          </m:r>
                        </m:e>
                        <m:sub>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𝟏</m:t>
                          </m:r>
                        </m:sub>
                      </m:sSub>
                    </m:oMath>
                  </m:oMathPara>
                </a14:m>
                <a:endParaRPr lang="en-US" sz="1600" b="1" dirty="0">
                  <a:solidFill>
                    <a:schemeClr val="accent3">
                      <a:lumMod val="75000"/>
                    </a:schemeClr>
                  </a:solidFill>
                  <a:cs typeface="Calibri" panose="020F0502020204030204" pitchFamily="34" charset="0"/>
                </a:endParaRPr>
              </a:p>
            </p:txBody>
          </p:sp>
        </mc:Choice>
        <mc:Fallback xmlns="">
          <p:sp>
            <p:nvSpPr>
              <p:cNvPr id="32795" name="TextBox 26">
                <a:extLst>
                  <a:ext uri="{FF2B5EF4-FFF2-40B4-BE49-F238E27FC236}">
                    <a16:creationId xmlns:a16="http://schemas.microsoft.com/office/drawing/2014/main" id="{4F11609B-1FFF-B6FB-CBFE-1C2B704611CA}"/>
                  </a:ext>
                </a:extLst>
              </p:cNvPr>
              <p:cNvSpPr txBox="1">
                <a:spLocks noRot="1" noChangeAspect="1" noMove="1" noResize="1" noEditPoints="1" noAdjustHandles="1" noChangeArrowheads="1" noChangeShapeType="1" noTextEdit="1"/>
              </p:cNvSpPr>
              <p:nvPr/>
            </p:nvSpPr>
            <p:spPr>
              <a:xfrm>
                <a:off x="5981422" y="3502800"/>
                <a:ext cx="2366845" cy="338554"/>
              </a:xfrm>
              <a:prstGeom prst="rect">
                <a:avLst/>
              </a:prstGeom>
              <a:blipFill>
                <a:blip r:embed="rId23"/>
                <a:stretch>
                  <a:fillRect b="-14815"/>
                </a:stretch>
              </a:blipFill>
            </p:spPr>
            <p:txBody>
              <a:bodyPr/>
              <a:lstStyle/>
              <a:p>
                <a:r>
                  <a:rPr lang="en-US">
                    <a:noFill/>
                  </a:rPr>
                  <a:t> </a:t>
                </a:r>
              </a:p>
            </p:txBody>
          </p:sp>
        </mc:Fallback>
      </mc:AlternateContent>
      <p:sp>
        <p:nvSpPr>
          <p:cNvPr id="32799" name="Rectangle 32798">
            <a:extLst>
              <a:ext uri="{FF2B5EF4-FFF2-40B4-BE49-F238E27FC236}">
                <a16:creationId xmlns:a16="http://schemas.microsoft.com/office/drawing/2014/main" id="{F638C944-3722-5F49-E3C9-B57A4D5E0347}"/>
              </a:ext>
            </a:extLst>
          </p:cNvPr>
          <p:cNvSpPr/>
          <p:nvPr/>
        </p:nvSpPr>
        <p:spPr>
          <a:xfrm>
            <a:off x="1163851" y="1571078"/>
            <a:ext cx="2036549" cy="259793"/>
          </a:xfrm>
          <a:prstGeom prst="rect">
            <a:avLst/>
          </a:prstGeom>
          <a:solidFill>
            <a:schemeClr val="accent4">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801" name="Down Arrow 32800">
            <a:extLst>
              <a:ext uri="{FF2B5EF4-FFF2-40B4-BE49-F238E27FC236}">
                <a16:creationId xmlns:a16="http://schemas.microsoft.com/office/drawing/2014/main" id="{04BCD226-4214-8D35-701C-91255211C478}"/>
              </a:ext>
            </a:extLst>
          </p:cNvPr>
          <p:cNvSpPr/>
          <p:nvPr/>
        </p:nvSpPr>
        <p:spPr>
          <a:xfrm rot="19656421" flipH="1">
            <a:off x="3516142" y="1816061"/>
            <a:ext cx="107914" cy="1470514"/>
          </a:xfrm>
          <a:prstGeom prst="downArrow">
            <a:avLst>
              <a:gd name="adj1" fmla="val 50000"/>
              <a:gd name="adj2" fmla="val 341884"/>
            </a:avLst>
          </a:prstGeom>
          <a:solidFill>
            <a:schemeClr val="accent4">
              <a:lumMod val="60000"/>
              <a:lumOff val="4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32803" name="Rectangle 32802">
            <a:extLst>
              <a:ext uri="{FF2B5EF4-FFF2-40B4-BE49-F238E27FC236}">
                <a16:creationId xmlns:a16="http://schemas.microsoft.com/office/drawing/2014/main" id="{649ED804-BBB2-F953-FAA5-234061B85316}"/>
              </a:ext>
            </a:extLst>
          </p:cNvPr>
          <p:cNvSpPr/>
          <p:nvPr/>
        </p:nvSpPr>
        <p:spPr>
          <a:xfrm>
            <a:off x="5180807" y="4335252"/>
            <a:ext cx="3926315" cy="338598"/>
          </a:xfrm>
          <a:prstGeom prst="rect">
            <a:avLst/>
          </a:prstGeom>
          <a:solidFill>
            <a:schemeClr val="accent1">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804" name="Up-Down Arrow 32803">
            <a:extLst>
              <a:ext uri="{FF2B5EF4-FFF2-40B4-BE49-F238E27FC236}">
                <a16:creationId xmlns:a16="http://schemas.microsoft.com/office/drawing/2014/main" id="{4AD730BA-78FB-6D38-9E83-E7EDB8554980}"/>
              </a:ext>
            </a:extLst>
          </p:cNvPr>
          <p:cNvSpPr/>
          <p:nvPr/>
        </p:nvSpPr>
        <p:spPr>
          <a:xfrm rot="5400000">
            <a:off x="2430256" y="1289896"/>
            <a:ext cx="199959" cy="4067314"/>
          </a:xfrm>
          <a:prstGeom prst="upDownArrow">
            <a:avLst>
              <a:gd name="adj1" fmla="val 36103"/>
              <a:gd name="adj2" fmla="val 129929"/>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054566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dissolve">
                                      <p:cBhvr>
                                        <p:cTn id="7" dur="500"/>
                                        <p:tgtEl>
                                          <p:spTgt spid="6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dissolve">
                                      <p:cBhvr>
                                        <p:cTn id="10" dur="500"/>
                                        <p:tgtEl>
                                          <p:spTgt spid="61"/>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dissolve">
                                      <p:cBhvr>
                                        <p:cTn id="13" dur="500"/>
                                        <p:tgtEl>
                                          <p:spTgt spid="62"/>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63"/>
                                        </p:tgtEl>
                                        <p:attrNameLst>
                                          <p:attrName>style.visibility</p:attrName>
                                        </p:attrNameLst>
                                      </p:cBhvr>
                                      <p:to>
                                        <p:strVal val="visible"/>
                                      </p:to>
                                    </p:set>
                                    <p:animEffect transition="in" filter="dissolve">
                                      <p:cBhvr>
                                        <p:cTn id="18" dur="500"/>
                                        <p:tgtEl>
                                          <p:spTgt spid="63"/>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dissolv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dissolv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dissolve">
                                      <p:cBhvr>
                                        <p:cTn id="31" dur="500"/>
                                        <p:tgtEl>
                                          <p:spTgt spid="3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dissolve">
                                      <p:cBhvr>
                                        <p:cTn id="34" dur="500"/>
                                        <p:tgtEl>
                                          <p:spTgt spid="5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dissolve">
                                      <p:cBhvr>
                                        <p:cTn id="39" dur="500"/>
                                        <p:tgtEl>
                                          <p:spTgt spid="9"/>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55"/>
                                        </p:tgtEl>
                                        <p:attrNameLst>
                                          <p:attrName>style.visibility</p:attrName>
                                        </p:attrNameLst>
                                      </p:cBhvr>
                                      <p:to>
                                        <p:strVal val="visible"/>
                                      </p:to>
                                    </p:set>
                                    <p:animEffect transition="in" filter="dissolve">
                                      <p:cBhvr>
                                        <p:cTn id="42" dur="500"/>
                                        <p:tgtEl>
                                          <p:spTgt spid="5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dissolve">
                                      <p:cBhvr>
                                        <p:cTn id="47" dur="500"/>
                                        <p:tgtEl>
                                          <p:spTgt spid="43"/>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dissolve">
                                      <p:cBhvr>
                                        <p:cTn id="52" dur="500"/>
                                        <p:tgtEl>
                                          <p:spTgt spid="56"/>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32804"/>
                                        </p:tgtEl>
                                        <p:attrNameLst>
                                          <p:attrName>style.visibility</p:attrName>
                                        </p:attrNameLst>
                                      </p:cBhvr>
                                      <p:to>
                                        <p:strVal val="visible"/>
                                      </p:to>
                                    </p:set>
                                    <p:animEffect transition="in" filter="dissolve">
                                      <p:cBhvr>
                                        <p:cTn id="55" dur="500"/>
                                        <p:tgtEl>
                                          <p:spTgt spid="32804"/>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58"/>
                                        </p:tgtEl>
                                        <p:attrNameLst>
                                          <p:attrName>style.visibility</p:attrName>
                                        </p:attrNameLst>
                                      </p:cBhvr>
                                      <p:to>
                                        <p:strVal val="visible"/>
                                      </p:to>
                                    </p:set>
                                    <p:animEffect transition="in" filter="dissolve">
                                      <p:cBhvr>
                                        <p:cTn id="60" dur="500"/>
                                        <p:tgtEl>
                                          <p:spTgt spid="58"/>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nodeType="clickEffect">
                                  <p:stCondLst>
                                    <p:cond delay="0"/>
                                  </p:stCondLst>
                                  <p:childTnLst>
                                    <p:set>
                                      <p:cBhvr>
                                        <p:cTn id="64" dur="1" fill="hold">
                                          <p:stCondLst>
                                            <p:cond delay="0"/>
                                          </p:stCondLst>
                                        </p:cTn>
                                        <p:tgtEl>
                                          <p:spTgt spid="2"/>
                                        </p:tgtEl>
                                        <p:attrNameLst>
                                          <p:attrName>style.visibility</p:attrName>
                                        </p:attrNameLst>
                                      </p:cBhvr>
                                      <p:to>
                                        <p:strVal val="visible"/>
                                      </p:to>
                                    </p:set>
                                    <p:animEffect transition="in" filter="dissolve">
                                      <p:cBhvr>
                                        <p:cTn id="65" dur="500"/>
                                        <p:tgtEl>
                                          <p:spTgt spid="2"/>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3"/>
                                        </p:tgtEl>
                                        <p:attrNameLst>
                                          <p:attrName>style.visibility</p:attrName>
                                        </p:attrNameLst>
                                      </p:cBhvr>
                                      <p:to>
                                        <p:strVal val="visible"/>
                                      </p:to>
                                    </p:set>
                                    <p:animEffect transition="in" filter="dissolve">
                                      <p:cBhvr>
                                        <p:cTn id="70" dur="500"/>
                                        <p:tgtEl>
                                          <p:spTgt spid="3"/>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nodeType="clickEffect">
                                  <p:stCondLst>
                                    <p:cond delay="0"/>
                                  </p:stCondLst>
                                  <p:childTnLst>
                                    <p:set>
                                      <p:cBhvr>
                                        <p:cTn id="74" dur="1" fill="hold">
                                          <p:stCondLst>
                                            <p:cond delay="0"/>
                                          </p:stCondLst>
                                        </p:cTn>
                                        <p:tgtEl>
                                          <p:spTgt spid="4"/>
                                        </p:tgtEl>
                                        <p:attrNameLst>
                                          <p:attrName>style.visibility</p:attrName>
                                        </p:attrNameLst>
                                      </p:cBhvr>
                                      <p:to>
                                        <p:strVal val="visible"/>
                                      </p:to>
                                    </p:set>
                                    <p:animEffect transition="in" filter="dissolve">
                                      <p:cBhvr>
                                        <p:cTn id="75" dur="500"/>
                                        <p:tgtEl>
                                          <p:spTgt spid="4"/>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nodeType="clickEffect">
                                  <p:stCondLst>
                                    <p:cond delay="0"/>
                                  </p:stCondLst>
                                  <p:childTnLst>
                                    <p:set>
                                      <p:cBhvr>
                                        <p:cTn id="79" dur="1" fill="hold">
                                          <p:stCondLst>
                                            <p:cond delay="0"/>
                                          </p:stCondLst>
                                        </p:cTn>
                                        <p:tgtEl>
                                          <p:spTgt spid="5"/>
                                        </p:tgtEl>
                                        <p:attrNameLst>
                                          <p:attrName>style.visibility</p:attrName>
                                        </p:attrNameLst>
                                      </p:cBhvr>
                                      <p:to>
                                        <p:strVal val="visible"/>
                                      </p:to>
                                    </p:set>
                                    <p:animEffect transition="in" filter="dissolve">
                                      <p:cBhvr>
                                        <p:cTn id="80" dur="500"/>
                                        <p:tgtEl>
                                          <p:spTgt spid="5"/>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32774"/>
                                        </p:tgtEl>
                                        <p:attrNameLst>
                                          <p:attrName>style.visibility</p:attrName>
                                        </p:attrNameLst>
                                      </p:cBhvr>
                                      <p:to>
                                        <p:strVal val="visible"/>
                                      </p:to>
                                    </p:set>
                                    <p:animEffect transition="in" filter="dissolve">
                                      <p:cBhvr>
                                        <p:cTn id="85" dur="500"/>
                                        <p:tgtEl>
                                          <p:spTgt spid="32774"/>
                                        </p:tgtEl>
                                      </p:cBhvr>
                                    </p:animEffect>
                                  </p:childTnLst>
                                </p:cTn>
                              </p:par>
                            </p:childTnLst>
                          </p:cTn>
                        </p:par>
                      </p:childTnLst>
                    </p:cTn>
                  </p:par>
                  <p:par>
                    <p:cTn id="86" fill="hold">
                      <p:stCondLst>
                        <p:cond delay="indefinite"/>
                      </p:stCondLst>
                      <p:childTnLst>
                        <p:par>
                          <p:cTn id="87" fill="hold">
                            <p:stCondLst>
                              <p:cond delay="0"/>
                            </p:stCondLst>
                            <p:childTnLst>
                              <p:par>
                                <p:cTn id="88" presetID="9" presetClass="entr" presetSubtype="0" fill="hold" nodeType="clickEffect">
                                  <p:stCondLst>
                                    <p:cond delay="0"/>
                                  </p:stCondLst>
                                  <p:childTnLst>
                                    <p:set>
                                      <p:cBhvr>
                                        <p:cTn id="89" dur="1" fill="hold">
                                          <p:stCondLst>
                                            <p:cond delay="0"/>
                                          </p:stCondLst>
                                        </p:cTn>
                                        <p:tgtEl>
                                          <p:spTgt spid="32775"/>
                                        </p:tgtEl>
                                        <p:attrNameLst>
                                          <p:attrName>style.visibility</p:attrName>
                                        </p:attrNameLst>
                                      </p:cBhvr>
                                      <p:to>
                                        <p:strVal val="visible"/>
                                      </p:to>
                                    </p:set>
                                    <p:animEffect transition="in" filter="dissolve">
                                      <p:cBhvr>
                                        <p:cTn id="90" dur="500"/>
                                        <p:tgtEl>
                                          <p:spTgt spid="32775"/>
                                        </p:tgtEl>
                                      </p:cBhvr>
                                    </p:animEffect>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nodeType="clickEffect">
                                  <p:stCondLst>
                                    <p:cond delay="0"/>
                                  </p:stCondLst>
                                  <p:childTnLst>
                                    <p:set>
                                      <p:cBhvr>
                                        <p:cTn id="94" dur="1" fill="hold">
                                          <p:stCondLst>
                                            <p:cond delay="0"/>
                                          </p:stCondLst>
                                        </p:cTn>
                                        <p:tgtEl>
                                          <p:spTgt spid="32776"/>
                                        </p:tgtEl>
                                        <p:attrNameLst>
                                          <p:attrName>style.visibility</p:attrName>
                                        </p:attrNameLst>
                                      </p:cBhvr>
                                      <p:to>
                                        <p:strVal val="visible"/>
                                      </p:to>
                                    </p:set>
                                    <p:animEffect transition="in" filter="dissolve">
                                      <p:cBhvr>
                                        <p:cTn id="95" dur="500"/>
                                        <p:tgtEl>
                                          <p:spTgt spid="32776"/>
                                        </p:tgtEl>
                                      </p:cBhvr>
                                    </p:animEffect>
                                  </p:childTnLst>
                                </p:cTn>
                              </p:par>
                            </p:childTnLst>
                          </p:cTn>
                        </p:par>
                      </p:childTnLst>
                    </p:cTn>
                  </p:par>
                  <p:par>
                    <p:cTn id="96" fill="hold">
                      <p:stCondLst>
                        <p:cond delay="indefinite"/>
                      </p:stCondLst>
                      <p:childTnLst>
                        <p:par>
                          <p:cTn id="97" fill="hold">
                            <p:stCondLst>
                              <p:cond delay="0"/>
                            </p:stCondLst>
                            <p:childTnLst>
                              <p:par>
                                <p:cTn id="98" presetID="9" presetClass="entr" presetSubtype="0" fill="hold" nodeType="clickEffect">
                                  <p:stCondLst>
                                    <p:cond delay="0"/>
                                  </p:stCondLst>
                                  <p:childTnLst>
                                    <p:set>
                                      <p:cBhvr>
                                        <p:cTn id="99" dur="1" fill="hold">
                                          <p:stCondLst>
                                            <p:cond delay="0"/>
                                          </p:stCondLst>
                                        </p:cTn>
                                        <p:tgtEl>
                                          <p:spTgt spid="6"/>
                                        </p:tgtEl>
                                        <p:attrNameLst>
                                          <p:attrName>style.visibility</p:attrName>
                                        </p:attrNameLst>
                                      </p:cBhvr>
                                      <p:to>
                                        <p:strVal val="visible"/>
                                      </p:to>
                                    </p:set>
                                    <p:animEffect transition="in" filter="dissolve">
                                      <p:cBhvr>
                                        <p:cTn id="100" dur="500"/>
                                        <p:tgtEl>
                                          <p:spTgt spid="6"/>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32778"/>
                                        </p:tgtEl>
                                        <p:attrNameLst>
                                          <p:attrName>style.visibility</p:attrName>
                                        </p:attrNameLst>
                                      </p:cBhvr>
                                      <p:to>
                                        <p:strVal val="visible"/>
                                      </p:to>
                                    </p:set>
                                    <p:animEffect transition="in" filter="dissolve">
                                      <p:cBhvr>
                                        <p:cTn id="103" dur="500"/>
                                        <p:tgtEl>
                                          <p:spTgt spid="32778"/>
                                        </p:tgtEl>
                                      </p:cBhvr>
                                    </p:animEffect>
                                  </p:childTnLst>
                                </p:cTn>
                              </p:par>
                            </p:childTnLst>
                          </p:cTn>
                        </p:par>
                      </p:childTnLst>
                    </p:cTn>
                  </p:par>
                  <p:par>
                    <p:cTn id="104" fill="hold">
                      <p:stCondLst>
                        <p:cond delay="indefinite"/>
                      </p:stCondLst>
                      <p:childTnLst>
                        <p:par>
                          <p:cTn id="105" fill="hold">
                            <p:stCondLst>
                              <p:cond delay="0"/>
                            </p:stCondLst>
                            <p:childTnLst>
                              <p:par>
                                <p:cTn id="106" presetID="9" presetClass="entr" presetSubtype="0" fill="hold" grpId="0" nodeType="clickEffect">
                                  <p:stCondLst>
                                    <p:cond delay="0"/>
                                  </p:stCondLst>
                                  <p:childTnLst>
                                    <p:set>
                                      <p:cBhvr>
                                        <p:cTn id="107" dur="1" fill="hold">
                                          <p:stCondLst>
                                            <p:cond delay="0"/>
                                          </p:stCondLst>
                                        </p:cTn>
                                        <p:tgtEl>
                                          <p:spTgt spid="32777"/>
                                        </p:tgtEl>
                                        <p:attrNameLst>
                                          <p:attrName>style.visibility</p:attrName>
                                        </p:attrNameLst>
                                      </p:cBhvr>
                                      <p:to>
                                        <p:strVal val="visible"/>
                                      </p:to>
                                    </p:set>
                                    <p:animEffect transition="in" filter="dissolve">
                                      <p:cBhvr>
                                        <p:cTn id="108" dur="500"/>
                                        <p:tgtEl>
                                          <p:spTgt spid="32777"/>
                                        </p:tgtEl>
                                      </p:cBhvr>
                                    </p:animEffec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grpId="1" nodeType="clickEffect">
                                  <p:stCondLst>
                                    <p:cond delay="0"/>
                                  </p:stCondLst>
                                  <p:childTnLst>
                                    <p:set>
                                      <p:cBhvr>
                                        <p:cTn id="112" dur="1" fill="hold">
                                          <p:stCondLst>
                                            <p:cond delay="0"/>
                                          </p:stCondLst>
                                        </p:cTn>
                                        <p:tgtEl>
                                          <p:spTgt spid="32804"/>
                                        </p:tgtEl>
                                        <p:attrNameLst>
                                          <p:attrName>style.visibility</p:attrName>
                                        </p:attrNameLst>
                                      </p:cBhvr>
                                      <p:to>
                                        <p:strVal val="hidden"/>
                                      </p:to>
                                    </p:set>
                                  </p:childTnLst>
                                </p:cTn>
                              </p:par>
                            </p:childTnLst>
                          </p:cTn>
                        </p:par>
                        <p:par>
                          <p:cTn id="113" fill="hold">
                            <p:stCondLst>
                              <p:cond delay="0"/>
                            </p:stCondLst>
                            <p:childTnLst>
                              <p:par>
                                <p:cTn id="114" presetID="9" presetClass="entr" presetSubtype="0" fill="hold" nodeType="afterEffect">
                                  <p:stCondLst>
                                    <p:cond delay="0"/>
                                  </p:stCondLst>
                                  <p:childTnLst>
                                    <p:set>
                                      <p:cBhvr>
                                        <p:cTn id="115" dur="1" fill="hold">
                                          <p:stCondLst>
                                            <p:cond delay="0"/>
                                          </p:stCondLst>
                                        </p:cTn>
                                        <p:tgtEl>
                                          <p:spTgt spid="41"/>
                                        </p:tgtEl>
                                        <p:attrNameLst>
                                          <p:attrName>style.visibility</p:attrName>
                                        </p:attrNameLst>
                                      </p:cBhvr>
                                      <p:to>
                                        <p:strVal val="visible"/>
                                      </p:to>
                                    </p:set>
                                    <p:animEffect transition="in" filter="dissolve">
                                      <p:cBhvr>
                                        <p:cTn id="116" dur="500"/>
                                        <p:tgtEl>
                                          <p:spTgt spid="41"/>
                                        </p:tgtEl>
                                      </p:cBhvr>
                                    </p:animEffect>
                                  </p:childTnLst>
                                </p:cTn>
                              </p:par>
                            </p:childTnLst>
                          </p:cTn>
                        </p:par>
                        <p:par>
                          <p:cTn id="117" fill="hold">
                            <p:stCondLst>
                              <p:cond delay="500"/>
                            </p:stCondLst>
                            <p:childTnLst>
                              <p:par>
                                <p:cTn id="118" presetID="9" presetClass="entr" presetSubtype="0" fill="hold" grpId="0" nodeType="afterEffect">
                                  <p:stCondLst>
                                    <p:cond delay="0"/>
                                  </p:stCondLst>
                                  <p:childTnLst>
                                    <p:set>
                                      <p:cBhvr>
                                        <p:cTn id="119" dur="1" fill="hold">
                                          <p:stCondLst>
                                            <p:cond delay="0"/>
                                          </p:stCondLst>
                                        </p:cTn>
                                        <p:tgtEl>
                                          <p:spTgt spid="32799"/>
                                        </p:tgtEl>
                                        <p:attrNameLst>
                                          <p:attrName>style.visibility</p:attrName>
                                        </p:attrNameLst>
                                      </p:cBhvr>
                                      <p:to>
                                        <p:strVal val="visible"/>
                                      </p:to>
                                    </p:set>
                                    <p:animEffect transition="in" filter="dissolve">
                                      <p:cBhvr>
                                        <p:cTn id="120" dur="500"/>
                                        <p:tgtEl>
                                          <p:spTgt spid="32799"/>
                                        </p:tgtEl>
                                      </p:cBhvr>
                                    </p:animEffect>
                                  </p:childTnLst>
                                </p:cTn>
                              </p:par>
                              <p:par>
                                <p:cTn id="121" presetID="9" presetClass="entr" presetSubtype="0" fill="hold" grpId="0" nodeType="withEffect">
                                  <p:stCondLst>
                                    <p:cond delay="0"/>
                                  </p:stCondLst>
                                  <p:childTnLst>
                                    <p:set>
                                      <p:cBhvr>
                                        <p:cTn id="122" dur="1" fill="hold">
                                          <p:stCondLst>
                                            <p:cond delay="0"/>
                                          </p:stCondLst>
                                        </p:cTn>
                                        <p:tgtEl>
                                          <p:spTgt spid="53"/>
                                        </p:tgtEl>
                                        <p:attrNameLst>
                                          <p:attrName>style.visibility</p:attrName>
                                        </p:attrNameLst>
                                      </p:cBhvr>
                                      <p:to>
                                        <p:strVal val="visible"/>
                                      </p:to>
                                    </p:set>
                                    <p:animEffect transition="in" filter="dissolve">
                                      <p:cBhvr>
                                        <p:cTn id="123" dur="500"/>
                                        <p:tgtEl>
                                          <p:spTgt spid="53"/>
                                        </p:tgtEl>
                                      </p:cBhvr>
                                    </p:animEffect>
                                  </p:childTnLst>
                                </p:cTn>
                              </p:par>
                              <p:par>
                                <p:cTn id="124" presetID="9" presetClass="entr" presetSubtype="0" fill="hold" grpId="0" nodeType="withEffect">
                                  <p:stCondLst>
                                    <p:cond delay="0"/>
                                  </p:stCondLst>
                                  <p:childTnLst>
                                    <p:set>
                                      <p:cBhvr>
                                        <p:cTn id="125" dur="1" fill="hold">
                                          <p:stCondLst>
                                            <p:cond delay="0"/>
                                          </p:stCondLst>
                                        </p:cTn>
                                        <p:tgtEl>
                                          <p:spTgt spid="32801"/>
                                        </p:tgtEl>
                                        <p:attrNameLst>
                                          <p:attrName>style.visibility</p:attrName>
                                        </p:attrNameLst>
                                      </p:cBhvr>
                                      <p:to>
                                        <p:strVal val="visible"/>
                                      </p:to>
                                    </p:set>
                                    <p:animEffect transition="in" filter="dissolve">
                                      <p:cBhvr>
                                        <p:cTn id="126" dur="500"/>
                                        <p:tgtEl>
                                          <p:spTgt spid="32801"/>
                                        </p:tgtEl>
                                      </p:cBhvr>
                                    </p:animEffect>
                                  </p:childTnLst>
                                </p:cTn>
                              </p:par>
                            </p:childTnLst>
                          </p:cTn>
                        </p:par>
                      </p:childTnLst>
                    </p:cTn>
                  </p:par>
                  <p:par>
                    <p:cTn id="127" fill="hold">
                      <p:stCondLst>
                        <p:cond delay="indefinite"/>
                      </p:stCondLst>
                      <p:childTnLst>
                        <p:par>
                          <p:cTn id="128" fill="hold">
                            <p:stCondLst>
                              <p:cond delay="0"/>
                            </p:stCondLst>
                            <p:childTnLst>
                              <p:par>
                                <p:cTn id="129" presetID="9" presetClass="entr" presetSubtype="0" fill="hold" grpId="0" nodeType="clickEffect">
                                  <p:stCondLst>
                                    <p:cond delay="0"/>
                                  </p:stCondLst>
                                  <p:childTnLst>
                                    <p:set>
                                      <p:cBhvr>
                                        <p:cTn id="130" dur="1" fill="hold">
                                          <p:stCondLst>
                                            <p:cond delay="0"/>
                                          </p:stCondLst>
                                        </p:cTn>
                                        <p:tgtEl>
                                          <p:spTgt spid="32779"/>
                                        </p:tgtEl>
                                        <p:attrNameLst>
                                          <p:attrName>style.visibility</p:attrName>
                                        </p:attrNameLst>
                                      </p:cBhvr>
                                      <p:to>
                                        <p:strVal val="visible"/>
                                      </p:to>
                                    </p:set>
                                    <p:animEffect transition="in" filter="dissolve">
                                      <p:cBhvr>
                                        <p:cTn id="131" dur="500"/>
                                        <p:tgtEl>
                                          <p:spTgt spid="32779"/>
                                        </p:tgtEl>
                                      </p:cBhvr>
                                    </p:animEffect>
                                  </p:childTnLst>
                                </p:cTn>
                              </p:par>
                            </p:childTnLst>
                          </p:cTn>
                        </p:par>
                      </p:childTnLst>
                    </p:cTn>
                  </p:par>
                  <p:par>
                    <p:cTn id="132" fill="hold">
                      <p:stCondLst>
                        <p:cond delay="indefinite"/>
                      </p:stCondLst>
                      <p:childTnLst>
                        <p:par>
                          <p:cTn id="133" fill="hold">
                            <p:stCondLst>
                              <p:cond delay="0"/>
                            </p:stCondLst>
                            <p:childTnLst>
                              <p:par>
                                <p:cTn id="134" presetID="9" presetClass="entr" presetSubtype="0" fill="hold" grpId="0" nodeType="clickEffect">
                                  <p:stCondLst>
                                    <p:cond delay="0"/>
                                  </p:stCondLst>
                                  <p:childTnLst>
                                    <p:set>
                                      <p:cBhvr>
                                        <p:cTn id="135" dur="1" fill="hold">
                                          <p:stCondLst>
                                            <p:cond delay="0"/>
                                          </p:stCondLst>
                                        </p:cTn>
                                        <p:tgtEl>
                                          <p:spTgt spid="32780"/>
                                        </p:tgtEl>
                                        <p:attrNameLst>
                                          <p:attrName>style.visibility</p:attrName>
                                        </p:attrNameLst>
                                      </p:cBhvr>
                                      <p:to>
                                        <p:strVal val="visible"/>
                                      </p:to>
                                    </p:set>
                                    <p:animEffect transition="in" filter="dissolve">
                                      <p:cBhvr>
                                        <p:cTn id="136" dur="500"/>
                                        <p:tgtEl>
                                          <p:spTgt spid="32780"/>
                                        </p:tgtEl>
                                      </p:cBhvr>
                                    </p:animEffect>
                                  </p:childTnLst>
                                </p:cTn>
                              </p:par>
                            </p:childTnLst>
                          </p:cTn>
                        </p:par>
                      </p:childTnLst>
                    </p:cTn>
                  </p:par>
                  <p:par>
                    <p:cTn id="137" fill="hold">
                      <p:stCondLst>
                        <p:cond delay="indefinite"/>
                      </p:stCondLst>
                      <p:childTnLst>
                        <p:par>
                          <p:cTn id="138" fill="hold">
                            <p:stCondLst>
                              <p:cond delay="0"/>
                            </p:stCondLst>
                            <p:childTnLst>
                              <p:par>
                                <p:cTn id="139" presetID="9" presetClass="entr" presetSubtype="0" fill="hold" nodeType="clickEffect">
                                  <p:stCondLst>
                                    <p:cond delay="0"/>
                                  </p:stCondLst>
                                  <p:childTnLst>
                                    <p:set>
                                      <p:cBhvr>
                                        <p:cTn id="140" dur="1" fill="hold">
                                          <p:stCondLst>
                                            <p:cond delay="0"/>
                                          </p:stCondLst>
                                        </p:cTn>
                                        <p:tgtEl>
                                          <p:spTgt spid="40"/>
                                        </p:tgtEl>
                                        <p:attrNameLst>
                                          <p:attrName>style.visibility</p:attrName>
                                        </p:attrNameLst>
                                      </p:cBhvr>
                                      <p:to>
                                        <p:strVal val="visible"/>
                                      </p:to>
                                    </p:set>
                                    <p:animEffect transition="in" filter="dissolve">
                                      <p:cBhvr>
                                        <p:cTn id="141" dur="500"/>
                                        <p:tgtEl>
                                          <p:spTgt spid="40"/>
                                        </p:tgtEl>
                                      </p:cBhvr>
                                    </p:animEffect>
                                  </p:childTnLst>
                                </p:cTn>
                              </p:par>
                            </p:childTnLst>
                          </p:cTn>
                        </p:par>
                        <p:par>
                          <p:cTn id="142" fill="hold">
                            <p:stCondLst>
                              <p:cond delay="500"/>
                            </p:stCondLst>
                            <p:childTnLst>
                              <p:par>
                                <p:cTn id="143" presetID="9" presetClass="entr" presetSubtype="0" fill="hold" grpId="0" nodeType="afterEffect">
                                  <p:stCondLst>
                                    <p:cond delay="0"/>
                                  </p:stCondLst>
                                  <p:childTnLst>
                                    <p:set>
                                      <p:cBhvr>
                                        <p:cTn id="144" dur="1" fill="hold">
                                          <p:stCondLst>
                                            <p:cond delay="0"/>
                                          </p:stCondLst>
                                        </p:cTn>
                                        <p:tgtEl>
                                          <p:spTgt spid="59"/>
                                        </p:tgtEl>
                                        <p:attrNameLst>
                                          <p:attrName>style.visibility</p:attrName>
                                        </p:attrNameLst>
                                      </p:cBhvr>
                                      <p:to>
                                        <p:strVal val="visible"/>
                                      </p:to>
                                    </p:set>
                                    <p:animEffect transition="in" filter="dissolve">
                                      <p:cBhvr>
                                        <p:cTn id="145" dur="500"/>
                                        <p:tgtEl>
                                          <p:spTgt spid="59"/>
                                        </p:tgtEl>
                                      </p:cBhvr>
                                    </p:animEffect>
                                  </p:childTnLst>
                                </p:cTn>
                              </p:par>
                              <p:par>
                                <p:cTn id="146" presetID="9" presetClass="entr" presetSubtype="0" fill="hold" grpId="0" nodeType="withEffect">
                                  <p:stCondLst>
                                    <p:cond delay="0"/>
                                  </p:stCondLst>
                                  <p:childTnLst>
                                    <p:set>
                                      <p:cBhvr>
                                        <p:cTn id="147" dur="1" fill="hold">
                                          <p:stCondLst>
                                            <p:cond delay="0"/>
                                          </p:stCondLst>
                                        </p:cTn>
                                        <p:tgtEl>
                                          <p:spTgt spid="52"/>
                                        </p:tgtEl>
                                        <p:attrNameLst>
                                          <p:attrName>style.visibility</p:attrName>
                                        </p:attrNameLst>
                                      </p:cBhvr>
                                      <p:to>
                                        <p:strVal val="visible"/>
                                      </p:to>
                                    </p:set>
                                    <p:animEffect transition="in" filter="dissolve">
                                      <p:cBhvr>
                                        <p:cTn id="148" dur="500"/>
                                        <p:tgtEl>
                                          <p:spTgt spid="52"/>
                                        </p:tgtEl>
                                      </p:cBhvr>
                                    </p:animEffect>
                                  </p:childTnLst>
                                </p:cTn>
                              </p:par>
                              <p:par>
                                <p:cTn id="149" presetID="9" presetClass="entr" presetSubtype="0" fill="hold" grpId="0" nodeType="withEffect">
                                  <p:stCondLst>
                                    <p:cond delay="0"/>
                                  </p:stCondLst>
                                  <p:childTnLst>
                                    <p:set>
                                      <p:cBhvr>
                                        <p:cTn id="150" dur="1" fill="hold">
                                          <p:stCondLst>
                                            <p:cond delay="0"/>
                                          </p:stCondLst>
                                        </p:cTn>
                                        <p:tgtEl>
                                          <p:spTgt spid="32783"/>
                                        </p:tgtEl>
                                        <p:attrNameLst>
                                          <p:attrName>style.visibility</p:attrName>
                                        </p:attrNameLst>
                                      </p:cBhvr>
                                      <p:to>
                                        <p:strVal val="visible"/>
                                      </p:to>
                                    </p:set>
                                    <p:animEffect transition="in" filter="dissolve">
                                      <p:cBhvr>
                                        <p:cTn id="151" dur="500"/>
                                        <p:tgtEl>
                                          <p:spTgt spid="32783"/>
                                        </p:tgtEl>
                                      </p:cBhvr>
                                    </p:animEffect>
                                  </p:childTnLst>
                                </p:cTn>
                              </p:par>
                              <p:par>
                                <p:cTn id="152" presetID="9" presetClass="entr" presetSubtype="0" fill="hold" grpId="0" nodeType="withEffect">
                                  <p:stCondLst>
                                    <p:cond delay="0"/>
                                  </p:stCondLst>
                                  <p:childTnLst>
                                    <p:set>
                                      <p:cBhvr>
                                        <p:cTn id="153" dur="1" fill="hold">
                                          <p:stCondLst>
                                            <p:cond delay="0"/>
                                          </p:stCondLst>
                                        </p:cTn>
                                        <p:tgtEl>
                                          <p:spTgt spid="32784"/>
                                        </p:tgtEl>
                                        <p:attrNameLst>
                                          <p:attrName>style.visibility</p:attrName>
                                        </p:attrNameLst>
                                      </p:cBhvr>
                                      <p:to>
                                        <p:strVal val="visible"/>
                                      </p:to>
                                    </p:set>
                                    <p:animEffect transition="in" filter="dissolve">
                                      <p:cBhvr>
                                        <p:cTn id="154" dur="500"/>
                                        <p:tgtEl>
                                          <p:spTgt spid="32784"/>
                                        </p:tgtEl>
                                      </p:cBhvr>
                                    </p:animEffect>
                                  </p:childTnLst>
                                </p:cTn>
                              </p:par>
                              <p:par>
                                <p:cTn id="155" presetID="9" presetClass="entr" presetSubtype="0" fill="hold" grpId="0" nodeType="withEffect">
                                  <p:stCondLst>
                                    <p:cond delay="0"/>
                                  </p:stCondLst>
                                  <p:childTnLst>
                                    <p:set>
                                      <p:cBhvr>
                                        <p:cTn id="156" dur="1" fill="hold">
                                          <p:stCondLst>
                                            <p:cond delay="0"/>
                                          </p:stCondLst>
                                        </p:cTn>
                                        <p:tgtEl>
                                          <p:spTgt spid="32785"/>
                                        </p:tgtEl>
                                        <p:attrNameLst>
                                          <p:attrName>style.visibility</p:attrName>
                                        </p:attrNameLst>
                                      </p:cBhvr>
                                      <p:to>
                                        <p:strVal val="visible"/>
                                      </p:to>
                                    </p:set>
                                    <p:animEffect transition="in" filter="dissolve">
                                      <p:cBhvr>
                                        <p:cTn id="157" dur="500"/>
                                        <p:tgtEl>
                                          <p:spTgt spid="32785"/>
                                        </p:tgtEl>
                                      </p:cBhvr>
                                    </p:animEffect>
                                  </p:childTnLst>
                                </p:cTn>
                              </p:par>
                            </p:childTnLst>
                          </p:cTn>
                        </p:par>
                      </p:childTnLst>
                    </p:cTn>
                  </p:par>
                  <p:par>
                    <p:cTn id="158" fill="hold">
                      <p:stCondLst>
                        <p:cond delay="indefinite"/>
                      </p:stCondLst>
                      <p:childTnLst>
                        <p:par>
                          <p:cTn id="159" fill="hold">
                            <p:stCondLst>
                              <p:cond delay="0"/>
                            </p:stCondLst>
                            <p:childTnLst>
                              <p:par>
                                <p:cTn id="160" presetID="9" presetClass="entr" presetSubtype="0" fill="hold" nodeType="clickEffect">
                                  <p:stCondLst>
                                    <p:cond delay="0"/>
                                  </p:stCondLst>
                                  <p:childTnLst>
                                    <p:set>
                                      <p:cBhvr>
                                        <p:cTn id="161" dur="1" fill="hold">
                                          <p:stCondLst>
                                            <p:cond delay="0"/>
                                          </p:stCondLst>
                                        </p:cTn>
                                        <p:tgtEl>
                                          <p:spTgt spid="39"/>
                                        </p:tgtEl>
                                        <p:attrNameLst>
                                          <p:attrName>style.visibility</p:attrName>
                                        </p:attrNameLst>
                                      </p:cBhvr>
                                      <p:to>
                                        <p:strVal val="visible"/>
                                      </p:to>
                                    </p:set>
                                    <p:animEffect transition="in" filter="dissolve">
                                      <p:cBhvr>
                                        <p:cTn id="162" dur="500"/>
                                        <p:tgtEl>
                                          <p:spTgt spid="39"/>
                                        </p:tgtEl>
                                      </p:cBhvr>
                                    </p:animEffect>
                                  </p:childTnLst>
                                </p:cTn>
                              </p:par>
                            </p:childTnLst>
                          </p:cTn>
                        </p:par>
                        <p:par>
                          <p:cTn id="163" fill="hold">
                            <p:stCondLst>
                              <p:cond delay="500"/>
                            </p:stCondLst>
                            <p:childTnLst>
                              <p:par>
                                <p:cTn id="164" presetID="9" presetClass="entr" presetSubtype="0" fill="hold" grpId="0" nodeType="afterEffect">
                                  <p:stCondLst>
                                    <p:cond delay="0"/>
                                  </p:stCondLst>
                                  <p:childTnLst>
                                    <p:set>
                                      <p:cBhvr>
                                        <p:cTn id="165" dur="1" fill="hold">
                                          <p:stCondLst>
                                            <p:cond delay="0"/>
                                          </p:stCondLst>
                                        </p:cTn>
                                        <p:tgtEl>
                                          <p:spTgt spid="32769"/>
                                        </p:tgtEl>
                                        <p:attrNameLst>
                                          <p:attrName>style.visibility</p:attrName>
                                        </p:attrNameLst>
                                      </p:cBhvr>
                                      <p:to>
                                        <p:strVal val="visible"/>
                                      </p:to>
                                    </p:set>
                                    <p:animEffect transition="in" filter="dissolve">
                                      <p:cBhvr>
                                        <p:cTn id="166" dur="500"/>
                                        <p:tgtEl>
                                          <p:spTgt spid="32769"/>
                                        </p:tgtEl>
                                      </p:cBhvr>
                                    </p:animEffect>
                                  </p:childTnLst>
                                </p:cTn>
                              </p:par>
                              <p:par>
                                <p:cTn id="167" presetID="9" presetClass="entr" presetSubtype="0" fill="hold" grpId="0" nodeType="withEffect">
                                  <p:stCondLst>
                                    <p:cond delay="0"/>
                                  </p:stCondLst>
                                  <p:childTnLst>
                                    <p:set>
                                      <p:cBhvr>
                                        <p:cTn id="168" dur="1" fill="hold">
                                          <p:stCondLst>
                                            <p:cond delay="0"/>
                                          </p:stCondLst>
                                        </p:cTn>
                                        <p:tgtEl>
                                          <p:spTgt spid="44"/>
                                        </p:tgtEl>
                                        <p:attrNameLst>
                                          <p:attrName>style.visibility</p:attrName>
                                        </p:attrNameLst>
                                      </p:cBhvr>
                                      <p:to>
                                        <p:strVal val="visible"/>
                                      </p:to>
                                    </p:set>
                                    <p:animEffect transition="in" filter="dissolve">
                                      <p:cBhvr>
                                        <p:cTn id="169" dur="500"/>
                                        <p:tgtEl>
                                          <p:spTgt spid="44"/>
                                        </p:tgtEl>
                                      </p:cBhvr>
                                    </p:animEffect>
                                  </p:childTnLst>
                                </p:cTn>
                              </p:par>
                              <p:par>
                                <p:cTn id="170" presetID="9" presetClass="entr" presetSubtype="0" fill="hold" grpId="0" nodeType="withEffect">
                                  <p:stCondLst>
                                    <p:cond delay="0"/>
                                  </p:stCondLst>
                                  <p:childTnLst>
                                    <p:set>
                                      <p:cBhvr>
                                        <p:cTn id="171" dur="1" fill="hold">
                                          <p:stCondLst>
                                            <p:cond delay="0"/>
                                          </p:stCondLst>
                                        </p:cTn>
                                        <p:tgtEl>
                                          <p:spTgt spid="32791"/>
                                        </p:tgtEl>
                                        <p:attrNameLst>
                                          <p:attrName>style.visibility</p:attrName>
                                        </p:attrNameLst>
                                      </p:cBhvr>
                                      <p:to>
                                        <p:strVal val="visible"/>
                                      </p:to>
                                    </p:set>
                                    <p:animEffect transition="in" filter="dissolve">
                                      <p:cBhvr>
                                        <p:cTn id="172" dur="500"/>
                                        <p:tgtEl>
                                          <p:spTgt spid="32791"/>
                                        </p:tgtEl>
                                      </p:cBhvr>
                                    </p:animEffect>
                                  </p:childTnLst>
                                </p:cTn>
                              </p:par>
                              <p:par>
                                <p:cTn id="173" presetID="9" presetClass="entr" presetSubtype="0" fill="hold" grpId="0" nodeType="withEffect">
                                  <p:stCondLst>
                                    <p:cond delay="0"/>
                                  </p:stCondLst>
                                  <p:childTnLst>
                                    <p:set>
                                      <p:cBhvr>
                                        <p:cTn id="174" dur="1" fill="hold">
                                          <p:stCondLst>
                                            <p:cond delay="0"/>
                                          </p:stCondLst>
                                        </p:cTn>
                                        <p:tgtEl>
                                          <p:spTgt spid="32792"/>
                                        </p:tgtEl>
                                        <p:attrNameLst>
                                          <p:attrName>style.visibility</p:attrName>
                                        </p:attrNameLst>
                                      </p:cBhvr>
                                      <p:to>
                                        <p:strVal val="visible"/>
                                      </p:to>
                                    </p:set>
                                    <p:animEffect transition="in" filter="dissolve">
                                      <p:cBhvr>
                                        <p:cTn id="175" dur="500"/>
                                        <p:tgtEl>
                                          <p:spTgt spid="32792"/>
                                        </p:tgtEl>
                                      </p:cBhvr>
                                    </p:animEffect>
                                  </p:childTnLst>
                                </p:cTn>
                              </p:par>
                              <p:par>
                                <p:cTn id="176" presetID="9" presetClass="entr" presetSubtype="0" fill="hold" grpId="0" nodeType="withEffect">
                                  <p:stCondLst>
                                    <p:cond delay="0"/>
                                  </p:stCondLst>
                                  <p:childTnLst>
                                    <p:set>
                                      <p:cBhvr>
                                        <p:cTn id="177" dur="1" fill="hold">
                                          <p:stCondLst>
                                            <p:cond delay="0"/>
                                          </p:stCondLst>
                                        </p:cTn>
                                        <p:tgtEl>
                                          <p:spTgt spid="32790"/>
                                        </p:tgtEl>
                                        <p:attrNameLst>
                                          <p:attrName>style.visibility</p:attrName>
                                        </p:attrNameLst>
                                      </p:cBhvr>
                                      <p:to>
                                        <p:strVal val="visible"/>
                                      </p:to>
                                    </p:set>
                                    <p:animEffect transition="in" filter="dissolve">
                                      <p:cBhvr>
                                        <p:cTn id="178" dur="500"/>
                                        <p:tgtEl>
                                          <p:spTgt spid="32790"/>
                                        </p:tgtEl>
                                      </p:cBhvr>
                                    </p:animEffect>
                                  </p:childTnLst>
                                </p:cTn>
                              </p:par>
                            </p:childTnLst>
                          </p:cTn>
                        </p:par>
                      </p:childTnLst>
                    </p:cTn>
                  </p:par>
                  <p:par>
                    <p:cTn id="179" fill="hold">
                      <p:stCondLst>
                        <p:cond delay="indefinite"/>
                      </p:stCondLst>
                      <p:childTnLst>
                        <p:par>
                          <p:cTn id="180" fill="hold">
                            <p:stCondLst>
                              <p:cond delay="0"/>
                            </p:stCondLst>
                            <p:childTnLst>
                              <p:par>
                                <p:cTn id="181" presetID="9" presetClass="entr" presetSubtype="0" fill="hold" grpId="0" nodeType="clickEffect">
                                  <p:stCondLst>
                                    <p:cond delay="0"/>
                                  </p:stCondLst>
                                  <p:childTnLst>
                                    <p:set>
                                      <p:cBhvr>
                                        <p:cTn id="182" dur="1" fill="hold">
                                          <p:stCondLst>
                                            <p:cond delay="0"/>
                                          </p:stCondLst>
                                        </p:cTn>
                                        <p:tgtEl>
                                          <p:spTgt spid="32781"/>
                                        </p:tgtEl>
                                        <p:attrNameLst>
                                          <p:attrName>style.visibility</p:attrName>
                                        </p:attrNameLst>
                                      </p:cBhvr>
                                      <p:to>
                                        <p:strVal val="visible"/>
                                      </p:to>
                                    </p:set>
                                    <p:animEffect transition="in" filter="dissolve">
                                      <p:cBhvr>
                                        <p:cTn id="183" dur="500"/>
                                        <p:tgtEl>
                                          <p:spTgt spid="32781"/>
                                        </p:tgtEl>
                                      </p:cBhvr>
                                    </p:animEffect>
                                  </p:childTnLst>
                                </p:cTn>
                              </p:par>
                              <p:par>
                                <p:cTn id="184" presetID="9" presetClass="entr" presetSubtype="0" fill="hold" grpId="0" nodeType="withEffect">
                                  <p:stCondLst>
                                    <p:cond delay="0"/>
                                  </p:stCondLst>
                                  <p:childTnLst>
                                    <p:set>
                                      <p:cBhvr>
                                        <p:cTn id="185" dur="1" fill="hold">
                                          <p:stCondLst>
                                            <p:cond delay="0"/>
                                          </p:stCondLst>
                                        </p:cTn>
                                        <p:tgtEl>
                                          <p:spTgt spid="51"/>
                                        </p:tgtEl>
                                        <p:attrNameLst>
                                          <p:attrName>style.visibility</p:attrName>
                                        </p:attrNameLst>
                                      </p:cBhvr>
                                      <p:to>
                                        <p:strVal val="visible"/>
                                      </p:to>
                                    </p:set>
                                    <p:animEffect transition="in" filter="dissolve">
                                      <p:cBhvr>
                                        <p:cTn id="186" dur="500"/>
                                        <p:tgtEl>
                                          <p:spTgt spid="51"/>
                                        </p:tgtEl>
                                      </p:cBhvr>
                                    </p:animEffect>
                                  </p:childTnLst>
                                </p:cTn>
                              </p:par>
                              <p:par>
                                <p:cTn id="187" presetID="9" presetClass="entr" presetSubtype="0" fill="hold" grpId="0" nodeType="withEffect">
                                  <p:stCondLst>
                                    <p:cond delay="0"/>
                                  </p:stCondLst>
                                  <p:childTnLst>
                                    <p:set>
                                      <p:cBhvr>
                                        <p:cTn id="188" dur="1" fill="hold">
                                          <p:stCondLst>
                                            <p:cond delay="0"/>
                                          </p:stCondLst>
                                        </p:cTn>
                                        <p:tgtEl>
                                          <p:spTgt spid="32793"/>
                                        </p:tgtEl>
                                        <p:attrNameLst>
                                          <p:attrName>style.visibility</p:attrName>
                                        </p:attrNameLst>
                                      </p:cBhvr>
                                      <p:to>
                                        <p:strVal val="visible"/>
                                      </p:to>
                                    </p:set>
                                    <p:animEffect transition="in" filter="dissolve">
                                      <p:cBhvr>
                                        <p:cTn id="189" dur="500"/>
                                        <p:tgtEl>
                                          <p:spTgt spid="32793"/>
                                        </p:tgtEl>
                                      </p:cBhvr>
                                    </p:animEffect>
                                  </p:childTnLst>
                                </p:cTn>
                              </p:par>
                              <p:par>
                                <p:cTn id="190" presetID="9" presetClass="entr" presetSubtype="0" fill="hold" grpId="0" nodeType="withEffect">
                                  <p:stCondLst>
                                    <p:cond delay="0"/>
                                  </p:stCondLst>
                                  <p:childTnLst>
                                    <p:set>
                                      <p:cBhvr>
                                        <p:cTn id="191" dur="1" fill="hold">
                                          <p:stCondLst>
                                            <p:cond delay="0"/>
                                          </p:stCondLst>
                                        </p:cTn>
                                        <p:tgtEl>
                                          <p:spTgt spid="32794"/>
                                        </p:tgtEl>
                                        <p:attrNameLst>
                                          <p:attrName>style.visibility</p:attrName>
                                        </p:attrNameLst>
                                      </p:cBhvr>
                                      <p:to>
                                        <p:strVal val="visible"/>
                                      </p:to>
                                    </p:set>
                                    <p:animEffect transition="in" filter="dissolve">
                                      <p:cBhvr>
                                        <p:cTn id="192" dur="500"/>
                                        <p:tgtEl>
                                          <p:spTgt spid="32794"/>
                                        </p:tgtEl>
                                      </p:cBhvr>
                                    </p:animEffect>
                                  </p:childTnLst>
                                </p:cTn>
                              </p:par>
                              <p:par>
                                <p:cTn id="193" presetID="9" presetClass="entr" presetSubtype="0" fill="hold" grpId="0" nodeType="withEffect">
                                  <p:stCondLst>
                                    <p:cond delay="0"/>
                                  </p:stCondLst>
                                  <p:childTnLst>
                                    <p:set>
                                      <p:cBhvr>
                                        <p:cTn id="194" dur="1" fill="hold">
                                          <p:stCondLst>
                                            <p:cond delay="0"/>
                                          </p:stCondLst>
                                        </p:cTn>
                                        <p:tgtEl>
                                          <p:spTgt spid="32795"/>
                                        </p:tgtEl>
                                        <p:attrNameLst>
                                          <p:attrName>style.visibility</p:attrName>
                                        </p:attrNameLst>
                                      </p:cBhvr>
                                      <p:to>
                                        <p:strVal val="visible"/>
                                      </p:to>
                                    </p:set>
                                    <p:animEffect transition="in" filter="dissolve">
                                      <p:cBhvr>
                                        <p:cTn id="195" dur="500"/>
                                        <p:tgtEl>
                                          <p:spTgt spid="32795"/>
                                        </p:tgtEl>
                                      </p:cBhvr>
                                    </p:animEffect>
                                  </p:childTnLst>
                                </p:cTn>
                              </p:par>
                            </p:childTnLst>
                          </p:cTn>
                        </p:par>
                      </p:childTnLst>
                    </p:cTn>
                  </p:par>
                  <p:par>
                    <p:cTn id="196" fill="hold">
                      <p:stCondLst>
                        <p:cond delay="indefinite"/>
                      </p:stCondLst>
                      <p:childTnLst>
                        <p:par>
                          <p:cTn id="197" fill="hold">
                            <p:stCondLst>
                              <p:cond delay="0"/>
                            </p:stCondLst>
                            <p:childTnLst>
                              <p:par>
                                <p:cTn id="198" presetID="9" presetClass="entr" presetSubtype="0" fill="hold" grpId="0" nodeType="clickEffect">
                                  <p:stCondLst>
                                    <p:cond delay="0"/>
                                  </p:stCondLst>
                                  <p:childTnLst>
                                    <p:set>
                                      <p:cBhvr>
                                        <p:cTn id="199" dur="1" fill="hold">
                                          <p:stCondLst>
                                            <p:cond delay="0"/>
                                          </p:stCondLst>
                                        </p:cTn>
                                        <p:tgtEl>
                                          <p:spTgt spid="32803"/>
                                        </p:tgtEl>
                                        <p:attrNameLst>
                                          <p:attrName>style.visibility</p:attrName>
                                        </p:attrNameLst>
                                      </p:cBhvr>
                                      <p:to>
                                        <p:strVal val="visible"/>
                                      </p:to>
                                    </p:set>
                                    <p:animEffect transition="in" filter="dissolve">
                                      <p:cBhvr>
                                        <p:cTn id="200" dur="500"/>
                                        <p:tgtEl>
                                          <p:spTgt spid="32803"/>
                                        </p:tgtEl>
                                      </p:cBhvr>
                                    </p:animEffect>
                                  </p:childTnLst>
                                </p:cTn>
                              </p:par>
                            </p:childTnLst>
                          </p:cTn>
                        </p:par>
                      </p:childTnLst>
                    </p:cTn>
                  </p:par>
                  <p:par>
                    <p:cTn id="201" fill="hold">
                      <p:stCondLst>
                        <p:cond delay="indefinite"/>
                      </p:stCondLst>
                      <p:childTnLst>
                        <p:par>
                          <p:cTn id="202" fill="hold">
                            <p:stCondLst>
                              <p:cond delay="0"/>
                            </p:stCondLst>
                            <p:childTnLst>
                              <p:par>
                                <p:cTn id="203" presetID="1" presetClass="exit" presetSubtype="0" fill="hold" grpId="1" nodeType="clickEffect">
                                  <p:stCondLst>
                                    <p:cond delay="0"/>
                                  </p:stCondLst>
                                  <p:childTnLst>
                                    <p:set>
                                      <p:cBhvr>
                                        <p:cTn id="204" dur="1" fill="hold">
                                          <p:stCondLst>
                                            <p:cond delay="0"/>
                                          </p:stCondLst>
                                        </p:cTn>
                                        <p:tgtEl>
                                          <p:spTgt spid="58"/>
                                        </p:tgtEl>
                                        <p:attrNameLst>
                                          <p:attrName>style.visibility</p:attrName>
                                        </p:attrNameLst>
                                      </p:cBhvr>
                                      <p:to>
                                        <p:strVal val="hidden"/>
                                      </p:to>
                                    </p:set>
                                  </p:childTnLst>
                                </p:cTn>
                              </p:par>
                            </p:childTnLst>
                          </p:cTn>
                        </p:par>
                        <p:par>
                          <p:cTn id="205" fill="hold">
                            <p:stCondLst>
                              <p:cond delay="0"/>
                            </p:stCondLst>
                            <p:childTnLst>
                              <p:par>
                                <p:cTn id="206" presetID="9" presetClass="entr" presetSubtype="0" fill="hold" grpId="0" nodeType="afterEffect">
                                  <p:stCondLst>
                                    <p:cond delay="0"/>
                                  </p:stCondLst>
                                  <p:childTnLst>
                                    <p:set>
                                      <p:cBhvr>
                                        <p:cTn id="207" dur="1" fill="hold">
                                          <p:stCondLst>
                                            <p:cond delay="0"/>
                                          </p:stCondLst>
                                        </p:cTn>
                                        <p:tgtEl>
                                          <p:spTgt spid="32768"/>
                                        </p:tgtEl>
                                        <p:attrNameLst>
                                          <p:attrName>style.visibility</p:attrName>
                                        </p:attrNameLst>
                                      </p:cBhvr>
                                      <p:to>
                                        <p:strVal val="visible"/>
                                      </p:to>
                                    </p:set>
                                    <p:animEffect transition="in" filter="dissolve">
                                      <p:cBhvr>
                                        <p:cTn id="208" dur="750"/>
                                        <p:tgtEl>
                                          <p:spTgt spid="327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4" grpId="0" animBg="1"/>
      <p:bldP spid="25" grpId="0"/>
      <p:bldP spid="9" grpId="0"/>
      <p:bldP spid="12" grpId="0"/>
      <p:bldP spid="44" grpId="0" animBg="1"/>
      <p:bldP spid="51" grpId="0" animBg="1"/>
      <p:bldP spid="52" grpId="0" animBg="1"/>
      <p:bldP spid="53" grpId="0" animBg="1"/>
      <p:bldP spid="56" grpId="0" animBg="1"/>
      <p:bldP spid="58" grpId="0"/>
      <p:bldP spid="58" grpId="1"/>
      <p:bldP spid="59" grpId="0"/>
      <p:bldP spid="60" grpId="0" animBg="1"/>
      <p:bldP spid="61" grpId="0" animBg="1"/>
      <p:bldP spid="62" grpId="0"/>
      <p:bldP spid="32768" grpId="0"/>
      <p:bldP spid="32769" grpId="0"/>
      <p:bldP spid="32777" grpId="0" animBg="1"/>
      <p:bldP spid="32778" grpId="0" animBg="1"/>
      <p:bldP spid="32779" grpId="0"/>
      <p:bldP spid="32780" grpId="0"/>
      <p:bldP spid="32781" grpId="0"/>
      <p:bldP spid="32783" grpId="0" animBg="1"/>
      <p:bldP spid="32784" grpId="0"/>
      <p:bldP spid="32785" grpId="0"/>
      <p:bldP spid="32790" grpId="0" animBg="1"/>
      <p:bldP spid="32791" grpId="0"/>
      <p:bldP spid="32792" grpId="0"/>
      <p:bldP spid="32793" grpId="0" animBg="1"/>
      <p:bldP spid="32794" grpId="0"/>
      <p:bldP spid="32795" grpId="0"/>
      <p:bldP spid="32799" grpId="0" animBg="1"/>
      <p:bldP spid="32801" grpId="0" animBg="1"/>
      <p:bldP spid="32803" grpId="0" animBg="1"/>
      <p:bldP spid="32804" grpId="0" animBg="1"/>
      <p:bldP spid="32804"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Straight Arrow Connector 51">
            <a:extLst>
              <a:ext uri="{FF2B5EF4-FFF2-40B4-BE49-F238E27FC236}">
                <a16:creationId xmlns:a16="http://schemas.microsoft.com/office/drawing/2014/main" id="{C657B5BC-3CAB-7946-79EB-42CC2DC52E87}"/>
              </a:ext>
            </a:extLst>
          </p:cNvPr>
          <p:cNvCxnSpPr>
            <a:cxnSpLocks/>
          </p:cNvCxnSpPr>
          <p:nvPr/>
        </p:nvCxnSpPr>
        <p:spPr>
          <a:xfrm>
            <a:off x="7322398" y="2483604"/>
            <a:ext cx="612953" cy="484661"/>
          </a:xfrm>
          <a:prstGeom prst="straightConnector1">
            <a:avLst/>
          </a:prstGeom>
          <a:ln>
            <a:solidFill>
              <a:srgbClr val="C00000"/>
            </a:solidFill>
            <a:tailEnd type="triangle"/>
          </a:ln>
          <a:effectLst/>
        </p:spPr>
        <p:style>
          <a:lnRef idx="2">
            <a:schemeClr val="accent2"/>
          </a:lnRef>
          <a:fillRef idx="0">
            <a:schemeClr val="accent2"/>
          </a:fillRef>
          <a:effectRef idx="1">
            <a:schemeClr val="accent2"/>
          </a:effectRef>
          <a:fontRef idx="minor">
            <a:schemeClr val="tx1"/>
          </a:fontRef>
        </p:style>
      </p:cxnSp>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Main Results </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16</a:t>
            </a:r>
            <a:r>
              <a:rPr lang="en-US" altLang="en-US" sz="1200" dirty="0">
                <a:solidFill>
                  <a:schemeClr val="bg1"/>
                </a:solidFill>
              </a:rPr>
              <a:t>| </a:t>
            </a:r>
            <a:r>
              <a:rPr lang="en-US" altLang="en-US" sz="1050" dirty="0">
                <a:solidFill>
                  <a:schemeClr val="bg1"/>
                </a:solidFill>
              </a:rPr>
              <a:t>Main results</a:t>
            </a:r>
            <a:endParaRPr lang="en-US" altLang="en-US" sz="900" dirty="0">
              <a:solidFill>
                <a:schemeClr val="bg1"/>
              </a:solidFill>
            </a:endParaRPr>
          </a:p>
        </p:txBody>
      </p:sp>
      <p:sp>
        <p:nvSpPr>
          <p:cNvPr id="2" name="TextBox 23">
            <a:extLst>
              <a:ext uri="{FF2B5EF4-FFF2-40B4-BE49-F238E27FC236}">
                <a16:creationId xmlns:a16="http://schemas.microsoft.com/office/drawing/2014/main" id="{04913758-377E-4D5F-B3CA-C9B15B0CBD5E}"/>
              </a:ext>
            </a:extLst>
          </p:cNvPr>
          <p:cNvSpPr txBox="1"/>
          <p:nvPr/>
        </p:nvSpPr>
        <p:spPr>
          <a:xfrm>
            <a:off x="158262" y="611576"/>
            <a:ext cx="4755673"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solidFill>
                  <a:srgbClr val="C00000"/>
                </a:solidFill>
                <a:latin typeface="+mn-lt"/>
                <a:ea typeface="+mn-ea"/>
              </a:rPr>
              <a:t>Corollary – time extrapolation </a:t>
            </a:r>
          </a:p>
        </p:txBody>
      </p:sp>
      <p:sp>
        <p:nvSpPr>
          <p:cNvPr id="13" name="TextBox 12">
            <a:extLst>
              <a:ext uri="{FF2B5EF4-FFF2-40B4-BE49-F238E27FC236}">
                <a16:creationId xmlns:a16="http://schemas.microsoft.com/office/drawing/2014/main" id="{186A549C-312A-319B-FD6F-7299A4351AE0}"/>
              </a:ext>
            </a:extLst>
          </p:cNvPr>
          <p:cNvSpPr txBox="1"/>
          <p:nvPr/>
        </p:nvSpPr>
        <p:spPr>
          <a:xfrm>
            <a:off x="185279" y="3040170"/>
            <a:ext cx="4539115" cy="523220"/>
          </a:xfrm>
          <a:prstGeom prst="rect">
            <a:avLst/>
          </a:prstGeom>
          <a:noFill/>
        </p:spPr>
        <p:txBody>
          <a:bodyPr wrap="square">
            <a:spAutoFit/>
          </a:bodyPr>
          <a:lstStyle/>
          <a:p>
            <a:pPr marL="285750" indent="-285750" algn="just">
              <a:buFont typeface="Arial" panose="020B0604020202020204" pitchFamily="34" charset="0"/>
              <a:buChar char="•"/>
            </a:pPr>
            <a:r>
              <a:rPr lang="en-US" sz="1400" dirty="0">
                <a:cs typeface="Calibri" panose="020F0502020204030204" pitchFamily="34" charset="0"/>
              </a:rPr>
              <a:t>Demand with quadratic cost function is independent of the future price distribution but only the expectation;</a:t>
            </a:r>
          </a:p>
        </p:txBody>
      </p:sp>
      <p:sp>
        <p:nvSpPr>
          <p:cNvPr id="14" name="TextBox 23">
            <a:extLst>
              <a:ext uri="{FF2B5EF4-FFF2-40B4-BE49-F238E27FC236}">
                <a16:creationId xmlns:a16="http://schemas.microsoft.com/office/drawing/2014/main" id="{86B5FF52-0CCA-778F-609A-63BB3C842664}"/>
              </a:ext>
            </a:extLst>
          </p:cNvPr>
          <p:cNvSpPr txBox="1"/>
          <p:nvPr/>
        </p:nvSpPr>
        <p:spPr>
          <a:xfrm>
            <a:off x="158262" y="2725582"/>
            <a:ext cx="4755673"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solidFill>
                  <a:srgbClr val="C00000"/>
                </a:solidFill>
                <a:latin typeface="+mn-lt"/>
                <a:ea typeface="+mn-ea"/>
              </a:rPr>
              <a:t>Key takeaway</a:t>
            </a:r>
          </a:p>
        </p:txBody>
      </p:sp>
      <p:cxnSp>
        <p:nvCxnSpPr>
          <p:cNvPr id="26" name="Straight Arrow Connector 25">
            <a:extLst>
              <a:ext uri="{FF2B5EF4-FFF2-40B4-BE49-F238E27FC236}">
                <a16:creationId xmlns:a16="http://schemas.microsoft.com/office/drawing/2014/main" id="{C75D8C05-027B-6C63-AC2A-96321EDC8BC7}"/>
              </a:ext>
            </a:extLst>
          </p:cNvPr>
          <p:cNvCxnSpPr>
            <a:cxnSpLocks/>
          </p:cNvCxnSpPr>
          <p:nvPr/>
        </p:nvCxnSpPr>
        <p:spPr>
          <a:xfrm>
            <a:off x="5801751" y="3854864"/>
            <a:ext cx="2903438" cy="108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2B657791-479F-7068-16B0-AA867AC6ABCC}"/>
              </a:ext>
            </a:extLst>
          </p:cNvPr>
          <p:cNvCxnSpPr>
            <a:cxnSpLocks/>
          </p:cNvCxnSpPr>
          <p:nvPr/>
        </p:nvCxnSpPr>
        <p:spPr>
          <a:xfrm>
            <a:off x="8011559" y="3134140"/>
            <a:ext cx="0" cy="141881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36D0FD87-FBF9-0EE4-8B8C-79FD8E82F70D}"/>
              </a:ext>
            </a:extLst>
          </p:cNvPr>
          <p:cNvSpPr txBox="1"/>
          <p:nvPr/>
        </p:nvSpPr>
        <p:spPr>
          <a:xfrm>
            <a:off x="6580422" y="3372651"/>
            <a:ext cx="1255155" cy="276999"/>
          </a:xfrm>
          <a:prstGeom prst="rect">
            <a:avLst/>
          </a:prstGeom>
          <a:noFill/>
        </p:spPr>
        <p:txBody>
          <a:bodyPr wrap="square">
            <a:spAutoFit/>
          </a:bodyPr>
          <a:lstStyle/>
          <a:p>
            <a:r>
              <a:rPr lang="en-US" sz="1200" dirty="0">
                <a:solidFill>
                  <a:srgbClr val="C00000"/>
                </a:solidFill>
                <a:cs typeface="Calibri" panose="020F0502020204030204" pitchFamily="34" charset="0"/>
              </a:rPr>
              <a:t>Demand change</a:t>
            </a:r>
          </a:p>
        </p:txBody>
      </p:sp>
      <p:cxnSp>
        <p:nvCxnSpPr>
          <p:cNvPr id="29" name="Straight Connector 28">
            <a:extLst>
              <a:ext uri="{FF2B5EF4-FFF2-40B4-BE49-F238E27FC236}">
                <a16:creationId xmlns:a16="http://schemas.microsoft.com/office/drawing/2014/main" id="{7DED6EDE-12AB-7089-B08D-1B0040FFEC17}"/>
              </a:ext>
            </a:extLst>
          </p:cNvPr>
          <p:cNvCxnSpPr>
            <a:cxnSpLocks/>
          </p:cNvCxnSpPr>
          <p:nvPr/>
        </p:nvCxnSpPr>
        <p:spPr>
          <a:xfrm>
            <a:off x="5801751" y="3803293"/>
            <a:ext cx="2133600" cy="12908"/>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30" name="Straight Connector 29">
            <a:extLst>
              <a:ext uri="{FF2B5EF4-FFF2-40B4-BE49-F238E27FC236}">
                <a16:creationId xmlns:a16="http://schemas.microsoft.com/office/drawing/2014/main" id="{5D49693B-08EA-4290-7F07-DE4FDE92B5FE}"/>
              </a:ext>
            </a:extLst>
          </p:cNvPr>
          <p:cNvCxnSpPr>
            <a:cxnSpLocks/>
          </p:cNvCxnSpPr>
          <p:nvPr/>
        </p:nvCxnSpPr>
        <p:spPr>
          <a:xfrm>
            <a:off x="7935351" y="3245264"/>
            <a:ext cx="0" cy="570937"/>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31" name="Straight Connector 30">
            <a:extLst>
              <a:ext uri="{FF2B5EF4-FFF2-40B4-BE49-F238E27FC236}">
                <a16:creationId xmlns:a16="http://schemas.microsoft.com/office/drawing/2014/main" id="{26BFD460-69A9-70BE-FC9F-CD1360C91C3B}"/>
              </a:ext>
            </a:extLst>
          </p:cNvPr>
          <p:cNvCxnSpPr>
            <a:cxnSpLocks/>
          </p:cNvCxnSpPr>
          <p:nvPr/>
        </p:nvCxnSpPr>
        <p:spPr>
          <a:xfrm flipH="1">
            <a:off x="7935351" y="3429360"/>
            <a:ext cx="457200" cy="386841"/>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32" name="Straight Connector 31">
            <a:extLst>
              <a:ext uri="{FF2B5EF4-FFF2-40B4-BE49-F238E27FC236}">
                <a16:creationId xmlns:a16="http://schemas.microsoft.com/office/drawing/2014/main" id="{321D94B0-2279-884A-7445-655757D25F03}"/>
              </a:ext>
            </a:extLst>
          </p:cNvPr>
          <p:cNvCxnSpPr>
            <a:cxnSpLocks/>
          </p:cNvCxnSpPr>
          <p:nvPr/>
        </p:nvCxnSpPr>
        <p:spPr>
          <a:xfrm flipH="1">
            <a:off x="7935351" y="3816200"/>
            <a:ext cx="533400" cy="0"/>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33" name="Straight Connector 32">
            <a:extLst>
              <a:ext uri="{FF2B5EF4-FFF2-40B4-BE49-F238E27FC236}">
                <a16:creationId xmlns:a16="http://schemas.microsoft.com/office/drawing/2014/main" id="{B2E8C93A-AD91-74C5-F849-4AFF07F63C3B}"/>
              </a:ext>
            </a:extLst>
          </p:cNvPr>
          <p:cNvCxnSpPr>
            <a:cxnSpLocks/>
          </p:cNvCxnSpPr>
          <p:nvPr/>
        </p:nvCxnSpPr>
        <p:spPr>
          <a:xfrm flipH="1" flipV="1">
            <a:off x="7935351" y="3809747"/>
            <a:ext cx="457200" cy="399707"/>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34" name="Straight Connector 33">
            <a:extLst>
              <a:ext uri="{FF2B5EF4-FFF2-40B4-BE49-F238E27FC236}">
                <a16:creationId xmlns:a16="http://schemas.microsoft.com/office/drawing/2014/main" id="{5D8B7F0B-E993-A99D-18AD-4B125431AA5F}"/>
              </a:ext>
            </a:extLst>
          </p:cNvPr>
          <p:cNvCxnSpPr>
            <a:cxnSpLocks/>
          </p:cNvCxnSpPr>
          <p:nvPr/>
        </p:nvCxnSpPr>
        <p:spPr>
          <a:xfrm flipV="1">
            <a:off x="7935351" y="3797152"/>
            <a:ext cx="0" cy="516963"/>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sp>
        <p:nvSpPr>
          <p:cNvPr id="36" name="TextBox 53">
            <a:extLst>
              <a:ext uri="{FF2B5EF4-FFF2-40B4-BE49-F238E27FC236}">
                <a16:creationId xmlns:a16="http://schemas.microsoft.com/office/drawing/2014/main" id="{4B356B18-47AA-5E83-0539-A26E8C0C8E52}"/>
              </a:ext>
            </a:extLst>
          </p:cNvPr>
          <p:cNvSpPr txBox="1"/>
          <p:nvPr/>
        </p:nvSpPr>
        <p:spPr>
          <a:xfrm>
            <a:off x="5088544" y="3862637"/>
            <a:ext cx="1406509"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Reference level</a:t>
            </a:r>
          </a:p>
        </p:txBody>
      </p:sp>
      <p:sp>
        <p:nvSpPr>
          <p:cNvPr id="35" name="TextBox 34">
            <a:extLst>
              <a:ext uri="{FF2B5EF4-FFF2-40B4-BE49-F238E27FC236}">
                <a16:creationId xmlns:a16="http://schemas.microsoft.com/office/drawing/2014/main" id="{1C717528-3FE4-0846-32C8-C00FBCD2F8F7}"/>
              </a:ext>
            </a:extLst>
          </p:cNvPr>
          <p:cNvSpPr txBox="1"/>
          <p:nvPr/>
        </p:nvSpPr>
        <p:spPr>
          <a:xfrm>
            <a:off x="7690304" y="2893290"/>
            <a:ext cx="1453696" cy="276999"/>
          </a:xfrm>
          <a:prstGeom prst="rect">
            <a:avLst/>
          </a:prstGeom>
          <a:noFill/>
        </p:spPr>
        <p:txBody>
          <a:bodyPr wrap="square">
            <a:spAutoFit/>
          </a:bodyPr>
          <a:lstStyle/>
          <a:p>
            <a:r>
              <a:rPr lang="en-US" sz="1200" dirty="0">
                <a:cs typeface="Calibri" panose="020F0502020204030204" pitchFamily="34" charset="0"/>
              </a:rPr>
              <a:t>Price uncertainty</a:t>
            </a:r>
          </a:p>
        </p:txBody>
      </p:sp>
      <p:grpSp>
        <p:nvGrpSpPr>
          <p:cNvPr id="3" name="Group 2">
            <a:extLst>
              <a:ext uri="{FF2B5EF4-FFF2-40B4-BE49-F238E27FC236}">
                <a16:creationId xmlns:a16="http://schemas.microsoft.com/office/drawing/2014/main" id="{FEDE33BC-3EE1-B21C-B434-719DE54971BF}"/>
              </a:ext>
            </a:extLst>
          </p:cNvPr>
          <p:cNvGrpSpPr/>
          <p:nvPr/>
        </p:nvGrpSpPr>
        <p:grpSpPr>
          <a:xfrm>
            <a:off x="4978824" y="697654"/>
            <a:ext cx="3820486" cy="2153071"/>
            <a:chOff x="5139982" y="490073"/>
            <a:chExt cx="3820486" cy="2153071"/>
          </a:xfrm>
        </p:grpSpPr>
        <p:grpSp>
          <p:nvGrpSpPr>
            <p:cNvPr id="4" name="Group 3">
              <a:extLst>
                <a:ext uri="{FF2B5EF4-FFF2-40B4-BE49-F238E27FC236}">
                  <a16:creationId xmlns:a16="http://schemas.microsoft.com/office/drawing/2014/main" id="{0D9F1614-C659-9930-28D8-B01FE07727F7}"/>
                </a:ext>
              </a:extLst>
            </p:cNvPr>
            <p:cNvGrpSpPr/>
            <p:nvPr/>
          </p:nvGrpSpPr>
          <p:grpSpPr>
            <a:xfrm>
              <a:off x="5494257" y="611576"/>
              <a:ext cx="3466211" cy="2031568"/>
              <a:chOff x="5494257" y="611576"/>
              <a:chExt cx="3466211" cy="2031568"/>
            </a:xfrm>
          </p:grpSpPr>
          <p:cxnSp>
            <p:nvCxnSpPr>
              <p:cNvPr id="9" name="Straight Arrow Connector 8">
                <a:extLst>
                  <a:ext uri="{FF2B5EF4-FFF2-40B4-BE49-F238E27FC236}">
                    <a16:creationId xmlns:a16="http://schemas.microsoft.com/office/drawing/2014/main" id="{EDB7CF8D-941B-B978-1951-E1E252ECD34A}"/>
                  </a:ext>
                </a:extLst>
              </p:cNvPr>
              <p:cNvCxnSpPr>
                <a:cxnSpLocks/>
              </p:cNvCxnSpPr>
              <p:nvPr/>
            </p:nvCxnSpPr>
            <p:spPr>
              <a:xfrm>
                <a:off x="5494257" y="2343150"/>
                <a:ext cx="34211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AA35EE84-0F6A-B989-D9C9-AD0EB68E0AD3}"/>
                  </a:ext>
                </a:extLst>
              </p:cNvPr>
              <p:cNvCxnSpPr>
                <a:cxnSpLocks/>
              </p:cNvCxnSpPr>
              <p:nvPr/>
            </p:nvCxnSpPr>
            <p:spPr>
              <a:xfrm flipV="1">
                <a:off x="6809738" y="611576"/>
                <a:ext cx="0" cy="19341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Freeform 14">
                <a:extLst>
                  <a:ext uri="{FF2B5EF4-FFF2-40B4-BE49-F238E27FC236}">
                    <a16:creationId xmlns:a16="http://schemas.microsoft.com/office/drawing/2014/main" id="{5CF55464-1556-5FFA-51FB-DEF3F6C2D7A1}"/>
                  </a:ext>
                </a:extLst>
              </p:cNvPr>
              <p:cNvSpPr/>
              <p:nvPr/>
            </p:nvSpPr>
            <p:spPr>
              <a:xfrm>
                <a:off x="5525812" y="1073936"/>
                <a:ext cx="3237471" cy="1150114"/>
              </a:xfrm>
              <a:custGeom>
                <a:avLst/>
                <a:gdLst>
                  <a:gd name="connsiteX0" fmla="*/ 0 w 2199503"/>
                  <a:gd name="connsiteY0" fmla="*/ 1150114 h 1150114"/>
                  <a:gd name="connsiteX1" fmla="*/ 518984 w 2199503"/>
                  <a:gd name="connsiteY1" fmla="*/ 408708 h 1150114"/>
                  <a:gd name="connsiteX2" fmla="*/ 1186249 w 2199503"/>
                  <a:gd name="connsiteY2" fmla="*/ 25649 h 1150114"/>
                  <a:gd name="connsiteX3" fmla="*/ 2199503 w 2199503"/>
                  <a:gd name="connsiteY3" fmla="*/ 1113044 h 1150114"/>
                </a:gdLst>
                <a:ahLst/>
                <a:cxnLst>
                  <a:cxn ang="0">
                    <a:pos x="connsiteX0" y="connsiteY0"/>
                  </a:cxn>
                  <a:cxn ang="0">
                    <a:pos x="connsiteX1" y="connsiteY1"/>
                  </a:cxn>
                  <a:cxn ang="0">
                    <a:pos x="connsiteX2" y="connsiteY2"/>
                  </a:cxn>
                  <a:cxn ang="0">
                    <a:pos x="connsiteX3" y="connsiteY3"/>
                  </a:cxn>
                </a:cxnLst>
                <a:rect l="l" t="t" r="r" b="b"/>
                <a:pathLst>
                  <a:path w="2199503" h="1150114">
                    <a:moveTo>
                      <a:pt x="0" y="1150114"/>
                    </a:moveTo>
                    <a:cubicBezTo>
                      <a:pt x="160638" y="873116"/>
                      <a:pt x="321276" y="596119"/>
                      <a:pt x="518984" y="408708"/>
                    </a:cubicBezTo>
                    <a:cubicBezTo>
                      <a:pt x="716692" y="221297"/>
                      <a:pt x="906163" y="-91740"/>
                      <a:pt x="1186249" y="25649"/>
                    </a:cubicBezTo>
                    <a:cubicBezTo>
                      <a:pt x="1466335" y="143038"/>
                      <a:pt x="1832919" y="628041"/>
                      <a:pt x="2199503" y="1113044"/>
                    </a:cubicBez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16" name="Freeform 15">
                <a:extLst>
                  <a:ext uri="{FF2B5EF4-FFF2-40B4-BE49-F238E27FC236}">
                    <a16:creationId xmlns:a16="http://schemas.microsoft.com/office/drawing/2014/main" id="{BD9DA0AD-E538-AB74-4281-84D40379D5F0}"/>
                  </a:ext>
                </a:extLst>
              </p:cNvPr>
              <p:cNvSpPr/>
              <p:nvPr/>
            </p:nvSpPr>
            <p:spPr>
              <a:xfrm flipH="1">
                <a:off x="5724429" y="1031696"/>
                <a:ext cx="3038854" cy="1303565"/>
              </a:xfrm>
              <a:custGeom>
                <a:avLst/>
                <a:gdLst>
                  <a:gd name="connsiteX0" fmla="*/ 11448 w 3038854"/>
                  <a:gd name="connsiteY0" fmla="*/ 1303565 h 1303565"/>
                  <a:gd name="connsiteX1" fmla="*/ 122659 w 3038854"/>
                  <a:gd name="connsiteY1" fmla="*/ 6105 h 1303565"/>
                  <a:gd name="connsiteX2" fmla="*/ 888778 w 3038854"/>
                  <a:gd name="connsiteY2" fmla="*/ 834008 h 1303565"/>
                  <a:gd name="connsiteX3" fmla="*/ 3038854 w 3038854"/>
                  <a:gd name="connsiteY3" fmla="*/ 1266494 h 1303565"/>
                </a:gdLst>
                <a:ahLst/>
                <a:cxnLst>
                  <a:cxn ang="0">
                    <a:pos x="connsiteX0" y="connsiteY0"/>
                  </a:cxn>
                  <a:cxn ang="0">
                    <a:pos x="connsiteX1" y="connsiteY1"/>
                  </a:cxn>
                  <a:cxn ang="0">
                    <a:pos x="connsiteX2" y="connsiteY2"/>
                  </a:cxn>
                  <a:cxn ang="0">
                    <a:pos x="connsiteX3" y="connsiteY3"/>
                  </a:cxn>
                </a:cxnLst>
                <a:rect l="l" t="t" r="r" b="b"/>
                <a:pathLst>
                  <a:path w="3038854" h="1303565">
                    <a:moveTo>
                      <a:pt x="11448" y="1303565"/>
                    </a:moveTo>
                    <a:cubicBezTo>
                      <a:pt x="-6058" y="693964"/>
                      <a:pt x="-23563" y="84364"/>
                      <a:pt x="122659" y="6105"/>
                    </a:cubicBezTo>
                    <a:cubicBezTo>
                      <a:pt x="268881" y="-72154"/>
                      <a:pt x="402745" y="623943"/>
                      <a:pt x="888778" y="834008"/>
                    </a:cubicBezTo>
                    <a:cubicBezTo>
                      <a:pt x="1374811" y="1044073"/>
                      <a:pt x="2206832" y="1155283"/>
                      <a:pt x="3038854" y="1266494"/>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7" name="TextBox 24">
                <a:extLst>
                  <a:ext uri="{FF2B5EF4-FFF2-40B4-BE49-F238E27FC236}">
                    <a16:creationId xmlns:a16="http://schemas.microsoft.com/office/drawing/2014/main" id="{EF5155EE-199A-B9E4-2833-8BDA00EFEB2E}"/>
                  </a:ext>
                </a:extLst>
              </p:cNvPr>
              <p:cNvSpPr txBox="1"/>
              <p:nvPr/>
            </p:nvSpPr>
            <p:spPr>
              <a:xfrm>
                <a:off x="8367810" y="2366145"/>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Price</a:t>
                </a:r>
              </a:p>
            </p:txBody>
          </p:sp>
        </p:grpSp>
        <p:sp>
          <p:nvSpPr>
            <p:cNvPr id="5" name="TextBox 4">
              <a:extLst>
                <a:ext uri="{FF2B5EF4-FFF2-40B4-BE49-F238E27FC236}">
                  <a16:creationId xmlns:a16="http://schemas.microsoft.com/office/drawing/2014/main" id="{400F0EAB-20A3-CCE4-EAB3-01B731299C03}"/>
                </a:ext>
              </a:extLst>
            </p:cNvPr>
            <p:cNvSpPr txBox="1"/>
            <p:nvPr/>
          </p:nvSpPr>
          <p:spPr>
            <a:xfrm>
              <a:off x="5139982" y="490073"/>
              <a:ext cx="1997181" cy="276999"/>
            </a:xfrm>
            <a:prstGeom prst="rect">
              <a:avLst/>
            </a:prstGeom>
            <a:noFill/>
          </p:spPr>
          <p:txBody>
            <a:bodyPr wrap="square">
              <a:spAutoFit/>
            </a:bodyPr>
            <a:lstStyle/>
            <a:p>
              <a:r>
                <a:rPr lang="en-US" sz="1200" dirty="0">
                  <a:cs typeface="Calibri" panose="020F0502020204030204" pitchFamily="34" charset="0"/>
                </a:rPr>
                <a:t>Price distribution</a:t>
              </a:r>
              <a:endParaRPr lang="en-US" sz="1200" i="1" dirty="0">
                <a:cs typeface="Calibri" panose="020F0502020204030204" pitchFamily="34" charset="0"/>
              </a:endParaRPr>
            </a:p>
          </p:txBody>
        </p:sp>
        <p:sp>
          <p:nvSpPr>
            <p:cNvPr id="6" name="Freeform 5">
              <a:extLst>
                <a:ext uri="{FF2B5EF4-FFF2-40B4-BE49-F238E27FC236}">
                  <a16:creationId xmlns:a16="http://schemas.microsoft.com/office/drawing/2014/main" id="{0054153E-72CF-AA9F-AFEB-BB2C77E1A5A3}"/>
                </a:ext>
              </a:extLst>
            </p:cNvPr>
            <p:cNvSpPr/>
            <p:nvPr/>
          </p:nvSpPr>
          <p:spPr>
            <a:xfrm>
              <a:off x="5715000" y="918629"/>
              <a:ext cx="2917371" cy="1214971"/>
            </a:xfrm>
            <a:custGeom>
              <a:avLst/>
              <a:gdLst>
                <a:gd name="connsiteX0" fmla="*/ 0 w 2917371"/>
                <a:gd name="connsiteY0" fmla="*/ 1138771 h 1214971"/>
                <a:gd name="connsiteX1" fmla="*/ 990600 w 2917371"/>
                <a:gd name="connsiteY1" fmla="*/ 746885 h 1214971"/>
                <a:gd name="connsiteX2" fmla="*/ 1850571 w 2917371"/>
                <a:gd name="connsiteY2" fmla="*/ 6657 h 1214971"/>
                <a:gd name="connsiteX3" fmla="*/ 2917371 w 2917371"/>
                <a:gd name="connsiteY3" fmla="*/ 1214971 h 1214971"/>
              </a:gdLst>
              <a:ahLst/>
              <a:cxnLst>
                <a:cxn ang="0">
                  <a:pos x="connsiteX0" y="connsiteY0"/>
                </a:cxn>
                <a:cxn ang="0">
                  <a:pos x="connsiteX1" y="connsiteY1"/>
                </a:cxn>
                <a:cxn ang="0">
                  <a:pos x="connsiteX2" y="connsiteY2"/>
                </a:cxn>
                <a:cxn ang="0">
                  <a:pos x="connsiteX3" y="connsiteY3"/>
                </a:cxn>
              </a:cxnLst>
              <a:rect l="l" t="t" r="r" b="b"/>
              <a:pathLst>
                <a:path w="2917371" h="1214971">
                  <a:moveTo>
                    <a:pt x="0" y="1138771"/>
                  </a:moveTo>
                  <a:cubicBezTo>
                    <a:pt x="341086" y="1037171"/>
                    <a:pt x="682172" y="935571"/>
                    <a:pt x="990600" y="746885"/>
                  </a:cubicBezTo>
                  <a:cubicBezTo>
                    <a:pt x="1299028" y="558199"/>
                    <a:pt x="1529443" y="-71357"/>
                    <a:pt x="1850571" y="6657"/>
                  </a:cubicBezTo>
                  <a:cubicBezTo>
                    <a:pt x="2171700" y="84671"/>
                    <a:pt x="2544535" y="649821"/>
                    <a:pt x="2917371" y="1214971"/>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FC536534-C576-F04A-400D-C0BA467C522E}"/>
              </a:ext>
            </a:extLst>
          </p:cNvPr>
          <p:cNvSpPr/>
          <p:nvPr/>
        </p:nvSpPr>
        <p:spPr>
          <a:xfrm>
            <a:off x="359803" y="976613"/>
            <a:ext cx="4507906" cy="523220"/>
          </a:xfrm>
          <a:prstGeom prst="rect">
            <a:avLst/>
          </a:prstGeom>
        </p:spPr>
        <p:txBody>
          <a:bodyPr wrap="square">
            <a:spAutoFit/>
          </a:bodyPr>
          <a:lstStyle/>
          <a:p>
            <a:pPr eaLnBrk="1" fontAlgn="auto" hangingPunct="1">
              <a:spcBef>
                <a:spcPts val="0"/>
              </a:spcBef>
              <a:spcAft>
                <a:spcPts val="0"/>
              </a:spcAft>
              <a:defRPr/>
            </a:pPr>
            <a:r>
              <a:rPr lang="en-US" altLang="zh-CN" sz="1400" b="1" dirty="0">
                <a:latin typeface="+mn-lt"/>
                <a:ea typeface="+mn-ea"/>
              </a:rPr>
              <a:t>Theorem </a:t>
            </a:r>
            <a:r>
              <a:rPr lang="en-US" altLang="zh-CN" sz="1400" dirty="0">
                <a:latin typeface="+mn-lt"/>
                <a:ea typeface="+mn-ea"/>
              </a:rPr>
              <a:t>- The demand model at time t-1 is </a:t>
            </a:r>
          </a:p>
          <a:p>
            <a:pPr eaLnBrk="1" fontAlgn="auto" hangingPunct="1">
              <a:spcBef>
                <a:spcPts val="0"/>
              </a:spcBef>
              <a:spcAft>
                <a:spcPts val="0"/>
              </a:spcAft>
              <a:defRPr/>
            </a:pPr>
            <a:r>
              <a:rPr lang="en-US" altLang="zh-CN" sz="1400" dirty="0">
                <a:latin typeface="+mn-lt"/>
                <a:ea typeface="+mn-ea"/>
              </a:rPr>
              <a:t>distribution-insensitive to price distribution at time t</a:t>
            </a:r>
          </a:p>
        </p:txBody>
      </p:sp>
      <p:sp>
        <p:nvSpPr>
          <p:cNvPr id="19" name="Rectangle 18">
            <a:extLst>
              <a:ext uri="{FF2B5EF4-FFF2-40B4-BE49-F238E27FC236}">
                <a16:creationId xmlns:a16="http://schemas.microsoft.com/office/drawing/2014/main" id="{C1F353EC-163B-2B1A-C4E1-376C6F3F5889}"/>
              </a:ext>
            </a:extLst>
          </p:cNvPr>
          <p:cNvSpPr/>
          <p:nvPr/>
        </p:nvSpPr>
        <p:spPr>
          <a:xfrm>
            <a:off x="396918" y="1221513"/>
            <a:ext cx="1741718" cy="294208"/>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dk1"/>
              </a:solidFill>
            </a:endParaRPr>
          </a:p>
        </p:txBody>
      </p:sp>
      <p:sp>
        <p:nvSpPr>
          <p:cNvPr id="20" name="Rectangle 19">
            <a:extLst>
              <a:ext uri="{FF2B5EF4-FFF2-40B4-BE49-F238E27FC236}">
                <a16:creationId xmlns:a16="http://schemas.microsoft.com/office/drawing/2014/main" id="{F50987C2-44DB-D631-C66F-BF9828D3BA78}"/>
              </a:ext>
            </a:extLst>
          </p:cNvPr>
          <p:cNvSpPr/>
          <p:nvPr/>
        </p:nvSpPr>
        <p:spPr>
          <a:xfrm>
            <a:off x="1542708" y="970187"/>
            <a:ext cx="1190481" cy="294208"/>
          </a:xfrm>
          <a:prstGeom prst="rect">
            <a:avLst/>
          </a:prstGeom>
          <a:solidFill>
            <a:schemeClr val="accent1">
              <a:lumMod val="60000"/>
              <a:lumOff val="4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21" name="Rectangle 20">
            <a:extLst>
              <a:ext uri="{FF2B5EF4-FFF2-40B4-BE49-F238E27FC236}">
                <a16:creationId xmlns:a16="http://schemas.microsoft.com/office/drawing/2014/main" id="{DB68FE46-BE1C-C8E6-19E8-0C391DB460B9}"/>
              </a:ext>
            </a:extLst>
          </p:cNvPr>
          <p:cNvSpPr/>
          <p:nvPr/>
        </p:nvSpPr>
        <p:spPr>
          <a:xfrm>
            <a:off x="2328703" y="1199199"/>
            <a:ext cx="1269891" cy="294208"/>
          </a:xfrm>
          <a:prstGeom prst="rect">
            <a:avLst/>
          </a:prstGeom>
          <a:solidFill>
            <a:schemeClr val="accent1">
              <a:lumMod val="60000"/>
              <a:lumOff val="4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22" name="Rectangle 21">
            <a:extLst>
              <a:ext uri="{FF2B5EF4-FFF2-40B4-BE49-F238E27FC236}">
                <a16:creationId xmlns:a16="http://schemas.microsoft.com/office/drawing/2014/main" id="{C657B088-5111-B2ED-35D9-DD3769A7A56B}"/>
              </a:ext>
            </a:extLst>
          </p:cNvPr>
          <p:cNvSpPr/>
          <p:nvPr/>
        </p:nvSpPr>
        <p:spPr>
          <a:xfrm>
            <a:off x="2872320" y="964840"/>
            <a:ext cx="643575" cy="299555"/>
          </a:xfrm>
          <a:prstGeom prst="rect">
            <a:avLst/>
          </a:prstGeom>
          <a:solidFill>
            <a:schemeClr val="accent1">
              <a:lumMod val="60000"/>
              <a:lumOff val="4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dirty="0">
              <a:solidFill>
                <a:schemeClr val="accent3">
                  <a:lumMod val="75000"/>
                </a:schemeClr>
              </a:solidFill>
            </a:endParaRPr>
          </a:p>
        </p:txBody>
      </p:sp>
      <p:sp>
        <p:nvSpPr>
          <p:cNvPr id="23" name="Rectangle 22">
            <a:extLst>
              <a:ext uri="{FF2B5EF4-FFF2-40B4-BE49-F238E27FC236}">
                <a16:creationId xmlns:a16="http://schemas.microsoft.com/office/drawing/2014/main" id="{6B072DB8-4C41-445C-2514-EFFEF6226A4E}"/>
              </a:ext>
            </a:extLst>
          </p:cNvPr>
          <p:cNvSpPr/>
          <p:nvPr/>
        </p:nvSpPr>
        <p:spPr>
          <a:xfrm>
            <a:off x="3788661" y="1197957"/>
            <a:ext cx="547723" cy="299555"/>
          </a:xfrm>
          <a:prstGeom prst="rect">
            <a:avLst/>
          </a:prstGeom>
          <a:solidFill>
            <a:schemeClr val="accent1">
              <a:lumMod val="60000"/>
              <a:lumOff val="4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dirty="0">
              <a:solidFill>
                <a:schemeClr val="accent3">
                  <a:lumMod val="75000"/>
                </a:schemeClr>
              </a:solidFill>
            </a:endParaRPr>
          </a:p>
        </p:txBody>
      </p:sp>
      <p:cxnSp>
        <p:nvCxnSpPr>
          <p:cNvPr id="32771" name="Straight Arrow Connector 32770">
            <a:extLst>
              <a:ext uri="{FF2B5EF4-FFF2-40B4-BE49-F238E27FC236}">
                <a16:creationId xmlns:a16="http://schemas.microsoft.com/office/drawing/2014/main" id="{ACE47480-7A71-6611-B54A-55A36819825A}"/>
              </a:ext>
            </a:extLst>
          </p:cNvPr>
          <p:cNvCxnSpPr>
            <a:cxnSpLocks/>
          </p:cNvCxnSpPr>
          <p:nvPr/>
        </p:nvCxnSpPr>
        <p:spPr>
          <a:xfrm>
            <a:off x="1068841" y="2019982"/>
            <a:ext cx="31349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772" name="TextBox 24">
            <a:extLst>
              <a:ext uri="{FF2B5EF4-FFF2-40B4-BE49-F238E27FC236}">
                <a16:creationId xmlns:a16="http://schemas.microsoft.com/office/drawing/2014/main" id="{10057F1E-D39D-BEF6-D4BF-97A033F7D83C}"/>
              </a:ext>
            </a:extLst>
          </p:cNvPr>
          <p:cNvSpPr txBox="1"/>
          <p:nvPr/>
        </p:nvSpPr>
        <p:spPr>
          <a:xfrm>
            <a:off x="3965157" y="2048286"/>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Time</a:t>
            </a:r>
          </a:p>
        </p:txBody>
      </p:sp>
      <p:sp>
        <p:nvSpPr>
          <p:cNvPr id="32774" name="TextBox 24">
            <a:extLst>
              <a:ext uri="{FF2B5EF4-FFF2-40B4-BE49-F238E27FC236}">
                <a16:creationId xmlns:a16="http://schemas.microsoft.com/office/drawing/2014/main" id="{1C901C35-1B7C-0A8C-8217-72EDB38F9456}"/>
              </a:ext>
            </a:extLst>
          </p:cNvPr>
          <p:cNvSpPr txBox="1"/>
          <p:nvPr/>
        </p:nvSpPr>
        <p:spPr>
          <a:xfrm>
            <a:off x="3001666" y="2276086"/>
            <a:ext cx="592656" cy="276999"/>
          </a:xfrm>
          <a:prstGeom prst="rect">
            <a:avLst/>
          </a:prstGeom>
          <a:noFill/>
          <a:ln>
            <a:noFill/>
          </a:ln>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t</a:t>
            </a:r>
          </a:p>
        </p:txBody>
      </p:sp>
      <p:cxnSp>
        <p:nvCxnSpPr>
          <p:cNvPr id="32775" name="Straight Arrow Connector 32774">
            <a:extLst>
              <a:ext uri="{FF2B5EF4-FFF2-40B4-BE49-F238E27FC236}">
                <a16:creationId xmlns:a16="http://schemas.microsoft.com/office/drawing/2014/main" id="{E472C4A3-93AF-C822-7818-78426672CE21}"/>
              </a:ext>
            </a:extLst>
          </p:cNvPr>
          <p:cNvCxnSpPr>
            <a:cxnSpLocks/>
          </p:cNvCxnSpPr>
          <p:nvPr/>
        </p:nvCxnSpPr>
        <p:spPr>
          <a:xfrm flipV="1">
            <a:off x="3187506" y="1763400"/>
            <a:ext cx="0" cy="433783"/>
          </a:xfrm>
          <a:prstGeom prst="straightConnector1">
            <a:avLst/>
          </a:prstGeom>
          <a:ln w="19050">
            <a:solidFill>
              <a:srgbClr val="C00000"/>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2776" name="TextBox 24">
            <a:extLst>
              <a:ext uri="{FF2B5EF4-FFF2-40B4-BE49-F238E27FC236}">
                <a16:creationId xmlns:a16="http://schemas.microsoft.com/office/drawing/2014/main" id="{9BF45A9D-67CC-DB43-22DB-BC85EF3B5D47}"/>
              </a:ext>
            </a:extLst>
          </p:cNvPr>
          <p:cNvSpPr txBox="1"/>
          <p:nvPr/>
        </p:nvSpPr>
        <p:spPr>
          <a:xfrm>
            <a:off x="2386528" y="2267367"/>
            <a:ext cx="448675" cy="276999"/>
          </a:xfrm>
          <a:prstGeom prst="rect">
            <a:avLst/>
          </a:prstGeom>
          <a:noFill/>
          <a:ln>
            <a:noFill/>
          </a:ln>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t-1</a:t>
            </a:r>
          </a:p>
        </p:txBody>
      </p:sp>
      <p:pic>
        <p:nvPicPr>
          <p:cNvPr id="32777" name="Graphic 32776" descr="Battery charging with solid fill">
            <a:extLst>
              <a:ext uri="{FF2B5EF4-FFF2-40B4-BE49-F238E27FC236}">
                <a16:creationId xmlns:a16="http://schemas.microsoft.com/office/drawing/2014/main" id="{0D69847B-DC35-77F5-D3B9-3311DF16A34A}"/>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260363" y="1671088"/>
            <a:ext cx="652168" cy="652168"/>
          </a:xfrm>
          <a:prstGeom prst="rect">
            <a:avLst/>
          </a:prstGeom>
        </p:spPr>
      </p:pic>
      <p:sp>
        <p:nvSpPr>
          <p:cNvPr id="32778" name="TextBox 32777">
            <a:extLst>
              <a:ext uri="{FF2B5EF4-FFF2-40B4-BE49-F238E27FC236}">
                <a16:creationId xmlns:a16="http://schemas.microsoft.com/office/drawing/2014/main" id="{7122DC9E-18C4-59DA-EE6B-6764378A8CC1}"/>
              </a:ext>
            </a:extLst>
          </p:cNvPr>
          <p:cNvSpPr txBox="1"/>
          <p:nvPr/>
        </p:nvSpPr>
        <p:spPr>
          <a:xfrm>
            <a:off x="1941411" y="1552158"/>
            <a:ext cx="1274467" cy="276999"/>
          </a:xfrm>
          <a:prstGeom prst="rect">
            <a:avLst/>
          </a:prstGeom>
          <a:noFill/>
        </p:spPr>
        <p:txBody>
          <a:bodyPr wrap="square">
            <a:spAutoFit/>
          </a:bodyPr>
          <a:lstStyle/>
          <a:p>
            <a:r>
              <a:rPr lang="en-US" sz="1200" dirty="0">
                <a:cs typeface="Calibri" panose="020F0502020204030204" pitchFamily="34" charset="0"/>
              </a:rPr>
              <a:t>Demand model</a:t>
            </a:r>
          </a:p>
        </p:txBody>
      </p:sp>
      <p:sp>
        <p:nvSpPr>
          <p:cNvPr id="32779" name="TextBox 32778">
            <a:extLst>
              <a:ext uri="{FF2B5EF4-FFF2-40B4-BE49-F238E27FC236}">
                <a16:creationId xmlns:a16="http://schemas.microsoft.com/office/drawing/2014/main" id="{93132CCC-D5DB-CAAA-26DE-00D58CCD0EA9}"/>
              </a:ext>
            </a:extLst>
          </p:cNvPr>
          <p:cNvSpPr txBox="1"/>
          <p:nvPr/>
        </p:nvSpPr>
        <p:spPr>
          <a:xfrm>
            <a:off x="1533373" y="2462096"/>
            <a:ext cx="3363124" cy="307777"/>
          </a:xfrm>
          <a:prstGeom prst="rect">
            <a:avLst/>
          </a:prstGeom>
          <a:noFill/>
        </p:spPr>
        <p:txBody>
          <a:bodyPr wrap="square">
            <a:spAutoFit/>
          </a:bodyPr>
          <a:lstStyle/>
          <a:p>
            <a:r>
              <a:rPr lang="en-US" sz="1400" b="1" dirty="0">
                <a:solidFill>
                  <a:srgbClr val="C00000"/>
                </a:solidFill>
                <a:cs typeface="Calibri" panose="020F0502020204030204" pitchFamily="34" charset="0"/>
              </a:rPr>
              <a:t>Distribution insensitive to all future time</a:t>
            </a:r>
          </a:p>
        </p:txBody>
      </p:sp>
      <p:sp>
        <p:nvSpPr>
          <p:cNvPr id="32780" name="TextBox 24">
            <a:extLst>
              <a:ext uri="{FF2B5EF4-FFF2-40B4-BE49-F238E27FC236}">
                <a16:creationId xmlns:a16="http://schemas.microsoft.com/office/drawing/2014/main" id="{46D196C9-4B20-7B90-E332-C180438E669C}"/>
              </a:ext>
            </a:extLst>
          </p:cNvPr>
          <p:cNvSpPr txBox="1"/>
          <p:nvPr/>
        </p:nvSpPr>
        <p:spPr>
          <a:xfrm>
            <a:off x="3834245" y="2293131"/>
            <a:ext cx="301414" cy="276999"/>
          </a:xfrm>
          <a:prstGeom prst="rect">
            <a:avLst/>
          </a:prstGeom>
          <a:noFill/>
          <a:ln>
            <a:noFill/>
          </a:ln>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T</a:t>
            </a:r>
          </a:p>
        </p:txBody>
      </p:sp>
      <p:cxnSp>
        <p:nvCxnSpPr>
          <p:cNvPr id="32781" name="Straight Arrow Connector 32780">
            <a:extLst>
              <a:ext uri="{FF2B5EF4-FFF2-40B4-BE49-F238E27FC236}">
                <a16:creationId xmlns:a16="http://schemas.microsoft.com/office/drawing/2014/main" id="{3D1344E6-638C-0E51-0A0D-53FE5BDE5D26}"/>
              </a:ext>
            </a:extLst>
          </p:cNvPr>
          <p:cNvCxnSpPr>
            <a:cxnSpLocks/>
          </p:cNvCxnSpPr>
          <p:nvPr/>
        </p:nvCxnSpPr>
        <p:spPr>
          <a:xfrm flipV="1">
            <a:off x="3957800" y="1770689"/>
            <a:ext cx="0" cy="433783"/>
          </a:xfrm>
          <a:prstGeom prst="straightConnector1">
            <a:avLst/>
          </a:prstGeom>
          <a:ln w="19050">
            <a:solidFill>
              <a:srgbClr val="C00000"/>
            </a:solidFill>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782" name="Straight Arrow Connector 32781">
            <a:extLst>
              <a:ext uri="{FF2B5EF4-FFF2-40B4-BE49-F238E27FC236}">
                <a16:creationId xmlns:a16="http://schemas.microsoft.com/office/drawing/2014/main" id="{1E3ACEBE-E2E1-AC80-7B6B-BC79E315E101}"/>
              </a:ext>
            </a:extLst>
          </p:cNvPr>
          <p:cNvCxnSpPr>
            <a:cxnSpLocks/>
          </p:cNvCxnSpPr>
          <p:nvPr/>
        </p:nvCxnSpPr>
        <p:spPr>
          <a:xfrm flipV="1">
            <a:off x="3429000" y="1763399"/>
            <a:ext cx="0" cy="433783"/>
          </a:xfrm>
          <a:prstGeom prst="straightConnector1">
            <a:avLst/>
          </a:prstGeom>
          <a:ln w="19050">
            <a:solidFill>
              <a:srgbClr val="C00000"/>
            </a:solidFill>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783" name="Straight Arrow Connector 32782">
            <a:extLst>
              <a:ext uri="{FF2B5EF4-FFF2-40B4-BE49-F238E27FC236}">
                <a16:creationId xmlns:a16="http://schemas.microsoft.com/office/drawing/2014/main" id="{0B46F548-E6AE-C865-B48E-1A7A91EB2F74}"/>
              </a:ext>
            </a:extLst>
          </p:cNvPr>
          <p:cNvCxnSpPr>
            <a:cxnSpLocks/>
          </p:cNvCxnSpPr>
          <p:nvPr/>
        </p:nvCxnSpPr>
        <p:spPr>
          <a:xfrm flipV="1">
            <a:off x="3623625" y="1770688"/>
            <a:ext cx="0" cy="433783"/>
          </a:xfrm>
          <a:prstGeom prst="straightConnector1">
            <a:avLst/>
          </a:prstGeom>
          <a:ln w="19050">
            <a:solidFill>
              <a:srgbClr val="C00000"/>
            </a:solidFill>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784" name="Straight Connector 32783">
            <a:extLst>
              <a:ext uri="{FF2B5EF4-FFF2-40B4-BE49-F238E27FC236}">
                <a16:creationId xmlns:a16="http://schemas.microsoft.com/office/drawing/2014/main" id="{1124A96A-9C7F-5992-346F-C31D5099BDD3}"/>
              </a:ext>
            </a:extLst>
          </p:cNvPr>
          <p:cNvCxnSpPr/>
          <p:nvPr/>
        </p:nvCxnSpPr>
        <p:spPr>
          <a:xfrm>
            <a:off x="7183517" y="919335"/>
            <a:ext cx="0" cy="1839509"/>
          </a:xfrm>
          <a:prstGeom prst="line">
            <a:avLst/>
          </a:prstGeom>
        </p:spPr>
        <p:style>
          <a:lnRef idx="2">
            <a:schemeClr val="dk1"/>
          </a:lnRef>
          <a:fillRef idx="0">
            <a:schemeClr val="dk1"/>
          </a:fillRef>
          <a:effectRef idx="1">
            <a:schemeClr val="dk1"/>
          </a:effectRef>
          <a:fontRef idx="minor">
            <a:schemeClr val="tx1"/>
          </a:fontRef>
        </p:style>
      </p:cxnSp>
      <p:sp>
        <p:nvSpPr>
          <p:cNvPr id="32785" name="TextBox 32784">
            <a:extLst>
              <a:ext uri="{FF2B5EF4-FFF2-40B4-BE49-F238E27FC236}">
                <a16:creationId xmlns:a16="http://schemas.microsoft.com/office/drawing/2014/main" id="{F72E07F6-17AF-08F6-3157-071DD87FC24E}"/>
              </a:ext>
            </a:extLst>
          </p:cNvPr>
          <p:cNvSpPr txBox="1"/>
          <p:nvPr/>
        </p:nvSpPr>
        <p:spPr>
          <a:xfrm>
            <a:off x="6908366" y="597281"/>
            <a:ext cx="1453696" cy="276999"/>
          </a:xfrm>
          <a:prstGeom prst="rect">
            <a:avLst/>
          </a:prstGeom>
          <a:noFill/>
        </p:spPr>
        <p:txBody>
          <a:bodyPr wrap="square">
            <a:spAutoFit/>
          </a:bodyPr>
          <a:lstStyle/>
          <a:p>
            <a:r>
              <a:rPr lang="en-US" sz="1200" dirty="0">
                <a:cs typeface="Calibri" panose="020F0502020204030204" pitchFamily="34" charset="0"/>
              </a:rPr>
              <a:t>Same expectation</a:t>
            </a:r>
          </a:p>
        </p:txBody>
      </p:sp>
      <p:sp>
        <p:nvSpPr>
          <p:cNvPr id="32786" name="TextBox 24">
            <a:extLst>
              <a:ext uri="{FF2B5EF4-FFF2-40B4-BE49-F238E27FC236}">
                <a16:creationId xmlns:a16="http://schemas.microsoft.com/office/drawing/2014/main" id="{7316BFC3-1948-D870-0337-242672D562F9}"/>
              </a:ext>
            </a:extLst>
          </p:cNvPr>
          <p:cNvSpPr txBox="1"/>
          <p:nvPr/>
        </p:nvSpPr>
        <p:spPr>
          <a:xfrm>
            <a:off x="8399148" y="3886000"/>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Time</a:t>
            </a:r>
          </a:p>
        </p:txBody>
      </p:sp>
      <p:sp>
        <p:nvSpPr>
          <p:cNvPr id="32787" name="TextBox 32786">
            <a:extLst>
              <a:ext uri="{FF2B5EF4-FFF2-40B4-BE49-F238E27FC236}">
                <a16:creationId xmlns:a16="http://schemas.microsoft.com/office/drawing/2014/main" id="{32054EBB-54D0-FAEA-8E77-8FEB34FF43B7}"/>
              </a:ext>
            </a:extLst>
          </p:cNvPr>
          <p:cNvSpPr txBox="1"/>
          <p:nvPr/>
        </p:nvSpPr>
        <p:spPr>
          <a:xfrm>
            <a:off x="192827" y="3610801"/>
            <a:ext cx="4539114" cy="954107"/>
          </a:xfrm>
          <a:prstGeom prst="rect">
            <a:avLst/>
          </a:prstGeom>
          <a:noFill/>
        </p:spPr>
        <p:txBody>
          <a:bodyPr wrap="square">
            <a:spAutoFit/>
          </a:bodyPr>
          <a:lstStyle/>
          <a:p>
            <a:pPr marL="285750" indent="-285750" algn="just">
              <a:buFont typeface="Arial" panose="020B0604020202020204" pitchFamily="34" charset="0"/>
              <a:buChar char="•"/>
            </a:pPr>
            <a:r>
              <a:rPr lang="en-US" sz="1400" dirty="0">
                <a:cs typeface="Calibri" panose="020F0502020204030204" pitchFamily="34" charset="0"/>
              </a:rPr>
              <a:t>Widely used quadratic models fail to capture real risk-aware decision behaviors, as they inherently ignore distributional effects and may thus lead to unintended demand pattern changes</a:t>
            </a:r>
          </a:p>
        </p:txBody>
      </p:sp>
    </p:spTree>
    <p:extLst>
      <p:ext uri="{BB962C8B-B14F-4D97-AF65-F5344CB8AC3E}">
        <p14:creationId xmlns:p14="http://schemas.microsoft.com/office/powerpoint/2010/main" val="34453378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2782"/>
                                        </p:tgtEl>
                                        <p:attrNameLst>
                                          <p:attrName>style.visibility</p:attrName>
                                        </p:attrNameLst>
                                      </p:cBhvr>
                                      <p:to>
                                        <p:strVal val="visible"/>
                                      </p:to>
                                    </p:set>
                                    <p:animEffect transition="in" filter="dissolve">
                                      <p:cBhvr>
                                        <p:cTn id="7" dur="500"/>
                                        <p:tgtEl>
                                          <p:spTgt spid="3278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783"/>
                                        </p:tgtEl>
                                        <p:attrNameLst>
                                          <p:attrName>style.visibility</p:attrName>
                                        </p:attrNameLst>
                                      </p:cBhvr>
                                      <p:to>
                                        <p:strVal val="visible"/>
                                      </p:to>
                                    </p:set>
                                    <p:animEffect transition="in" filter="dissolve">
                                      <p:cBhvr>
                                        <p:cTn id="12" dur="500"/>
                                        <p:tgtEl>
                                          <p:spTgt spid="3278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2781"/>
                                        </p:tgtEl>
                                        <p:attrNameLst>
                                          <p:attrName>style.visibility</p:attrName>
                                        </p:attrNameLst>
                                      </p:cBhvr>
                                      <p:to>
                                        <p:strVal val="visible"/>
                                      </p:to>
                                    </p:set>
                                    <p:animEffect transition="in" filter="dissolve">
                                      <p:cBhvr>
                                        <p:cTn id="17" dur="500"/>
                                        <p:tgtEl>
                                          <p:spTgt spid="3278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2779"/>
                                        </p:tgtEl>
                                        <p:attrNameLst>
                                          <p:attrName>style.visibility</p:attrName>
                                        </p:attrNameLst>
                                      </p:cBhvr>
                                      <p:to>
                                        <p:strVal val="visible"/>
                                      </p:to>
                                    </p:set>
                                    <p:animEffect transition="in" filter="dissolve">
                                      <p:cBhvr>
                                        <p:cTn id="22" dur="500"/>
                                        <p:tgtEl>
                                          <p:spTgt spid="3277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dissolv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dissolve">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32784"/>
                                        </p:tgtEl>
                                        <p:attrNameLst>
                                          <p:attrName>style.visibility</p:attrName>
                                        </p:attrNameLst>
                                      </p:cBhvr>
                                      <p:to>
                                        <p:strVal val="visible"/>
                                      </p:to>
                                    </p:set>
                                    <p:animEffect transition="in" filter="dissolve">
                                      <p:cBhvr>
                                        <p:cTn id="40" dur="500"/>
                                        <p:tgtEl>
                                          <p:spTgt spid="32784"/>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32785"/>
                                        </p:tgtEl>
                                        <p:attrNameLst>
                                          <p:attrName>style.visibility</p:attrName>
                                        </p:attrNameLst>
                                      </p:cBhvr>
                                      <p:to>
                                        <p:strVal val="visible"/>
                                      </p:to>
                                    </p:set>
                                    <p:animEffect transition="in" filter="dissolve">
                                      <p:cBhvr>
                                        <p:cTn id="43" dur="500"/>
                                        <p:tgtEl>
                                          <p:spTgt spid="32785"/>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dissolve">
                                      <p:cBhvr>
                                        <p:cTn id="48" dur="500"/>
                                        <p:tgtEl>
                                          <p:spTgt spid="26"/>
                                        </p:tgtEl>
                                      </p:cBhvr>
                                    </p:animEffect>
                                  </p:childTnLst>
                                </p:cTn>
                              </p:par>
                              <p:par>
                                <p:cTn id="49" presetID="9" presetClass="entr" presetSubtype="0"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dissolve">
                                      <p:cBhvr>
                                        <p:cTn id="51" dur="500"/>
                                        <p:tgtEl>
                                          <p:spTgt spid="27"/>
                                        </p:tgtEl>
                                      </p:cBhvr>
                                    </p:animEffect>
                                  </p:childTnLst>
                                </p:cTn>
                              </p:par>
                              <p:par>
                                <p:cTn id="52" presetID="9" presetClass="entr" presetSubtype="0" fill="hold" nodeType="with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dissolve">
                                      <p:cBhvr>
                                        <p:cTn id="54" dur="500"/>
                                        <p:tgtEl>
                                          <p:spTgt spid="30"/>
                                        </p:tgtEl>
                                      </p:cBhvr>
                                    </p:animEffect>
                                  </p:childTnLst>
                                </p:cTn>
                              </p:par>
                              <p:par>
                                <p:cTn id="55" presetID="9" presetClass="entr" presetSubtype="0"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dissolve">
                                      <p:cBhvr>
                                        <p:cTn id="57" dur="500"/>
                                        <p:tgtEl>
                                          <p:spTgt spid="31"/>
                                        </p:tgtEl>
                                      </p:cBhvr>
                                    </p:animEffect>
                                  </p:childTnLst>
                                </p:cTn>
                              </p:par>
                              <p:par>
                                <p:cTn id="58" presetID="9" presetClass="entr" presetSubtype="0" fill="hold"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dissolve">
                                      <p:cBhvr>
                                        <p:cTn id="60" dur="500"/>
                                        <p:tgtEl>
                                          <p:spTgt spid="32"/>
                                        </p:tgtEl>
                                      </p:cBhvr>
                                    </p:animEffect>
                                  </p:childTnLst>
                                </p:cTn>
                              </p:par>
                              <p:par>
                                <p:cTn id="61" presetID="9" presetClass="entr" presetSubtype="0"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dissolve">
                                      <p:cBhvr>
                                        <p:cTn id="63" dur="500"/>
                                        <p:tgtEl>
                                          <p:spTgt spid="33"/>
                                        </p:tgtEl>
                                      </p:cBhvr>
                                    </p:animEffect>
                                  </p:childTnLst>
                                </p:cTn>
                              </p:par>
                              <p:par>
                                <p:cTn id="64" presetID="9" presetClass="entr" presetSubtype="0" fill="hold" nodeType="with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dissolve">
                                      <p:cBhvr>
                                        <p:cTn id="66" dur="500"/>
                                        <p:tgtEl>
                                          <p:spTgt spid="34"/>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dissolve">
                                      <p:cBhvr>
                                        <p:cTn id="69" dur="500"/>
                                        <p:tgtEl>
                                          <p:spTgt spid="36"/>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dissolve">
                                      <p:cBhvr>
                                        <p:cTn id="72" dur="500"/>
                                        <p:tgtEl>
                                          <p:spTgt spid="35"/>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32786"/>
                                        </p:tgtEl>
                                        <p:attrNameLst>
                                          <p:attrName>style.visibility</p:attrName>
                                        </p:attrNameLst>
                                      </p:cBhvr>
                                      <p:to>
                                        <p:strVal val="visible"/>
                                      </p:to>
                                    </p:set>
                                    <p:animEffect transition="in" filter="dissolve">
                                      <p:cBhvr>
                                        <p:cTn id="75" dur="500"/>
                                        <p:tgtEl>
                                          <p:spTgt spid="32786"/>
                                        </p:tgtEl>
                                      </p:cBhvr>
                                    </p:animEffect>
                                  </p:childTnLst>
                                </p:cTn>
                              </p:par>
                              <p:par>
                                <p:cTn id="76" presetID="9" presetClass="entr" presetSubtype="0" fill="hold" nodeType="with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dissolve">
                                      <p:cBhvr>
                                        <p:cTn id="78" dur="500"/>
                                        <p:tgtEl>
                                          <p:spTgt spid="52"/>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dissolve">
                                      <p:cBhvr>
                                        <p:cTn id="81" dur="500"/>
                                        <p:tgtEl>
                                          <p:spTgt spid="28"/>
                                        </p:tgtEl>
                                      </p:cBhvr>
                                    </p:animEffect>
                                  </p:childTnLst>
                                </p:cTn>
                              </p:par>
                            </p:childTnLst>
                          </p:cTn>
                        </p:par>
                      </p:childTnLst>
                    </p:cTn>
                  </p:par>
                  <p:par>
                    <p:cTn id="82" fill="hold">
                      <p:stCondLst>
                        <p:cond delay="indefinite"/>
                      </p:stCondLst>
                      <p:childTnLst>
                        <p:par>
                          <p:cTn id="83" fill="hold">
                            <p:stCondLst>
                              <p:cond delay="0"/>
                            </p:stCondLst>
                            <p:childTnLst>
                              <p:par>
                                <p:cTn id="84" presetID="9" presetClass="entr" presetSubtype="0" fill="hold" nodeType="click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dissolve">
                                      <p:cBhvr>
                                        <p:cTn id="86" dur="500"/>
                                        <p:tgtEl>
                                          <p:spTgt spid="29"/>
                                        </p:tgtEl>
                                      </p:cBhvr>
                                    </p:animEffect>
                                  </p:childTnLst>
                                </p:cTn>
                              </p:par>
                            </p:childTnLst>
                          </p:cTn>
                        </p:par>
                      </p:childTnLst>
                    </p:cTn>
                  </p:par>
                  <p:par>
                    <p:cTn id="87" fill="hold">
                      <p:stCondLst>
                        <p:cond delay="indefinite"/>
                      </p:stCondLst>
                      <p:childTnLst>
                        <p:par>
                          <p:cTn id="88" fill="hold">
                            <p:stCondLst>
                              <p:cond delay="0"/>
                            </p:stCondLst>
                            <p:childTnLst>
                              <p:par>
                                <p:cTn id="89" presetID="9" presetClass="entr" presetSubtype="0" fill="hold" grpId="0" nodeType="clickEffect">
                                  <p:stCondLst>
                                    <p:cond delay="0"/>
                                  </p:stCondLst>
                                  <p:childTnLst>
                                    <p:set>
                                      <p:cBhvr>
                                        <p:cTn id="90" dur="1" fill="hold">
                                          <p:stCondLst>
                                            <p:cond delay="0"/>
                                          </p:stCondLst>
                                        </p:cTn>
                                        <p:tgtEl>
                                          <p:spTgt spid="32787"/>
                                        </p:tgtEl>
                                        <p:attrNameLst>
                                          <p:attrName>style.visibility</p:attrName>
                                        </p:attrNameLst>
                                      </p:cBhvr>
                                      <p:to>
                                        <p:strVal val="visible"/>
                                      </p:to>
                                    </p:set>
                                    <p:animEffect transition="in" filter="dissolve">
                                      <p:cBhvr>
                                        <p:cTn id="91" dur="500"/>
                                        <p:tgtEl>
                                          <p:spTgt spid="32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8" grpId="0"/>
      <p:bldP spid="36" grpId="0"/>
      <p:bldP spid="35" grpId="0"/>
      <p:bldP spid="32779" grpId="0"/>
      <p:bldP spid="32785" grpId="0"/>
      <p:bldP spid="32786" grpId="0"/>
      <p:bldP spid="3278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Main Results </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17</a:t>
            </a:r>
            <a:r>
              <a:rPr lang="en-US" altLang="en-US" sz="1200" dirty="0">
                <a:solidFill>
                  <a:schemeClr val="bg1"/>
                </a:solidFill>
              </a:rPr>
              <a:t>| </a:t>
            </a:r>
            <a:r>
              <a:rPr lang="en-US" altLang="en-US" sz="1050" dirty="0">
                <a:solidFill>
                  <a:schemeClr val="bg1"/>
                </a:solidFill>
              </a:rPr>
              <a:t>Main results</a:t>
            </a:r>
            <a:endParaRPr lang="en-US" altLang="en-US" sz="900" dirty="0">
              <a:solidFill>
                <a:schemeClr val="bg1"/>
              </a:solidFill>
            </a:endParaRPr>
          </a:p>
        </p:txBody>
      </p:sp>
      <p:sp>
        <p:nvSpPr>
          <p:cNvPr id="9" name="TextBox 23">
            <a:extLst>
              <a:ext uri="{FF2B5EF4-FFF2-40B4-BE49-F238E27FC236}">
                <a16:creationId xmlns:a16="http://schemas.microsoft.com/office/drawing/2014/main" id="{86ED11E8-2B72-6898-0ABF-5E1383EE6C78}"/>
              </a:ext>
            </a:extLst>
          </p:cNvPr>
          <p:cNvSpPr txBox="1"/>
          <p:nvPr/>
        </p:nvSpPr>
        <p:spPr>
          <a:xfrm>
            <a:off x="110236" y="619536"/>
            <a:ext cx="4755673"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solidFill>
                  <a:srgbClr val="C00000"/>
                </a:solidFill>
                <a:latin typeface="+mn-lt"/>
                <a:ea typeface="+mn-ea"/>
              </a:rPr>
              <a:t>Corollary – distribution sensitive demand </a:t>
            </a:r>
          </a:p>
        </p:txBody>
      </p:sp>
      <p:sp>
        <p:nvSpPr>
          <p:cNvPr id="14" name="TextBox 23">
            <a:extLst>
              <a:ext uri="{FF2B5EF4-FFF2-40B4-BE49-F238E27FC236}">
                <a16:creationId xmlns:a16="http://schemas.microsoft.com/office/drawing/2014/main" id="{86B5FF52-0CCA-778F-609A-63BB3C842664}"/>
              </a:ext>
            </a:extLst>
          </p:cNvPr>
          <p:cNvSpPr txBox="1"/>
          <p:nvPr/>
        </p:nvSpPr>
        <p:spPr>
          <a:xfrm>
            <a:off x="105760" y="3135449"/>
            <a:ext cx="4755673"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solidFill>
                  <a:srgbClr val="C00000"/>
                </a:solidFill>
                <a:latin typeface="+mn-lt"/>
                <a:ea typeface="+mn-ea"/>
              </a:rPr>
              <a:t>Takeaway – problem</a:t>
            </a:r>
          </a:p>
        </p:txBody>
      </p:sp>
      <p:sp>
        <p:nvSpPr>
          <p:cNvPr id="16" name="TextBox 15">
            <a:extLst>
              <a:ext uri="{FF2B5EF4-FFF2-40B4-BE49-F238E27FC236}">
                <a16:creationId xmlns:a16="http://schemas.microsoft.com/office/drawing/2014/main" id="{7A47312C-69AC-8020-EFB8-879C956EEE2C}"/>
              </a:ext>
            </a:extLst>
          </p:cNvPr>
          <p:cNvSpPr txBox="1"/>
          <p:nvPr/>
        </p:nvSpPr>
        <p:spPr>
          <a:xfrm>
            <a:off x="186265" y="3457701"/>
            <a:ext cx="4967564" cy="738664"/>
          </a:xfrm>
          <a:prstGeom prst="rect">
            <a:avLst/>
          </a:prstGeom>
          <a:noFill/>
        </p:spPr>
        <p:txBody>
          <a:bodyPr wrap="square">
            <a:spAutoFit/>
          </a:bodyPr>
          <a:lstStyle/>
          <a:p>
            <a:pPr algn="just"/>
            <a:r>
              <a:rPr lang="en-US" sz="1400" dirty="0">
                <a:cs typeface="Calibri" panose="020F0502020204030204" pitchFamily="34" charset="0"/>
              </a:rPr>
              <a:t>Practical situations challenges distribution-insensitive conditions:</a:t>
            </a:r>
          </a:p>
          <a:p>
            <a:pPr marL="285750" indent="-285750" algn="just">
              <a:buFont typeface="Arial" panose="020B0604020202020204" pitchFamily="34" charset="0"/>
              <a:buChar char="•"/>
            </a:pPr>
            <a:r>
              <a:rPr lang="en-US" sz="1400" dirty="0">
                <a:cs typeface="Calibri" panose="020F0502020204030204" pitchFamily="34" charset="0"/>
              </a:rPr>
              <a:t>Devices show higher-order cost function performance (thermal comfort and hard constraints) </a:t>
            </a:r>
          </a:p>
        </p:txBody>
      </p:sp>
      <p:cxnSp>
        <p:nvCxnSpPr>
          <p:cNvPr id="15" name="Straight Arrow Connector 14">
            <a:extLst>
              <a:ext uri="{FF2B5EF4-FFF2-40B4-BE49-F238E27FC236}">
                <a16:creationId xmlns:a16="http://schemas.microsoft.com/office/drawing/2014/main" id="{A0907FCE-7E06-A1F0-9049-15B0E3A1FBB4}"/>
              </a:ext>
            </a:extLst>
          </p:cNvPr>
          <p:cNvCxnSpPr>
            <a:cxnSpLocks/>
          </p:cNvCxnSpPr>
          <p:nvPr/>
        </p:nvCxnSpPr>
        <p:spPr>
          <a:xfrm>
            <a:off x="5959346" y="3626264"/>
            <a:ext cx="2903438" cy="108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D5FF0E83-E02B-CDEC-57C2-5AE799DC81E2}"/>
              </a:ext>
            </a:extLst>
          </p:cNvPr>
          <p:cNvCxnSpPr>
            <a:cxnSpLocks/>
          </p:cNvCxnSpPr>
          <p:nvPr/>
        </p:nvCxnSpPr>
        <p:spPr>
          <a:xfrm>
            <a:off x="8169154" y="2905540"/>
            <a:ext cx="0" cy="141881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24EF3EE8-D529-1753-450A-F4280D5E612D}"/>
              </a:ext>
            </a:extLst>
          </p:cNvPr>
          <p:cNvSpPr txBox="1"/>
          <p:nvPr/>
        </p:nvSpPr>
        <p:spPr>
          <a:xfrm>
            <a:off x="5632533" y="3239290"/>
            <a:ext cx="1255155" cy="276999"/>
          </a:xfrm>
          <a:prstGeom prst="rect">
            <a:avLst/>
          </a:prstGeom>
          <a:noFill/>
        </p:spPr>
        <p:txBody>
          <a:bodyPr wrap="square">
            <a:spAutoFit/>
          </a:bodyPr>
          <a:lstStyle/>
          <a:p>
            <a:r>
              <a:rPr lang="en-US" sz="1200" dirty="0">
                <a:solidFill>
                  <a:srgbClr val="C00000"/>
                </a:solidFill>
                <a:cs typeface="Calibri" panose="020F0502020204030204" pitchFamily="34" charset="0"/>
              </a:rPr>
              <a:t>Demand change</a:t>
            </a:r>
          </a:p>
        </p:txBody>
      </p:sp>
      <p:cxnSp>
        <p:nvCxnSpPr>
          <p:cNvPr id="24" name="Straight Connector 23">
            <a:extLst>
              <a:ext uri="{FF2B5EF4-FFF2-40B4-BE49-F238E27FC236}">
                <a16:creationId xmlns:a16="http://schemas.microsoft.com/office/drawing/2014/main" id="{C34BCC7C-510B-908F-BA42-B019E01006C3}"/>
              </a:ext>
            </a:extLst>
          </p:cNvPr>
          <p:cNvCxnSpPr>
            <a:cxnSpLocks/>
          </p:cNvCxnSpPr>
          <p:nvPr/>
        </p:nvCxnSpPr>
        <p:spPr>
          <a:xfrm>
            <a:off x="8092946" y="3016664"/>
            <a:ext cx="0" cy="570937"/>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26" name="Straight Connector 25">
            <a:extLst>
              <a:ext uri="{FF2B5EF4-FFF2-40B4-BE49-F238E27FC236}">
                <a16:creationId xmlns:a16="http://schemas.microsoft.com/office/drawing/2014/main" id="{3FE3DCDD-A48E-BB07-D80F-D0355A9AD600}"/>
              </a:ext>
            </a:extLst>
          </p:cNvPr>
          <p:cNvCxnSpPr>
            <a:cxnSpLocks/>
          </p:cNvCxnSpPr>
          <p:nvPr/>
        </p:nvCxnSpPr>
        <p:spPr>
          <a:xfrm flipH="1">
            <a:off x="8092946" y="3200760"/>
            <a:ext cx="457200" cy="386841"/>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27" name="Straight Connector 26">
            <a:extLst>
              <a:ext uri="{FF2B5EF4-FFF2-40B4-BE49-F238E27FC236}">
                <a16:creationId xmlns:a16="http://schemas.microsoft.com/office/drawing/2014/main" id="{50465465-EDF5-70A3-9980-2329B34F0304}"/>
              </a:ext>
            </a:extLst>
          </p:cNvPr>
          <p:cNvCxnSpPr>
            <a:cxnSpLocks/>
          </p:cNvCxnSpPr>
          <p:nvPr/>
        </p:nvCxnSpPr>
        <p:spPr>
          <a:xfrm flipH="1">
            <a:off x="8092946" y="3587600"/>
            <a:ext cx="533400" cy="0"/>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28" name="Straight Connector 27">
            <a:extLst>
              <a:ext uri="{FF2B5EF4-FFF2-40B4-BE49-F238E27FC236}">
                <a16:creationId xmlns:a16="http://schemas.microsoft.com/office/drawing/2014/main" id="{1AC4502B-7D8A-7837-0B2F-E11ABCDD02B3}"/>
              </a:ext>
            </a:extLst>
          </p:cNvPr>
          <p:cNvCxnSpPr>
            <a:cxnSpLocks/>
          </p:cNvCxnSpPr>
          <p:nvPr/>
        </p:nvCxnSpPr>
        <p:spPr>
          <a:xfrm flipH="1" flipV="1">
            <a:off x="8092946" y="3581147"/>
            <a:ext cx="457200" cy="399707"/>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29" name="Straight Connector 28">
            <a:extLst>
              <a:ext uri="{FF2B5EF4-FFF2-40B4-BE49-F238E27FC236}">
                <a16:creationId xmlns:a16="http://schemas.microsoft.com/office/drawing/2014/main" id="{39CFE94F-D209-E196-BD63-A330F384DA50}"/>
              </a:ext>
            </a:extLst>
          </p:cNvPr>
          <p:cNvCxnSpPr>
            <a:cxnSpLocks/>
          </p:cNvCxnSpPr>
          <p:nvPr/>
        </p:nvCxnSpPr>
        <p:spPr>
          <a:xfrm flipV="1">
            <a:off x="8092946" y="3568552"/>
            <a:ext cx="0" cy="516963"/>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sp>
        <p:nvSpPr>
          <p:cNvPr id="30" name="TextBox 53">
            <a:extLst>
              <a:ext uri="{FF2B5EF4-FFF2-40B4-BE49-F238E27FC236}">
                <a16:creationId xmlns:a16="http://schemas.microsoft.com/office/drawing/2014/main" id="{02E4ED67-F61B-69E6-2F7E-5CFBACDD3205}"/>
              </a:ext>
            </a:extLst>
          </p:cNvPr>
          <p:cNvSpPr txBox="1"/>
          <p:nvPr/>
        </p:nvSpPr>
        <p:spPr>
          <a:xfrm>
            <a:off x="5249033" y="3659921"/>
            <a:ext cx="1406509"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Reference level</a:t>
            </a:r>
          </a:p>
        </p:txBody>
      </p:sp>
      <p:sp>
        <p:nvSpPr>
          <p:cNvPr id="31" name="TextBox 30">
            <a:extLst>
              <a:ext uri="{FF2B5EF4-FFF2-40B4-BE49-F238E27FC236}">
                <a16:creationId xmlns:a16="http://schemas.microsoft.com/office/drawing/2014/main" id="{3C0E44F7-EE24-130F-43E5-4D0D2FC7FED3}"/>
              </a:ext>
            </a:extLst>
          </p:cNvPr>
          <p:cNvSpPr txBox="1"/>
          <p:nvPr/>
        </p:nvSpPr>
        <p:spPr>
          <a:xfrm>
            <a:off x="7847899" y="2664690"/>
            <a:ext cx="1453696" cy="276999"/>
          </a:xfrm>
          <a:prstGeom prst="rect">
            <a:avLst/>
          </a:prstGeom>
          <a:noFill/>
        </p:spPr>
        <p:txBody>
          <a:bodyPr wrap="square">
            <a:spAutoFit/>
          </a:bodyPr>
          <a:lstStyle/>
          <a:p>
            <a:r>
              <a:rPr lang="en-US" sz="1200" dirty="0">
                <a:cs typeface="Calibri" panose="020F0502020204030204" pitchFamily="34" charset="0"/>
              </a:rPr>
              <a:t>Price uncertainty</a:t>
            </a:r>
          </a:p>
        </p:txBody>
      </p:sp>
      <p:sp>
        <p:nvSpPr>
          <p:cNvPr id="35" name="TextBox 34">
            <a:extLst>
              <a:ext uri="{FF2B5EF4-FFF2-40B4-BE49-F238E27FC236}">
                <a16:creationId xmlns:a16="http://schemas.microsoft.com/office/drawing/2014/main" id="{1A7BB8A2-7CBE-5A24-699C-88208AD91664}"/>
              </a:ext>
            </a:extLst>
          </p:cNvPr>
          <p:cNvSpPr txBox="1"/>
          <p:nvPr/>
        </p:nvSpPr>
        <p:spPr>
          <a:xfrm>
            <a:off x="6842700" y="2959363"/>
            <a:ext cx="1139296" cy="769441"/>
          </a:xfrm>
          <a:prstGeom prst="rect">
            <a:avLst/>
          </a:prstGeom>
          <a:noFill/>
        </p:spPr>
        <p:txBody>
          <a:bodyPr wrap="square">
            <a:spAutoFit/>
          </a:bodyPr>
          <a:lstStyle/>
          <a:p>
            <a:r>
              <a:rPr lang="en-US" sz="4400" dirty="0">
                <a:solidFill>
                  <a:srgbClr val="C00000"/>
                </a:solidFill>
                <a:cs typeface="Calibri" panose="020F0502020204030204" pitchFamily="34" charset="0"/>
              </a:rPr>
              <a:t>???</a:t>
            </a:r>
          </a:p>
        </p:txBody>
      </p:sp>
      <p:cxnSp>
        <p:nvCxnSpPr>
          <p:cNvPr id="36" name="Straight Connector 35">
            <a:extLst>
              <a:ext uri="{FF2B5EF4-FFF2-40B4-BE49-F238E27FC236}">
                <a16:creationId xmlns:a16="http://schemas.microsoft.com/office/drawing/2014/main" id="{F30DC8D7-0A39-37B1-BECF-EEAB9F6C06D2}"/>
              </a:ext>
            </a:extLst>
          </p:cNvPr>
          <p:cNvCxnSpPr>
            <a:cxnSpLocks/>
          </p:cNvCxnSpPr>
          <p:nvPr/>
        </p:nvCxnSpPr>
        <p:spPr>
          <a:xfrm>
            <a:off x="5943600" y="3577884"/>
            <a:ext cx="2133600" cy="12908"/>
          </a:xfrm>
          <a:prstGeom prst="line">
            <a:avLst/>
          </a:prstGeom>
          <a:effectLst/>
        </p:spPr>
        <p:style>
          <a:lnRef idx="2">
            <a:schemeClr val="accent2"/>
          </a:lnRef>
          <a:fillRef idx="0">
            <a:schemeClr val="accent2"/>
          </a:fillRef>
          <a:effectRef idx="1">
            <a:schemeClr val="accent2"/>
          </a:effectRef>
          <a:fontRef idx="minor">
            <a:schemeClr val="tx1"/>
          </a:fontRef>
        </p:style>
      </p:cxnSp>
      <p:sp>
        <p:nvSpPr>
          <p:cNvPr id="53" name="TextBox 52">
            <a:extLst>
              <a:ext uri="{FF2B5EF4-FFF2-40B4-BE49-F238E27FC236}">
                <a16:creationId xmlns:a16="http://schemas.microsoft.com/office/drawing/2014/main" id="{699F6F54-D2BE-9C08-0897-36BB9CBAE782}"/>
              </a:ext>
            </a:extLst>
          </p:cNvPr>
          <p:cNvSpPr txBox="1"/>
          <p:nvPr/>
        </p:nvSpPr>
        <p:spPr>
          <a:xfrm>
            <a:off x="2124404" y="4324966"/>
            <a:ext cx="5284040" cy="338554"/>
          </a:xfrm>
          <a:prstGeom prst="rect">
            <a:avLst/>
          </a:prstGeom>
          <a:noFill/>
        </p:spPr>
        <p:txBody>
          <a:bodyPr wrap="square">
            <a:spAutoFit/>
          </a:bodyPr>
          <a:lstStyle/>
          <a:p>
            <a:r>
              <a:rPr lang="en-US" sz="1600" b="1" dirty="0">
                <a:solidFill>
                  <a:srgbClr val="C00000"/>
                </a:solidFill>
                <a:latin typeface="+mn-lt"/>
                <a:ea typeface="+mn-ea"/>
              </a:rPr>
              <a:t>Motivated super quadratic formulation – prudent demand</a:t>
            </a:r>
          </a:p>
        </p:txBody>
      </p:sp>
      <p:pic>
        <p:nvPicPr>
          <p:cNvPr id="2" name="Picture 1">
            <a:extLst>
              <a:ext uri="{FF2B5EF4-FFF2-40B4-BE49-F238E27FC236}">
                <a16:creationId xmlns:a16="http://schemas.microsoft.com/office/drawing/2014/main" id="{BC7DFA3A-D3DD-0FFC-442D-1C01146AA612}"/>
              </a:ext>
            </a:extLst>
          </p:cNvPr>
          <p:cNvPicPr>
            <a:picLocks noChangeAspect="1"/>
          </p:cNvPicPr>
          <p:nvPr/>
        </p:nvPicPr>
        <p:blipFill>
          <a:blip r:embed="rId4"/>
          <a:stretch>
            <a:fillRect/>
          </a:stretch>
        </p:blipFill>
        <p:spPr>
          <a:xfrm>
            <a:off x="458112" y="2559912"/>
            <a:ext cx="2246923" cy="584002"/>
          </a:xfrm>
          <a:prstGeom prst="rect">
            <a:avLst/>
          </a:prstGeom>
        </p:spPr>
      </p:pic>
      <p:sp>
        <p:nvSpPr>
          <p:cNvPr id="3" name="TextBox 19">
            <a:extLst>
              <a:ext uri="{FF2B5EF4-FFF2-40B4-BE49-F238E27FC236}">
                <a16:creationId xmlns:a16="http://schemas.microsoft.com/office/drawing/2014/main" id="{46D6AD91-EAFA-07B2-B117-26B349428D17}"/>
              </a:ext>
            </a:extLst>
          </p:cNvPr>
          <p:cNvSpPr txBox="1"/>
          <p:nvPr/>
        </p:nvSpPr>
        <p:spPr>
          <a:xfrm>
            <a:off x="260873" y="2259456"/>
            <a:ext cx="3101782" cy="307777"/>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400" dirty="0">
                <a:cs typeface="Calibri" panose="020F0502020204030204" pitchFamily="34" charset="0"/>
              </a:rPr>
              <a:t>Quadratic function:</a:t>
            </a:r>
          </a:p>
        </p:txBody>
      </p:sp>
      <p:pic>
        <p:nvPicPr>
          <p:cNvPr id="4" name="Picture 3">
            <a:extLst>
              <a:ext uri="{FF2B5EF4-FFF2-40B4-BE49-F238E27FC236}">
                <a16:creationId xmlns:a16="http://schemas.microsoft.com/office/drawing/2014/main" id="{854FD458-7AB4-49BD-7855-611256044B3E}"/>
              </a:ext>
            </a:extLst>
          </p:cNvPr>
          <p:cNvPicPr>
            <a:picLocks noChangeAspect="1"/>
          </p:cNvPicPr>
          <p:nvPr/>
        </p:nvPicPr>
        <p:blipFill>
          <a:blip r:embed="rId5"/>
          <a:stretch>
            <a:fillRect/>
          </a:stretch>
        </p:blipFill>
        <p:spPr>
          <a:xfrm>
            <a:off x="748454" y="1139612"/>
            <a:ext cx="4370414" cy="1152746"/>
          </a:xfrm>
          <a:prstGeom prst="rect">
            <a:avLst/>
          </a:prstGeom>
        </p:spPr>
      </p:pic>
      <p:sp>
        <p:nvSpPr>
          <p:cNvPr id="5" name="Rectangle 4">
            <a:extLst>
              <a:ext uri="{FF2B5EF4-FFF2-40B4-BE49-F238E27FC236}">
                <a16:creationId xmlns:a16="http://schemas.microsoft.com/office/drawing/2014/main" id="{7AA39207-8D07-5168-9D89-566846AA1F66}"/>
              </a:ext>
            </a:extLst>
          </p:cNvPr>
          <p:cNvSpPr/>
          <p:nvPr/>
        </p:nvSpPr>
        <p:spPr>
          <a:xfrm>
            <a:off x="251116" y="925485"/>
            <a:ext cx="3880385" cy="307777"/>
          </a:xfrm>
          <a:prstGeom prst="rect">
            <a:avLst/>
          </a:prstGeom>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eaLnBrk="1" fontAlgn="auto" hangingPunct="1">
              <a:spcBef>
                <a:spcPts val="0"/>
              </a:spcBef>
              <a:spcAft>
                <a:spcPts val="0"/>
              </a:spcAft>
              <a:defRPr/>
            </a:pPr>
            <a:r>
              <a:rPr lang="en-US" altLang="zh-CN" sz="1400" dirty="0">
                <a:cs typeface="Calibri" panose="020F0502020204030204" pitchFamily="34" charset="0"/>
              </a:rPr>
              <a:t>Demand model:</a:t>
            </a:r>
          </a:p>
        </p:txBody>
      </p:sp>
      <p:sp>
        <p:nvSpPr>
          <p:cNvPr id="37" name="Right Arrow 36">
            <a:extLst>
              <a:ext uri="{FF2B5EF4-FFF2-40B4-BE49-F238E27FC236}">
                <a16:creationId xmlns:a16="http://schemas.microsoft.com/office/drawing/2014/main" id="{EE302B6F-0CFB-9795-24D9-E55CF47D31F0}"/>
              </a:ext>
            </a:extLst>
          </p:cNvPr>
          <p:cNvSpPr/>
          <p:nvPr/>
        </p:nvSpPr>
        <p:spPr>
          <a:xfrm>
            <a:off x="2692356" y="2634426"/>
            <a:ext cx="333934" cy="36854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32574BF7-6AA2-D74E-4C56-CA28613D19B1}"/>
              </a:ext>
            </a:extLst>
          </p:cNvPr>
          <p:cNvGrpSpPr/>
          <p:nvPr/>
        </p:nvGrpSpPr>
        <p:grpSpPr>
          <a:xfrm>
            <a:off x="3021307" y="2270977"/>
            <a:ext cx="3101782" cy="900328"/>
            <a:chOff x="3021307" y="2270977"/>
            <a:chExt cx="3101782" cy="900328"/>
          </a:xfrm>
        </p:grpSpPr>
        <p:sp>
          <p:nvSpPr>
            <p:cNvPr id="33" name="TextBox 19">
              <a:extLst>
                <a:ext uri="{FF2B5EF4-FFF2-40B4-BE49-F238E27FC236}">
                  <a16:creationId xmlns:a16="http://schemas.microsoft.com/office/drawing/2014/main" id="{2B59FE0D-7A57-70B2-1794-32F41D11EDD6}"/>
                </a:ext>
              </a:extLst>
            </p:cNvPr>
            <p:cNvSpPr txBox="1"/>
            <p:nvPr/>
          </p:nvSpPr>
          <p:spPr>
            <a:xfrm>
              <a:off x="3021307" y="2270977"/>
              <a:ext cx="3101782" cy="307777"/>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400" dirty="0">
                  <a:solidFill>
                    <a:srgbClr val="C00000"/>
                  </a:solidFill>
                  <a:cs typeface="Calibri" panose="020F0502020204030204" pitchFamily="34" charset="0"/>
                </a:rPr>
                <a:t>Super quadratic function:</a:t>
              </a:r>
            </a:p>
          </p:txBody>
        </p:sp>
        <p:pic>
          <p:nvPicPr>
            <p:cNvPr id="34" name="Picture 33">
              <a:extLst>
                <a:ext uri="{FF2B5EF4-FFF2-40B4-BE49-F238E27FC236}">
                  <a16:creationId xmlns:a16="http://schemas.microsoft.com/office/drawing/2014/main" id="{4F8D251F-B00F-921F-0C82-40F9C0160E0E}"/>
                </a:ext>
              </a:extLst>
            </p:cNvPr>
            <p:cNvPicPr>
              <a:picLocks noChangeAspect="1"/>
            </p:cNvPicPr>
            <p:nvPr/>
          </p:nvPicPr>
          <p:blipFill>
            <a:blip r:embed="rId6"/>
            <a:stretch>
              <a:fillRect/>
            </a:stretch>
          </p:blipFill>
          <p:spPr>
            <a:xfrm>
              <a:off x="3372570" y="2603603"/>
              <a:ext cx="1332522" cy="497210"/>
            </a:xfrm>
            <a:prstGeom prst="rect">
              <a:avLst/>
            </a:prstGeom>
          </p:spPr>
        </p:pic>
        <p:sp>
          <p:nvSpPr>
            <p:cNvPr id="38" name="Rectangle 37">
              <a:extLst>
                <a:ext uri="{FF2B5EF4-FFF2-40B4-BE49-F238E27FC236}">
                  <a16:creationId xmlns:a16="http://schemas.microsoft.com/office/drawing/2014/main" id="{5894F3FC-271E-13C4-4205-5D891B370F11}"/>
                </a:ext>
              </a:extLst>
            </p:cNvPr>
            <p:cNvSpPr/>
            <p:nvPr/>
          </p:nvSpPr>
          <p:spPr>
            <a:xfrm>
              <a:off x="3333281" y="2570787"/>
              <a:ext cx="1290724" cy="600518"/>
            </a:xfrm>
            <a:prstGeom prst="rect">
              <a:avLst/>
            </a:prstGeom>
            <a:solidFill>
              <a:srgbClr val="C00000">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cxnSp>
        <p:nvCxnSpPr>
          <p:cNvPr id="59" name="Straight Arrow Connector 58">
            <a:extLst>
              <a:ext uri="{FF2B5EF4-FFF2-40B4-BE49-F238E27FC236}">
                <a16:creationId xmlns:a16="http://schemas.microsoft.com/office/drawing/2014/main" id="{F60E9EC6-9D40-6D56-52DC-C1E57E5767A2}"/>
              </a:ext>
            </a:extLst>
          </p:cNvPr>
          <p:cNvCxnSpPr>
            <a:cxnSpLocks/>
          </p:cNvCxnSpPr>
          <p:nvPr/>
        </p:nvCxnSpPr>
        <p:spPr>
          <a:xfrm>
            <a:off x="7408447" y="2229539"/>
            <a:ext cx="612953" cy="484661"/>
          </a:xfrm>
          <a:prstGeom prst="straightConnector1">
            <a:avLst/>
          </a:prstGeom>
          <a:ln>
            <a:solidFill>
              <a:srgbClr val="C00000"/>
            </a:solidFill>
            <a:tailEnd type="triangle"/>
          </a:ln>
          <a:effectLst/>
        </p:spPr>
        <p:style>
          <a:lnRef idx="2">
            <a:schemeClr val="accent2"/>
          </a:lnRef>
          <a:fillRef idx="0">
            <a:schemeClr val="accent2"/>
          </a:fillRef>
          <a:effectRef idx="1">
            <a:schemeClr val="accent2"/>
          </a:effectRef>
          <a:fontRef idx="minor">
            <a:schemeClr val="tx1"/>
          </a:fontRef>
        </p:style>
      </p:cxnSp>
      <p:sp>
        <p:nvSpPr>
          <p:cNvPr id="60" name="TextBox 59">
            <a:extLst>
              <a:ext uri="{FF2B5EF4-FFF2-40B4-BE49-F238E27FC236}">
                <a16:creationId xmlns:a16="http://schemas.microsoft.com/office/drawing/2014/main" id="{D299BFC4-471E-9CCF-050A-DB54FBE97601}"/>
              </a:ext>
            </a:extLst>
          </p:cNvPr>
          <p:cNvSpPr txBox="1"/>
          <p:nvPr/>
        </p:nvSpPr>
        <p:spPr>
          <a:xfrm>
            <a:off x="190071" y="4100590"/>
            <a:ext cx="4928798" cy="307777"/>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Practical price distribution – not symmetrical with zero-mean</a:t>
            </a:r>
          </a:p>
        </p:txBody>
      </p:sp>
      <p:sp>
        <p:nvSpPr>
          <p:cNvPr id="61" name="TextBox 24">
            <a:extLst>
              <a:ext uri="{FF2B5EF4-FFF2-40B4-BE49-F238E27FC236}">
                <a16:creationId xmlns:a16="http://schemas.microsoft.com/office/drawing/2014/main" id="{95CCFD6D-F451-D860-F465-570715D9C029}"/>
              </a:ext>
            </a:extLst>
          </p:cNvPr>
          <p:cNvSpPr txBox="1"/>
          <p:nvPr/>
        </p:nvSpPr>
        <p:spPr>
          <a:xfrm>
            <a:off x="8490410" y="3674253"/>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Time</a:t>
            </a:r>
          </a:p>
        </p:txBody>
      </p:sp>
      <p:grpSp>
        <p:nvGrpSpPr>
          <p:cNvPr id="12" name="Group 11">
            <a:extLst>
              <a:ext uri="{FF2B5EF4-FFF2-40B4-BE49-F238E27FC236}">
                <a16:creationId xmlns:a16="http://schemas.microsoft.com/office/drawing/2014/main" id="{D137310E-1020-FB03-62B0-138A10944D17}"/>
              </a:ext>
            </a:extLst>
          </p:cNvPr>
          <p:cNvGrpSpPr/>
          <p:nvPr/>
        </p:nvGrpSpPr>
        <p:grpSpPr>
          <a:xfrm>
            <a:off x="5267022" y="597281"/>
            <a:ext cx="3752821" cy="2121302"/>
            <a:chOff x="5267022" y="597281"/>
            <a:chExt cx="3752821" cy="2121302"/>
          </a:xfrm>
        </p:grpSpPr>
        <p:grpSp>
          <p:nvGrpSpPr>
            <p:cNvPr id="40" name="Group 39">
              <a:extLst>
                <a:ext uri="{FF2B5EF4-FFF2-40B4-BE49-F238E27FC236}">
                  <a16:creationId xmlns:a16="http://schemas.microsoft.com/office/drawing/2014/main" id="{5340C754-10AA-2EEA-6EA2-014D3579B0BE}"/>
                </a:ext>
              </a:extLst>
            </p:cNvPr>
            <p:cNvGrpSpPr/>
            <p:nvPr/>
          </p:nvGrpSpPr>
          <p:grpSpPr>
            <a:xfrm>
              <a:off x="5267022" y="637807"/>
              <a:ext cx="3752821" cy="2080776"/>
              <a:chOff x="5207647" y="562368"/>
              <a:chExt cx="3752821" cy="2080776"/>
            </a:xfrm>
          </p:grpSpPr>
          <p:grpSp>
            <p:nvGrpSpPr>
              <p:cNvPr id="41" name="Group 40">
                <a:extLst>
                  <a:ext uri="{FF2B5EF4-FFF2-40B4-BE49-F238E27FC236}">
                    <a16:creationId xmlns:a16="http://schemas.microsoft.com/office/drawing/2014/main" id="{A52FF4C4-35E7-88EA-2191-F08526EC9EFF}"/>
                  </a:ext>
                </a:extLst>
              </p:cNvPr>
              <p:cNvGrpSpPr/>
              <p:nvPr/>
            </p:nvGrpSpPr>
            <p:grpSpPr>
              <a:xfrm>
                <a:off x="5494257" y="611576"/>
                <a:ext cx="3466211" cy="2031568"/>
                <a:chOff x="5494257" y="611576"/>
                <a:chExt cx="3466211" cy="2031568"/>
              </a:xfrm>
            </p:grpSpPr>
            <p:cxnSp>
              <p:nvCxnSpPr>
                <p:cNvPr id="54" name="Straight Arrow Connector 53">
                  <a:extLst>
                    <a:ext uri="{FF2B5EF4-FFF2-40B4-BE49-F238E27FC236}">
                      <a16:creationId xmlns:a16="http://schemas.microsoft.com/office/drawing/2014/main" id="{0007876C-088B-EE1C-469B-7E12E5E8DE0C}"/>
                    </a:ext>
                  </a:extLst>
                </p:cNvPr>
                <p:cNvCxnSpPr>
                  <a:cxnSpLocks/>
                </p:cNvCxnSpPr>
                <p:nvPr/>
              </p:nvCxnSpPr>
              <p:spPr>
                <a:xfrm>
                  <a:off x="5494257" y="2343150"/>
                  <a:ext cx="34211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EF84B2FE-A625-334B-5FDC-3B044087D298}"/>
                    </a:ext>
                  </a:extLst>
                </p:cNvPr>
                <p:cNvCxnSpPr>
                  <a:cxnSpLocks/>
                </p:cNvCxnSpPr>
                <p:nvPr/>
              </p:nvCxnSpPr>
              <p:spPr>
                <a:xfrm flipV="1">
                  <a:off x="6809738" y="611576"/>
                  <a:ext cx="0" cy="19341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6" name="Freeform 55">
                  <a:extLst>
                    <a:ext uri="{FF2B5EF4-FFF2-40B4-BE49-F238E27FC236}">
                      <a16:creationId xmlns:a16="http://schemas.microsoft.com/office/drawing/2014/main" id="{04C65BCB-3A1B-078B-9381-5FEAE09238D4}"/>
                    </a:ext>
                  </a:extLst>
                </p:cNvPr>
                <p:cNvSpPr/>
                <p:nvPr/>
              </p:nvSpPr>
              <p:spPr>
                <a:xfrm>
                  <a:off x="5525812" y="1073936"/>
                  <a:ext cx="3237471" cy="1150114"/>
                </a:xfrm>
                <a:custGeom>
                  <a:avLst/>
                  <a:gdLst>
                    <a:gd name="connsiteX0" fmla="*/ 0 w 2199503"/>
                    <a:gd name="connsiteY0" fmla="*/ 1150114 h 1150114"/>
                    <a:gd name="connsiteX1" fmla="*/ 518984 w 2199503"/>
                    <a:gd name="connsiteY1" fmla="*/ 408708 h 1150114"/>
                    <a:gd name="connsiteX2" fmla="*/ 1186249 w 2199503"/>
                    <a:gd name="connsiteY2" fmla="*/ 25649 h 1150114"/>
                    <a:gd name="connsiteX3" fmla="*/ 2199503 w 2199503"/>
                    <a:gd name="connsiteY3" fmla="*/ 1113044 h 1150114"/>
                  </a:gdLst>
                  <a:ahLst/>
                  <a:cxnLst>
                    <a:cxn ang="0">
                      <a:pos x="connsiteX0" y="connsiteY0"/>
                    </a:cxn>
                    <a:cxn ang="0">
                      <a:pos x="connsiteX1" y="connsiteY1"/>
                    </a:cxn>
                    <a:cxn ang="0">
                      <a:pos x="connsiteX2" y="connsiteY2"/>
                    </a:cxn>
                    <a:cxn ang="0">
                      <a:pos x="connsiteX3" y="connsiteY3"/>
                    </a:cxn>
                  </a:cxnLst>
                  <a:rect l="l" t="t" r="r" b="b"/>
                  <a:pathLst>
                    <a:path w="2199503" h="1150114">
                      <a:moveTo>
                        <a:pt x="0" y="1150114"/>
                      </a:moveTo>
                      <a:cubicBezTo>
                        <a:pt x="160638" y="873116"/>
                        <a:pt x="321276" y="596119"/>
                        <a:pt x="518984" y="408708"/>
                      </a:cubicBezTo>
                      <a:cubicBezTo>
                        <a:pt x="716692" y="221297"/>
                        <a:pt x="906163" y="-91740"/>
                        <a:pt x="1186249" y="25649"/>
                      </a:cubicBezTo>
                      <a:cubicBezTo>
                        <a:pt x="1466335" y="143038"/>
                        <a:pt x="1832919" y="628041"/>
                        <a:pt x="2199503" y="1113044"/>
                      </a:cubicBez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57" name="Freeform 56">
                  <a:extLst>
                    <a:ext uri="{FF2B5EF4-FFF2-40B4-BE49-F238E27FC236}">
                      <a16:creationId xmlns:a16="http://schemas.microsoft.com/office/drawing/2014/main" id="{206A0E2D-694D-6E48-EAD1-7764DD3E96AB}"/>
                    </a:ext>
                  </a:extLst>
                </p:cNvPr>
                <p:cNvSpPr/>
                <p:nvPr/>
              </p:nvSpPr>
              <p:spPr>
                <a:xfrm flipH="1">
                  <a:off x="5724429" y="1031696"/>
                  <a:ext cx="3038854" cy="1303565"/>
                </a:xfrm>
                <a:custGeom>
                  <a:avLst/>
                  <a:gdLst>
                    <a:gd name="connsiteX0" fmla="*/ 11448 w 3038854"/>
                    <a:gd name="connsiteY0" fmla="*/ 1303565 h 1303565"/>
                    <a:gd name="connsiteX1" fmla="*/ 122659 w 3038854"/>
                    <a:gd name="connsiteY1" fmla="*/ 6105 h 1303565"/>
                    <a:gd name="connsiteX2" fmla="*/ 888778 w 3038854"/>
                    <a:gd name="connsiteY2" fmla="*/ 834008 h 1303565"/>
                    <a:gd name="connsiteX3" fmla="*/ 3038854 w 3038854"/>
                    <a:gd name="connsiteY3" fmla="*/ 1266494 h 1303565"/>
                  </a:gdLst>
                  <a:ahLst/>
                  <a:cxnLst>
                    <a:cxn ang="0">
                      <a:pos x="connsiteX0" y="connsiteY0"/>
                    </a:cxn>
                    <a:cxn ang="0">
                      <a:pos x="connsiteX1" y="connsiteY1"/>
                    </a:cxn>
                    <a:cxn ang="0">
                      <a:pos x="connsiteX2" y="connsiteY2"/>
                    </a:cxn>
                    <a:cxn ang="0">
                      <a:pos x="connsiteX3" y="connsiteY3"/>
                    </a:cxn>
                  </a:cxnLst>
                  <a:rect l="l" t="t" r="r" b="b"/>
                  <a:pathLst>
                    <a:path w="3038854" h="1303565">
                      <a:moveTo>
                        <a:pt x="11448" y="1303565"/>
                      </a:moveTo>
                      <a:cubicBezTo>
                        <a:pt x="-6058" y="693964"/>
                        <a:pt x="-23563" y="84364"/>
                        <a:pt x="122659" y="6105"/>
                      </a:cubicBezTo>
                      <a:cubicBezTo>
                        <a:pt x="268881" y="-72154"/>
                        <a:pt x="402745" y="623943"/>
                        <a:pt x="888778" y="834008"/>
                      </a:cubicBezTo>
                      <a:cubicBezTo>
                        <a:pt x="1374811" y="1044073"/>
                        <a:pt x="2206832" y="1155283"/>
                        <a:pt x="3038854" y="1266494"/>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8" name="TextBox 24">
                  <a:extLst>
                    <a:ext uri="{FF2B5EF4-FFF2-40B4-BE49-F238E27FC236}">
                      <a16:creationId xmlns:a16="http://schemas.microsoft.com/office/drawing/2014/main" id="{9BC6BB10-741D-5FF7-8F30-0F52FCFB1EC8}"/>
                    </a:ext>
                  </a:extLst>
                </p:cNvPr>
                <p:cNvSpPr txBox="1"/>
                <p:nvPr/>
              </p:nvSpPr>
              <p:spPr>
                <a:xfrm>
                  <a:off x="8367810" y="2366145"/>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Price</a:t>
                  </a:r>
                </a:p>
              </p:txBody>
            </p:sp>
          </p:grpSp>
          <p:sp>
            <p:nvSpPr>
              <p:cNvPr id="42" name="TextBox 41">
                <a:extLst>
                  <a:ext uri="{FF2B5EF4-FFF2-40B4-BE49-F238E27FC236}">
                    <a16:creationId xmlns:a16="http://schemas.microsoft.com/office/drawing/2014/main" id="{C8C8924F-758E-5401-7B4F-5BD54F40757C}"/>
                  </a:ext>
                </a:extLst>
              </p:cNvPr>
              <p:cNvSpPr txBox="1"/>
              <p:nvPr/>
            </p:nvSpPr>
            <p:spPr>
              <a:xfrm>
                <a:off x="5207647" y="562368"/>
                <a:ext cx="1997181" cy="276999"/>
              </a:xfrm>
              <a:prstGeom prst="rect">
                <a:avLst/>
              </a:prstGeom>
              <a:noFill/>
            </p:spPr>
            <p:txBody>
              <a:bodyPr wrap="square">
                <a:spAutoFit/>
              </a:bodyPr>
              <a:lstStyle/>
              <a:p>
                <a:r>
                  <a:rPr lang="en-US" sz="1200" dirty="0">
                    <a:cs typeface="Calibri" panose="020F0502020204030204" pitchFamily="34" charset="0"/>
                  </a:rPr>
                  <a:t>Price distribution</a:t>
                </a:r>
                <a:endParaRPr lang="en-US" sz="1200" i="1" dirty="0">
                  <a:cs typeface="Calibri" panose="020F0502020204030204" pitchFamily="34" charset="0"/>
                </a:endParaRPr>
              </a:p>
            </p:txBody>
          </p:sp>
          <p:sp>
            <p:nvSpPr>
              <p:cNvPr id="43" name="Freeform 42">
                <a:extLst>
                  <a:ext uri="{FF2B5EF4-FFF2-40B4-BE49-F238E27FC236}">
                    <a16:creationId xmlns:a16="http://schemas.microsoft.com/office/drawing/2014/main" id="{E38A5300-6295-74CD-DCFC-DD036321FEA4}"/>
                  </a:ext>
                </a:extLst>
              </p:cNvPr>
              <p:cNvSpPr/>
              <p:nvPr/>
            </p:nvSpPr>
            <p:spPr>
              <a:xfrm>
                <a:off x="5715000" y="918629"/>
                <a:ext cx="2917371" cy="1214971"/>
              </a:xfrm>
              <a:custGeom>
                <a:avLst/>
                <a:gdLst>
                  <a:gd name="connsiteX0" fmla="*/ 0 w 2917371"/>
                  <a:gd name="connsiteY0" fmla="*/ 1138771 h 1214971"/>
                  <a:gd name="connsiteX1" fmla="*/ 990600 w 2917371"/>
                  <a:gd name="connsiteY1" fmla="*/ 746885 h 1214971"/>
                  <a:gd name="connsiteX2" fmla="*/ 1850571 w 2917371"/>
                  <a:gd name="connsiteY2" fmla="*/ 6657 h 1214971"/>
                  <a:gd name="connsiteX3" fmla="*/ 2917371 w 2917371"/>
                  <a:gd name="connsiteY3" fmla="*/ 1214971 h 1214971"/>
                </a:gdLst>
                <a:ahLst/>
                <a:cxnLst>
                  <a:cxn ang="0">
                    <a:pos x="connsiteX0" y="connsiteY0"/>
                  </a:cxn>
                  <a:cxn ang="0">
                    <a:pos x="connsiteX1" y="connsiteY1"/>
                  </a:cxn>
                  <a:cxn ang="0">
                    <a:pos x="connsiteX2" y="connsiteY2"/>
                  </a:cxn>
                  <a:cxn ang="0">
                    <a:pos x="connsiteX3" y="connsiteY3"/>
                  </a:cxn>
                </a:cxnLst>
                <a:rect l="l" t="t" r="r" b="b"/>
                <a:pathLst>
                  <a:path w="2917371" h="1214971">
                    <a:moveTo>
                      <a:pt x="0" y="1138771"/>
                    </a:moveTo>
                    <a:cubicBezTo>
                      <a:pt x="341086" y="1037171"/>
                      <a:pt x="682172" y="935571"/>
                      <a:pt x="990600" y="746885"/>
                    </a:cubicBezTo>
                    <a:cubicBezTo>
                      <a:pt x="1299028" y="558199"/>
                      <a:pt x="1529443" y="-71357"/>
                      <a:pt x="1850571" y="6657"/>
                    </a:cubicBezTo>
                    <a:cubicBezTo>
                      <a:pt x="2171700" y="84671"/>
                      <a:pt x="2544535" y="649821"/>
                      <a:pt x="2917371" y="1214971"/>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6" name="Straight Connector 5">
              <a:extLst>
                <a:ext uri="{FF2B5EF4-FFF2-40B4-BE49-F238E27FC236}">
                  <a16:creationId xmlns:a16="http://schemas.microsoft.com/office/drawing/2014/main" id="{5A7C6E44-49E7-8293-9EA0-B192C53D22C2}"/>
                </a:ext>
              </a:extLst>
            </p:cNvPr>
            <p:cNvCxnSpPr>
              <a:cxnSpLocks/>
            </p:cNvCxnSpPr>
            <p:nvPr/>
          </p:nvCxnSpPr>
          <p:spPr>
            <a:xfrm>
              <a:off x="7183517" y="919335"/>
              <a:ext cx="0" cy="1668107"/>
            </a:xfrm>
            <a:prstGeom prst="line">
              <a:avLst/>
            </a:prstGeom>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F9D8DB6F-6FF2-3F9D-6D48-C3F4F034B6BB}"/>
                </a:ext>
              </a:extLst>
            </p:cNvPr>
            <p:cNvSpPr txBox="1"/>
            <p:nvPr/>
          </p:nvSpPr>
          <p:spPr>
            <a:xfrm>
              <a:off x="6908366" y="597281"/>
              <a:ext cx="1453696" cy="276999"/>
            </a:xfrm>
            <a:prstGeom prst="rect">
              <a:avLst/>
            </a:prstGeom>
            <a:noFill/>
          </p:spPr>
          <p:txBody>
            <a:bodyPr wrap="square">
              <a:spAutoFit/>
            </a:bodyPr>
            <a:lstStyle/>
            <a:p>
              <a:r>
                <a:rPr lang="en-US" sz="1200" dirty="0">
                  <a:cs typeface="Calibri" panose="020F0502020204030204" pitchFamily="34" charset="0"/>
                </a:rPr>
                <a:t>Same expectation</a:t>
              </a:r>
            </a:p>
          </p:txBody>
        </p:sp>
      </p:grpSp>
    </p:spTree>
    <p:extLst>
      <p:ext uri="{BB962C8B-B14F-4D97-AF65-F5344CB8AC3E}">
        <p14:creationId xmlns:p14="http://schemas.microsoft.com/office/powerpoint/2010/main" val="11216879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dissolv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dissolve">
                                      <p:cBhvr>
                                        <p:cTn id="15" dur="500"/>
                                        <p:tgtEl>
                                          <p:spTgt spid="37"/>
                                        </p:tgtEl>
                                      </p:cBhvr>
                                    </p:animEffect>
                                  </p:childTnLst>
                                </p:cTn>
                              </p:par>
                              <p:par>
                                <p:cTn id="16" presetID="9" presetClass="entr" presetSubtype="0" fill="hold" nodeType="with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dissolve">
                                      <p:cBhvr>
                                        <p:cTn id="18" dur="500"/>
                                        <p:tgtEl>
                                          <p:spTgt spid="3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60"/>
                                        </p:tgtEl>
                                        <p:attrNameLst>
                                          <p:attrName>style.visibility</p:attrName>
                                        </p:attrNameLst>
                                      </p:cBhvr>
                                      <p:to>
                                        <p:strVal val="visible"/>
                                      </p:to>
                                    </p:set>
                                    <p:animEffect transition="in" filter="dissolve">
                                      <p:cBhvr>
                                        <p:cTn id="23" dur="500"/>
                                        <p:tgtEl>
                                          <p:spTgt spid="6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dissolv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dissolve">
                                      <p:cBhvr>
                                        <p:cTn id="33" dur="500"/>
                                        <p:tgtEl>
                                          <p:spTgt spid="15"/>
                                        </p:tgtEl>
                                      </p:cBhvr>
                                    </p:animEffect>
                                  </p:childTnLst>
                                </p:cTn>
                              </p:par>
                              <p:par>
                                <p:cTn id="34" presetID="9"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dissolve">
                                      <p:cBhvr>
                                        <p:cTn id="36" dur="500"/>
                                        <p:tgtEl>
                                          <p:spTgt spid="21"/>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dissolve">
                                      <p:cBhvr>
                                        <p:cTn id="39" dur="500"/>
                                        <p:tgtEl>
                                          <p:spTgt spid="22"/>
                                        </p:tgtEl>
                                      </p:cBhvr>
                                    </p:animEffect>
                                  </p:childTnLst>
                                </p:cTn>
                              </p:par>
                              <p:par>
                                <p:cTn id="40" presetID="9" presetClass="entr" presetSubtype="0"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dissolve">
                                      <p:cBhvr>
                                        <p:cTn id="42" dur="500"/>
                                        <p:tgtEl>
                                          <p:spTgt spid="24"/>
                                        </p:tgtEl>
                                      </p:cBhvr>
                                    </p:animEffect>
                                  </p:childTnLst>
                                </p:cTn>
                              </p:par>
                              <p:par>
                                <p:cTn id="43" presetID="9" presetClass="entr" presetSubtype="0" fill="hold"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dissolve">
                                      <p:cBhvr>
                                        <p:cTn id="45" dur="500"/>
                                        <p:tgtEl>
                                          <p:spTgt spid="26"/>
                                        </p:tgtEl>
                                      </p:cBhvr>
                                    </p:animEffect>
                                  </p:childTnLst>
                                </p:cTn>
                              </p:par>
                              <p:par>
                                <p:cTn id="46" presetID="9" presetClass="entr" presetSubtype="0" fill="hold"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dissolve">
                                      <p:cBhvr>
                                        <p:cTn id="48" dur="500"/>
                                        <p:tgtEl>
                                          <p:spTgt spid="27"/>
                                        </p:tgtEl>
                                      </p:cBhvr>
                                    </p:animEffect>
                                  </p:childTnLst>
                                </p:cTn>
                              </p:par>
                              <p:par>
                                <p:cTn id="49" presetID="9"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dissolve">
                                      <p:cBhvr>
                                        <p:cTn id="51" dur="500"/>
                                        <p:tgtEl>
                                          <p:spTgt spid="28"/>
                                        </p:tgtEl>
                                      </p:cBhvr>
                                    </p:animEffect>
                                  </p:childTnLst>
                                </p:cTn>
                              </p:par>
                              <p:par>
                                <p:cTn id="52" presetID="9" presetClass="entr" presetSubtype="0" fill="hold"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dissolve">
                                      <p:cBhvr>
                                        <p:cTn id="54" dur="500"/>
                                        <p:tgtEl>
                                          <p:spTgt spid="29"/>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dissolve">
                                      <p:cBhvr>
                                        <p:cTn id="57" dur="500"/>
                                        <p:tgtEl>
                                          <p:spTgt spid="30"/>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dissolve">
                                      <p:cBhvr>
                                        <p:cTn id="60" dur="500"/>
                                        <p:tgtEl>
                                          <p:spTgt spid="31"/>
                                        </p:tgtEl>
                                      </p:cBhvr>
                                    </p:animEffect>
                                  </p:childTnLst>
                                </p:cTn>
                              </p:par>
                              <p:par>
                                <p:cTn id="61" presetID="9" presetClass="entr" presetSubtype="0" fill="hold" nodeType="with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dissolve">
                                      <p:cBhvr>
                                        <p:cTn id="63" dur="500"/>
                                        <p:tgtEl>
                                          <p:spTgt spid="36"/>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61"/>
                                        </p:tgtEl>
                                        <p:attrNameLst>
                                          <p:attrName>style.visibility</p:attrName>
                                        </p:attrNameLst>
                                      </p:cBhvr>
                                      <p:to>
                                        <p:strVal val="visible"/>
                                      </p:to>
                                    </p:set>
                                    <p:animEffect transition="in" filter="dissolve">
                                      <p:cBhvr>
                                        <p:cTn id="66" dur="500"/>
                                        <p:tgtEl>
                                          <p:spTgt spid="61"/>
                                        </p:tgtEl>
                                      </p:cBhvr>
                                    </p:animEffect>
                                  </p:childTnLst>
                                </p:cTn>
                              </p:par>
                              <p:par>
                                <p:cTn id="67" presetID="9" presetClass="entr" presetSubtype="0" fill="hold" nodeType="withEffect">
                                  <p:stCondLst>
                                    <p:cond delay="0"/>
                                  </p:stCondLst>
                                  <p:childTnLst>
                                    <p:set>
                                      <p:cBhvr>
                                        <p:cTn id="68" dur="1" fill="hold">
                                          <p:stCondLst>
                                            <p:cond delay="0"/>
                                          </p:stCondLst>
                                        </p:cTn>
                                        <p:tgtEl>
                                          <p:spTgt spid="59"/>
                                        </p:tgtEl>
                                        <p:attrNameLst>
                                          <p:attrName>style.visibility</p:attrName>
                                        </p:attrNameLst>
                                      </p:cBhvr>
                                      <p:to>
                                        <p:strVal val="visible"/>
                                      </p:to>
                                    </p:set>
                                    <p:animEffect transition="in" filter="dissolve">
                                      <p:cBhvr>
                                        <p:cTn id="69" dur="500"/>
                                        <p:tgtEl>
                                          <p:spTgt spid="59"/>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nodeType="clickEffect">
                                  <p:stCondLst>
                                    <p:cond delay="0"/>
                                  </p:stCondLst>
                                  <p:childTnLst>
                                    <p:set>
                                      <p:cBhvr>
                                        <p:cTn id="73" dur="1" fill="hold">
                                          <p:stCondLst>
                                            <p:cond delay="0"/>
                                          </p:stCondLst>
                                        </p:cTn>
                                        <p:tgtEl>
                                          <p:spTgt spid="36"/>
                                        </p:tgtEl>
                                        <p:attrNameLst>
                                          <p:attrName>style.visibility</p:attrName>
                                        </p:attrNameLst>
                                      </p:cBhvr>
                                      <p:to>
                                        <p:strVal val="hidden"/>
                                      </p:to>
                                    </p:set>
                                  </p:childTnLst>
                                </p:cTn>
                              </p:par>
                            </p:childTnLst>
                          </p:cTn>
                        </p:par>
                        <p:par>
                          <p:cTn id="74" fill="hold">
                            <p:stCondLst>
                              <p:cond delay="0"/>
                            </p:stCondLst>
                            <p:childTnLst>
                              <p:par>
                                <p:cTn id="75" presetID="9" presetClass="entr" presetSubtype="0" fill="hold" grpId="0" nodeType="after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dissolve">
                                      <p:cBhvr>
                                        <p:cTn id="77" dur="750"/>
                                        <p:tgtEl>
                                          <p:spTgt spid="35"/>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53"/>
                                        </p:tgtEl>
                                        <p:attrNameLst>
                                          <p:attrName>style.visibility</p:attrName>
                                        </p:attrNameLst>
                                      </p:cBhvr>
                                      <p:to>
                                        <p:strVal val="visible"/>
                                      </p:to>
                                    </p:set>
                                    <p:animEffect transition="in" filter="dissolve">
                                      <p:cBhvr>
                                        <p:cTn id="8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2" grpId="0"/>
      <p:bldP spid="30" grpId="0"/>
      <p:bldP spid="31" grpId="0"/>
      <p:bldP spid="35" grpId="0"/>
      <p:bldP spid="53" grpId="0"/>
      <p:bldP spid="37" grpId="0" animBg="1"/>
      <p:bldP spid="60" grpId="0"/>
      <p:bldP spid="6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Picture 32768">
            <a:extLst>
              <a:ext uri="{FF2B5EF4-FFF2-40B4-BE49-F238E27FC236}">
                <a16:creationId xmlns:a16="http://schemas.microsoft.com/office/drawing/2014/main" id="{57E3EF62-B2BC-018F-6349-7163107BD03E}"/>
              </a:ext>
            </a:extLst>
          </p:cNvPr>
          <p:cNvPicPr>
            <a:picLocks noChangeAspect="1"/>
          </p:cNvPicPr>
          <p:nvPr/>
        </p:nvPicPr>
        <p:blipFill>
          <a:blip r:embed="rId3"/>
          <a:stretch>
            <a:fillRect/>
          </a:stretch>
        </p:blipFill>
        <p:spPr>
          <a:xfrm>
            <a:off x="195806" y="3033407"/>
            <a:ext cx="5138194" cy="272368"/>
          </a:xfrm>
          <a:prstGeom prst="rect">
            <a:avLst/>
          </a:prstGeom>
        </p:spPr>
      </p:pic>
      <p:sp>
        <p:nvSpPr>
          <p:cNvPr id="32798" name="Rectangle 32797">
            <a:extLst>
              <a:ext uri="{FF2B5EF4-FFF2-40B4-BE49-F238E27FC236}">
                <a16:creationId xmlns:a16="http://schemas.microsoft.com/office/drawing/2014/main" id="{BDCC8292-C368-5370-ABC6-C8BF4990A861}"/>
              </a:ext>
            </a:extLst>
          </p:cNvPr>
          <p:cNvSpPr/>
          <p:nvPr/>
        </p:nvSpPr>
        <p:spPr>
          <a:xfrm>
            <a:off x="5330736" y="490581"/>
            <a:ext cx="3681581" cy="2242646"/>
          </a:xfrm>
          <a:prstGeom prst="rect">
            <a:avLst/>
          </a:prstGeom>
          <a:solidFill>
            <a:schemeClr val="tx2">
              <a:lumMod val="40000"/>
              <a:lumOff val="6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32799" name="Rectangle 32798">
            <a:extLst>
              <a:ext uri="{FF2B5EF4-FFF2-40B4-BE49-F238E27FC236}">
                <a16:creationId xmlns:a16="http://schemas.microsoft.com/office/drawing/2014/main" id="{2D4DB737-21F5-2230-FF5C-89F279932DE3}"/>
              </a:ext>
            </a:extLst>
          </p:cNvPr>
          <p:cNvSpPr/>
          <p:nvPr/>
        </p:nvSpPr>
        <p:spPr>
          <a:xfrm>
            <a:off x="5330736" y="2852030"/>
            <a:ext cx="3681581" cy="917326"/>
          </a:xfrm>
          <a:prstGeom prst="rect">
            <a:avLst/>
          </a:prstGeom>
          <a:solidFill>
            <a:schemeClr val="tx2">
              <a:lumMod val="40000"/>
              <a:lumOff val="6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Main Results </a:t>
            </a:r>
          </a:p>
        </p:txBody>
      </p:sp>
      <p:sp>
        <p:nvSpPr>
          <p:cNvPr id="9" name="Rectangle 8">
            <a:extLst>
              <a:ext uri="{FF2B5EF4-FFF2-40B4-BE49-F238E27FC236}">
                <a16:creationId xmlns:a16="http://schemas.microsoft.com/office/drawing/2014/main" id="{C3A1AEDC-7A36-4E62-8C66-BD561769A32F}"/>
              </a:ext>
            </a:extLst>
          </p:cNvPr>
          <p:cNvSpPr/>
          <p:nvPr/>
        </p:nvSpPr>
        <p:spPr>
          <a:xfrm>
            <a:off x="152400" y="514350"/>
            <a:ext cx="4880388" cy="338554"/>
          </a:xfrm>
          <a:prstGeom prst="rect">
            <a:avLst/>
          </a:prstGeom>
        </p:spPr>
        <p:txBody>
          <a:bodyPr wrap="square">
            <a:spAutoFit/>
          </a:bodyPr>
          <a:lstStyle/>
          <a:p>
            <a:pPr eaLnBrk="1" fontAlgn="auto" hangingPunct="1">
              <a:spcBef>
                <a:spcPts val="0"/>
              </a:spcBef>
              <a:spcAft>
                <a:spcPts val="0"/>
              </a:spcAft>
              <a:defRPr/>
            </a:pPr>
            <a:r>
              <a:rPr lang="en-US" altLang="zh-CN" sz="1600" b="1" dirty="0">
                <a:solidFill>
                  <a:srgbClr val="C00000"/>
                </a:solidFill>
                <a:latin typeface="+mn-lt"/>
                <a:ea typeface="+mn-ea"/>
                <a:cs typeface="Helvetica"/>
              </a:rPr>
              <a:t>Theorem 2 – </a:t>
            </a:r>
            <a:r>
              <a:rPr lang="en-US" sz="1600" b="1" dirty="0">
                <a:solidFill>
                  <a:srgbClr val="C00000"/>
                </a:solidFill>
                <a:latin typeface="+mn-lt"/>
                <a:ea typeface="+mn-ea"/>
              </a:rPr>
              <a:t>Prudent demand models</a:t>
            </a:r>
            <a:endParaRPr lang="en-US" altLang="zh-CN" sz="1600" b="1" dirty="0">
              <a:solidFill>
                <a:srgbClr val="C00000"/>
              </a:solidFill>
              <a:latin typeface="+mn-lt"/>
              <a:ea typeface="+mn-ea"/>
              <a:cs typeface="Helvetica"/>
            </a:endParaRP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18</a:t>
            </a:r>
            <a:r>
              <a:rPr lang="en-US" altLang="en-US" sz="1200" dirty="0">
                <a:solidFill>
                  <a:schemeClr val="bg1"/>
                </a:solidFill>
              </a:rPr>
              <a:t>| </a:t>
            </a:r>
            <a:r>
              <a:rPr lang="en-US" altLang="en-US" sz="1050" dirty="0">
                <a:solidFill>
                  <a:schemeClr val="bg1"/>
                </a:solidFill>
              </a:rPr>
              <a:t>Main results</a:t>
            </a:r>
            <a:endParaRPr lang="en-US" altLang="en-US" sz="900" dirty="0">
              <a:solidFill>
                <a:schemeClr val="bg1"/>
              </a:solidFill>
            </a:endParaRPr>
          </a:p>
        </p:txBody>
      </p:sp>
      <p:pic>
        <p:nvPicPr>
          <p:cNvPr id="28" name="Picture 27">
            <a:extLst>
              <a:ext uri="{FF2B5EF4-FFF2-40B4-BE49-F238E27FC236}">
                <a16:creationId xmlns:a16="http://schemas.microsoft.com/office/drawing/2014/main" id="{854FD458-7AB4-49BD-7855-611256044B3E}"/>
              </a:ext>
            </a:extLst>
          </p:cNvPr>
          <p:cNvPicPr>
            <a:picLocks noChangeAspect="1"/>
          </p:cNvPicPr>
          <p:nvPr/>
        </p:nvPicPr>
        <p:blipFill>
          <a:blip r:embed="rId5"/>
          <a:stretch>
            <a:fillRect/>
          </a:stretch>
        </p:blipFill>
        <p:spPr>
          <a:xfrm>
            <a:off x="764217" y="1165109"/>
            <a:ext cx="4370414" cy="1152746"/>
          </a:xfrm>
          <a:prstGeom prst="rect">
            <a:avLst/>
          </a:prstGeom>
        </p:spPr>
      </p:pic>
      <p:grpSp>
        <p:nvGrpSpPr>
          <p:cNvPr id="2" name="Group 1">
            <a:extLst>
              <a:ext uri="{FF2B5EF4-FFF2-40B4-BE49-F238E27FC236}">
                <a16:creationId xmlns:a16="http://schemas.microsoft.com/office/drawing/2014/main" id="{4B06601B-2634-1929-DB83-766F020E051C}"/>
              </a:ext>
            </a:extLst>
          </p:cNvPr>
          <p:cNvGrpSpPr/>
          <p:nvPr/>
        </p:nvGrpSpPr>
        <p:grpSpPr>
          <a:xfrm>
            <a:off x="5440500" y="666750"/>
            <a:ext cx="3527845" cy="1908916"/>
            <a:chOff x="5205951" y="611576"/>
            <a:chExt cx="3754517" cy="2031568"/>
          </a:xfrm>
        </p:grpSpPr>
        <p:grpSp>
          <p:nvGrpSpPr>
            <p:cNvPr id="3" name="Group 2">
              <a:extLst>
                <a:ext uri="{FF2B5EF4-FFF2-40B4-BE49-F238E27FC236}">
                  <a16:creationId xmlns:a16="http://schemas.microsoft.com/office/drawing/2014/main" id="{1CEDA35A-A126-52FA-E4C8-EA2478052C88}"/>
                </a:ext>
              </a:extLst>
            </p:cNvPr>
            <p:cNvGrpSpPr/>
            <p:nvPr/>
          </p:nvGrpSpPr>
          <p:grpSpPr>
            <a:xfrm>
              <a:off x="5494257" y="611576"/>
              <a:ext cx="3466211" cy="2031568"/>
              <a:chOff x="5494257" y="611576"/>
              <a:chExt cx="3466211" cy="2031568"/>
            </a:xfrm>
          </p:grpSpPr>
          <p:cxnSp>
            <p:nvCxnSpPr>
              <p:cNvPr id="6" name="Straight Arrow Connector 5">
                <a:extLst>
                  <a:ext uri="{FF2B5EF4-FFF2-40B4-BE49-F238E27FC236}">
                    <a16:creationId xmlns:a16="http://schemas.microsoft.com/office/drawing/2014/main" id="{DB96E8C3-D8AA-B832-D007-1D01E1C86381}"/>
                  </a:ext>
                </a:extLst>
              </p:cNvPr>
              <p:cNvCxnSpPr>
                <a:cxnSpLocks/>
              </p:cNvCxnSpPr>
              <p:nvPr/>
            </p:nvCxnSpPr>
            <p:spPr>
              <a:xfrm>
                <a:off x="5494257" y="2343150"/>
                <a:ext cx="34211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7974DA72-2497-E865-8C9F-8F9636F8DB0F}"/>
                  </a:ext>
                </a:extLst>
              </p:cNvPr>
              <p:cNvCxnSpPr>
                <a:cxnSpLocks/>
              </p:cNvCxnSpPr>
              <p:nvPr/>
            </p:nvCxnSpPr>
            <p:spPr>
              <a:xfrm flipV="1">
                <a:off x="6809738" y="611576"/>
                <a:ext cx="0" cy="19341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Freeform 12">
                <a:extLst>
                  <a:ext uri="{FF2B5EF4-FFF2-40B4-BE49-F238E27FC236}">
                    <a16:creationId xmlns:a16="http://schemas.microsoft.com/office/drawing/2014/main" id="{10BD7C87-2475-B264-F3CB-521CAF8A7C7E}"/>
                  </a:ext>
                </a:extLst>
              </p:cNvPr>
              <p:cNvSpPr/>
              <p:nvPr/>
            </p:nvSpPr>
            <p:spPr>
              <a:xfrm>
                <a:off x="5525812" y="1073936"/>
                <a:ext cx="3237471" cy="1150114"/>
              </a:xfrm>
              <a:custGeom>
                <a:avLst/>
                <a:gdLst>
                  <a:gd name="connsiteX0" fmla="*/ 0 w 2199503"/>
                  <a:gd name="connsiteY0" fmla="*/ 1150114 h 1150114"/>
                  <a:gd name="connsiteX1" fmla="*/ 518984 w 2199503"/>
                  <a:gd name="connsiteY1" fmla="*/ 408708 h 1150114"/>
                  <a:gd name="connsiteX2" fmla="*/ 1186249 w 2199503"/>
                  <a:gd name="connsiteY2" fmla="*/ 25649 h 1150114"/>
                  <a:gd name="connsiteX3" fmla="*/ 2199503 w 2199503"/>
                  <a:gd name="connsiteY3" fmla="*/ 1113044 h 1150114"/>
                </a:gdLst>
                <a:ahLst/>
                <a:cxnLst>
                  <a:cxn ang="0">
                    <a:pos x="connsiteX0" y="connsiteY0"/>
                  </a:cxn>
                  <a:cxn ang="0">
                    <a:pos x="connsiteX1" y="connsiteY1"/>
                  </a:cxn>
                  <a:cxn ang="0">
                    <a:pos x="connsiteX2" y="connsiteY2"/>
                  </a:cxn>
                  <a:cxn ang="0">
                    <a:pos x="connsiteX3" y="connsiteY3"/>
                  </a:cxn>
                </a:cxnLst>
                <a:rect l="l" t="t" r="r" b="b"/>
                <a:pathLst>
                  <a:path w="2199503" h="1150114">
                    <a:moveTo>
                      <a:pt x="0" y="1150114"/>
                    </a:moveTo>
                    <a:cubicBezTo>
                      <a:pt x="160638" y="873116"/>
                      <a:pt x="321276" y="596119"/>
                      <a:pt x="518984" y="408708"/>
                    </a:cubicBezTo>
                    <a:cubicBezTo>
                      <a:pt x="716692" y="221297"/>
                      <a:pt x="906163" y="-91740"/>
                      <a:pt x="1186249" y="25649"/>
                    </a:cubicBezTo>
                    <a:cubicBezTo>
                      <a:pt x="1466335" y="143038"/>
                      <a:pt x="1832919" y="628041"/>
                      <a:pt x="2199503" y="1113044"/>
                    </a:cubicBez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14" name="Freeform 13">
                <a:extLst>
                  <a:ext uri="{FF2B5EF4-FFF2-40B4-BE49-F238E27FC236}">
                    <a16:creationId xmlns:a16="http://schemas.microsoft.com/office/drawing/2014/main" id="{806DE6CC-A073-E414-9948-4D807A0E26E9}"/>
                  </a:ext>
                </a:extLst>
              </p:cNvPr>
              <p:cNvSpPr/>
              <p:nvPr/>
            </p:nvSpPr>
            <p:spPr>
              <a:xfrm flipH="1">
                <a:off x="5724429" y="1031696"/>
                <a:ext cx="3038854" cy="1303565"/>
              </a:xfrm>
              <a:custGeom>
                <a:avLst/>
                <a:gdLst>
                  <a:gd name="connsiteX0" fmla="*/ 11448 w 3038854"/>
                  <a:gd name="connsiteY0" fmla="*/ 1303565 h 1303565"/>
                  <a:gd name="connsiteX1" fmla="*/ 122659 w 3038854"/>
                  <a:gd name="connsiteY1" fmla="*/ 6105 h 1303565"/>
                  <a:gd name="connsiteX2" fmla="*/ 888778 w 3038854"/>
                  <a:gd name="connsiteY2" fmla="*/ 834008 h 1303565"/>
                  <a:gd name="connsiteX3" fmla="*/ 3038854 w 3038854"/>
                  <a:gd name="connsiteY3" fmla="*/ 1266494 h 1303565"/>
                </a:gdLst>
                <a:ahLst/>
                <a:cxnLst>
                  <a:cxn ang="0">
                    <a:pos x="connsiteX0" y="connsiteY0"/>
                  </a:cxn>
                  <a:cxn ang="0">
                    <a:pos x="connsiteX1" y="connsiteY1"/>
                  </a:cxn>
                  <a:cxn ang="0">
                    <a:pos x="connsiteX2" y="connsiteY2"/>
                  </a:cxn>
                  <a:cxn ang="0">
                    <a:pos x="connsiteX3" y="connsiteY3"/>
                  </a:cxn>
                </a:cxnLst>
                <a:rect l="l" t="t" r="r" b="b"/>
                <a:pathLst>
                  <a:path w="3038854" h="1303565">
                    <a:moveTo>
                      <a:pt x="11448" y="1303565"/>
                    </a:moveTo>
                    <a:cubicBezTo>
                      <a:pt x="-6058" y="693964"/>
                      <a:pt x="-23563" y="84364"/>
                      <a:pt x="122659" y="6105"/>
                    </a:cubicBezTo>
                    <a:cubicBezTo>
                      <a:pt x="268881" y="-72154"/>
                      <a:pt x="402745" y="623943"/>
                      <a:pt x="888778" y="834008"/>
                    </a:cubicBezTo>
                    <a:cubicBezTo>
                      <a:pt x="1374811" y="1044073"/>
                      <a:pt x="2206832" y="1155283"/>
                      <a:pt x="3038854" y="1266494"/>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TextBox 24">
                <a:extLst>
                  <a:ext uri="{FF2B5EF4-FFF2-40B4-BE49-F238E27FC236}">
                    <a16:creationId xmlns:a16="http://schemas.microsoft.com/office/drawing/2014/main" id="{A7C07E0C-B96F-0C15-70CA-9FB4EE743251}"/>
                  </a:ext>
                </a:extLst>
              </p:cNvPr>
              <p:cNvSpPr txBox="1"/>
              <p:nvPr/>
            </p:nvSpPr>
            <p:spPr>
              <a:xfrm>
                <a:off x="8367810" y="2366145"/>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Price</a:t>
                </a:r>
              </a:p>
            </p:txBody>
          </p:sp>
        </p:grpSp>
        <p:sp>
          <p:nvSpPr>
            <p:cNvPr id="4" name="TextBox 3">
              <a:extLst>
                <a:ext uri="{FF2B5EF4-FFF2-40B4-BE49-F238E27FC236}">
                  <a16:creationId xmlns:a16="http://schemas.microsoft.com/office/drawing/2014/main" id="{1263CA4F-1CC8-3B63-6CFD-7DF1C880E89A}"/>
                </a:ext>
              </a:extLst>
            </p:cNvPr>
            <p:cNvSpPr txBox="1"/>
            <p:nvPr/>
          </p:nvSpPr>
          <p:spPr>
            <a:xfrm>
              <a:off x="5205951" y="635354"/>
              <a:ext cx="1667876" cy="276999"/>
            </a:xfrm>
            <a:prstGeom prst="rect">
              <a:avLst/>
            </a:prstGeom>
            <a:noFill/>
          </p:spPr>
          <p:txBody>
            <a:bodyPr wrap="square">
              <a:spAutoFit/>
            </a:bodyPr>
            <a:lstStyle/>
            <a:p>
              <a:r>
                <a:rPr lang="en-US" sz="1200" dirty="0">
                  <a:cs typeface="Calibri" panose="020F0502020204030204" pitchFamily="34" charset="0"/>
                </a:rPr>
                <a:t>Price distribution set</a:t>
              </a:r>
              <a:r>
                <a:rPr lang="en-US" sz="1200" i="1" dirty="0">
                  <a:cs typeface="Calibri" panose="020F0502020204030204" pitchFamily="34" charset="0"/>
                </a:rPr>
                <a:t> L </a:t>
              </a:r>
            </a:p>
          </p:txBody>
        </p:sp>
        <p:sp>
          <p:nvSpPr>
            <p:cNvPr id="5" name="Freeform 4">
              <a:extLst>
                <a:ext uri="{FF2B5EF4-FFF2-40B4-BE49-F238E27FC236}">
                  <a16:creationId xmlns:a16="http://schemas.microsoft.com/office/drawing/2014/main" id="{25848A5F-116D-23DC-FC7C-5EC5166E3C02}"/>
                </a:ext>
              </a:extLst>
            </p:cNvPr>
            <p:cNvSpPr/>
            <p:nvPr/>
          </p:nvSpPr>
          <p:spPr>
            <a:xfrm>
              <a:off x="5715000" y="918629"/>
              <a:ext cx="2917371" cy="1214971"/>
            </a:xfrm>
            <a:custGeom>
              <a:avLst/>
              <a:gdLst>
                <a:gd name="connsiteX0" fmla="*/ 0 w 2917371"/>
                <a:gd name="connsiteY0" fmla="*/ 1138771 h 1214971"/>
                <a:gd name="connsiteX1" fmla="*/ 990600 w 2917371"/>
                <a:gd name="connsiteY1" fmla="*/ 746885 h 1214971"/>
                <a:gd name="connsiteX2" fmla="*/ 1850571 w 2917371"/>
                <a:gd name="connsiteY2" fmla="*/ 6657 h 1214971"/>
                <a:gd name="connsiteX3" fmla="*/ 2917371 w 2917371"/>
                <a:gd name="connsiteY3" fmla="*/ 1214971 h 1214971"/>
              </a:gdLst>
              <a:ahLst/>
              <a:cxnLst>
                <a:cxn ang="0">
                  <a:pos x="connsiteX0" y="connsiteY0"/>
                </a:cxn>
                <a:cxn ang="0">
                  <a:pos x="connsiteX1" y="connsiteY1"/>
                </a:cxn>
                <a:cxn ang="0">
                  <a:pos x="connsiteX2" y="connsiteY2"/>
                </a:cxn>
                <a:cxn ang="0">
                  <a:pos x="connsiteX3" y="connsiteY3"/>
                </a:cxn>
              </a:cxnLst>
              <a:rect l="l" t="t" r="r" b="b"/>
              <a:pathLst>
                <a:path w="2917371" h="1214971">
                  <a:moveTo>
                    <a:pt x="0" y="1138771"/>
                  </a:moveTo>
                  <a:cubicBezTo>
                    <a:pt x="341086" y="1037171"/>
                    <a:pt x="682172" y="935571"/>
                    <a:pt x="990600" y="746885"/>
                  </a:cubicBezTo>
                  <a:cubicBezTo>
                    <a:pt x="1299028" y="558199"/>
                    <a:pt x="1529443" y="-71357"/>
                    <a:pt x="1850571" y="6657"/>
                  </a:cubicBezTo>
                  <a:cubicBezTo>
                    <a:pt x="2171700" y="84671"/>
                    <a:pt x="2544535" y="649821"/>
                    <a:pt x="2917371" y="1214971"/>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7AA39207-8D07-5168-9D89-566846AA1F66}"/>
              </a:ext>
            </a:extLst>
          </p:cNvPr>
          <p:cNvSpPr/>
          <p:nvPr/>
        </p:nvSpPr>
        <p:spPr>
          <a:xfrm>
            <a:off x="349994" y="895339"/>
            <a:ext cx="3880385" cy="307777"/>
          </a:xfrm>
          <a:prstGeom prst="rect">
            <a:avLst/>
          </a:prstGeom>
        </p:spPr>
        <p:txBody>
          <a:bodyPr wrap="square">
            <a:spAutoFit/>
          </a:bodyPr>
          <a:lstStyle/>
          <a:p>
            <a:pPr eaLnBrk="1" fontAlgn="auto" hangingPunct="1">
              <a:spcBef>
                <a:spcPts val="0"/>
              </a:spcBef>
              <a:spcAft>
                <a:spcPts val="0"/>
              </a:spcAft>
              <a:defRPr/>
            </a:pPr>
            <a:r>
              <a:rPr lang="en-US" altLang="zh-CN" sz="1400" dirty="0">
                <a:cs typeface="Calibri" panose="020F0502020204030204" pitchFamily="34" charset="0"/>
              </a:rPr>
              <a:t>Demand model:</a:t>
            </a:r>
          </a:p>
        </p:txBody>
      </p:sp>
      <p:sp>
        <p:nvSpPr>
          <p:cNvPr id="17" name="Rectangle 16">
            <a:extLst>
              <a:ext uri="{FF2B5EF4-FFF2-40B4-BE49-F238E27FC236}">
                <a16:creationId xmlns:a16="http://schemas.microsoft.com/office/drawing/2014/main" id="{0DB485B4-1D88-7238-BEDD-012864011B10}"/>
              </a:ext>
            </a:extLst>
          </p:cNvPr>
          <p:cNvSpPr/>
          <p:nvPr/>
        </p:nvSpPr>
        <p:spPr>
          <a:xfrm>
            <a:off x="3689254" y="1106091"/>
            <a:ext cx="546008" cy="508426"/>
          </a:xfrm>
          <a:prstGeom prst="rect">
            <a:avLst/>
          </a:prstGeom>
          <a:solidFill>
            <a:schemeClr val="accent2">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9A2F13B8-E096-D6FC-92D6-AE1AF0A1385B}"/>
              </a:ext>
            </a:extLst>
          </p:cNvPr>
          <p:cNvSpPr/>
          <p:nvPr/>
        </p:nvSpPr>
        <p:spPr>
          <a:xfrm>
            <a:off x="2942158" y="1106091"/>
            <a:ext cx="546008" cy="508426"/>
          </a:xfrm>
          <a:prstGeom prst="rect">
            <a:avLst/>
          </a:prstGeom>
          <a:solidFill>
            <a:schemeClr val="accent3">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21" name="TextBox 20">
            <a:extLst>
              <a:ext uri="{FF2B5EF4-FFF2-40B4-BE49-F238E27FC236}">
                <a16:creationId xmlns:a16="http://schemas.microsoft.com/office/drawing/2014/main" id="{AB348BCE-2DDD-573D-5F44-7E7474F18EB2}"/>
              </a:ext>
            </a:extLst>
          </p:cNvPr>
          <p:cNvSpPr txBox="1"/>
          <p:nvPr/>
        </p:nvSpPr>
        <p:spPr>
          <a:xfrm>
            <a:off x="2252356" y="787161"/>
            <a:ext cx="2259192" cy="307777"/>
          </a:xfrm>
          <a:prstGeom prst="rect">
            <a:avLst/>
          </a:prstGeom>
          <a:noFill/>
        </p:spPr>
        <p:txBody>
          <a:bodyPr wrap="square">
            <a:spAutoFit/>
          </a:bodyPr>
          <a:lstStyle/>
          <a:p>
            <a:r>
              <a:rPr lang="en-US" sz="1400" b="1" dirty="0">
                <a:solidFill>
                  <a:srgbClr val="C00000"/>
                </a:solidFill>
                <a:cs typeface="Calibri" panose="020F0502020204030204" pitchFamily="34" charset="0"/>
              </a:rPr>
              <a:t>Super </a:t>
            </a:r>
            <a:r>
              <a:rPr lang="en-US" sz="1400" dirty="0">
                <a:solidFill>
                  <a:schemeClr val="accent3">
                    <a:lumMod val="75000"/>
                  </a:schemeClr>
                </a:solidFill>
                <a:cs typeface="Calibri" panose="020F0502020204030204" pitchFamily="34" charset="0"/>
              </a:rPr>
              <a:t>Quadratic State cost</a:t>
            </a:r>
            <a:r>
              <a:rPr lang="en-US" sz="1400" dirty="0">
                <a:solidFill>
                  <a:schemeClr val="accent3">
                    <a:lumMod val="75000"/>
                  </a:schemeClr>
                </a:solidFill>
                <a:latin typeface="Arial" panose="020B0604020202020204" pitchFamily="34" charset="0"/>
                <a:cs typeface="Calibri" panose="020F0502020204030204" pitchFamily="34" charset="0"/>
              </a:rPr>
              <a:t> </a:t>
            </a:r>
            <a:endParaRPr lang="en-US" sz="1400" dirty="0">
              <a:solidFill>
                <a:schemeClr val="accent3">
                  <a:lumMod val="75000"/>
                </a:schemeClr>
              </a:solidFill>
              <a:cs typeface="Calibri" panose="020F0502020204030204" pitchFamily="34" charset="0"/>
            </a:endParaRPr>
          </a:p>
        </p:txBody>
      </p:sp>
      <p:sp>
        <p:nvSpPr>
          <p:cNvPr id="22" name="Rectangle 21">
            <a:extLst>
              <a:ext uri="{FF2B5EF4-FFF2-40B4-BE49-F238E27FC236}">
                <a16:creationId xmlns:a16="http://schemas.microsoft.com/office/drawing/2014/main" id="{07924A9C-DF6B-1982-DA9D-9E22098F9DF3}"/>
              </a:ext>
            </a:extLst>
          </p:cNvPr>
          <p:cNvSpPr/>
          <p:nvPr/>
        </p:nvSpPr>
        <p:spPr>
          <a:xfrm>
            <a:off x="4675038" y="1486370"/>
            <a:ext cx="654528" cy="7959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AB12435-9B53-AC47-E965-42DA62284665}"/>
              </a:ext>
            </a:extLst>
          </p:cNvPr>
          <p:cNvSpPr txBox="1"/>
          <p:nvPr/>
        </p:nvSpPr>
        <p:spPr>
          <a:xfrm>
            <a:off x="3386462" y="1582058"/>
            <a:ext cx="1813625" cy="307777"/>
          </a:xfrm>
          <a:prstGeom prst="rect">
            <a:avLst/>
          </a:prstGeom>
          <a:noFill/>
        </p:spPr>
        <p:txBody>
          <a:bodyPr wrap="square">
            <a:spAutoFit/>
          </a:bodyPr>
          <a:lstStyle/>
          <a:p>
            <a:r>
              <a:rPr lang="en-US" sz="1400" dirty="0">
                <a:solidFill>
                  <a:schemeClr val="accent2">
                    <a:lumMod val="75000"/>
                  </a:schemeClr>
                </a:solidFill>
                <a:cs typeface="Calibri" panose="020F0502020204030204" pitchFamily="34" charset="0"/>
              </a:rPr>
              <a:t>Quadratic action cost</a:t>
            </a:r>
            <a:r>
              <a:rPr lang="en-US" sz="1400" dirty="0">
                <a:solidFill>
                  <a:schemeClr val="accent2">
                    <a:lumMod val="75000"/>
                  </a:schemeClr>
                </a:solidFill>
                <a:latin typeface="Arial" panose="020B0604020202020204" pitchFamily="34" charset="0"/>
                <a:cs typeface="Calibri" panose="020F0502020204030204" pitchFamily="34" charset="0"/>
              </a:rPr>
              <a:t> </a:t>
            </a:r>
            <a:endParaRPr lang="en-US" sz="1400" dirty="0">
              <a:solidFill>
                <a:schemeClr val="accent2">
                  <a:lumMod val="75000"/>
                </a:schemeClr>
              </a:solidFill>
              <a:cs typeface="Calibri" panose="020F0502020204030204" pitchFamily="34" charset="0"/>
            </a:endParaRPr>
          </a:p>
        </p:txBody>
      </p:sp>
      <p:sp>
        <p:nvSpPr>
          <p:cNvPr id="24" name="Rectangle 23">
            <a:extLst>
              <a:ext uri="{FF2B5EF4-FFF2-40B4-BE49-F238E27FC236}">
                <a16:creationId xmlns:a16="http://schemas.microsoft.com/office/drawing/2014/main" id="{CB1B1A75-92CA-EAAD-E0C7-D59927EC0BBF}"/>
              </a:ext>
            </a:extLst>
          </p:cNvPr>
          <p:cNvSpPr/>
          <p:nvPr/>
        </p:nvSpPr>
        <p:spPr>
          <a:xfrm>
            <a:off x="4402034" y="1104019"/>
            <a:ext cx="546008" cy="508426"/>
          </a:xfrm>
          <a:prstGeom prst="rect">
            <a:avLst/>
          </a:prstGeom>
          <a:solidFill>
            <a:schemeClr val="accent4">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dirty="0"/>
          </a:p>
        </p:txBody>
      </p:sp>
      <p:sp>
        <p:nvSpPr>
          <p:cNvPr id="25" name="TextBox 26">
            <a:extLst>
              <a:ext uri="{FF2B5EF4-FFF2-40B4-BE49-F238E27FC236}">
                <a16:creationId xmlns:a16="http://schemas.microsoft.com/office/drawing/2014/main" id="{91760B0F-DBB3-8473-0B4D-DD88B2D6D782}"/>
              </a:ext>
            </a:extLst>
          </p:cNvPr>
          <p:cNvSpPr txBox="1"/>
          <p:nvPr/>
        </p:nvSpPr>
        <p:spPr>
          <a:xfrm>
            <a:off x="4314144" y="788321"/>
            <a:ext cx="773183" cy="307777"/>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400" dirty="0">
                <a:solidFill>
                  <a:schemeClr val="accent4">
                    <a:lumMod val="75000"/>
                  </a:schemeClr>
                </a:solidFill>
                <a:cs typeface="Calibri" panose="020F0502020204030204" pitchFamily="34" charset="0"/>
              </a:rPr>
              <a:t>Set to 0</a:t>
            </a:r>
          </a:p>
        </p:txBody>
      </p:sp>
      <p:cxnSp>
        <p:nvCxnSpPr>
          <p:cNvPr id="31" name="Straight Connector 30">
            <a:extLst>
              <a:ext uri="{FF2B5EF4-FFF2-40B4-BE49-F238E27FC236}">
                <a16:creationId xmlns:a16="http://schemas.microsoft.com/office/drawing/2014/main" id="{CBABF7F1-2EEB-F990-4459-3E401FAEE74F}"/>
              </a:ext>
            </a:extLst>
          </p:cNvPr>
          <p:cNvCxnSpPr>
            <a:cxnSpLocks/>
          </p:cNvCxnSpPr>
          <p:nvPr/>
        </p:nvCxnSpPr>
        <p:spPr>
          <a:xfrm>
            <a:off x="7183517" y="857098"/>
            <a:ext cx="0" cy="1590337"/>
          </a:xfrm>
          <a:prstGeom prst="line">
            <a:avLst/>
          </a:prstGeom>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E514DEE5-AA22-4EA3-5DE6-33BBB047965C}"/>
              </a:ext>
            </a:extLst>
          </p:cNvPr>
          <p:cNvSpPr txBox="1"/>
          <p:nvPr/>
        </p:nvSpPr>
        <p:spPr>
          <a:xfrm>
            <a:off x="7022273" y="555890"/>
            <a:ext cx="1453696" cy="276999"/>
          </a:xfrm>
          <a:prstGeom prst="rect">
            <a:avLst/>
          </a:prstGeom>
          <a:noFill/>
        </p:spPr>
        <p:txBody>
          <a:bodyPr wrap="square">
            <a:spAutoFit/>
          </a:bodyPr>
          <a:lstStyle/>
          <a:p>
            <a:r>
              <a:rPr lang="en-US" sz="1200" dirty="0">
                <a:cs typeface="Calibri" panose="020F0502020204030204" pitchFamily="34" charset="0"/>
              </a:rPr>
              <a:t>Same expectation</a:t>
            </a:r>
          </a:p>
        </p:txBody>
      </p:sp>
      <p:sp>
        <p:nvSpPr>
          <p:cNvPr id="34" name="Rectangle 33">
            <a:extLst>
              <a:ext uri="{FF2B5EF4-FFF2-40B4-BE49-F238E27FC236}">
                <a16:creationId xmlns:a16="http://schemas.microsoft.com/office/drawing/2014/main" id="{8E97CB8B-6E1C-7274-5622-CE79043E56E3}"/>
              </a:ext>
            </a:extLst>
          </p:cNvPr>
          <p:cNvSpPr/>
          <p:nvPr/>
        </p:nvSpPr>
        <p:spPr>
          <a:xfrm>
            <a:off x="158261" y="2390633"/>
            <a:ext cx="4916464" cy="553998"/>
          </a:xfrm>
          <a:prstGeom prst="rect">
            <a:avLst/>
          </a:prstGeom>
        </p:spPr>
        <p:txBody>
          <a:bodyPr wrap="square">
            <a:spAutoFit/>
          </a:bodyPr>
          <a:lstStyle/>
          <a:p>
            <a:pPr eaLnBrk="1" fontAlgn="auto" hangingPunct="1">
              <a:spcBef>
                <a:spcPts val="0"/>
              </a:spcBef>
              <a:spcAft>
                <a:spcPts val="0"/>
              </a:spcAft>
              <a:defRPr/>
            </a:pPr>
            <a:r>
              <a:rPr lang="en-US" altLang="zh-CN" sz="1600" b="1" dirty="0">
                <a:solidFill>
                  <a:srgbClr val="C00000"/>
                </a:solidFill>
                <a:latin typeface="+mn-lt"/>
                <a:ea typeface="+mn-ea"/>
              </a:rPr>
              <a:t>Theorem</a:t>
            </a:r>
            <a:r>
              <a:rPr lang="en-US" altLang="zh-CN" sz="1400" dirty="0">
                <a:latin typeface="+mn-lt"/>
                <a:ea typeface="+mn-ea"/>
              </a:rPr>
              <a:t> </a:t>
            </a:r>
            <a:r>
              <a:rPr lang="en-US" altLang="zh-CN" sz="1400" b="1" dirty="0">
                <a:latin typeface="+mn-lt"/>
                <a:ea typeface="+mn-ea"/>
              </a:rPr>
              <a:t>- The demand model before time t satisfies prudent and its sensitivity condition to price distribution at time t+1</a:t>
            </a:r>
          </a:p>
        </p:txBody>
      </p:sp>
      <p:sp>
        <p:nvSpPr>
          <p:cNvPr id="35" name="Rectangle 34">
            <a:extLst>
              <a:ext uri="{FF2B5EF4-FFF2-40B4-BE49-F238E27FC236}">
                <a16:creationId xmlns:a16="http://schemas.microsoft.com/office/drawing/2014/main" id="{8DAE8B39-1A15-52D8-1E49-15680CF69416}"/>
              </a:ext>
            </a:extLst>
          </p:cNvPr>
          <p:cNvSpPr/>
          <p:nvPr/>
        </p:nvSpPr>
        <p:spPr>
          <a:xfrm>
            <a:off x="1693590" y="3009090"/>
            <a:ext cx="1199753" cy="383179"/>
          </a:xfrm>
          <a:prstGeom prst="rect">
            <a:avLst/>
          </a:prstGeom>
          <a:solidFill>
            <a:schemeClr val="accent4">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dirty="0"/>
          </a:p>
        </p:txBody>
      </p:sp>
      <p:sp>
        <p:nvSpPr>
          <p:cNvPr id="36" name="TextBox 26">
            <a:extLst>
              <a:ext uri="{FF2B5EF4-FFF2-40B4-BE49-F238E27FC236}">
                <a16:creationId xmlns:a16="http://schemas.microsoft.com/office/drawing/2014/main" id="{8E2CF5DB-85AB-ADA5-C6A1-D09B0232BF04}"/>
              </a:ext>
            </a:extLst>
          </p:cNvPr>
          <p:cNvSpPr txBox="1"/>
          <p:nvPr/>
        </p:nvSpPr>
        <p:spPr>
          <a:xfrm>
            <a:off x="520621" y="3369671"/>
            <a:ext cx="4016653" cy="307777"/>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400" dirty="0">
                <a:solidFill>
                  <a:schemeClr val="accent4">
                    <a:lumMod val="75000"/>
                  </a:schemeClr>
                </a:solidFill>
                <a:cs typeface="Calibri" panose="020F0502020204030204" pitchFamily="34" charset="0"/>
              </a:rPr>
              <a:t>Value function with different uncertainty distribution</a:t>
            </a:r>
          </a:p>
        </p:txBody>
      </p:sp>
      <p:sp>
        <p:nvSpPr>
          <p:cNvPr id="37" name="Right Arrow 36">
            <a:extLst>
              <a:ext uri="{FF2B5EF4-FFF2-40B4-BE49-F238E27FC236}">
                <a16:creationId xmlns:a16="http://schemas.microsoft.com/office/drawing/2014/main" id="{1B0089B9-E2A2-8868-FCAA-B5D4E0AC9D5E}"/>
              </a:ext>
            </a:extLst>
          </p:cNvPr>
          <p:cNvSpPr/>
          <p:nvPr/>
        </p:nvSpPr>
        <p:spPr>
          <a:xfrm rot="7900684">
            <a:off x="4852826" y="2213303"/>
            <a:ext cx="486975" cy="62154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85324E87-DF6B-00E1-11DB-2FDBD046B09F}"/>
              </a:ext>
            </a:extLst>
          </p:cNvPr>
          <p:cNvSpPr/>
          <p:nvPr/>
        </p:nvSpPr>
        <p:spPr>
          <a:xfrm>
            <a:off x="261547" y="3005521"/>
            <a:ext cx="1217656" cy="378891"/>
          </a:xfrm>
          <a:prstGeom prst="rect">
            <a:avLst/>
          </a:prstGeom>
          <a:solidFill>
            <a:schemeClr val="accent4">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dirty="0"/>
          </a:p>
        </p:txBody>
      </p:sp>
      <p:cxnSp>
        <p:nvCxnSpPr>
          <p:cNvPr id="41" name="Straight Arrow Connector 40">
            <a:extLst>
              <a:ext uri="{FF2B5EF4-FFF2-40B4-BE49-F238E27FC236}">
                <a16:creationId xmlns:a16="http://schemas.microsoft.com/office/drawing/2014/main" id="{E4DD6DA7-272B-5223-C058-99361BF95C52}"/>
              </a:ext>
            </a:extLst>
          </p:cNvPr>
          <p:cNvCxnSpPr>
            <a:cxnSpLocks/>
          </p:cNvCxnSpPr>
          <p:nvPr/>
        </p:nvCxnSpPr>
        <p:spPr>
          <a:xfrm>
            <a:off x="5608369" y="3304655"/>
            <a:ext cx="31349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TextBox 24">
            <a:extLst>
              <a:ext uri="{FF2B5EF4-FFF2-40B4-BE49-F238E27FC236}">
                <a16:creationId xmlns:a16="http://schemas.microsoft.com/office/drawing/2014/main" id="{DD2FF915-C45C-62D6-B4B4-7AE8887C227D}"/>
              </a:ext>
            </a:extLst>
          </p:cNvPr>
          <p:cNvSpPr txBox="1"/>
          <p:nvPr/>
        </p:nvSpPr>
        <p:spPr>
          <a:xfrm>
            <a:off x="8504685" y="3332959"/>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Time</a:t>
            </a:r>
          </a:p>
        </p:txBody>
      </p:sp>
      <p:sp>
        <p:nvSpPr>
          <p:cNvPr id="44" name="TextBox 24">
            <a:extLst>
              <a:ext uri="{FF2B5EF4-FFF2-40B4-BE49-F238E27FC236}">
                <a16:creationId xmlns:a16="http://schemas.microsoft.com/office/drawing/2014/main" id="{750902B6-363D-A09A-7191-C1BE5864962C}"/>
              </a:ext>
            </a:extLst>
          </p:cNvPr>
          <p:cNvSpPr txBox="1"/>
          <p:nvPr/>
        </p:nvSpPr>
        <p:spPr>
          <a:xfrm>
            <a:off x="8125793" y="3542193"/>
            <a:ext cx="592656" cy="276999"/>
          </a:xfrm>
          <a:prstGeom prst="rect">
            <a:avLst/>
          </a:prstGeom>
          <a:noFill/>
          <a:ln>
            <a:noFill/>
          </a:ln>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t+1</a:t>
            </a:r>
          </a:p>
        </p:txBody>
      </p:sp>
      <p:cxnSp>
        <p:nvCxnSpPr>
          <p:cNvPr id="46" name="Straight Arrow Connector 45">
            <a:extLst>
              <a:ext uri="{FF2B5EF4-FFF2-40B4-BE49-F238E27FC236}">
                <a16:creationId xmlns:a16="http://schemas.microsoft.com/office/drawing/2014/main" id="{2F09AB18-298B-7C59-58B8-E0604B3C8BDA}"/>
              </a:ext>
            </a:extLst>
          </p:cNvPr>
          <p:cNvCxnSpPr>
            <a:cxnSpLocks/>
          </p:cNvCxnSpPr>
          <p:nvPr/>
        </p:nvCxnSpPr>
        <p:spPr>
          <a:xfrm flipV="1">
            <a:off x="8279984" y="3048073"/>
            <a:ext cx="0" cy="433783"/>
          </a:xfrm>
          <a:prstGeom prst="straightConnector1">
            <a:avLst/>
          </a:prstGeom>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2" name="TextBox 24">
            <a:extLst>
              <a:ext uri="{FF2B5EF4-FFF2-40B4-BE49-F238E27FC236}">
                <a16:creationId xmlns:a16="http://schemas.microsoft.com/office/drawing/2014/main" id="{2B0F2888-745F-7C3A-0B3D-3CBF30A8451C}"/>
              </a:ext>
            </a:extLst>
          </p:cNvPr>
          <p:cNvSpPr txBox="1"/>
          <p:nvPr/>
        </p:nvSpPr>
        <p:spPr>
          <a:xfrm>
            <a:off x="7538122" y="3542355"/>
            <a:ext cx="448675" cy="276999"/>
          </a:xfrm>
          <a:prstGeom prst="rect">
            <a:avLst/>
          </a:prstGeom>
          <a:noFill/>
          <a:ln>
            <a:noFill/>
          </a:ln>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t</a:t>
            </a:r>
          </a:p>
        </p:txBody>
      </p:sp>
      <p:pic>
        <p:nvPicPr>
          <p:cNvPr id="53" name="Graphic 52" descr="Battery charging with solid fill">
            <a:extLst>
              <a:ext uri="{FF2B5EF4-FFF2-40B4-BE49-F238E27FC236}">
                <a16:creationId xmlns:a16="http://schemas.microsoft.com/office/drawing/2014/main" id="{C9741C0D-896F-08F8-480E-9960BA0E1AD5}"/>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7334629" y="2964877"/>
            <a:ext cx="652168" cy="652168"/>
          </a:xfrm>
          <a:prstGeom prst="rect">
            <a:avLst/>
          </a:prstGeom>
        </p:spPr>
      </p:pic>
      <p:sp>
        <p:nvSpPr>
          <p:cNvPr id="56" name="TextBox 55">
            <a:extLst>
              <a:ext uri="{FF2B5EF4-FFF2-40B4-BE49-F238E27FC236}">
                <a16:creationId xmlns:a16="http://schemas.microsoft.com/office/drawing/2014/main" id="{DF182A83-D12C-1C33-3DBD-D48F1A9C5348}"/>
              </a:ext>
            </a:extLst>
          </p:cNvPr>
          <p:cNvSpPr txBox="1"/>
          <p:nvPr/>
        </p:nvSpPr>
        <p:spPr>
          <a:xfrm>
            <a:off x="6969796" y="2850187"/>
            <a:ext cx="1274467" cy="276999"/>
          </a:xfrm>
          <a:prstGeom prst="rect">
            <a:avLst/>
          </a:prstGeom>
          <a:noFill/>
        </p:spPr>
        <p:txBody>
          <a:bodyPr wrap="square">
            <a:spAutoFit/>
          </a:bodyPr>
          <a:lstStyle/>
          <a:p>
            <a:r>
              <a:rPr lang="en-US" sz="1200" dirty="0">
                <a:cs typeface="Calibri" panose="020F0502020204030204" pitchFamily="34" charset="0"/>
              </a:rPr>
              <a:t>Demand model</a:t>
            </a:r>
          </a:p>
        </p:txBody>
      </p:sp>
      <p:sp>
        <p:nvSpPr>
          <p:cNvPr id="32768" name="Rectangle 32767">
            <a:extLst>
              <a:ext uri="{FF2B5EF4-FFF2-40B4-BE49-F238E27FC236}">
                <a16:creationId xmlns:a16="http://schemas.microsoft.com/office/drawing/2014/main" id="{9E0DD678-E0A9-4C66-8EB5-B86A3BBB1887}"/>
              </a:ext>
            </a:extLst>
          </p:cNvPr>
          <p:cNvSpPr/>
          <p:nvPr/>
        </p:nvSpPr>
        <p:spPr>
          <a:xfrm>
            <a:off x="4205423" y="2405591"/>
            <a:ext cx="680609" cy="294208"/>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dk1"/>
              </a:solidFill>
            </a:endParaRPr>
          </a:p>
        </p:txBody>
      </p:sp>
      <p:sp>
        <p:nvSpPr>
          <p:cNvPr id="32774" name="Rectangle 32773">
            <a:extLst>
              <a:ext uri="{FF2B5EF4-FFF2-40B4-BE49-F238E27FC236}">
                <a16:creationId xmlns:a16="http://schemas.microsoft.com/office/drawing/2014/main" id="{72CACA2C-51F4-CB31-0A3F-81E05CF7DBD0}"/>
              </a:ext>
            </a:extLst>
          </p:cNvPr>
          <p:cNvSpPr/>
          <p:nvPr/>
        </p:nvSpPr>
        <p:spPr>
          <a:xfrm>
            <a:off x="1599043" y="2461409"/>
            <a:ext cx="1134937" cy="236754"/>
          </a:xfrm>
          <a:prstGeom prst="rect">
            <a:avLst/>
          </a:prstGeom>
          <a:solidFill>
            <a:schemeClr val="accent1">
              <a:lumMod val="60000"/>
              <a:lumOff val="4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32775" name="Rectangle 32774">
            <a:extLst>
              <a:ext uri="{FF2B5EF4-FFF2-40B4-BE49-F238E27FC236}">
                <a16:creationId xmlns:a16="http://schemas.microsoft.com/office/drawing/2014/main" id="{109EAD0D-1C97-3F6D-C1D2-405D5FC91722}"/>
              </a:ext>
            </a:extLst>
          </p:cNvPr>
          <p:cNvSpPr/>
          <p:nvPr/>
        </p:nvSpPr>
        <p:spPr>
          <a:xfrm>
            <a:off x="2523087" y="2674215"/>
            <a:ext cx="1269891" cy="294208"/>
          </a:xfrm>
          <a:prstGeom prst="rect">
            <a:avLst/>
          </a:prstGeom>
          <a:solidFill>
            <a:schemeClr val="accent1">
              <a:lumMod val="60000"/>
              <a:lumOff val="4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32776" name="Rectangle 32775">
            <a:extLst>
              <a:ext uri="{FF2B5EF4-FFF2-40B4-BE49-F238E27FC236}">
                <a16:creationId xmlns:a16="http://schemas.microsoft.com/office/drawing/2014/main" id="{72CACA2C-51F4-CB31-0A3F-81E05CF7DBD0}"/>
              </a:ext>
            </a:extLst>
          </p:cNvPr>
          <p:cNvSpPr/>
          <p:nvPr/>
        </p:nvSpPr>
        <p:spPr>
          <a:xfrm>
            <a:off x="2752860" y="2460396"/>
            <a:ext cx="999797" cy="237766"/>
          </a:xfrm>
          <a:prstGeom prst="rect">
            <a:avLst/>
          </a:prstGeom>
          <a:solidFill>
            <a:schemeClr val="accent1">
              <a:lumMod val="60000"/>
              <a:lumOff val="4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dirty="0">
              <a:solidFill>
                <a:schemeClr val="accent3">
                  <a:lumMod val="75000"/>
                </a:schemeClr>
              </a:solidFill>
            </a:endParaRPr>
          </a:p>
        </p:txBody>
      </p:sp>
      <p:sp>
        <p:nvSpPr>
          <p:cNvPr id="32777" name="Rectangle 32776">
            <a:extLst>
              <a:ext uri="{FF2B5EF4-FFF2-40B4-BE49-F238E27FC236}">
                <a16:creationId xmlns:a16="http://schemas.microsoft.com/office/drawing/2014/main" id="{56446B29-0C5E-4D1A-22B9-9CD7C0728A0C}"/>
              </a:ext>
            </a:extLst>
          </p:cNvPr>
          <p:cNvSpPr/>
          <p:nvPr/>
        </p:nvSpPr>
        <p:spPr>
          <a:xfrm>
            <a:off x="3980941" y="2672557"/>
            <a:ext cx="688731" cy="299555"/>
          </a:xfrm>
          <a:prstGeom prst="rect">
            <a:avLst/>
          </a:prstGeom>
          <a:solidFill>
            <a:schemeClr val="accent1">
              <a:lumMod val="60000"/>
              <a:lumOff val="4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dirty="0">
              <a:solidFill>
                <a:schemeClr val="accent3">
                  <a:lumMod val="75000"/>
                </a:schemeClr>
              </a:solidFill>
            </a:endParaRPr>
          </a:p>
        </p:txBody>
      </p:sp>
      <p:sp>
        <p:nvSpPr>
          <p:cNvPr id="23" name="TextBox 22">
            <a:extLst>
              <a:ext uri="{FF2B5EF4-FFF2-40B4-BE49-F238E27FC236}">
                <a16:creationId xmlns:a16="http://schemas.microsoft.com/office/drawing/2014/main" id="{D6DB072A-F08E-E606-40CA-98861889D0FA}"/>
              </a:ext>
            </a:extLst>
          </p:cNvPr>
          <p:cNvSpPr txBox="1"/>
          <p:nvPr/>
        </p:nvSpPr>
        <p:spPr>
          <a:xfrm>
            <a:off x="2474825" y="787989"/>
            <a:ext cx="1894788" cy="307777"/>
          </a:xfrm>
          <a:prstGeom prst="rect">
            <a:avLst/>
          </a:prstGeom>
          <a:noFill/>
        </p:spPr>
        <p:txBody>
          <a:bodyPr wrap="square">
            <a:spAutoFit/>
          </a:bodyPr>
          <a:lstStyle/>
          <a:p>
            <a:r>
              <a:rPr lang="en-US" sz="1400" dirty="0">
                <a:solidFill>
                  <a:schemeClr val="accent3">
                    <a:lumMod val="75000"/>
                  </a:schemeClr>
                </a:solidFill>
                <a:cs typeface="Calibri" panose="020F0502020204030204" pitchFamily="34" charset="0"/>
              </a:rPr>
              <a:t>Quadratic State cost</a:t>
            </a:r>
            <a:r>
              <a:rPr lang="en-US" sz="1400" dirty="0">
                <a:solidFill>
                  <a:schemeClr val="accent3">
                    <a:lumMod val="75000"/>
                  </a:schemeClr>
                </a:solidFill>
                <a:latin typeface="Arial" panose="020B0604020202020204" pitchFamily="34" charset="0"/>
                <a:cs typeface="Calibri" panose="020F0502020204030204" pitchFamily="34" charset="0"/>
              </a:rPr>
              <a:t> </a:t>
            </a:r>
            <a:endParaRPr lang="en-US" sz="1400" dirty="0">
              <a:solidFill>
                <a:schemeClr val="accent3">
                  <a:lumMod val="75000"/>
                </a:schemeClr>
              </a:solidFill>
              <a:cs typeface="Calibri" panose="020F0502020204030204" pitchFamily="34" charset="0"/>
            </a:endParaRPr>
          </a:p>
        </p:txBody>
      </p:sp>
      <p:grpSp>
        <p:nvGrpSpPr>
          <p:cNvPr id="32786" name="Group 32785">
            <a:extLst>
              <a:ext uri="{FF2B5EF4-FFF2-40B4-BE49-F238E27FC236}">
                <a16:creationId xmlns:a16="http://schemas.microsoft.com/office/drawing/2014/main" id="{F006F6B0-DC66-0FA6-81D9-D4D28AC803ED}"/>
              </a:ext>
            </a:extLst>
          </p:cNvPr>
          <p:cNvGrpSpPr/>
          <p:nvPr/>
        </p:nvGrpSpPr>
        <p:grpSpPr>
          <a:xfrm>
            <a:off x="5385274" y="504376"/>
            <a:ext cx="3630211" cy="2062495"/>
            <a:chOff x="9164362" y="914697"/>
            <a:chExt cx="3640490" cy="2243840"/>
          </a:xfrm>
        </p:grpSpPr>
        <p:cxnSp>
          <p:nvCxnSpPr>
            <p:cNvPr id="42" name="Straight Arrow Connector 41">
              <a:extLst>
                <a:ext uri="{FF2B5EF4-FFF2-40B4-BE49-F238E27FC236}">
                  <a16:creationId xmlns:a16="http://schemas.microsoft.com/office/drawing/2014/main" id="{25EDC30E-1021-4448-0BC7-3A85BCBF029A}"/>
                </a:ext>
              </a:extLst>
            </p:cNvPr>
            <p:cNvCxnSpPr>
              <a:cxnSpLocks/>
            </p:cNvCxnSpPr>
            <p:nvPr/>
          </p:nvCxnSpPr>
          <p:spPr>
            <a:xfrm>
              <a:off x="9338641" y="2857044"/>
              <a:ext cx="34211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432CABE2-F936-9A63-2522-69E1EADC4824}"/>
                </a:ext>
              </a:extLst>
            </p:cNvPr>
            <p:cNvCxnSpPr>
              <a:cxnSpLocks/>
            </p:cNvCxnSpPr>
            <p:nvPr/>
          </p:nvCxnSpPr>
          <p:spPr>
            <a:xfrm flipV="1">
              <a:off x="9829800" y="1125470"/>
              <a:ext cx="0" cy="19341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Box 24">
              <a:extLst>
                <a:ext uri="{FF2B5EF4-FFF2-40B4-BE49-F238E27FC236}">
                  <a16:creationId xmlns:a16="http://schemas.microsoft.com/office/drawing/2014/main" id="{151F2106-BB29-E934-DC64-1A965CFBBB13}"/>
                </a:ext>
              </a:extLst>
            </p:cNvPr>
            <p:cNvSpPr txBox="1"/>
            <p:nvPr/>
          </p:nvSpPr>
          <p:spPr>
            <a:xfrm>
              <a:off x="12212194" y="2880039"/>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Price</a:t>
              </a:r>
            </a:p>
          </p:txBody>
        </p:sp>
        <p:sp>
          <p:nvSpPr>
            <p:cNvPr id="29" name="TextBox 28">
              <a:extLst>
                <a:ext uri="{FF2B5EF4-FFF2-40B4-BE49-F238E27FC236}">
                  <a16:creationId xmlns:a16="http://schemas.microsoft.com/office/drawing/2014/main" id="{4774E69A-D56A-95A0-BC4B-5098F4655083}"/>
                </a:ext>
              </a:extLst>
            </p:cNvPr>
            <p:cNvSpPr txBox="1"/>
            <p:nvPr/>
          </p:nvSpPr>
          <p:spPr>
            <a:xfrm>
              <a:off x="9164362" y="914697"/>
              <a:ext cx="902356" cy="276999"/>
            </a:xfrm>
            <a:prstGeom prst="rect">
              <a:avLst/>
            </a:prstGeom>
            <a:noFill/>
          </p:spPr>
          <p:txBody>
            <a:bodyPr wrap="square">
              <a:spAutoFit/>
            </a:bodyPr>
            <a:lstStyle/>
            <a:p>
              <a:r>
                <a:rPr lang="en-US" sz="1200" dirty="0">
                  <a:cs typeface="Calibri" panose="020F0502020204030204" pitchFamily="34" charset="0"/>
                </a:rPr>
                <a:t>Probability</a:t>
              </a:r>
              <a:endParaRPr lang="en-US" sz="1200" i="1" dirty="0">
                <a:cs typeface="Calibri" panose="020F0502020204030204" pitchFamily="34" charset="0"/>
              </a:endParaRPr>
            </a:p>
          </p:txBody>
        </p:sp>
        <p:cxnSp>
          <p:nvCxnSpPr>
            <p:cNvPr id="51" name="Straight Arrow Connector 50">
              <a:extLst>
                <a:ext uri="{FF2B5EF4-FFF2-40B4-BE49-F238E27FC236}">
                  <a16:creationId xmlns:a16="http://schemas.microsoft.com/office/drawing/2014/main" id="{6E91AB87-AD7D-3D49-710E-D30132E404A0}"/>
                </a:ext>
              </a:extLst>
            </p:cNvPr>
            <p:cNvCxnSpPr>
              <a:cxnSpLocks/>
            </p:cNvCxnSpPr>
            <p:nvPr/>
          </p:nvCxnSpPr>
          <p:spPr>
            <a:xfrm flipV="1">
              <a:off x="10210800" y="2092545"/>
              <a:ext cx="0" cy="758554"/>
            </a:xfrm>
            <a:prstGeom prst="straightConnector1">
              <a:avLst/>
            </a:prstGeom>
            <a:ln>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cxnSp>
          <p:nvCxnSpPr>
            <p:cNvPr id="54" name="Straight Arrow Connector 53">
              <a:extLst>
                <a:ext uri="{FF2B5EF4-FFF2-40B4-BE49-F238E27FC236}">
                  <a16:creationId xmlns:a16="http://schemas.microsoft.com/office/drawing/2014/main" id="{B7933838-43D0-8605-C521-39A96BC4ED9F}"/>
                </a:ext>
              </a:extLst>
            </p:cNvPr>
            <p:cNvCxnSpPr>
              <a:cxnSpLocks/>
            </p:cNvCxnSpPr>
            <p:nvPr/>
          </p:nvCxnSpPr>
          <p:spPr>
            <a:xfrm flipV="1">
              <a:off x="11353800" y="1645367"/>
              <a:ext cx="0" cy="1213478"/>
            </a:xfrm>
            <a:prstGeom prst="straightConnector1">
              <a:avLst/>
            </a:prstGeom>
            <a:ln>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cxnSp>
          <p:nvCxnSpPr>
            <p:cNvPr id="55" name="Straight Arrow Connector 54">
              <a:extLst>
                <a:ext uri="{FF2B5EF4-FFF2-40B4-BE49-F238E27FC236}">
                  <a16:creationId xmlns:a16="http://schemas.microsoft.com/office/drawing/2014/main" id="{BEFD6223-B186-0A14-ADE3-AA7F2EED6742}"/>
                </a:ext>
              </a:extLst>
            </p:cNvPr>
            <p:cNvCxnSpPr>
              <a:cxnSpLocks/>
            </p:cNvCxnSpPr>
            <p:nvPr/>
          </p:nvCxnSpPr>
          <p:spPr>
            <a:xfrm flipV="1">
              <a:off x="12039600" y="1971325"/>
              <a:ext cx="0" cy="879774"/>
            </a:xfrm>
            <a:prstGeom prst="straightConnector1">
              <a:avLst/>
            </a:prstGeom>
            <a:ln>
              <a:solidFill>
                <a:srgbClr val="C00000"/>
              </a:solidFill>
              <a:prstDash val="sysDot"/>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32782" name="TextBox 26">
                  <a:extLst>
                    <a:ext uri="{FF2B5EF4-FFF2-40B4-BE49-F238E27FC236}">
                      <a16:creationId xmlns:a16="http://schemas.microsoft.com/office/drawing/2014/main" id="{02F5F3EE-740A-3B59-67FA-88C16EE22D1B}"/>
                    </a:ext>
                  </a:extLst>
                </p:cNvPr>
                <p:cNvSpPr txBox="1"/>
                <p:nvPr/>
              </p:nvSpPr>
              <p:spPr>
                <a:xfrm>
                  <a:off x="10058687" y="2819983"/>
                  <a:ext cx="343001"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𝛾</m:t>
                        </m:r>
                      </m:oMath>
                    </m:oMathPara>
                  </a14:m>
                  <a:endParaRPr lang="en-US" sz="1600" dirty="0">
                    <a:solidFill>
                      <a:schemeClr val="tx1"/>
                    </a:solidFill>
                    <a:cs typeface="Calibri" panose="020F0502020204030204" pitchFamily="34" charset="0"/>
                  </a:endParaRPr>
                </a:p>
              </p:txBody>
            </p:sp>
          </mc:Choice>
          <mc:Fallback xmlns="">
            <p:sp>
              <p:nvSpPr>
                <p:cNvPr id="32782" name="TextBox 26">
                  <a:extLst>
                    <a:ext uri="{FF2B5EF4-FFF2-40B4-BE49-F238E27FC236}">
                      <a16:creationId xmlns:a16="http://schemas.microsoft.com/office/drawing/2014/main" id="{02F5F3EE-740A-3B59-67FA-88C16EE22D1B}"/>
                    </a:ext>
                  </a:extLst>
                </p:cNvPr>
                <p:cNvSpPr txBox="1">
                  <a:spLocks noRot="1" noChangeAspect="1" noMove="1" noResize="1" noEditPoints="1" noAdjustHandles="1" noChangeArrowheads="1" noChangeShapeType="1" noTextEdit="1"/>
                </p:cNvSpPr>
                <p:nvPr/>
              </p:nvSpPr>
              <p:spPr>
                <a:xfrm>
                  <a:off x="10058687" y="2819983"/>
                  <a:ext cx="343001" cy="338554"/>
                </a:xfrm>
                <a:prstGeom prst="rect">
                  <a:avLst/>
                </a:prstGeom>
                <a:blipFill>
                  <a:blip r:embed="rId8"/>
                  <a:stretch>
                    <a:fillRect b="-3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784" name="TextBox 26">
                  <a:extLst>
                    <a:ext uri="{FF2B5EF4-FFF2-40B4-BE49-F238E27FC236}">
                      <a16:creationId xmlns:a16="http://schemas.microsoft.com/office/drawing/2014/main" id="{3C3E0744-7E14-B2DE-1E86-9AF01C1F3FC7}"/>
                    </a:ext>
                  </a:extLst>
                </p:cNvPr>
                <p:cNvSpPr txBox="1"/>
                <p:nvPr/>
              </p:nvSpPr>
              <p:spPr>
                <a:xfrm>
                  <a:off x="11205153" y="2819983"/>
                  <a:ext cx="343001"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𝜋</m:t>
                        </m:r>
                      </m:oMath>
                    </m:oMathPara>
                  </a14:m>
                  <a:endParaRPr lang="en-US" sz="1600" dirty="0">
                    <a:solidFill>
                      <a:schemeClr val="tx1"/>
                    </a:solidFill>
                    <a:cs typeface="Calibri" panose="020F0502020204030204" pitchFamily="34" charset="0"/>
                  </a:endParaRPr>
                </a:p>
              </p:txBody>
            </p:sp>
          </mc:Choice>
          <mc:Fallback xmlns="">
            <p:sp>
              <p:nvSpPr>
                <p:cNvPr id="32784" name="TextBox 26">
                  <a:extLst>
                    <a:ext uri="{FF2B5EF4-FFF2-40B4-BE49-F238E27FC236}">
                      <a16:creationId xmlns:a16="http://schemas.microsoft.com/office/drawing/2014/main" id="{3C3E0744-7E14-B2DE-1E86-9AF01C1F3FC7}"/>
                    </a:ext>
                  </a:extLst>
                </p:cNvPr>
                <p:cNvSpPr txBox="1">
                  <a:spLocks noRot="1" noChangeAspect="1" noMove="1" noResize="1" noEditPoints="1" noAdjustHandles="1" noChangeArrowheads="1" noChangeShapeType="1" noTextEdit="1"/>
                </p:cNvSpPr>
                <p:nvPr/>
              </p:nvSpPr>
              <p:spPr>
                <a:xfrm>
                  <a:off x="11205153" y="2819983"/>
                  <a:ext cx="343001" cy="33855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785" name="TextBox 26">
                  <a:extLst>
                    <a:ext uri="{FF2B5EF4-FFF2-40B4-BE49-F238E27FC236}">
                      <a16:creationId xmlns:a16="http://schemas.microsoft.com/office/drawing/2014/main" id="{78501E48-C1B6-CDD2-5A2B-58D51AE840B4}"/>
                    </a:ext>
                  </a:extLst>
                </p:cNvPr>
                <p:cNvSpPr txBox="1"/>
                <p:nvPr/>
              </p:nvSpPr>
              <p:spPr>
                <a:xfrm>
                  <a:off x="11867273" y="2815659"/>
                  <a:ext cx="343001"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𝜋</m:t>
                        </m:r>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sz="1600" dirty="0">
                    <a:solidFill>
                      <a:schemeClr val="tx1"/>
                    </a:solidFill>
                    <a:cs typeface="Calibri" panose="020F0502020204030204" pitchFamily="34" charset="0"/>
                  </a:endParaRPr>
                </a:p>
              </p:txBody>
            </p:sp>
          </mc:Choice>
          <mc:Fallback xmlns="">
            <p:sp>
              <p:nvSpPr>
                <p:cNvPr id="32785" name="TextBox 26">
                  <a:extLst>
                    <a:ext uri="{FF2B5EF4-FFF2-40B4-BE49-F238E27FC236}">
                      <a16:creationId xmlns:a16="http://schemas.microsoft.com/office/drawing/2014/main" id="{78501E48-C1B6-CDD2-5A2B-58D51AE840B4}"/>
                    </a:ext>
                  </a:extLst>
                </p:cNvPr>
                <p:cNvSpPr txBox="1">
                  <a:spLocks noRot="1" noChangeAspect="1" noMove="1" noResize="1" noEditPoints="1" noAdjustHandles="1" noChangeArrowheads="1" noChangeShapeType="1" noTextEdit="1"/>
                </p:cNvSpPr>
                <p:nvPr/>
              </p:nvSpPr>
              <p:spPr>
                <a:xfrm>
                  <a:off x="11867273" y="2815659"/>
                  <a:ext cx="343001" cy="338554"/>
                </a:xfrm>
                <a:prstGeom prst="rect">
                  <a:avLst/>
                </a:prstGeom>
                <a:blipFill>
                  <a:blip r:embed="rId10"/>
                  <a:stretch>
                    <a:fillRect r="-3704"/>
                  </a:stretch>
                </a:blipFill>
              </p:spPr>
              <p:txBody>
                <a:bodyPr/>
                <a:lstStyle/>
                <a:p>
                  <a:r>
                    <a:rPr lang="en-US">
                      <a:noFill/>
                    </a:rPr>
                    <a:t> </a:t>
                  </a:r>
                </a:p>
              </p:txBody>
            </p:sp>
          </mc:Fallback>
        </mc:AlternateContent>
      </p:grpSp>
      <p:pic>
        <p:nvPicPr>
          <p:cNvPr id="32787" name="Graphic 32786" descr="Battery charging with solid fill">
            <a:extLst>
              <a:ext uri="{FF2B5EF4-FFF2-40B4-BE49-F238E27FC236}">
                <a16:creationId xmlns:a16="http://schemas.microsoft.com/office/drawing/2014/main" id="{85F00C7C-BFDF-9003-1C41-F677528AFEF6}"/>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6561677" y="2964877"/>
            <a:ext cx="652168" cy="652168"/>
          </a:xfrm>
          <a:prstGeom prst="rect">
            <a:avLst/>
          </a:prstGeom>
        </p:spPr>
      </p:pic>
      <p:pic>
        <p:nvPicPr>
          <p:cNvPr id="32788" name="Graphic 32787" descr="Battery charging with solid fill">
            <a:extLst>
              <a:ext uri="{FF2B5EF4-FFF2-40B4-BE49-F238E27FC236}">
                <a16:creationId xmlns:a16="http://schemas.microsoft.com/office/drawing/2014/main" id="{C0E8579E-0B4B-5CD2-4ED9-799848F63584}"/>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787035" y="2964877"/>
            <a:ext cx="652168" cy="652168"/>
          </a:xfrm>
          <a:prstGeom prst="rect">
            <a:avLst/>
          </a:prstGeom>
        </p:spPr>
      </p:pic>
      <p:sp>
        <p:nvSpPr>
          <p:cNvPr id="32789" name="TextBox 24">
            <a:extLst>
              <a:ext uri="{FF2B5EF4-FFF2-40B4-BE49-F238E27FC236}">
                <a16:creationId xmlns:a16="http://schemas.microsoft.com/office/drawing/2014/main" id="{A243DECB-BDD6-02C4-63FF-97831BE7E7FC}"/>
              </a:ext>
            </a:extLst>
          </p:cNvPr>
          <p:cNvSpPr txBox="1"/>
          <p:nvPr/>
        </p:nvSpPr>
        <p:spPr>
          <a:xfrm>
            <a:off x="5961011" y="3552312"/>
            <a:ext cx="343903" cy="276999"/>
          </a:xfrm>
          <a:prstGeom prst="rect">
            <a:avLst/>
          </a:prstGeom>
          <a:noFill/>
          <a:ln>
            <a:noFill/>
          </a:ln>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1</a:t>
            </a:r>
          </a:p>
        </p:txBody>
      </p:sp>
      <p:cxnSp>
        <p:nvCxnSpPr>
          <p:cNvPr id="32790" name="Straight Arrow Connector 32789">
            <a:extLst>
              <a:ext uri="{FF2B5EF4-FFF2-40B4-BE49-F238E27FC236}">
                <a16:creationId xmlns:a16="http://schemas.microsoft.com/office/drawing/2014/main" id="{DB278958-07FA-AE48-138E-B870D7440AE4}"/>
              </a:ext>
            </a:extLst>
          </p:cNvPr>
          <p:cNvCxnSpPr>
            <a:cxnSpLocks/>
          </p:cNvCxnSpPr>
          <p:nvPr/>
        </p:nvCxnSpPr>
        <p:spPr>
          <a:xfrm>
            <a:off x="7761496" y="2381569"/>
            <a:ext cx="497485" cy="59166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2793" name="TextBox 32792">
            <a:extLst>
              <a:ext uri="{FF2B5EF4-FFF2-40B4-BE49-F238E27FC236}">
                <a16:creationId xmlns:a16="http://schemas.microsoft.com/office/drawing/2014/main" id="{25DEB6A1-239F-27EA-137F-2D2227A7427C}"/>
              </a:ext>
            </a:extLst>
          </p:cNvPr>
          <p:cNvSpPr txBox="1"/>
          <p:nvPr/>
        </p:nvSpPr>
        <p:spPr>
          <a:xfrm>
            <a:off x="8154681" y="2698210"/>
            <a:ext cx="942662" cy="276999"/>
          </a:xfrm>
          <a:prstGeom prst="rect">
            <a:avLst/>
          </a:prstGeom>
          <a:noFill/>
        </p:spPr>
        <p:txBody>
          <a:bodyPr wrap="square">
            <a:spAutoFit/>
          </a:bodyPr>
          <a:lstStyle/>
          <a:p>
            <a:r>
              <a:rPr lang="en-US" sz="1200" dirty="0">
                <a:cs typeface="Calibri" panose="020F0502020204030204" pitchFamily="34" charset="0"/>
              </a:rPr>
              <a:t>Uncertainty</a:t>
            </a:r>
          </a:p>
        </p:txBody>
      </p:sp>
      <p:sp>
        <p:nvSpPr>
          <p:cNvPr id="32796" name="Rectangle 32795">
            <a:extLst>
              <a:ext uri="{FF2B5EF4-FFF2-40B4-BE49-F238E27FC236}">
                <a16:creationId xmlns:a16="http://schemas.microsoft.com/office/drawing/2014/main" id="{526E385A-6196-B8AD-1B04-D8CF9B3AEE2A}"/>
              </a:ext>
            </a:extLst>
          </p:cNvPr>
          <p:cNvSpPr/>
          <p:nvPr/>
        </p:nvSpPr>
        <p:spPr>
          <a:xfrm>
            <a:off x="1657869" y="3075904"/>
            <a:ext cx="381510" cy="259817"/>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dk1"/>
              </a:solidFill>
            </a:endParaRPr>
          </a:p>
        </p:txBody>
      </p:sp>
      <p:sp>
        <p:nvSpPr>
          <p:cNvPr id="32797" name="Rectangle 32796">
            <a:extLst>
              <a:ext uri="{FF2B5EF4-FFF2-40B4-BE49-F238E27FC236}">
                <a16:creationId xmlns:a16="http://schemas.microsoft.com/office/drawing/2014/main" id="{133B22F0-58C4-CAF9-C0E4-83ECA9E205E0}"/>
              </a:ext>
            </a:extLst>
          </p:cNvPr>
          <p:cNvSpPr/>
          <p:nvPr/>
        </p:nvSpPr>
        <p:spPr>
          <a:xfrm>
            <a:off x="244611" y="3075904"/>
            <a:ext cx="409383" cy="249555"/>
          </a:xfrm>
          <a:prstGeom prst="rect">
            <a:avLst/>
          </a:prstGeom>
          <a:noFill/>
          <a:ln w="28575">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tx2">
                  <a:lumMod val="60000"/>
                  <a:lumOff val="40000"/>
                </a:schemeClr>
              </a:solidFill>
            </a:endParaRPr>
          </a:p>
        </p:txBody>
      </p:sp>
      <p:sp>
        <p:nvSpPr>
          <p:cNvPr id="32801" name="TextBox 32800">
            <a:extLst>
              <a:ext uri="{FF2B5EF4-FFF2-40B4-BE49-F238E27FC236}">
                <a16:creationId xmlns:a16="http://schemas.microsoft.com/office/drawing/2014/main" id="{499FD579-464F-817B-8680-3E297FC2F5BB}"/>
              </a:ext>
            </a:extLst>
          </p:cNvPr>
          <p:cNvSpPr txBox="1"/>
          <p:nvPr/>
        </p:nvSpPr>
        <p:spPr>
          <a:xfrm>
            <a:off x="3877405" y="2037781"/>
            <a:ext cx="1454533" cy="319766"/>
          </a:xfrm>
          <a:prstGeom prst="rect">
            <a:avLst/>
          </a:prstGeom>
          <a:noFill/>
        </p:spPr>
        <p:txBody>
          <a:bodyPr wrap="square">
            <a:spAutoFit/>
          </a:bodyPr>
          <a:lstStyle/>
          <a:p>
            <a:r>
              <a:rPr lang="en-US" sz="1400" b="1" dirty="0">
                <a:solidFill>
                  <a:srgbClr val="C00000"/>
                </a:solidFill>
                <a:cs typeface="Calibri" panose="020F0502020204030204" pitchFamily="34" charset="0"/>
              </a:rPr>
              <a:t>Demand model</a:t>
            </a:r>
          </a:p>
        </p:txBody>
      </p:sp>
      <p:sp>
        <p:nvSpPr>
          <p:cNvPr id="32802" name="TextBox 32801">
            <a:extLst>
              <a:ext uri="{FF2B5EF4-FFF2-40B4-BE49-F238E27FC236}">
                <a16:creationId xmlns:a16="http://schemas.microsoft.com/office/drawing/2014/main" id="{7EAC50B6-E6DF-8B5A-0DA5-4CA15ADA1059}"/>
              </a:ext>
            </a:extLst>
          </p:cNvPr>
          <p:cNvSpPr txBox="1"/>
          <p:nvPr/>
        </p:nvSpPr>
        <p:spPr>
          <a:xfrm>
            <a:off x="5294056" y="2458449"/>
            <a:ext cx="1800839" cy="307777"/>
          </a:xfrm>
          <a:prstGeom prst="rect">
            <a:avLst/>
          </a:prstGeom>
          <a:noFill/>
        </p:spPr>
        <p:txBody>
          <a:bodyPr wrap="square">
            <a:spAutoFit/>
          </a:bodyPr>
          <a:lstStyle/>
          <a:p>
            <a:r>
              <a:rPr lang="en-US" sz="1400" b="1" dirty="0">
                <a:solidFill>
                  <a:srgbClr val="C00000"/>
                </a:solidFill>
                <a:cs typeface="Calibri" panose="020F0502020204030204" pitchFamily="34" charset="0"/>
              </a:rPr>
              <a:t>Price distribution</a:t>
            </a:r>
          </a:p>
        </p:txBody>
      </p:sp>
      <p:sp>
        <p:nvSpPr>
          <p:cNvPr id="32803" name="TextBox 32802">
            <a:extLst>
              <a:ext uri="{FF2B5EF4-FFF2-40B4-BE49-F238E27FC236}">
                <a16:creationId xmlns:a16="http://schemas.microsoft.com/office/drawing/2014/main" id="{92791DF8-A895-4F16-4549-AEB1312AAF78}"/>
              </a:ext>
            </a:extLst>
          </p:cNvPr>
          <p:cNvSpPr txBox="1"/>
          <p:nvPr/>
        </p:nvSpPr>
        <p:spPr>
          <a:xfrm>
            <a:off x="5302179" y="2800350"/>
            <a:ext cx="1277416" cy="307777"/>
          </a:xfrm>
          <a:prstGeom prst="rect">
            <a:avLst/>
          </a:prstGeom>
          <a:noFill/>
        </p:spPr>
        <p:txBody>
          <a:bodyPr wrap="square">
            <a:spAutoFit/>
          </a:bodyPr>
          <a:lstStyle/>
          <a:p>
            <a:r>
              <a:rPr lang="en-US" sz="1400" b="1" dirty="0">
                <a:solidFill>
                  <a:srgbClr val="C00000"/>
                </a:solidFill>
                <a:cs typeface="Calibri" panose="020F0502020204030204" pitchFamily="34" charset="0"/>
              </a:rPr>
              <a:t>Time domain </a:t>
            </a:r>
          </a:p>
        </p:txBody>
      </p:sp>
      <mc:AlternateContent xmlns:mc="http://schemas.openxmlformats.org/markup-compatibility/2006" xmlns:a14="http://schemas.microsoft.com/office/drawing/2010/main">
        <mc:Choice Requires="a14">
          <p:sp>
            <p:nvSpPr>
              <p:cNvPr id="32804" name="TextBox 26">
                <a:extLst>
                  <a:ext uri="{FF2B5EF4-FFF2-40B4-BE49-F238E27FC236}">
                    <a16:creationId xmlns:a16="http://schemas.microsoft.com/office/drawing/2014/main" id="{2BCC3C73-4238-B58B-1156-34804E14B355}"/>
                  </a:ext>
                </a:extLst>
              </p:cNvPr>
              <p:cNvSpPr txBox="1"/>
              <p:nvPr/>
            </p:nvSpPr>
            <p:spPr>
              <a:xfrm>
                <a:off x="166704" y="3257326"/>
                <a:ext cx="468370" cy="338554"/>
              </a:xfrm>
              <a:prstGeom prst="rect">
                <a:avLst/>
              </a:prstGeom>
              <a:noFill/>
              <a:ln>
                <a:noFill/>
              </a:ln>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r>
                        <a:rPr lang="en-US" sz="1600" b="0" i="1" smtClean="0">
                          <a:solidFill>
                            <a:schemeClr val="accent1"/>
                          </a:solidFill>
                          <a:latin typeface="Cambria Math" panose="02040503050406030204" pitchFamily="18" charset="0"/>
                          <a:ea typeface="Cambria Math" panose="02040503050406030204" pitchFamily="18" charset="0"/>
                          <a:cs typeface="Calibri" panose="020F0502020204030204" pitchFamily="34" charset="0"/>
                        </a:rPr>
                        <m:t>𝛾</m:t>
                      </m:r>
                      <m:r>
                        <a:rPr lang="en-US" sz="1600" b="0" i="1" smtClean="0">
                          <a:solidFill>
                            <a:schemeClr val="accent1"/>
                          </a:solidFill>
                          <a:latin typeface="Cambria Math" panose="02040503050406030204" pitchFamily="18" charset="0"/>
                          <a:ea typeface="Cambria Math" panose="02040503050406030204" pitchFamily="18" charset="0"/>
                          <a:cs typeface="Calibri" panose="020F0502020204030204" pitchFamily="34" charset="0"/>
                        </a:rPr>
                        <m:t>,</m:t>
                      </m:r>
                      <m:r>
                        <a:rPr lang="en-US" sz="1600" b="0" i="1" smtClean="0">
                          <a:solidFill>
                            <a:schemeClr val="accent1"/>
                          </a:solidFill>
                          <a:latin typeface="Cambria Math" panose="02040503050406030204" pitchFamily="18" charset="0"/>
                          <a:ea typeface="Cambria Math" panose="02040503050406030204" pitchFamily="18" charset="0"/>
                          <a:cs typeface="Calibri" panose="020F0502020204030204" pitchFamily="34" charset="0"/>
                        </a:rPr>
                        <m:t>𝜋</m:t>
                      </m:r>
                      <m:r>
                        <a:rPr lang="en-US" sz="1600" b="0" i="1" smtClean="0">
                          <a:solidFill>
                            <a:schemeClr val="accent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sz="1600" dirty="0">
                  <a:solidFill>
                    <a:schemeClr val="accent1"/>
                  </a:solidFill>
                  <a:cs typeface="Calibri" panose="020F0502020204030204" pitchFamily="34" charset="0"/>
                </a:endParaRPr>
              </a:p>
            </p:txBody>
          </p:sp>
        </mc:Choice>
        <mc:Fallback xmlns="">
          <p:sp>
            <p:nvSpPr>
              <p:cNvPr id="32804" name="TextBox 26">
                <a:extLst>
                  <a:ext uri="{FF2B5EF4-FFF2-40B4-BE49-F238E27FC236}">
                    <a16:creationId xmlns:a16="http://schemas.microsoft.com/office/drawing/2014/main" id="{2BCC3C73-4238-B58B-1156-34804E14B355}"/>
                  </a:ext>
                </a:extLst>
              </p:cNvPr>
              <p:cNvSpPr txBox="1">
                <a:spLocks noRot="1" noChangeAspect="1" noMove="1" noResize="1" noEditPoints="1" noAdjustHandles="1" noChangeArrowheads="1" noChangeShapeType="1" noTextEdit="1"/>
              </p:cNvSpPr>
              <p:nvPr/>
            </p:nvSpPr>
            <p:spPr>
              <a:xfrm>
                <a:off x="166704" y="3257326"/>
                <a:ext cx="468370" cy="338554"/>
              </a:xfrm>
              <a:prstGeom prst="rect">
                <a:avLst/>
              </a:prstGeom>
              <a:blipFill>
                <a:blip r:embed="rId11"/>
                <a:stretch>
                  <a:fillRect r="-13158"/>
                </a:stretch>
              </a:blipFill>
              <a:ln>
                <a:noFill/>
              </a:ln>
            </p:spPr>
            <p:txBody>
              <a:bodyPr/>
              <a:lstStyle/>
              <a:p>
                <a:r>
                  <a:rPr lang="en-US">
                    <a:noFill/>
                  </a:rPr>
                  <a:t> </a:t>
                </a:r>
              </a:p>
            </p:txBody>
          </p:sp>
        </mc:Fallback>
      </mc:AlternateContent>
      <p:sp>
        <p:nvSpPr>
          <p:cNvPr id="32806" name="Down Arrow 32805">
            <a:extLst>
              <a:ext uri="{FF2B5EF4-FFF2-40B4-BE49-F238E27FC236}">
                <a16:creationId xmlns:a16="http://schemas.microsoft.com/office/drawing/2014/main" id="{06F4EA43-9B43-0F0A-EF98-D67890DD4E81}"/>
              </a:ext>
            </a:extLst>
          </p:cNvPr>
          <p:cNvSpPr/>
          <p:nvPr/>
        </p:nvSpPr>
        <p:spPr>
          <a:xfrm rot="10800000">
            <a:off x="4873137" y="1067834"/>
            <a:ext cx="177436" cy="548523"/>
          </a:xfrm>
          <a:prstGeom prst="downArrow">
            <a:avLst>
              <a:gd name="adj1" fmla="val 50000"/>
              <a:gd name="adj2" fmla="val 132741"/>
            </a:avLst>
          </a:prstGeom>
          <a:solidFill>
            <a:srgbClr val="C0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solidFill>
                <a:schemeClr val="tx1"/>
              </a:solidFill>
            </a:endParaRPr>
          </a:p>
        </p:txBody>
      </p:sp>
      <p:sp>
        <p:nvSpPr>
          <p:cNvPr id="32808" name="Rectangle 32807">
            <a:extLst>
              <a:ext uri="{FF2B5EF4-FFF2-40B4-BE49-F238E27FC236}">
                <a16:creationId xmlns:a16="http://schemas.microsoft.com/office/drawing/2014/main" id="{87BE0F21-AF39-003C-7C96-08912636DD5B}"/>
              </a:ext>
            </a:extLst>
          </p:cNvPr>
          <p:cNvSpPr/>
          <p:nvPr/>
        </p:nvSpPr>
        <p:spPr>
          <a:xfrm>
            <a:off x="2930378" y="3004604"/>
            <a:ext cx="141632" cy="395667"/>
          </a:xfrm>
          <a:prstGeom prst="rect">
            <a:avLst/>
          </a:prstGeom>
          <a:solidFill>
            <a:schemeClr val="accent2">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825" name="Down Arrow 32824">
            <a:extLst>
              <a:ext uri="{FF2B5EF4-FFF2-40B4-BE49-F238E27FC236}">
                <a16:creationId xmlns:a16="http://schemas.microsoft.com/office/drawing/2014/main" id="{3676E24F-5801-3BEB-1CE1-35C168472CDB}"/>
              </a:ext>
            </a:extLst>
          </p:cNvPr>
          <p:cNvSpPr/>
          <p:nvPr/>
        </p:nvSpPr>
        <p:spPr>
          <a:xfrm rot="10800000">
            <a:off x="1420362" y="3825277"/>
            <a:ext cx="214664" cy="328286"/>
          </a:xfrm>
          <a:prstGeom prst="downArrow">
            <a:avLst>
              <a:gd name="adj1" fmla="val 50000"/>
              <a:gd name="adj2" fmla="val 91952"/>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accent1"/>
              </a:solidFill>
            </a:endParaRPr>
          </a:p>
        </p:txBody>
      </p:sp>
      <p:sp>
        <p:nvSpPr>
          <p:cNvPr id="32826" name="TextBox 19">
            <a:extLst>
              <a:ext uri="{FF2B5EF4-FFF2-40B4-BE49-F238E27FC236}">
                <a16:creationId xmlns:a16="http://schemas.microsoft.com/office/drawing/2014/main" id="{340A75B8-D969-C531-BA90-A94945732F5C}"/>
              </a:ext>
            </a:extLst>
          </p:cNvPr>
          <p:cNvSpPr txBox="1"/>
          <p:nvPr/>
        </p:nvSpPr>
        <p:spPr>
          <a:xfrm>
            <a:off x="1148145" y="3624788"/>
            <a:ext cx="1133439" cy="253916"/>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050" dirty="0">
                <a:solidFill>
                  <a:schemeClr val="accent1"/>
                </a:solidFill>
                <a:cs typeface="Calibri" panose="020F0502020204030204" pitchFamily="34" charset="0"/>
              </a:rPr>
              <a:t>Sensitivity</a:t>
            </a:r>
          </a:p>
        </p:txBody>
      </p:sp>
      <p:cxnSp>
        <p:nvCxnSpPr>
          <p:cNvPr id="32829" name="Straight Arrow Connector 32828">
            <a:extLst>
              <a:ext uri="{FF2B5EF4-FFF2-40B4-BE49-F238E27FC236}">
                <a16:creationId xmlns:a16="http://schemas.microsoft.com/office/drawing/2014/main" id="{251A175F-875E-2701-0F4D-CA9110D13E3C}"/>
              </a:ext>
            </a:extLst>
          </p:cNvPr>
          <p:cNvCxnSpPr>
            <a:cxnSpLocks/>
            <a:stCxn id="59" idx="0"/>
            <a:endCxn id="32834" idx="2"/>
          </p:cNvCxnSpPr>
          <p:nvPr/>
        </p:nvCxnSpPr>
        <p:spPr>
          <a:xfrm flipV="1">
            <a:off x="1051842" y="4491946"/>
            <a:ext cx="854800" cy="1441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834" name="Oval 32833">
            <a:extLst>
              <a:ext uri="{FF2B5EF4-FFF2-40B4-BE49-F238E27FC236}">
                <a16:creationId xmlns:a16="http://schemas.microsoft.com/office/drawing/2014/main" id="{525E8978-1CE3-91A9-8FA2-EA401F94F5BC}"/>
              </a:ext>
            </a:extLst>
          </p:cNvPr>
          <p:cNvSpPr/>
          <p:nvPr/>
        </p:nvSpPr>
        <p:spPr>
          <a:xfrm>
            <a:off x="1906642" y="4453930"/>
            <a:ext cx="76032" cy="76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36" name="Rectangle 32835">
            <a:extLst>
              <a:ext uri="{FF2B5EF4-FFF2-40B4-BE49-F238E27FC236}">
                <a16:creationId xmlns:a16="http://schemas.microsoft.com/office/drawing/2014/main" id="{6A3A99F9-3889-95E4-6711-EC6C0D72FCCA}"/>
              </a:ext>
            </a:extLst>
          </p:cNvPr>
          <p:cNvSpPr/>
          <p:nvPr/>
        </p:nvSpPr>
        <p:spPr>
          <a:xfrm>
            <a:off x="1514924" y="3011748"/>
            <a:ext cx="142945" cy="370856"/>
          </a:xfrm>
          <a:prstGeom prst="rect">
            <a:avLst/>
          </a:prstGeom>
          <a:solidFill>
            <a:schemeClr val="accent2">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837" name="Freeform 32836">
            <a:extLst>
              <a:ext uri="{FF2B5EF4-FFF2-40B4-BE49-F238E27FC236}">
                <a16:creationId xmlns:a16="http://schemas.microsoft.com/office/drawing/2014/main" id="{7567604E-7935-9C32-D79D-D52E27589DA1}"/>
              </a:ext>
            </a:extLst>
          </p:cNvPr>
          <p:cNvSpPr/>
          <p:nvPr/>
        </p:nvSpPr>
        <p:spPr>
          <a:xfrm>
            <a:off x="1060176" y="3744759"/>
            <a:ext cx="1062286" cy="894107"/>
          </a:xfrm>
          <a:custGeom>
            <a:avLst/>
            <a:gdLst>
              <a:gd name="connsiteX0" fmla="*/ 0 w 1042587"/>
              <a:gd name="connsiteY0" fmla="*/ 837487 h 837487"/>
              <a:gd name="connsiteX1" fmla="*/ 700755 w 1042587"/>
              <a:gd name="connsiteY1" fmla="*/ 615297 h 837487"/>
              <a:gd name="connsiteX2" fmla="*/ 1042587 w 1042587"/>
              <a:gd name="connsiteY2" fmla="*/ 0 h 837487"/>
            </a:gdLst>
            <a:ahLst/>
            <a:cxnLst>
              <a:cxn ang="0">
                <a:pos x="connsiteX0" y="connsiteY0"/>
              </a:cxn>
              <a:cxn ang="0">
                <a:pos x="connsiteX1" y="connsiteY1"/>
              </a:cxn>
              <a:cxn ang="0">
                <a:pos x="connsiteX2" y="connsiteY2"/>
              </a:cxn>
            </a:cxnLst>
            <a:rect l="l" t="t" r="r" b="b"/>
            <a:pathLst>
              <a:path w="1042587" h="837487">
                <a:moveTo>
                  <a:pt x="0" y="837487"/>
                </a:moveTo>
                <a:cubicBezTo>
                  <a:pt x="263495" y="796182"/>
                  <a:pt x="526991" y="754878"/>
                  <a:pt x="700755" y="615297"/>
                </a:cubicBezTo>
                <a:cubicBezTo>
                  <a:pt x="874520" y="475716"/>
                  <a:pt x="958553" y="237858"/>
                  <a:pt x="1042587" y="0"/>
                </a:cubicBezTo>
              </a:path>
            </a:pathLst>
          </a:custGeom>
          <a:ln>
            <a:solidFill>
              <a:schemeClr val="accent1"/>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2838" name="Oval 32837">
            <a:extLst>
              <a:ext uri="{FF2B5EF4-FFF2-40B4-BE49-F238E27FC236}">
                <a16:creationId xmlns:a16="http://schemas.microsoft.com/office/drawing/2014/main" id="{794A067B-E75B-B2D9-B4B4-FE7F223D50AD}"/>
              </a:ext>
            </a:extLst>
          </p:cNvPr>
          <p:cNvSpPr/>
          <p:nvPr/>
        </p:nvSpPr>
        <p:spPr>
          <a:xfrm>
            <a:off x="1999035" y="4202667"/>
            <a:ext cx="76032" cy="76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839" name="Straight Arrow Connector 32838">
            <a:extLst>
              <a:ext uri="{FF2B5EF4-FFF2-40B4-BE49-F238E27FC236}">
                <a16:creationId xmlns:a16="http://schemas.microsoft.com/office/drawing/2014/main" id="{BBA7C0E9-E9C6-DEB3-3EC5-D58C6F5407D9}"/>
              </a:ext>
            </a:extLst>
          </p:cNvPr>
          <p:cNvCxnSpPr>
            <a:cxnSpLocks/>
            <a:endCxn id="32819" idx="2"/>
          </p:cNvCxnSpPr>
          <p:nvPr/>
        </p:nvCxnSpPr>
        <p:spPr>
          <a:xfrm flipV="1">
            <a:off x="1937165" y="4280331"/>
            <a:ext cx="88532" cy="2239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800" name="Rectangle 32799">
            <a:extLst>
              <a:ext uri="{FF2B5EF4-FFF2-40B4-BE49-F238E27FC236}">
                <a16:creationId xmlns:a16="http://schemas.microsoft.com/office/drawing/2014/main" id="{AF3E713F-A2DA-F317-485C-86868607FAB2}"/>
              </a:ext>
            </a:extLst>
          </p:cNvPr>
          <p:cNvSpPr/>
          <p:nvPr/>
        </p:nvSpPr>
        <p:spPr>
          <a:xfrm>
            <a:off x="312602" y="811496"/>
            <a:ext cx="4814051" cy="1508424"/>
          </a:xfrm>
          <a:prstGeom prst="rect">
            <a:avLst/>
          </a:prstGeom>
          <a:solidFill>
            <a:schemeClr val="tx2">
              <a:lumMod val="40000"/>
              <a:lumOff val="6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cxnSp>
        <p:nvCxnSpPr>
          <p:cNvPr id="8" name="Straight Arrow Connector 7">
            <a:extLst>
              <a:ext uri="{FF2B5EF4-FFF2-40B4-BE49-F238E27FC236}">
                <a16:creationId xmlns:a16="http://schemas.microsoft.com/office/drawing/2014/main" id="{B5B0A8AD-FC80-8384-53F1-6910C7B83E8C}"/>
              </a:ext>
            </a:extLst>
          </p:cNvPr>
          <p:cNvCxnSpPr>
            <a:cxnSpLocks/>
          </p:cNvCxnSpPr>
          <p:nvPr/>
        </p:nvCxnSpPr>
        <p:spPr>
          <a:xfrm>
            <a:off x="4230379" y="4629150"/>
            <a:ext cx="3360120" cy="12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6FC5FDBE-2127-1854-B33F-6E527D87DD18}"/>
              </a:ext>
            </a:extLst>
          </p:cNvPr>
          <p:cNvCxnSpPr>
            <a:cxnSpLocks/>
          </p:cNvCxnSpPr>
          <p:nvPr/>
        </p:nvCxnSpPr>
        <p:spPr>
          <a:xfrm>
            <a:off x="6646360" y="3919616"/>
            <a:ext cx="0" cy="785734"/>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9CE26828-AD4B-31B1-AF35-6E760A86E295}"/>
              </a:ext>
            </a:extLst>
          </p:cNvPr>
          <p:cNvSpPr txBox="1"/>
          <p:nvPr/>
        </p:nvSpPr>
        <p:spPr>
          <a:xfrm>
            <a:off x="3886200" y="4221677"/>
            <a:ext cx="1244664" cy="276999"/>
          </a:xfrm>
          <a:prstGeom prst="rect">
            <a:avLst/>
          </a:prstGeom>
          <a:noFill/>
        </p:spPr>
        <p:txBody>
          <a:bodyPr wrap="square">
            <a:spAutoFit/>
          </a:bodyPr>
          <a:lstStyle/>
          <a:p>
            <a:r>
              <a:rPr lang="en-US" sz="1200" dirty="0">
                <a:solidFill>
                  <a:srgbClr val="C00000"/>
                </a:solidFill>
                <a:cs typeface="Calibri" panose="020F0502020204030204" pitchFamily="34" charset="0"/>
              </a:rPr>
              <a:t>Prudent demand</a:t>
            </a:r>
          </a:p>
        </p:txBody>
      </p:sp>
      <p:cxnSp>
        <p:nvCxnSpPr>
          <p:cNvPr id="27" name="Straight Connector 26">
            <a:extLst>
              <a:ext uri="{FF2B5EF4-FFF2-40B4-BE49-F238E27FC236}">
                <a16:creationId xmlns:a16="http://schemas.microsoft.com/office/drawing/2014/main" id="{02570018-A0A3-D5F0-AF0C-6262D327C19E}"/>
              </a:ext>
            </a:extLst>
          </p:cNvPr>
          <p:cNvCxnSpPr>
            <a:cxnSpLocks/>
          </p:cNvCxnSpPr>
          <p:nvPr/>
        </p:nvCxnSpPr>
        <p:spPr>
          <a:xfrm>
            <a:off x="6575413" y="3845615"/>
            <a:ext cx="3679" cy="554905"/>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30" name="Straight Connector 29">
            <a:extLst>
              <a:ext uri="{FF2B5EF4-FFF2-40B4-BE49-F238E27FC236}">
                <a16:creationId xmlns:a16="http://schemas.microsoft.com/office/drawing/2014/main" id="{AB0F76F7-2614-14B3-2A67-B01D8D41F577}"/>
              </a:ext>
            </a:extLst>
          </p:cNvPr>
          <p:cNvCxnSpPr>
            <a:cxnSpLocks/>
          </p:cNvCxnSpPr>
          <p:nvPr/>
        </p:nvCxnSpPr>
        <p:spPr>
          <a:xfrm flipH="1">
            <a:off x="6570152" y="3919616"/>
            <a:ext cx="398835" cy="345333"/>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33" name="Straight Connector 32">
            <a:extLst>
              <a:ext uri="{FF2B5EF4-FFF2-40B4-BE49-F238E27FC236}">
                <a16:creationId xmlns:a16="http://schemas.microsoft.com/office/drawing/2014/main" id="{D9B4E806-F239-C26E-5CFB-E50B99896E76}"/>
              </a:ext>
            </a:extLst>
          </p:cNvPr>
          <p:cNvCxnSpPr>
            <a:cxnSpLocks/>
          </p:cNvCxnSpPr>
          <p:nvPr/>
        </p:nvCxnSpPr>
        <p:spPr>
          <a:xfrm flipH="1">
            <a:off x="6570152" y="4264948"/>
            <a:ext cx="533400" cy="0"/>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38" name="Straight Connector 37">
            <a:extLst>
              <a:ext uri="{FF2B5EF4-FFF2-40B4-BE49-F238E27FC236}">
                <a16:creationId xmlns:a16="http://schemas.microsoft.com/office/drawing/2014/main" id="{5071C47F-96BC-C285-4ED1-FB150ADC5E29}"/>
              </a:ext>
            </a:extLst>
          </p:cNvPr>
          <p:cNvCxnSpPr>
            <a:cxnSpLocks/>
          </p:cNvCxnSpPr>
          <p:nvPr/>
        </p:nvCxnSpPr>
        <p:spPr>
          <a:xfrm flipH="1" flipV="1">
            <a:off x="6570152" y="4258495"/>
            <a:ext cx="457200" cy="399707"/>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39" name="Straight Connector 38">
            <a:extLst>
              <a:ext uri="{FF2B5EF4-FFF2-40B4-BE49-F238E27FC236}">
                <a16:creationId xmlns:a16="http://schemas.microsoft.com/office/drawing/2014/main" id="{18403233-A688-0ABA-A369-6F234AD00ED4}"/>
              </a:ext>
            </a:extLst>
          </p:cNvPr>
          <p:cNvCxnSpPr>
            <a:cxnSpLocks/>
          </p:cNvCxnSpPr>
          <p:nvPr/>
        </p:nvCxnSpPr>
        <p:spPr>
          <a:xfrm flipV="1">
            <a:off x="6577998" y="4153563"/>
            <a:ext cx="0" cy="516963"/>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sp>
        <p:nvSpPr>
          <p:cNvPr id="45" name="Freeform 44">
            <a:extLst>
              <a:ext uri="{FF2B5EF4-FFF2-40B4-BE49-F238E27FC236}">
                <a16:creationId xmlns:a16="http://schemas.microsoft.com/office/drawing/2014/main" id="{476D5065-98AD-0859-76E9-6B8647E28019}"/>
              </a:ext>
            </a:extLst>
          </p:cNvPr>
          <p:cNvSpPr/>
          <p:nvPr/>
        </p:nvSpPr>
        <p:spPr>
          <a:xfrm>
            <a:off x="4450942" y="4259439"/>
            <a:ext cx="2109780" cy="346499"/>
          </a:xfrm>
          <a:custGeom>
            <a:avLst/>
            <a:gdLst>
              <a:gd name="connsiteX0" fmla="*/ 0 w 1876425"/>
              <a:gd name="connsiteY0" fmla="*/ 447675 h 463863"/>
              <a:gd name="connsiteX1" fmla="*/ 962025 w 1876425"/>
              <a:gd name="connsiteY1" fmla="*/ 409575 h 463863"/>
              <a:gd name="connsiteX2" fmla="*/ 1876425 w 1876425"/>
              <a:gd name="connsiteY2" fmla="*/ 0 h 463863"/>
            </a:gdLst>
            <a:ahLst/>
            <a:cxnLst>
              <a:cxn ang="0">
                <a:pos x="connsiteX0" y="connsiteY0"/>
              </a:cxn>
              <a:cxn ang="0">
                <a:pos x="connsiteX1" y="connsiteY1"/>
              </a:cxn>
              <a:cxn ang="0">
                <a:pos x="connsiteX2" y="connsiteY2"/>
              </a:cxn>
            </a:cxnLst>
            <a:rect l="l" t="t" r="r" b="b"/>
            <a:pathLst>
              <a:path w="1876425" h="463863">
                <a:moveTo>
                  <a:pt x="0" y="447675"/>
                </a:moveTo>
                <a:cubicBezTo>
                  <a:pt x="324644" y="465931"/>
                  <a:pt x="649288" y="484187"/>
                  <a:pt x="962025" y="409575"/>
                </a:cubicBezTo>
                <a:cubicBezTo>
                  <a:pt x="1274762" y="334963"/>
                  <a:pt x="1575593" y="167481"/>
                  <a:pt x="1876425" y="0"/>
                </a:cubicBezTo>
              </a:path>
            </a:pathLst>
          </a:custGeom>
          <a:effectLst/>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dirty="0"/>
          </a:p>
        </p:txBody>
      </p:sp>
      <p:sp>
        <p:nvSpPr>
          <p:cNvPr id="48" name="Freeform 47">
            <a:extLst>
              <a:ext uri="{FF2B5EF4-FFF2-40B4-BE49-F238E27FC236}">
                <a16:creationId xmlns:a16="http://schemas.microsoft.com/office/drawing/2014/main" id="{F5ECAE0B-98D7-36D5-1793-3D9DB19BEF59}"/>
              </a:ext>
            </a:extLst>
          </p:cNvPr>
          <p:cNvSpPr/>
          <p:nvPr/>
        </p:nvSpPr>
        <p:spPr>
          <a:xfrm>
            <a:off x="4474710" y="4075667"/>
            <a:ext cx="2109780" cy="509528"/>
          </a:xfrm>
          <a:custGeom>
            <a:avLst/>
            <a:gdLst>
              <a:gd name="connsiteX0" fmla="*/ 0 w 1876425"/>
              <a:gd name="connsiteY0" fmla="*/ 447675 h 463863"/>
              <a:gd name="connsiteX1" fmla="*/ 962025 w 1876425"/>
              <a:gd name="connsiteY1" fmla="*/ 409575 h 463863"/>
              <a:gd name="connsiteX2" fmla="*/ 1876425 w 1876425"/>
              <a:gd name="connsiteY2" fmla="*/ 0 h 463863"/>
            </a:gdLst>
            <a:ahLst/>
            <a:cxnLst>
              <a:cxn ang="0">
                <a:pos x="connsiteX0" y="connsiteY0"/>
              </a:cxn>
              <a:cxn ang="0">
                <a:pos x="connsiteX1" y="connsiteY1"/>
              </a:cxn>
              <a:cxn ang="0">
                <a:pos x="connsiteX2" y="connsiteY2"/>
              </a:cxn>
            </a:cxnLst>
            <a:rect l="l" t="t" r="r" b="b"/>
            <a:pathLst>
              <a:path w="1876425" h="463863">
                <a:moveTo>
                  <a:pt x="0" y="447675"/>
                </a:moveTo>
                <a:cubicBezTo>
                  <a:pt x="324644" y="465931"/>
                  <a:pt x="649288" y="484187"/>
                  <a:pt x="962025" y="409575"/>
                </a:cubicBezTo>
                <a:cubicBezTo>
                  <a:pt x="1274762" y="334963"/>
                  <a:pt x="1575593" y="167481"/>
                  <a:pt x="1876425" y="0"/>
                </a:cubicBezTo>
              </a:path>
            </a:pathLst>
          </a:custGeom>
          <a:ln>
            <a:solidFill>
              <a:schemeClr val="accent1"/>
            </a:solidFill>
          </a:ln>
          <a:effectLst/>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9" name="TextBox 48">
            <a:extLst>
              <a:ext uri="{FF2B5EF4-FFF2-40B4-BE49-F238E27FC236}">
                <a16:creationId xmlns:a16="http://schemas.microsoft.com/office/drawing/2014/main" id="{4B38907E-B27B-1EE6-E0D2-12FE6D89B7F2}"/>
              </a:ext>
            </a:extLst>
          </p:cNvPr>
          <p:cNvSpPr txBox="1"/>
          <p:nvPr/>
        </p:nvSpPr>
        <p:spPr>
          <a:xfrm>
            <a:off x="4533387" y="3852048"/>
            <a:ext cx="2027334" cy="276999"/>
          </a:xfrm>
          <a:prstGeom prst="rect">
            <a:avLst/>
          </a:prstGeom>
          <a:noFill/>
        </p:spPr>
        <p:txBody>
          <a:bodyPr wrap="square">
            <a:spAutoFit/>
          </a:bodyPr>
          <a:lstStyle/>
          <a:p>
            <a:r>
              <a:rPr lang="en-US" sz="1200" dirty="0">
                <a:solidFill>
                  <a:schemeClr val="accent1"/>
                </a:solidFill>
                <a:cs typeface="Calibri" panose="020F0502020204030204" pitchFamily="34" charset="0"/>
              </a:rPr>
              <a:t>Sensitivity - More skewness</a:t>
            </a:r>
          </a:p>
        </p:txBody>
      </p:sp>
      <p:sp>
        <p:nvSpPr>
          <p:cNvPr id="57" name="TextBox 24">
            <a:extLst>
              <a:ext uri="{FF2B5EF4-FFF2-40B4-BE49-F238E27FC236}">
                <a16:creationId xmlns:a16="http://schemas.microsoft.com/office/drawing/2014/main" id="{41DF6249-020F-86AB-8FF9-C20FABD4C197}"/>
              </a:ext>
            </a:extLst>
          </p:cNvPr>
          <p:cNvSpPr txBox="1"/>
          <p:nvPr/>
        </p:nvSpPr>
        <p:spPr>
          <a:xfrm>
            <a:off x="7167010" y="4365764"/>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Time</a:t>
            </a:r>
          </a:p>
        </p:txBody>
      </p:sp>
      <p:sp>
        <p:nvSpPr>
          <p:cNvPr id="32772" name="TextBox 32771">
            <a:extLst>
              <a:ext uri="{FF2B5EF4-FFF2-40B4-BE49-F238E27FC236}">
                <a16:creationId xmlns:a16="http://schemas.microsoft.com/office/drawing/2014/main" id="{0738DFE1-53B6-7C9C-C139-BD7CDAB262F9}"/>
              </a:ext>
            </a:extLst>
          </p:cNvPr>
          <p:cNvSpPr txBox="1"/>
          <p:nvPr/>
        </p:nvSpPr>
        <p:spPr>
          <a:xfrm>
            <a:off x="6555433" y="3753908"/>
            <a:ext cx="942662" cy="276999"/>
          </a:xfrm>
          <a:prstGeom prst="rect">
            <a:avLst/>
          </a:prstGeom>
          <a:noFill/>
        </p:spPr>
        <p:txBody>
          <a:bodyPr wrap="square">
            <a:spAutoFit/>
          </a:bodyPr>
          <a:lstStyle/>
          <a:p>
            <a:r>
              <a:rPr lang="en-US" sz="1200" dirty="0">
                <a:cs typeface="Calibri" panose="020F0502020204030204" pitchFamily="34" charset="0"/>
              </a:rPr>
              <a:t>Uncertainty</a:t>
            </a:r>
          </a:p>
        </p:txBody>
      </p:sp>
      <p:sp>
        <p:nvSpPr>
          <p:cNvPr id="32819" name="Freeform 32818">
            <a:extLst>
              <a:ext uri="{FF2B5EF4-FFF2-40B4-BE49-F238E27FC236}">
                <a16:creationId xmlns:a16="http://schemas.microsoft.com/office/drawing/2014/main" id="{7302EA15-E92B-1C9C-A3B8-2983D8BD565E}"/>
              </a:ext>
            </a:extLst>
          </p:cNvPr>
          <p:cNvSpPr/>
          <p:nvPr/>
        </p:nvSpPr>
        <p:spPr>
          <a:xfrm>
            <a:off x="1060175" y="3854304"/>
            <a:ext cx="1133439" cy="768927"/>
          </a:xfrm>
          <a:custGeom>
            <a:avLst/>
            <a:gdLst>
              <a:gd name="connsiteX0" fmla="*/ 0 w 841664"/>
              <a:gd name="connsiteY0" fmla="*/ 768927 h 768927"/>
              <a:gd name="connsiteX1" fmla="*/ 467591 w 841664"/>
              <a:gd name="connsiteY1" fmla="*/ 685800 h 768927"/>
              <a:gd name="connsiteX2" fmla="*/ 716973 w 841664"/>
              <a:gd name="connsiteY2" fmla="*/ 426027 h 768927"/>
              <a:gd name="connsiteX3" fmla="*/ 841664 w 841664"/>
              <a:gd name="connsiteY3" fmla="*/ 0 h 768927"/>
            </a:gdLst>
            <a:ahLst/>
            <a:cxnLst>
              <a:cxn ang="0">
                <a:pos x="connsiteX0" y="connsiteY0"/>
              </a:cxn>
              <a:cxn ang="0">
                <a:pos x="connsiteX1" y="connsiteY1"/>
              </a:cxn>
              <a:cxn ang="0">
                <a:pos x="connsiteX2" y="connsiteY2"/>
              </a:cxn>
              <a:cxn ang="0">
                <a:pos x="connsiteX3" y="connsiteY3"/>
              </a:cxn>
            </a:cxnLst>
            <a:rect l="l" t="t" r="r" b="b"/>
            <a:pathLst>
              <a:path w="841664" h="768927">
                <a:moveTo>
                  <a:pt x="0" y="768927"/>
                </a:moveTo>
                <a:cubicBezTo>
                  <a:pt x="174048" y="755938"/>
                  <a:pt x="348096" y="742950"/>
                  <a:pt x="467591" y="685800"/>
                </a:cubicBezTo>
                <a:cubicBezTo>
                  <a:pt x="587086" y="628650"/>
                  <a:pt x="654628" y="540327"/>
                  <a:pt x="716973" y="426027"/>
                </a:cubicBezTo>
                <a:cubicBezTo>
                  <a:pt x="779318" y="311727"/>
                  <a:pt x="810491" y="155863"/>
                  <a:pt x="841664" y="0"/>
                </a:cubicBezTo>
              </a:path>
            </a:pathLst>
          </a:cu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grpSp>
        <p:nvGrpSpPr>
          <p:cNvPr id="32779" name="Group 32778">
            <a:extLst>
              <a:ext uri="{FF2B5EF4-FFF2-40B4-BE49-F238E27FC236}">
                <a16:creationId xmlns:a16="http://schemas.microsoft.com/office/drawing/2014/main" id="{954FBDDE-7E3D-C106-DE74-6A1BF2A277BF}"/>
              </a:ext>
            </a:extLst>
          </p:cNvPr>
          <p:cNvGrpSpPr/>
          <p:nvPr/>
        </p:nvGrpSpPr>
        <p:grpSpPr>
          <a:xfrm>
            <a:off x="715397" y="3738338"/>
            <a:ext cx="2205234" cy="937359"/>
            <a:chOff x="715397" y="3738338"/>
            <a:chExt cx="2205234" cy="937359"/>
          </a:xfrm>
        </p:grpSpPr>
        <p:cxnSp>
          <p:nvCxnSpPr>
            <p:cNvPr id="32812" name="Straight Arrow Connector 32811">
              <a:extLst>
                <a:ext uri="{FF2B5EF4-FFF2-40B4-BE49-F238E27FC236}">
                  <a16:creationId xmlns:a16="http://schemas.microsoft.com/office/drawing/2014/main" id="{A45F28FC-3FBD-C515-F566-5853C9D22C77}"/>
                </a:ext>
              </a:extLst>
            </p:cNvPr>
            <p:cNvCxnSpPr>
              <a:cxnSpLocks/>
            </p:cNvCxnSpPr>
            <p:nvPr/>
          </p:nvCxnSpPr>
          <p:spPr>
            <a:xfrm>
              <a:off x="968686" y="4637511"/>
              <a:ext cx="195194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813" name="Straight Arrow Connector 32812">
              <a:extLst>
                <a:ext uri="{FF2B5EF4-FFF2-40B4-BE49-F238E27FC236}">
                  <a16:creationId xmlns:a16="http://schemas.microsoft.com/office/drawing/2014/main" id="{74261033-874B-08A8-1872-ED6CA0BCD9EA}"/>
                </a:ext>
              </a:extLst>
            </p:cNvPr>
            <p:cNvCxnSpPr>
              <a:cxnSpLocks/>
              <a:stCxn id="32827" idx="4"/>
            </p:cNvCxnSpPr>
            <p:nvPr/>
          </p:nvCxnSpPr>
          <p:spPr>
            <a:xfrm flipV="1">
              <a:off x="1051842" y="3745599"/>
              <a:ext cx="3890" cy="9300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827" name="Oval 32826">
              <a:extLst>
                <a:ext uri="{FF2B5EF4-FFF2-40B4-BE49-F238E27FC236}">
                  <a16:creationId xmlns:a16="http://schemas.microsoft.com/office/drawing/2014/main" id="{544AD41D-78AC-AD60-2D3D-77B8B607A744}"/>
                </a:ext>
              </a:extLst>
            </p:cNvPr>
            <p:cNvSpPr/>
            <p:nvPr/>
          </p:nvSpPr>
          <p:spPr>
            <a:xfrm>
              <a:off x="1013826" y="4599665"/>
              <a:ext cx="76032" cy="76032"/>
            </a:xfrm>
            <a:prstGeom prst="ellipse">
              <a:avLst/>
            </a:prstGeom>
            <a:solidFill>
              <a:schemeClr val="tx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2832" name="TextBox 19">
              <a:extLst>
                <a:ext uri="{FF2B5EF4-FFF2-40B4-BE49-F238E27FC236}">
                  <a16:creationId xmlns:a16="http://schemas.microsoft.com/office/drawing/2014/main" id="{81DAF63A-ADE3-C686-0049-8C5BF530660A}"/>
                </a:ext>
              </a:extLst>
            </p:cNvPr>
            <p:cNvSpPr txBox="1"/>
            <p:nvPr/>
          </p:nvSpPr>
          <p:spPr>
            <a:xfrm>
              <a:off x="715397" y="3738338"/>
              <a:ext cx="411566" cy="261610"/>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050" i="1" dirty="0">
                  <a:cs typeface="Calibri" panose="020F0502020204030204" pitchFamily="34" charset="0"/>
                </a:rPr>
                <a:t>v(x)</a:t>
              </a:r>
            </a:p>
          </p:txBody>
        </p:sp>
        <p:sp>
          <p:nvSpPr>
            <p:cNvPr id="59" name="Freeform 58">
              <a:extLst>
                <a:ext uri="{FF2B5EF4-FFF2-40B4-BE49-F238E27FC236}">
                  <a16:creationId xmlns:a16="http://schemas.microsoft.com/office/drawing/2014/main" id="{E0B3ECA0-2D47-625B-FE2F-42F3C6058BD2}"/>
                </a:ext>
              </a:extLst>
            </p:cNvPr>
            <p:cNvSpPr/>
            <p:nvPr/>
          </p:nvSpPr>
          <p:spPr>
            <a:xfrm>
              <a:off x="1051842" y="3867150"/>
              <a:ext cx="1354365" cy="768927"/>
            </a:xfrm>
            <a:custGeom>
              <a:avLst/>
              <a:gdLst>
                <a:gd name="connsiteX0" fmla="*/ 0 w 841664"/>
                <a:gd name="connsiteY0" fmla="*/ 768927 h 768927"/>
                <a:gd name="connsiteX1" fmla="*/ 467591 w 841664"/>
                <a:gd name="connsiteY1" fmla="*/ 685800 h 768927"/>
                <a:gd name="connsiteX2" fmla="*/ 716973 w 841664"/>
                <a:gd name="connsiteY2" fmla="*/ 426027 h 768927"/>
                <a:gd name="connsiteX3" fmla="*/ 841664 w 841664"/>
                <a:gd name="connsiteY3" fmla="*/ 0 h 768927"/>
              </a:gdLst>
              <a:ahLst/>
              <a:cxnLst>
                <a:cxn ang="0">
                  <a:pos x="connsiteX0" y="connsiteY0"/>
                </a:cxn>
                <a:cxn ang="0">
                  <a:pos x="connsiteX1" y="connsiteY1"/>
                </a:cxn>
                <a:cxn ang="0">
                  <a:pos x="connsiteX2" y="connsiteY2"/>
                </a:cxn>
                <a:cxn ang="0">
                  <a:pos x="connsiteX3" y="connsiteY3"/>
                </a:cxn>
              </a:cxnLst>
              <a:rect l="l" t="t" r="r" b="b"/>
              <a:pathLst>
                <a:path w="841664" h="768927">
                  <a:moveTo>
                    <a:pt x="0" y="768927"/>
                  </a:moveTo>
                  <a:cubicBezTo>
                    <a:pt x="174048" y="755938"/>
                    <a:pt x="348096" y="742950"/>
                    <a:pt x="467591" y="685800"/>
                  </a:cubicBezTo>
                  <a:cubicBezTo>
                    <a:pt x="587086" y="628650"/>
                    <a:pt x="654628" y="540327"/>
                    <a:pt x="716973" y="426027"/>
                  </a:cubicBezTo>
                  <a:cubicBezTo>
                    <a:pt x="779318" y="311727"/>
                    <a:pt x="810491" y="155863"/>
                    <a:pt x="841664" y="0"/>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60" name="Oval 59">
            <a:extLst>
              <a:ext uri="{FF2B5EF4-FFF2-40B4-BE49-F238E27FC236}">
                <a16:creationId xmlns:a16="http://schemas.microsoft.com/office/drawing/2014/main" id="{B1E30CAE-DB3C-DED8-9D0F-A644E4FD7939}"/>
              </a:ext>
            </a:extLst>
          </p:cNvPr>
          <p:cNvSpPr/>
          <p:nvPr/>
        </p:nvSpPr>
        <p:spPr>
          <a:xfrm>
            <a:off x="2055102" y="3838541"/>
            <a:ext cx="76032" cy="76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9F7067F6-DF67-19C3-ACA1-49908EB6D212}"/>
              </a:ext>
            </a:extLst>
          </p:cNvPr>
          <p:cNvSpPr/>
          <p:nvPr/>
        </p:nvSpPr>
        <p:spPr>
          <a:xfrm>
            <a:off x="3100645" y="3005586"/>
            <a:ext cx="1165663" cy="394685"/>
          </a:xfrm>
          <a:prstGeom prst="rect">
            <a:avLst/>
          </a:prstGeom>
          <a:solidFill>
            <a:schemeClr val="accent4">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dirty="0"/>
          </a:p>
        </p:txBody>
      </p:sp>
      <p:sp>
        <p:nvSpPr>
          <p:cNvPr id="63" name="Rectangle 62">
            <a:extLst>
              <a:ext uri="{FF2B5EF4-FFF2-40B4-BE49-F238E27FC236}">
                <a16:creationId xmlns:a16="http://schemas.microsoft.com/office/drawing/2014/main" id="{1063F91B-CA9E-3655-6981-B8615DDEC0D1}"/>
              </a:ext>
            </a:extLst>
          </p:cNvPr>
          <p:cNvSpPr/>
          <p:nvPr/>
        </p:nvSpPr>
        <p:spPr>
          <a:xfrm>
            <a:off x="4294792" y="3004604"/>
            <a:ext cx="221609" cy="395667"/>
          </a:xfrm>
          <a:prstGeom prst="rect">
            <a:avLst/>
          </a:prstGeom>
          <a:solidFill>
            <a:schemeClr val="accent2">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32778" name="Straight Arrow Connector 32777">
            <a:extLst>
              <a:ext uri="{FF2B5EF4-FFF2-40B4-BE49-F238E27FC236}">
                <a16:creationId xmlns:a16="http://schemas.microsoft.com/office/drawing/2014/main" id="{3FDDA22C-DF2D-6873-6F54-2120D52DE0DA}"/>
              </a:ext>
            </a:extLst>
          </p:cNvPr>
          <p:cNvCxnSpPr>
            <a:cxnSpLocks/>
            <a:endCxn id="60" idx="4"/>
          </p:cNvCxnSpPr>
          <p:nvPr/>
        </p:nvCxnSpPr>
        <p:spPr>
          <a:xfrm flipV="1">
            <a:off x="2043039" y="3914573"/>
            <a:ext cx="50079" cy="3132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783" name="Rectangle 32782">
            <a:extLst>
              <a:ext uri="{FF2B5EF4-FFF2-40B4-BE49-F238E27FC236}">
                <a16:creationId xmlns:a16="http://schemas.microsoft.com/office/drawing/2014/main" id="{DFD19873-8042-5BE1-4BF0-E5E3907A476F}"/>
              </a:ext>
            </a:extLst>
          </p:cNvPr>
          <p:cNvSpPr/>
          <p:nvPr/>
        </p:nvSpPr>
        <p:spPr>
          <a:xfrm>
            <a:off x="3480129" y="3075905"/>
            <a:ext cx="391653" cy="256278"/>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dk1"/>
              </a:solidFill>
            </a:endParaRPr>
          </a:p>
        </p:txBody>
      </p:sp>
      <mc:AlternateContent xmlns:mc="http://schemas.openxmlformats.org/markup-compatibility/2006" xmlns:a14="http://schemas.microsoft.com/office/drawing/2010/main">
        <mc:Choice Requires="a14">
          <p:sp>
            <p:nvSpPr>
              <p:cNvPr id="32791" name="TextBox 26">
                <a:extLst>
                  <a:ext uri="{FF2B5EF4-FFF2-40B4-BE49-F238E27FC236}">
                    <a16:creationId xmlns:a16="http://schemas.microsoft.com/office/drawing/2014/main" id="{EAE16D2B-9F0E-CA87-93BD-3B57C9D607BB}"/>
                  </a:ext>
                </a:extLst>
              </p:cNvPr>
              <p:cNvSpPr txBox="1"/>
              <p:nvPr/>
            </p:nvSpPr>
            <p:spPr>
              <a:xfrm>
                <a:off x="3464669" y="3223868"/>
                <a:ext cx="468370"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r>
                        <a:rPr lang="en-US" sz="16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𝛾</m:t>
                      </m:r>
                      <m:r>
                        <a:rPr lang="en-US" sz="16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m:t>
                      </m:r>
                      <m:r>
                        <a:rPr lang="en-US" sz="16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𝜋</m:t>
                      </m:r>
                    </m:oMath>
                  </m:oMathPara>
                </a14:m>
                <a:endParaRPr lang="en-US" sz="1600" dirty="0">
                  <a:solidFill>
                    <a:srgbClr val="C00000"/>
                  </a:solidFill>
                  <a:cs typeface="Calibri" panose="020F0502020204030204" pitchFamily="34" charset="0"/>
                </a:endParaRPr>
              </a:p>
            </p:txBody>
          </p:sp>
        </mc:Choice>
        <mc:Fallback xmlns="">
          <p:sp>
            <p:nvSpPr>
              <p:cNvPr id="32791" name="TextBox 26">
                <a:extLst>
                  <a:ext uri="{FF2B5EF4-FFF2-40B4-BE49-F238E27FC236}">
                    <a16:creationId xmlns:a16="http://schemas.microsoft.com/office/drawing/2014/main" id="{EAE16D2B-9F0E-CA87-93BD-3B57C9D607BB}"/>
                  </a:ext>
                </a:extLst>
              </p:cNvPr>
              <p:cNvSpPr txBox="1">
                <a:spLocks noRot="1" noChangeAspect="1" noMove="1" noResize="1" noEditPoints="1" noAdjustHandles="1" noChangeArrowheads="1" noChangeShapeType="1" noTextEdit="1"/>
              </p:cNvSpPr>
              <p:nvPr/>
            </p:nvSpPr>
            <p:spPr>
              <a:xfrm>
                <a:off x="3464669" y="3223868"/>
                <a:ext cx="468370" cy="338554"/>
              </a:xfrm>
              <a:prstGeom prst="rect">
                <a:avLst/>
              </a:prstGeom>
              <a:blipFill>
                <a:blip r:embed="rId12"/>
                <a:stretch>
                  <a:fillRect b="-3571"/>
                </a:stretch>
              </a:blipFill>
            </p:spPr>
            <p:txBody>
              <a:bodyPr/>
              <a:lstStyle/>
              <a:p>
                <a:r>
                  <a:rPr lang="en-US">
                    <a:noFill/>
                  </a:rPr>
                  <a:t> </a:t>
                </a:r>
              </a:p>
            </p:txBody>
          </p:sp>
        </mc:Fallback>
      </mc:AlternateContent>
      <p:sp>
        <p:nvSpPr>
          <p:cNvPr id="58" name="Rectangle 57">
            <a:extLst>
              <a:ext uri="{FF2B5EF4-FFF2-40B4-BE49-F238E27FC236}">
                <a16:creationId xmlns:a16="http://schemas.microsoft.com/office/drawing/2014/main" id="{8BB6F426-A087-28C5-B1C8-6851719C829C}"/>
              </a:ext>
            </a:extLst>
          </p:cNvPr>
          <p:cNvSpPr/>
          <p:nvPr/>
        </p:nvSpPr>
        <p:spPr>
          <a:xfrm>
            <a:off x="737515" y="2657723"/>
            <a:ext cx="848368" cy="294208"/>
          </a:xfrm>
          <a:prstGeom prst="rect">
            <a:avLst/>
          </a:prstGeom>
          <a:noFill/>
          <a:ln w="28575">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tx2">
                  <a:lumMod val="60000"/>
                  <a:lumOff val="40000"/>
                </a:schemeClr>
              </a:solidFill>
            </a:endParaRPr>
          </a:p>
        </p:txBody>
      </p:sp>
    </p:spTree>
    <p:extLst>
      <p:ext uri="{BB962C8B-B14F-4D97-AF65-F5344CB8AC3E}">
        <p14:creationId xmlns:p14="http://schemas.microsoft.com/office/powerpoint/2010/main" val="21453312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hidden"/>
                                      </p:to>
                                    </p:set>
                                  </p:childTnLst>
                                </p:cTn>
                              </p:par>
                            </p:childTnLst>
                          </p:cTn>
                        </p:par>
                        <p:par>
                          <p:cTn id="7" fill="hold">
                            <p:stCondLst>
                              <p:cond delay="0"/>
                            </p:stCondLst>
                            <p:childTnLst>
                              <p:par>
                                <p:cTn id="8" presetID="9" presetClass="entr" presetSubtype="0"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dissolve">
                                      <p:cBhvr>
                                        <p:cTn id="10" dur="1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2"/>
                                        </p:tgtEl>
                                        <p:attrNameLst>
                                          <p:attrName>style.visibility</p:attrName>
                                        </p:attrNameLst>
                                      </p:cBhvr>
                                      <p:to>
                                        <p:strVal val="hidden"/>
                                      </p:to>
                                    </p:set>
                                  </p:childTnLst>
                                </p:cTn>
                              </p:par>
                            </p:childTnLst>
                          </p:cTn>
                        </p:par>
                        <p:par>
                          <p:cTn id="15" fill="hold">
                            <p:stCondLst>
                              <p:cond delay="0"/>
                            </p:stCondLst>
                            <p:childTnLst>
                              <p:par>
                                <p:cTn id="16" presetID="9" presetClass="entr" presetSubtype="0" fill="hold" nodeType="afterEffect">
                                  <p:stCondLst>
                                    <p:cond delay="0"/>
                                  </p:stCondLst>
                                  <p:childTnLst>
                                    <p:set>
                                      <p:cBhvr>
                                        <p:cTn id="17" dur="1" fill="hold">
                                          <p:stCondLst>
                                            <p:cond delay="0"/>
                                          </p:stCondLst>
                                        </p:cTn>
                                        <p:tgtEl>
                                          <p:spTgt spid="32786"/>
                                        </p:tgtEl>
                                        <p:attrNameLst>
                                          <p:attrName>style.visibility</p:attrName>
                                        </p:attrNameLst>
                                      </p:cBhvr>
                                      <p:to>
                                        <p:strVal val="visible"/>
                                      </p:to>
                                    </p:set>
                                    <p:animEffect transition="in" filter="dissolve">
                                      <p:cBhvr>
                                        <p:cTn id="18" dur="1500"/>
                                        <p:tgtEl>
                                          <p:spTgt spid="3278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2793"/>
                                        </p:tgtEl>
                                        <p:attrNameLst>
                                          <p:attrName>style.visibility</p:attrName>
                                        </p:attrNameLst>
                                      </p:cBhvr>
                                      <p:to>
                                        <p:strVal val="visible"/>
                                      </p:to>
                                    </p:set>
                                    <p:animEffect transition="in" filter="dissolve">
                                      <p:cBhvr>
                                        <p:cTn id="23" dur="500"/>
                                        <p:tgtEl>
                                          <p:spTgt spid="32793"/>
                                        </p:tgtEl>
                                      </p:cBhvr>
                                    </p:animEffect>
                                  </p:childTnLst>
                                </p:cTn>
                              </p:par>
                              <p:par>
                                <p:cTn id="24" presetID="9" presetClass="entr" presetSubtype="0" fill="hold" nodeType="withEffect">
                                  <p:stCondLst>
                                    <p:cond delay="0"/>
                                  </p:stCondLst>
                                  <p:childTnLst>
                                    <p:set>
                                      <p:cBhvr>
                                        <p:cTn id="25" dur="1" fill="hold">
                                          <p:stCondLst>
                                            <p:cond delay="0"/>
                                          </p:stCondLst>
                                        </p:cTn>
                                        <p:tgtEl>
                                          <p:spTgt spid="32790"/>
                                        </p:tgtEl>
                                        <p:attrNameLst>
                                          <p:attrName>style.visibility</p:attrName>
                                        </p:attrNameLst>
                                      </p:cBhvr>
                                      <p:to>
                                        <p:strVal val="visible"/>
                                      </p:to>
                                    </p:set>
                                    <p:animEffect transition="in" filter="dissolve">
                                      <p:cBhvr>
                                        <p:cTn id="26" dur="500"/>
                                        <p:tgtEl>
                                          <p:spTgt spid="32790"/>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2787"/>
                                        </p:tgtEl>
                                        <p:attrNameLst>
                                          <p:attrName>style.visibility</p:attrName>
                                        </p:attrNameLst>
                                      </p:cBhvr>
                                      <p:to>
                                        <p:strVal val="visible"/>
                                      </p:to>
                                    </p:set>
                                    <p:animEffect transition="in" filter="dissolve">
                                      <p:cBhvr>
                                        <p:cTn id="31" dur="500"/>
                                        <p:tgtEl>
                                          <p:spTgt spid="32787"/>
                                        </p:tgtEl>
                                      </p:cBhvr>
                                    </p:animEffect>
                                  </p:childTnLst>
                                </p:cTn>
                              </p:par>
                              <p:par>
                                <p:cTn id="32" presetID="9" presetClass="entr" presetSubtype="0" fill="hold" nodeType="withEffect">
                                  <p:stCondLst>
                                    <p:cond delay="0"/>
                                  </p:stCondLst>
                                  <p:childTnLst>
                                    <p:set>
                                      <p:cBhvr>
                                        <p:cTn id="33" dur="1" fill="hold">
                                          <p:stCondLst>
                                            <p:cond delay="0"/>
                                          </p:stCondLst>
                                        </p:cTn>
                                        <p:tgtEl>
                                          <p:spTgt spid="32788"/>
                                        </p:tgtEl>
                                        <p:attrNameLst>
                                          <p:attrName>style.visibility</p:attrName>
                                        </p:attrNameLst>
                                      </p:cBhvr>
                                      <p:to>
                                        <p:strVal val="visible"/>
                                      </p:to>
                                    </p:set>
                                    <p:animEffect transition="in" filter="dissolve">
                                      <p:cBhvr>
                                        <p:cTn id="34" dur="500"/>
                                        <p:tgtEl>
                                          <p:spTgt spid="32788"/>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32789"/>
                                        </p:tgtEl>
                                        <p:attrNameLst>
                                          <p:attrName>style.visibility</p:attrName>
                                        </p:attrNameLst>
                                      </p:cBhvr>
                                      <p:to>
                                        <p:strVal val="visible"/>
                                      </p:to>
                                    </p:set>
                                    <p:animEffect transition="in" filter="dissolve">
                                      <p:cBhvr>
                                        <p:cTn id="37" dur="500"/>
                                        <p:tgtEl>
                                          <p:spTgt spid="32789"/>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dissolve">
                                      <p:cBhvr>
                                        <p:cTn id="42" dur="500"/>
                                        <p:tgtEl>
                                          <p:spTgt spid="37"/>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dissolve">
                                      <p:cBhvr>
                                        <p:cTn id="45" dur="500"/>
                                        <p:tgtEl>
                                          <p:spTgt spid="34"/>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32774"/>
                                        </p:tgtEl>
                                        <p:attrNameLst>
                                          <p:attrName>style.visibility</p:attrName>
                                        </p:attrNameLst>
                                      </p:cBhvr>
                                      <p:to>
                                        <p:strVal val="visible"/>
                                      </p:to>
                                    </p:set>
                                    <p:animEffect transition="in" filter="dissolve">
                                      <p:cBhvr>
                                        <p:cTn id="50" dur="500"/>
                                        <p:tgtEl>
                                          <p:spTgt spid="32774"/>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32800"/>
                                        </p:tgtEl>
                                        <p:attrNameLst>
                                          <p:attrName>style.visibility</p:attrName>
                                        </p:attrNameLst>
                                      </p:cBhvr>
                                      <p:to>
                                        <p:strVal val="visible"/>
                                      </p:to>
                                    </p:set>
                                    <p:animEffect transition="in" filter="dissolve">
                                      <p:cBhvr>
                                        <p:cTn id="53" dur="500"/>
                                        <p:tgtEl>
                                          <p:spTgt spid="32800"/>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32801"/>
                                        </p:tgtEl>
                                        <p:attrNameLst>
                                          <p:attrName>style.visibility</p:attrName>
                                        </p:attrNameLst>
                                      </p:cBhvr>
                                      <p:to>
                                        <p:strVal val="visible"/>
                                      </p:to>
                                    </p:set>
                                    <p:animEffect transition="in" filter="dissolve">
                                      <p:cBhvr>
                                        <p:cTn id="56" dur="500"/>
                                        <p:tgtEl>
                                          <p:spTgt spid="32801"/>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32775"/>
                                        </p:tgtEl>
                                        <p:attrNameLst>
                                          <p:attrName>style.visibility</p:attrName>
                                        </p:attrNameLst>
                                      </p:cBhvr>
                                      <p:to>
                                        <p:strVal val="visible"/>
                                      </p:to>
                                    </p:set>
                                    <p:animEffect transition="in" filter="dissolve">
                                      <p:cBhvr>
                                        <p:cTn id="61" dur="500"/>
                                        <p:tgtEl>
                                          <p:spTgt spid="32775"/>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32798"/>
                                        </p:tgtEl>
                                        <p:attrNameLst>
                                          <p:attrName>style.visibility</p:attrName>
                                        </p:attrNameLst>
                                      </p:cBhvr>
                                      <p:to>
                                        <p:strVal val="visible"/>
                                      </p:to>
                                    </p:set>
                                    <p:animEffect transition="in" filter="dissolve">
                                      <p:cBhvr>
                                        <p:cTn id="64" dur="500"/>
                                        <p:tgtEl>
                                          <p:spTgt spid="32798"/>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32802"/>
                                        </p:tgtEl>
                                        <p:attrNameLst>
                                          <p:attrName>style.visibility</p:attrName>
                                        </p:attrNameLst>
                                      </p:cBhvr>
                                      <p:to>
                                        <p:strVal val="visible"/>
                                      </p:to>
                                    </p:set>
                                    <p:animEffect transition="in" filter="dissolve">
                                      <p:cBhvr>
                                        <p:cTn id="67" dur="500"/>
                                        <p:tgtEl>
                                          <p:spTgt spid="32802"/>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32777"/>
                                        </p:tgtEl>
                                        <p:attrNameLst>
                                          <p:attrName>style.visibility</p:attrName>
                                        </p:attrNameLst>
                                      </p:cBhvr>
                                      <p:to>
                                        <p:strVal val="visible"/>
                                      </p:to>
                                    </p:set>
                                    <p:animEffect transition="in" filter="dissolve">
                                      <p:cBhvr>
                                        <p:cTn id="72" dur="500"/>
                                        <p:tgtEl>
                                          <p:spTgt spid="32777"/>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32776"/>
                                        </p:tgtEl>
                                        <p:attrNameLst>
                                          <p:attrName>style.visibility</p:attrName>
                                        </p:attrNameLst>
                                      </p:cBhvr>
                                      <p:to>
                                        <p:strVal val="visible"/>
                                      </p:to>
                                    </p:set>
                                    <p:animEffect transition="in" filter="dissolve">
                                      <p:cBhvr>
                                        <p:cTn id="75" dur="500"/>
                                        <p:tgtEl>
                                          <p:spTgt spid="32776"/>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32799"/>
                                        </p:tgtEl>
                                        <p:attrNameLst>
                                          <p:attrName>style.visibility</p:attrName>
                                        </p:attrNameLst>
                                      </p:cBhvr>
                                      <p:to>
                                        <p:strVal val="visible"/>
                                      </p:to>
                                    </p:set>
                                    <p:animEffect transition="in" filter="dissolve">
                                      <p:cBhvr>
                                        <p:cTn id="78" dur="500"/>
                                        <p:tgtEl>
                                          <p:spTgt spid="32799"/>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32803"/>
                                        </p:tgtEl>
                                        <p:attrNameLst>
                                          <p:attrName>style.visibility</p:attrName>
                                        </p:attrNameLst>
                                      </p:cBhvr>
                                      <p:to>
                                        <p:strVal val="visible"/>
                                      </p:to>
                                    </p:set>
                                    <p:animEffect transition="in" filter="dissolve">
                                      <p:cBhvr>
                                        <p:cTn id="81" dur="500"/>
                                        <p:tgtEl>
                                          <p:spTgt spid="32803"/>
                                        </p:tgtEl>
                                      </p:cBhvr>
                                    </p:animEffect>
                                  </p:childTnLst>
                                </p:cTn>
                              </p:par>
                            </p:childTnLst>
                          </p:cTn>
                        </p:par>
                      </p:childTnLst>
                    </p:cTn>
                  </p:par>
                  <p:par>
                    <p:cTn id="82" fill="hold">
                      <p:stCondLst>
                        <p:cond delay="indefinite"/>
                      </p:stCondLst>
                      <p:childTnLst>
                        <p:par>
                          <p:cTn id="83" fill="hold">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32768"/>
                                        </p:tgtEl>
                                        <p:attrNameLst>
                                          <p:attrName>style.visibility</p:attrName>
                                        </p:attrNameLst>
                                      </p:cBhvr>
                                      <p:to>
                                        <p:strVal val="visible"/>
                                      </p:to>
                                    </p:set>
                                    <p:animEffect transition="in" filter="dissolve">
                                      <p:cBhvr>
                                        <p:cTn id="86" dur="500"/>
                                        <p:tgtEl>
                                          <p:spTgt spid="32768"/>
                                        </p:tgtEl>
                                      </p:cBhvr>
                                    </p:animEffect>
                                  </p:childTnLst>
                                </p:cTn>
                              </p:par>
                            </p:childTnLst>
                          </p:cTn>
                        </p:par>
                      </p:childTnLst>
                    </p:cTn>
                  </p:par>
                  <p:par>
                    <p:cTn id="87" fill="hold">
                      <p:stCondLst>
                        <p:cond delay="indefinite"/>
                      </p:stCondLst>
                      <p:childTnLst>
                        <p:par>
                          <p:cTn id="88" fill="hold">
                            <p:stCondLst>
                              <p:cond delay="0"/>
                            </p:stCondLst>
                            <p:childTnLst>
                              <p:par>
                                <p:cTn id="89" presetID="9" presetClass="entr" presetSubtype="0" fill="hold" nodeType="clickEffect">
                                  <p:stCondLst>
                                    <p:cond delay="0"/>
                                  </p:stCondLst>
                                  <p:childTnLst>
                                    <p:set>
                                      <p:cBhvr>
                                        <p:cTn id="90" dur="1" fill="hold">
                                          <p:stCondLst>
                                            <p:cond delay="0"/>
                                          </p:stCondLst>
                                        </p:cTn>
                                        <p:tgtEl>
                                          <p:spTgt spid="32769"/>
                                        </p:tgtEl>
                                        <p:attrNameLst>
                                          <p:attrName>style.visibility</p:attrName>
                                        </p:attrNameLst>
                                      </p:cBhvr>
                                      <p:to>
                                        <p:strVal val="visible"/>
                                      </p:to>
                                    </p:set>
                                    <p:animEffect transition="in" filter="dissolve">
                                      <p:cBhvr>
                                        <p:cTn id="91" dur="500"/>
                                        <p:tgtEl>
                                          <p:spTgt spid="32769"/>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dissolve">
                                      <p:cBhvr>
                                        <p:cTn id="96" dur="500"/>
                                        <p:tgtEl>
                                          <p:spTgt spid="35"/>
                                        </p:tgtEl>
                                      </p:cBhvr>
                                    </p:animEffect>
                                  </p:childTnLst>
                                </p:cTn>
                              </p:par>
                              <p:par>
                                <p:cTn id="97" presetID="9" presetClass="entr" presetSubtype="0" fill="hold" grpId="0" nodeType="withEffect">
                                  <p:stCondLst>
                                    <p:cond delay="0"/>
                                  </p:stCondLst>
                                  <p:childTnLst>
                                    <p:set>
                                      <p:cBhvr>
                                        <p:cTn id="98" dur="1" fill="hold">
                                          <p:stCondLst>
                                            <p:cond delay="0"/>
                                          </p:stCondLst>
                                        </p:cTn>
                                        <p:tgtEl>
                                          <p:spTgt spid="40"/>
                                        </p:tgtEl>
                                        <p:attrNameLst>
                                          <p:attrName>style.visibility</p:attrName>
                                        </p:attrNameLst>
                                      </p:cBhvr>
                                      <p:to>
                                        <p:strVal val="visible"/>
                                      </p:to>
                                    </p:set>
                                    <p:animEffect transition="in" filter="dissolve">
                                      <p:cBhvr>
                                        <p:cTn id="99" dur="500"/>
                                        <p:tgtEl>
                                          <p:spTgt spid="40"/>
                                        </p:tgtEl>
                                      </p:cBhvr>
                                    </p:animEffect>
                                  </p:childTnLst>
                                </p:cTn>
                              </p:par>
                              <p:par>
                                <p:cTn id="100" presetID="9" presetClass="entr" presetSubtype="0" fill="hold" grpId="1" nodeType="withEffect">
                                  <p:stCondLst>
                                    <p:cond delay="0"/>
                                  </p:stCondLst>
                                  <p:childTnLst>
                                    <p:set>
                                      <p:cBhvr>
                                        <p:cTn id="101" dur="1" fill="hold">
                                          <p:stCondLst>
                                            <p:cond delay="0"/>
                                          </p:stCondLst>
                                        </p:cTn>
                                        <p:tgtEl>
                                          <p:spTgt spid="62"/>
                                        </p:tgtEl>
                                        <p:attrNameLst>
                                          <p:attrName>style.visibility</p:attrName>
                                        </p:attrNameLst>
                                      </p:cBhvr>
                                      <p:to>
                                        <p:strVal val="visible"/>
                                      </p:to>
                                    </p:set>
                                    <p:animEffect transition="in" filter="dissolve">
                                      <p:cBhvr>
                                        <p:cTn id="102" dur="500"/>
                                        <p:tgtEl>
                                          <p:spTgt spid="62"/>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dissolve">
                                      <p:cBhvr>
                                        <p:cTn id="105" dur="500"/>
                                        <p:tgtEl>
                                          <p:spTgt spid="36"/>
                                        </p:tgtEl>
                                      </p:cBhvr>
                                    </p:animEffect>
                                  </p:childTnLst>
                                </p:cTn>
                              </p:par>
                            </p:childTnLst>
                          </p:cTn>
                        </p:par>
                      </p:childTnLst>
                    </p:cTn>
                  </p:par>
                  <p:par>
                    <p:cTn id="106" fill="hold">
                      <p:stCondLst>
                        <p:cond delay="indefinite"/>
                      </p:stCondLst>
                      <p:childTnLst>
                        <p:par>
                          <p:cTn id="107" fill="hold">
                            <p:stCondLst>
                              <p:cond delay="0"/>
                            </p:stCondLst>
                            <p:childTnLst>
                              <p:par>
                                <p:cTn id="108" presetID="9" presetClass="entr" presetSubtype="0" fill="hold" grpId="0" nodeType="clickEffect">
                                  <p:stCondLst>
                                    <p:cond delay="0"/>
                                  </p:stCondLst>
                                  <p:childTnLst>
                                    <p:set>
                                      <p:cBhvr>
                                        <p:cTn id="109" dur="1" fill="hold">
                                          <p:stCondLst>
                                            <p:cond delay="0"/>
                                          </p:stCondLst>
                                        </p:cTn>
                                        <p:tgtEl>
                                          <p:spTgt spid="32783"/>
                                        </p:tgtEl>
                                        <p:attrNameLst>
                                          <p:attrName>style.visibility</p:attrName>
                                        </p:attrNameLst>
                                      </p:cBhvr>
                                      <p:to>
                                        <p:strVal val="visible"/>
                                      </p:to>
                                    </p:set>
                                    <p:animEffect transition="in" filter="dissolve">
                                      <p:cBhvr>
                                        <p:cTn id="110" dur="500"/>
                                        <p:tgtEl>
                                          <p:spTgt spid="32783"/>
                                        </p:tgtEl>
                                      </p:cBhvr>
                                    </p:animEffect>
                                  </p:childTnLst>
                                </p:cTn>
                              </p:par>
                              <p:par>
                                <p:cTn id="111" presetID="9" presetClass="entr" presetSubtype="0" fill="hold" grpId="0" nodeType="withEffect">
                                  <p:stCondLst>
                                    <p:cond delay="0"/>
                                  </p:stCondLst>
                                  <p:childTnLst>
                                    <p:set>
                                      <p:cBhvr>
                                        <p:cTn id="112" dur="1" fill="hold">
                                          <p:stCondLst>
                                            <p:cond delay="0"/>
                                          </p:stCondLst>
                                        </p:cTn>
                                        <p:tgtEl>
                                          <p:spTgt spid="32791"/>
                                        </p:tgtEl>
                                        <p:attrNameLst>
                                          <p:attrName>style.visibility</p:attrName>
                                        </p:attrNameLst>
                                      </p:cBhvr>
                                      <p:to>
                                        <p:strVal val="visible"/>
                                      </p:to>
                                    </p:set>
                                    <p:animEffect transition="in" filter="dissolve">
                                      <p:cBhvr>
                                        <p:cTn id="113" dur="500"/>
                                        <p:tgtEl>
                                          <p:spTgt spid="32791"/>
                                        </p:tgtEl>
                                      </p:cBhvr>
                                    </p:animEffect>
                                  </p:childTnLst>
                                </p:cTn>
                              </p:par>
                            </p:childTnLst>
                          </p:cTn>
                        </p:par>
                      </p:childTnLst>
                    </p:cTn>
                  </p:par>
                  <p:par>
                    <p:cTn id="114" fill="hold">
                      <p:stCondLst>
                        <p:cond delay="indefinite"/>
                      </p:stCondLst>
                      <p:childTnLst>
                        <p:par>
                          <p:cTn id="115" fill="hold">
                            <p:stCondLst>
                              <p:cond delay="0"/>
                            </p:stCondLst>
                            <p:childTnLst>
                              <p:par>
                                <p:cTn id="116" presetID="9" presetClass="entr" presetSubtype="0" fill="hold" grpId="1" nodeType="clickEffect">
                                  <p:stCondLst>
                                    <p:cond delay="0"/>
                                  </p:stCondLst>
                                  <p:childTnLst>
                                    <p:set>
                                      <p:cBhvr>
                                        <p:cTn id="117" dur="1" fill="hold">
                                          <p:stCondLst>
                                            <p:cond delay="0"/>
                                          </p:stCondLst>
                                        </p:cTn>
                                        <p:tgtEl>
                                          <p:spTgt spid="63"/>
                                        </p:tgtEl>
                                        <p:attrNameLst>
                                          <p:attrName>style.visibility</p:attrName>
                                        </p:attrNameLst>
                                      </p:cBhvr>
                                      <p:to>
                                        <p:strVal val="visible"/>
                                      </p:to>
                                    </p:set>
                                    <p:animEffect transition="in" filter="dissolve">
                                      <p:cBhvr>
                                        <p:cTn id="118" dur="500"/>
                                        <p:tgtEl>
                                          <p:spTgt spid="63"/>
                                        </p:tgtEl>
                                      </p:cBhvr>
                                    </p:animEffect>
                                  </p:childTnLst>
                                </p:cTn>
                              </p:par>
                            </p:childTnLst>
                          </p:cTn>
                        </p:par>
                      </p:childTnLst>
                    </p:cTn>
                  </p:par>
                  <p:par>
                    <p:cTn id="119" fill="hold">
                      <p:stCondLst>
                        <p:cond delay="indefinite"/>
                      </p:stCondLst>
                      <p:childTnLst>
                        <p:par>
                          <p:cTn id="120" fill="hold">
                            <p:stCondLst>
                              <p:cond delay="0"/>
                            </p:stCondLst>
                            <p:childTnLst>
                              <p:par>
                                <p:cTn id="121" presetID="9" presetClass="entr" presetSubtype="0" fill="hold" nodeType="clickEffect">
                                  <p:stCondLst>
                                    <p:cond delay="0"/>
                                  </p:stCondLst>
                                  <p:childTnLst>
                                    <p:set>
                                      <p:cBhvr>
                                        <p:cTn id="122" dur="1" fill="hold">
                                          <p:stCondLst>
                                            <p:cond delay="0"/>
                                          </p:stCondLst>
                                        </p:cTn>
                                        <p:tgtEl>
                                          <p:spTgt spid="32779"/>
                                        </p:tgtEl>
                                        <p:attrNameLst>
                                          <p:attrName>style.visibility</p:attrName>
                                        </p:attrNameLst>
                                      </p:cBhvr>
                                      <p:to>
                                        <p:strVal val="visible"/>
                                      </p:to>
                                    </p:set>
                                    <p:animEffect transition="in" filter="dissolve">
                                      <p:cBhvr>
                                        <p:cTn id="123" dur="500"/>
                                        <p:tgtEl>
                                          <p:spTgt spid="32779"/>
                                        </p:tgtEl>
                                      </p:cBhvr>
                                    </p:animEffect>
                                  </p:childTnLst>
                                </p:cTn>
                              </p:par>
                            </p:childTnLst>
                          </p:cTn>
                        </p:par>
                      </p:childTnLst>
                    </p:cTn>
                  </p:par>
                  <p:par>
                    <p:cTn id="124" fill="hold">
                      <p:stCondLst>
                        <p:cond delay="indefinite"/>
                      </p:stCondLst>
                      <p:childTnLst>
                        <p:par>
                          <p:cTn id="125" fill="hold">
                            <p:stCondLst>
                              <p:cond delay="0"/>
                            </p:stCondLst>
                            <p:childTnLst>
                              <p:par>
                                <p:cTn id="126" presetID="9" presetClass="entr" presetSubtype="0" fill="hold" nodeType="clickEffect">
                                  <p:stCondLst>
                                    <p:cond delay="0"/>
                                  </p:stCondLst>
                                  <p:childTnLst>
                                    <p:set>
                                      <p:cBhvr>
                                        <p:cTn id="127" dur="1" fill="hold">
                                          <p:stCondLst>
                                            <p:cond delay="0"/>
                                          </p:stCondLst>
                                        </p:cTn>
                                        <p:tgtEl>
                                          <p:spTgt spid="32829"/>
                                        </p:tgtEl>
                                        <p:attrNameLst>
                                          <p:attrName>style.visibility</p:attrName>
                                        </p:attrNameLst>
                                      </p:cBhvr>
                                      <p:to>
                                        <p:strVal val="visible"/>
                                      </p:to>
                                    </p:set>
                                    <p:animEffect transition="in" filter="dissolve">
                                      <p:cBhvr>
                                        <p:cTn id="128" dur="500"/>
                                        <p:tgtEl>
                                          <p:spTgt spid="32829"/>
                                        </p:tgtEl>
                                      </p:cBhvr>
                                    </p:animEffect>
                                  </p:childTnLst>
                                </p:cTn>
                              </p:par>
                            </p:childTnLst>
                          </p:cTn>
                        </p:par>
                        <p:par>
                          <p:cTn id="129" fill="hold">
                            <p:stCondLst>
                              <p:cond delay="500"/>
                            </p:stCondLst>
                            <p:childTnLst>
                              <p:par>
                                <p:cTn id="130" presetID="9" presetClass="entr" presetSubtype="0" fill="hold" grpId="0" nodeType="afterEffect">
                                  <p:stCondLst>
                                    <p:cond delay="0"/>
                                  </p:stCondLst>
                                  <p:childTnLst>
                                    <p:set>
                                      <p:cBhvr>
                                        <p:cTn id="131" dur="1" fill="hold">
                                          <p:stCondLst>
                                            <p:cond delay="0"/>
                                          </p:stCondLst>
                                        </p:cTn>
                                        <p:tgtEl>
                                          <p:spTgt spid="32834"/>
                                        </p:tgtEl>
                                        <p:attrNameLst>
                                          <p:attrName>style.visibility</p:attrName>
                                        </p:attrNameLst>
                                      </p:cBhvr>
                                      <p:to>
                                        <p:strVal val="visible"/>
                                      </p:to>
                                    </p:set>
                                    <p:animEffect transition="in" filter="dissolve">
                                      <p:cBhvr>
                                        <p:cTn id="132" dur="750"/>
                                        <p:tgtEl>
                                          <p:spTgt spid="32834"/>
                                        </p:tgtEl>
                                      </p:cBhvr>
                                    </p:animEffect>
                                  </p:childTnLst>
                                </p:cTn>
                              </p:par>
                            </p:childTnLst>
                          </p:cTn>
                        </p:par>
                      </p:childTnLst>
                    </p:cTn>
                  </p:par>
                  <p:par>
                    <p:cTn id="133" fill="hold">
                      <p:stCondLst>
                        <p:cond delay="indefinite"/>
                      </p:stCondLst>
                      <p:childTnLst>
                        <p:par>
                          <p:cTn id="134" fill="hold">
                            <p:stCondLst>
                              <p:cond delay="0"/>
                            </p:stCondLst>
                            <p:childTnLst>
                              <p:par>
                                <p:cTn id="135" presetID="9" presetClass="entr" presetSubtype="0" fill="hold" grpId="0" nodeType="clickEffect">
                                  <p:stCondLst>
                                    <p:cond delay="0"/>
                                  </p:stCondLst>
                                  <p:childTnLst>
                                    <p:set>
                                      <p:cBhvr>
                                        <p:cTn id="136" dur="1" fill="hold">
                                          <p:stCondLst>
                                            <p:cond delay="0"/>
                                          </p:stCondLst>
                                        </p:cTn>
                                        <p:tgtEl>
                                          <p:spTgt spid="32796"/>
                                        </p:tgtEl>
                                        <p:attrNameLst>
                                          <p:attrName>style.visibility</p:attrName>
                                        </p:attrNameLst>
                                      </p:cBhvr>
                                      <p:to>
                                        <p:strVal val="visible"/>
                                      </p:to>
                                    </p:set>
                                    <p:animEffect transition="in" filter="dissolve">
                                      <p:cBhvr>
                                        <p:cTn id="137" dur="500"/>
                                        <p:tgtEl>
                                          <p:spTgt spid="32796"/>
                                        </p:tgtEl>
                                      </p:cBhvr>
                                    </p:animEffect>
                                  </p:childTnLst>
                                </p:cTn>
                              </p:par>
                            </p:childTnLst>
                          </p:cTn>
                        </p:par>
                      </p:childTnLst>
                    </p:cTn>
                  </p:par>
                  <p:par>
                    <p:cTn id="138" fill="hold">
                      <p:stCondLst>
                        <p:cond delay="indefinite"/>
                      </p:stCondLst>
                      <p:childTnLst>
                        <p:par>
                          <p:cTn id="139" fill="hold">
                            <p:stCondLst>
                              <p:cond delay="0"/>
                            </p:stCondLst>
                            <p:childTnLst>
                              <p:par>
                                <p:cTn id="140" presetID="9" presetClass="entr" presetSubtype="0" fill="hold" grpId="0" nodeType="clickEffect">
                                  <p:stCondLst>
                                    <p:cond delay="0"/>
                                  </p:stCondLst>
                                  <p:childTnLst>
                                    <p:set>
                                      <p:cBhvr>
                                        <p:cTn id="141" dur="1" fill="hold">
                                          <p:stCondLst>
                                            <p:cond delay="0"/>
                                          </p:stCondLst>
                                        </p:cTn>
                                        <p:tgtEl>
                                          <p:spTgt spid="32808"/>
                                        </p:tgtEl>
                                        <p:attrNameLst>
                                          <p:attrName>style.visibility</p:attrName>
                                        </p:attrNameLst>
                                      </p:cBhvr>
                                      <p:to>
                                        <p:strVal val="visible"/>
                                      </p:to>
                                    </p:set>
                                    <p:animEffect transition="in" filter="dissolve">
                                      <p:cBhvr>
                                        <p:cTn id="142" dur="500"/>
                                        <p:tgtEl>
                                          <p:spTgt spid="32808"/>
                                        </p:tgtEl>
                                      </p:cBhvr>
                                    </p:animEffect>
                                  </p:childTnLst>
                                </p:cTn>
                              </p:par>
                            </p:childTnLst>
                          </p:cTn>
                        </p:par>
                      </p:childTnLst>
                    </p:cTn>
                  </p:par>
                  <p:par>
                    <p:cTn id="143" fill="hold">
                      <p:stCondLst>
                        <p:cond delay="indefinite"/>
                      </p:stCondLst>
                      <p:childTnLst>
                        <p:par>
                          <p:cTn id="144" fill="hold">
                            <p:stCondLst>
                              <p:cond delay="0"/>
                            </p:stCondLst>
                            <p:childTnLst>
                              <p:par>
                                <p:cTn id="145" presetID="9" presetClass="entr" presetSubtype="0" fill="hold" grpId="0" nodeType="clickEffect">
                                  <p:stCondLst>
                                    <p:cond delay="0"/>
                                  </p:stCondLst>
                                  <p:childTnLst>
                                    <p:set>
                                      <p:cBhvr>
                                        <p:cTn id="146" dur="1" fill="hold">
                                          <p:stCondLst>
                                            <p:cond delay="0"/>
                                          </p:stCondLst>
                                        </p:cTn>
                                        <p:tgtEl>
                                          <p:spTgt spid="32806"/>
                                        </p:tgtEl>
                                        <p:attrNameLst>
                                          <p:attrName>style.visibility</p:attrName>
                                        </p:attrNameLst>
                                      </p:cBhvr>
                                      <p:to>
                                        <p:strVal val="visible"/>
                                      </p:to>
                                    </p:set>
                                    <p:animEffect transition="in" filter="dissolve">
                                      <p:cBhvr>
                                        <p:cTn id="147" dur="500"/>
                                        <p:tgtEl>
                                          <p:spTgt spid="32806"/>
                                        </p:tgtEl>
                                      </p:cBhvr>
                                    </p:animEffect>
                                  </p:childTnLst>
                                </p:cTn>
                              </p:par>
                            </p:childTnLst>
                          </p:cTn>
                        </p:par>
                      </p:childTnLst>
                    </p:cTn>
                  </p:par>
                  <p:par>
                    <p:cTn id="148" fill="hold">
                      <p:stCondLst>
                        <p:cond delay="indefinite"/>
                      </p:stCondLst>
                      <p:childTnLst>
                        <p:par>
                          <p:cTn id="149" fill="hold">
                            <p:stCondLst>
                              <p:cond delay="0"/>
                            </p:stCondLst>
                            <p:childTnLst>
                              <p:par>
                                <p:cTn id="150" presetID="9" presetClass="entr" presetSubtype="0" fill="hold" grpId="0" nodeType="clickEffect">
                                  <p:stCondLst>
                                    <p:cond delay="0"/>
                                  </p:stCondLst>
                                  <p:childTnLst>
                                    <p:set>
                                      <p:cBhvr>
                                        <p:cTn id="151" dur="1" fill="hold">
                                          <p:stCondLst>
                                            <p:cond delay="0"/>
                                          </p:stCondLst>
                                        </p:cTn>
                                        <p:tgtEl>
                                          <p:spTgt spid="32819"/>
                                        </p:tgtEl>
                                        <p:attrNameLst>
                                          <p:attrName>style.visibility</p:attrName>
                                        </p:attrNameLst>
                                      </p:cBhvr>
                                      <p:to>
                                        <p:strVal val="visible"/>
                                      </p:to>
                                    </p:set>
                                    <p:animEffect transition="in" filter="dissolve">
                                      <p:cBhvr>
                                        <p:cTn id="152" dur="500"/>
                                        <p:tgtEl>
                                          <p:spTgt spid="32819"/>
                                        </p:tgtEl>
                                      </p:cBhvr>
                                    </p:animEffect>
                                  </p:childTnLst>
                                </p:cTn>
                              </p:par>
                            </p:childTnLst>
                          </p:cTn>
                        </p:par>
                      </p:childTnLst>
                    </p:cTn>
                  </p:par>
                  <p:par>
                    <p:cTn id="153" fill="hold">
                      <p:stCondLst>
                        <p:cond delay="indefinite"/>
                      </p:stCondLst>
                      <p:childTnLst>
                        <p:par>
                          <p:cTn id="154" fill="hold">
                            <p:stCondLst>
                              <p:cond delay="0"/>
                            </p:stCondLst>
                            <p:childTnLst>
                              <p:par>
                                <p:cTn id="155" presetID="9" presetClass="entr" presetSubtype="0" fill="hold" nodeType="clickEffect">
                                  <p:stCondLst>
                                    <p:cond delay="0"/>
                                  </p:stCondLst>
                                  <p:childTnLst>
                                    <p:set>
                                      <p:cBhvr>
                                        <p:cTn id="156" dur="1" fill="hold">
                                          <p:stCondLst>
                                            <p:cond delay="0"/>
                                          </p:stCondLst>
                                        </p:cTn>
                                        <p:tgtEl>
                                          <p:spTgt spid="32839"/>
                                        </p:tgtEl>
                                        <p:attrNameLst>
                                          <p:attrName>style.visibility</p:attrName>
                                        </p:attrNameLst>
                                      </p:cBhvr>
                                      <p:to>
                                        <p:strVal val="visible"/>
                                      </p:to>
                                    </p:set>
                                    <p:animEffect transition="in" filter="dissolve">
                                      <p:cBhvr>
                                        <p:cTn id="157" dur="500"/>
                                        <p:tgtEl>
                                          <p:spTgt spid="32839"/>
                                        </p:tgtEl>
                                      </p:cBhvr>
                                    </p:animEffect>
                                  </p:childTnLst>
                                </p:cTn>
                              </p:par>
                            </p:childTnLst>
                          </p:cTn>
                        </p:par>
                        <p:par>
                          <p:cTn id="158" fill="hold">
                            <p:stCondLst>
                              <p:cond delay="500"/>
                            </p:stCondLst>
                            <p:childTnLst>
                              <p:par>
                                <p:cTn id="159" presetID="9" presetClass="entr" presetSubtype="0" fill="hold" grpId="1" nodeType="afterEffect">
                                  <p:stCondLst>
                                    <p:cond delay="0"/>
                                  </p:stCondLst>
                                  <p:childTnLst>
                                    <p:set>
                                      <p:cBhvr>
                                        <p:cTn id="160" dur="1" fill="hold">
                                          <p:stCondLst>
                                            <p:cond delay="0"/>
                                          </p:stCondLst>
                                        </p:cTn>
                                        <p:tgtEl>
                                          <p:spTgt spid="32838"/>
                                        </p:tgtEl>
                                        <p:attrNameLst>
                                          <p:attrName>style.visibility</p:attrName>
                                        </p:attrNameLst>
                                      </p:cBhvr>
                                      <p:to>
                                        <p:strVal val="visible"/>
                                      </p:to>
                                    </p:set>
                                    <p:animEffect transition="in" filter="dissolve">
                                      <p:cBhvr>
                                        <p:cTn id="161" dur="750"/>
                                        <p:tgtEl>
                                          <p:spTgt spid="32838"/>
                                        </p:tgtEl>
                                      </p:cBhvr>
                                    </p:animEffect>
                                  </p:childTnLst>
                                </p:cTn>
                              </p:par>
                            </p:childTnLst>
                          </p:cTn>
                        </p:par>
                      </p:childTnLst>
                    </p:cTn>
                  </p:par>
                  <p:par>
                    <p:cTn id="162" fill="hold">
                      <p:stCondLst>
                        <p:cond delay="indefinite"/>
                      </p:stCondLst>
                      <p:childTnLst>
                        <p:par>
                          <p:cTn id="163" fill="hold">
                            <p:stCondLst>
                              <p:cond delay="0"/>
                            </p:stCondLst>
                            <p:childTnLst>
                              <p:par>
                                <p:cTn id="164" presetID="9" presetClass="entr" presetSubtype="0" fill="hold" grpId="0" nodeType="clickEffect">
                                  <p:stCondLst>
                                    <p:cond delay="0"/>
                                  </p:stCondLst>
                                  <p:childTnLst>
                                    <p:set>
                                      <p:cBhvr>
                                        <p:cTn id="165" dur="1" fill="hold">
                                          <p:stCondLst>
                                            <p:cond delay="0"/>
                                          </p:stCondLst>
                                        </p:cTn>
                                        <p:tgtEl>
                                          <p:spTgt spid="58"/>
                                        </p:tgtEl>
                                        <p:attrNameLst>
                                          <p:attrName>style.visibility</p:attrName>
                                        </p:attrNameLst>
                                      </p:cBhvr>
                                      <p:to>
                                        <p:strVal val="visible"/>
                                      </p:to>
                                    </p:set>
                                    <p:animEffect transition="in" filter="dissolve">
                                      <p:cBhvr>
                                        <p:cTn id="166" dur="500"/>
                                        <p:tgtEl>
                                          <p:spTgt spid="58"/>
                                        </p:tgtEl>
                                      </p:cBhvr>
                                    </p:animEffect>
                                  </p:childTnLst>
                                </p:cTn>
                              </p:par>
                            </p:childTnLst>
                          </p:cTn>
                        </p:par>
                      </p:childTnLst>
                    </p:cTn>
                  </p:par>
                  <p:par>
                    <p:cTn id="167" fill="hold">
                      <p:stCondLst>
                        <p:cond delay="indefinite"/>
                      </p:stCondLst>
                      <p:childTnLst>
                        <p:par>
                          <p:cTn id="168" fill="hold">
                            <p:stCondLst>
                              <p:cond delay="0"/>
                            </p:stCondLst>
                            <p:childTnLst>
                              <p:par>
                                <p:cTn id="169" presetID="9" presetClass="entr" presetSubtype="0" fill="hold" grpId="0" nodeType="clickEffect">
                                  <p:stCondLst>
                                    <p:cond delay="0"/>
                                  </p:stCondLst>
                                  <p:childTnLst>
                                    <p:set>
                                      <p:cBhvr>
                                        <p:cTn id="170" dur="1" fill="hold">
                                          <p:stCondLst>
                                            <p:cond delay="0"/>
                                          </p:stCondLst>
                                        </p:cTn>
                                        <p:tgtEl>
                                          <p:spTgt spid="32804"/>
                                        </p:tgtEl>
                                        <p:attrNameLst>
                                          <p:attrName>style.visibility</p:attrName>
                                        </p:attrNameLst>
                                      </p:cBhvr>
                                      <p:to>
                                        <p:strVal val="visible"/>
                                      </p:to>
                                    </p:set>
                                    <p:animEffect transition="in" filter="dissolve">
                                      <p:cBhvr>
                                        <p:cTn id="171" dur="500"/>
                                        <p:tgtEl>
                                          <p:spTgt spid="32804"/>
                                        </p:tgtEl>
                                      </p:cBhvr>
                                    </p:animEffect>
                                  </p:childTnLst>
                                </p:cTn>
                              </p:par>
                              <p:par>
                                <p:cTn id="172" presetID="9" presetClass="entr" presetSubtype="0" fill="hold" grpId="0" nodeType="withEffect">
                                  <p:stCondLst>
                                    <p:cond delay="0"/>
                                  </p:stCondLst>
                                  <p:childTnLst>
                                    <p:set>
                                      <p:cBhvr>
                                        <p:cTn id="173" dur="1" fill="hold">
                                          <p:stCondLst>
                                            <p:cond delay="0"/>
                                          </p:stCondLst>
                                        </p:cTn>
                                        <p:tgtEl>
                                          <p:spTgt spid="32797"/>
                                        </p:tgtEl>
                                        <p:attrNameLst>
                                          <p:attrName>style.visibility</p:attrName>
                                        </p:attrNameLst>
                                      </p:cBhvr>
                                      <p:to>
                                        <p:strVal val="visible"/>
                                      </p:to>
                                    </p:set>
                                    <p:animEffect transition="in" filter="dissolve">
                                      <p:cBhvr>
                                        <p:cTn id="174" dur="500"/>
                                        <p:tgtEl>
                                          <p:spTgt spid="32797"/>
                                        </p:tgtEl>
                                      </p:cBhvr>
                                    </p:animEffect>
                                  </p:childTnLst>
                                </p:cTn>
                              </p:par>
                            </p:childTnLst>
                          </p:cTn>
                        </p:par>
                      </p:childTnLst>
                    </p:cTn>
                  </p:par>
                  <p:par>
                    <p:cTn id="175" fill="hold">
                      <p:stCondLst>
                        <p:cond delay="indefinite"/>
                      </p:stCondLst>
                      <p:childTnLst>
                        <p:par>
                          <p:cTn id="176" fill="hold">
                            <p:stCondLst>
                              <p:cond delay="0"/>
                            </p:stCondLst>
                            <p:childTnLst>
                              <p:par>
                                <p:cTn id="177" presetID="9" presetClass="entr" presetSubtype="0" fill="hold" grpId="1" nodeType="clickEffect">
                                  <p:stCondLst>
                                    <p:cond delay="0"/>
                                  </p:stCondLst>
                                  <p:childTnLst>
                                    <p:set>
                                      <p:cBhvr>
                                        <p:cTn id="178" dur="1" fill="hold">
                                          <p:stCondLst>
                                            <p:cond delay="0"/>
                                          </p:stCondLst>
                                        </p:cTn>
                                        <p:tgtEl>
                                          <p:spTgt spid="32836"/>
                                        </p:tgtEl>
                                        <p:attrNameLst>
                                          <p:attrName>style.visibility</p:attrName>
                                        </p:attrNameLst>
                                      </p:cBhvr>
                                      <p:to>
                                        <p:strVal val="visible"/>
                                      </p:to>
                                    </p:set>
                                    <p:animEffect transition="in" filter="dissolve">
                                      <p:cBhvr>
                                        <p:cTn id="179" dur="500"/>
                                        <p:tgtEl>
                                          <p:spTgt spid="32836"/>
                                        </p:tgtEl>
                                      </p:cBhvr>
                                    </p:animEffect>
                                  </p:childTnLst>
                                </p:cTn>
                              </p:par>
                            </p:childTnLst>
                          </p:cTn>
                        </p:par>
                      </p:childTnLst>
                    </p:cTn>
                  </p:par>
                  <p:par>
                    <p:cTn id="180" fill="hold">
                      <p:stCondLst>
                        <p:cond delay="indefinite"/>
                      </p:stCondLst>
                      <p:childTnLst>
                        <p:par>
                          <p:cTn id="181" fill="hold">
                            <p:stCondLst>
                              <p:cond delay="0"/>
                            </p:stCondLst>
                            <p:childTnLst>
                              <p:par>
                                <p:cTn id="182" presetID="6" presetClass="emph" presetSubtype="0" fill="hold" grpId="1" nodeType="clickEffect">
                                  <p:stCondLst>
                                    <p:cond delay="0"/>
                                  </p:stCondLst>
                                  <p:childTnLst>
                                    <p:animScale>
                                      <p:cBhvr>
                                        <p:cTn id="183" dur="1500" fill="hold"/>
                                        <p:tgtEl>
                                          <p:spTgt spid="32806"/>
                                        </p:tgtEl>
                                      </p:cBhvr>
                                      <p:by x="150000" y="150000"/>
                                    </p:animScale>
                                  </p:childTnLst>
                                </p:cTn>
                              </p:par>
                            </p:childTnLst>
                          </p:cTn>
                        </p:par>
                      </p:childTnLst>
                    </p:cTn>
                  </p:par>
                  <p:par>
                    <p:cTn id="184" fill="hold">
                      <p:stCondLst>
                        <p:cond delay="indefinite"/>
                      </p:stCondLst>
                      <p:childTnLst>
                        <p:par>
                          <p:cTn id="185" fill="hold">
                            <p:stCondLst>
                              <p:cond delay="0"/>
                            </p:stCondLst>
                            <p:childTnLst>
                              <p:par>
                                <p:cTn id="186" presetID="9" presetClass="entr" presetSubtype="0" fill="hold" grpId="0" nodeType="clickEffect">
                                  <p:stCondLst>
                                    <p:cond delay="0"/>
                                  </p:stCondLst>
                                  <p:childTnLst>
                                    <p:set>
                                      <p:cBhvr>
                                        <p:cTn id="187" dur="1" fill="hold">
                                          <p:stCondLst>
                                            <p:cond delay="0"/>
                                          </p:stCondLst>
                                        </p:cTn>
                                        <p:tgtEl>
                                          <p:spTgt spid="32837"/>
                                        </p:tgtEl>
                                        <p:attrNameLst>
                                          <p:attrName>style.visibility</p:attrName>
                                        </p:attrNameLst>
                                      </p:cBhvr>
                                      <p:to>
                                        <p:strVal val="visible"/>
                                      </p:to>
                                    </p:set>
                                    <p:animEffect transition="in" filter="dissolve">
                                      <p:cBhvr>
                                        <p:cTn id="188" dur="500"/>
                                        <p:tgtEl>
                                          <p:spTgt spid="32837"/>
                                        </p:tgtEl>
                                      </p:cBhvr>
                                    </p:animEffect>
                                  </p:childTnLst>
                                </p:cTn>
                              </p:par>
                            </p:childTnLst>
                          </p:cTn>
                        </p:par>
                      </p:childTnLst>
                    </p:cTn>
                  </p:par>
                  <p:par>
                    <p:cTn id="189" fill="hold">
                      <p:stCondLst>
                        <p:cond delay="indefinite"/>
                      </p:stCondLst>
                      <p:childTnLst>
                        <p:par>
                          <p:cTn id="190" fill="hold">
                            <p:stCondLst>
                              <p:cond delay="0"/>
                            </p:stCondLst>
                            <p:childTnLst>
                              <p:par>
                                <p:cTn id="191" presetID="9" presetClass="entr" presetSubtype="0" fill="hold" nodeType="clickEffect">
                                  <p:stCondLst>
                                    <p:cond delay="0"/>
                                  </p:stCondLst>
                                  <p:childTnLst>
                                    <p:set>
                                      <p:cBhvr>
                                        <p:cTn id="192" dur="1" fill="hold">
                                          <p:stCondLst>
                                            <p:cond delay="0"/>
                                          </p:stCondLst>
                                        </p:cTn>
                                        <p:tgtEl>
                                          <p:spTgt spid="32778"/>
                                        </p:tgtEl>
                                        <p:attrNameLst>
                                          <p:attrName>style.visibility</p:attrName>
                                        </p:attrNameLst>
                                      </p:cBhvr>
                                      <p:to>
                                        <p:strVal val="visible"/>
                                      </p:to>
                                    </p:set>
                                    <p:animEffect transition="in" filter="dissolve">
                                      <p:cBhvr>
                                        <p:cTn id="193" dur="500"/>
                                        <p:tgtEl>
                                          <p:spTgt spid="32778"/>
                                        </p:tgtEl>
                                      </p:cBhvr>
                                    </p:animEffect>
                                  </p:childTnLst>
                                </p:cTn>
                              </p:par>
                            </p:childTnLst>
                          </p:cTn>
                        </p:par>
                        <p:par>
                          <p:cTn id="194" fill="hold">
                            <p:stCondLst>
                              <p:cond delay="500"/>
                            </p:stCondLst>
                            <p:childTnLst>
                              <p:par>
                                <p:cTn id="195" presetID="9" presetClass="entr" presetSubtype="0" fill="hold" grpId="0" nodeType="afterEffect">
                                  <p:stCondLst>
                                    <p:cond delay="0"/>
                                  </p:stCondLst>
                                  <p:childTnLst>
                                    <p:set>
                                      <p:cBhvr>
                                        <p:cTn id="196" dur="1" fill="hold">
                                          <p:stCondLst>
                                            <p:cond delay="0"/>
                                          </p:stCondLst>
                                        </p:cTn>
                                        <p:tgtEl>
                                          <p:spTgt spid="60"/>
                                        </p:tgtEl>
                                        <p:attrNameLst>
                                          <p:attrName>style.visibility</p:attrName>
                                        </p:attrNameLst>
                                      </p:cBhvr>
                                      <p:to>
                                        <p:strVal val="visible"/>
                                      </p:to>
                                    </p:set>
                                    <p:animEffect transition="in" filter="dissolve">
                                      <p:cBhvr>
                                        <p:cTn id="197" dur="750"/>
                                        <p:tgtEl>
                                          <p:spTgt spid="60"/>
                                        </p:tgtEl>
                                      </p:cBhvr>
                                    </p:animEffect>
                                  </p:childTnLst>
                                </p:cTn>
                              </p:par>
                            </p:childTnLst>
                          </p:cTn>
                        </p:par>
                      </p:childTnLst>
                    </p:cTn>
                  </p:par>
                  <p:par>
                    <p:cTn id="198" fill="hold">
                      <p:stCondLst>
                        <p:cond delay="indefinite"/>
                      </p:stCondLst>
                      <p:childTnLst>
                        <p:par>
                          <p:cTn id="199" fill="hold">
                            <p:stCondLst>
                              <p:cond delay="0"/>
                            </p:stCondLst>
                            <p:childTnLst>
                              <p:par>
                                <p:cTn id="200" presetID="9" presetClass="entr" presetSubtype="0" fill="hold" grpId="0" nodeType="clickEffect">
                                  <p:stCondLst>
                                    <p:cond delay="0"/>
                                  </p:stCondLst>
                                  <p:childTnLst>
                                    <p:set>
                                      <p:cBhvr>
                                        <p:cTn id="201" dur="1" fill="hold">
                                          <p:stCondLst>
                                            <p:cond delay="0"/>
                                          </p:stCondLst>
                                        </p:cTn>
                                        <p:tgtEl>
                                          <p:spTgt spid="32826"/>
                                        </p:tgtEl>
                                        <p:attrNameLst>
                                          <p:attrName>style.visibility</p:attrName>
                                        </p:attrNameLst>
                                      </p:cBhvr>
                                      <p:to>
                                        <p:strVal val="visible"/>
                                      </p:to>
                                    </p:set>
                                    <p:animEffect transition="in" filter="dissolve">
                                      <p:cBhvr>
                                        <p:cTn id="202" dur="500"/>
                                        <p:tgtEl>
                                          <p:spTgt spid="32826"/>
                                        </p:tgtEl>
                                      </p:cBhvr>
                                    </p:animEffect>
                                  </p:childTnLst>
                                </p:cTn>
                              </p:par>
                              <p:par>
                                <p:cTn id="203" presetID="9" presetClass="entr" presetSubtype="0" fill="hold" grpId="0" nodeType="withEffect">
                                  <p:stCondLst>
                                    <p:cond delay="0"/>
                                  </p:stCondLst>
                                  <p:childTnLst>
                                    <p:set>
                                      <p:cBhvr>
                                        <p:cTn id="204" dur="1" fill="hold">
                                          <p:stCondLst>
                                            <p:cond delay="0"/>
                                          </p:stCondLst>
                                        </p:cTn>
                                        <p:tgtEl>
                                          <p:spTgt spid="32825"/>
                                        </p:tgtEl>
                                        <p:attrNameLst>
                                          <p:attrName>style.visibility</p:attrName>
                                        </p:attrNameLst>
                                      </p:cBhvr>
                                      <p:to>
                                        <p:strVal val="visible"/>
                                      </p:to>
                                    </p:set>
                                    <p:animEffect transition="in" filter="dissolve">
                                      <p:cBhvr>
                                        <p:cTn id="205" dur="500"/>
                                        <p:tgtEl>
                                          <p:spTgt spid="32825"/>
                                        </p:tgtEl>
                                      </p:cBhvr>
                                    </p:animEffect>
                                  </p:childTnLst>
                                </p:cTn>
                              </p:par>
                            </p:childTnLst>
                          </p:cTn>
                        </p:par>
                      </p:childTnLst>
                    </p:cTn>
                  </p:par>
                  <p:par>
                    <p:cTn id="206" fill="hold">
                      <p:stCondLst>
                        <p:cond delay="indefinite"/>
                      </p:stCondLst>
                      <p:childTnLst>
                        <p:par>
                          <p:cTn id="207" fill="hold">
                            <p:stCondLst>
                              <p:cond delay="0"/>
                            </p:stCondLst>
                            <p:childTnLst>
                              <p:par>
                                <p:cTn id="208" presetID="9" presetClass="entr" presetSubtype="0" fill="hold" nodeType="clickEffect">
                                  <p:stCondLst>
                                    <p:cond delay="0"/>
                                  </p:stCondLst>
                                  <p:childTnLst>
                                    <p:set>
                                      <p:cBhvr>
                                        <p:cTn id="209" dur="1" fill="hold">
                                          <p:stCondLst>
                                            <p:cond delay="0"/>
                                          </p:stCondLst>
                                        </p:cTn>
                                        <p:tgtEl>
                                          <p:spTgt spid="8"/>
                                        </p:tgtEl>
                                        <p:attrNameLst>
                                          <p:attrName>style.visibility</p:attrName>
                                        </p:attrNameLst>
                                      </p:cBhvr>
                                      <p:to>
                                        <p:strVal val="visible"/>
                                      </p:to>
                                    </p:set>
                                    <p:animEffect transition="in" filter="dissolve">
                                      <p:cBhvr>
                                        <p:cTn id="210" dur="500"/>
                                        <p:tgtEl>
                                          <p:spTgt spid="8"/>
                                        </p:tgtEl>
                                      </p:cBhvr>
                                    </p:animEffect>
                                  </p:childTnLst>
                                </p:cTn>
                              </p:par>
                              <p:par>
                                <p:cTn id="211" presetID="9" presetClass="entr" presetSubtype="0" fill="hold" nodeType="withEffect">
                                  <p:stCondLst>
                                    <p:cond delay="0"/>
                                  </p:stCondLst>
                                  <p:childTnLst>
                                    <p:set>
                                      <p:cBhvr>
                                        <p:cTn id="212" dur="1" fill="hold">
                                          <p:stCondLst>
                                            <p:cond delay="0"/>
                                          </p:stCondLst>
                                        </p:cTn>
                                        <p:tgtEl>
                                          <p:spTgt spid="20"/>
                                        </p:tgtEl>
                                        <p:attrNameLst>
                                          <p:attrName>style.visibility</p:attrName>
                                        </p:attrNameLst>
                                      </p:cBhvr>
                                      <p:to>
                                        <p:strVal val="visible"/>
                                      </p:to>
                                    </p:set>
                                    <p:animEffect transition="in" filter="dissolve">
                                      <p:cBhvr>
                                        <p:cTn id="213" dur="500"/>
                                        <p:tgtEl>
                                          <p:spTgt spid="20"/>
                                        </p:tgtEl>
                                      </p:cBhvr>
                                    </p:animEffect>
                                  </p:childTnLst>
                                </p:cTn>
                              </p:par>
                              <p:par>
                                <p:cTn id="214" presetID="9" presetClass="entr" presetSubtype="0" fill="hold" nodeType="withEffect">
                                  <p:stCondLst>
                                    <p:cond delay="0"/>
                                  </p:stCondLst>
                                  <p:childTnLst>
                                    <p:set>
                                      <p:cBhvr>
                                        <p:cTn id="215" dur="1" fill="hold">
                                          <p:stCondLst>
                                            <p:cond delay="0"/>
                                          </p:stCondLst>
                                        </p:cTn>
                                        <p:tgtEl>
                                          <p:spTgt spid="27"/>
                                        </p:tgtEl>
                                        <p:attrNameLst>
                                          <p:attrName>style.visibility</p:attrName>
                                        </p:attrNameLst>
                                      </p:cBhvr>
                                      <p:to>
                                        <p:strVal val="visible"/>
                                      </p:to>
                                    </p:set>
                                    <p:animEffect transition="in" filter="dissolve">
                                      <p:cBhvr>
                                        <p:cTn id="216" dur="500"/>
                                        <p:tgtEl>
                                          <p:spTgt spid="27"/>
                                        </p:tgtEl>
                                      </p:cBhvr>
                                    </p:animEffect>
                                  </p:childTnLst>
                                </p:cTn>
                              </p:par>
                              <p:par>
                                <p:cTn id="217" presetID="9" presetClass="entr" presetSubtype="0" fill="hold" nodeType="withEffect">
                                  <p:stCondLst>
                                    <p:cond delay="0"/>
                                  </p:stCondLst>
                                  <p:childTnLst>
                                    <p:set>
                                      <p:cBhvr>
                                        <p:cTn id="218" dur="1" fill="hold">
                                          <p:stCondLst>
                                            <p:cond delay="0"/>
                                          </p:stCondLst>
                                        </p:cTn>
                                        <p:tgtEl>
                                          <p:spTgt spid="30"/>
                                        </p:tgtEl>
                                        <p:attrNameLst>
                                          <p:attrName>style.visibility</p:attrName>
                                        </p:attrNameLst>
                                      </p:cBhvr>
                                      <p:to>
                                        <p:strVal val="visible"/>
                                      </p:to>
                                    </p:set>
                                    <p:animEffect transition="in" filter="dissolve">
                                      <p:cBhvr>
                                        <p:cTn id="219" dur="500"/>
                                        <p:tgtEl>
                                          <p:spTgt spid="30"/>
                                        </p:tgtEl>
                                      </p:cBhvr>
                                    </p:animEffect>
                                  </p:childTnLst>
                                </p:cTn>
                              </p:par>
                              <p:par>
                                <p:cTn id="220" presetID="9" presetClass="entr" presetSubtype="0" fill="hold" nodeType="withEffect">
                                  <p:stCondLst>
                                    <p:cond delay="0"/>
                                  </p:stCondLst>
                                  <p:childTnLst>
                                    <p:set>
                                      <p:cBhvr>
                                        <p:cTn id="221" dur="1" fill="hold">
                                          <p:stCondLst>
                                            <p:cond delay="0"/>
                                          </p:stCondLst>
                                        </p:cTn>
                                        <p:tgtEl>
                                          <p:spTgt spid="33"/>
                                        </p:tgtEl>
                                        <p:attrNameLst>
                                          <p:attrName>style.visibility</p:attrName>
                                        </p:attrNameLst>
                                      </p:cBhvr>
                                      <p:to>
                                        <p:strVal val="visible"/>
                                      </p:to>
                                    </p:set>
                                    <p:animEffect transition="in" filter="dissolve">
                                      <p:cBhvr>
                                        <p:cTn id="222" dur="500"/>
                                        <p:tgtEl>
                                          <p:spTgt spid="33"/>
                                        </p:tgtEl>
                                      </p:cBhvr>
                                    </p:animEffect>
                                  </p:childTnLst>
                                </p:cTn>
                              </p:par>
                              <p:par>
                                <p:cTn id="223" presetID="9" presetClass="entr" presetSubtype="0" fill="hold" nodeType="withEffect">
                                  <p:stCondLst>
                                    <p:cond delay="0"/>
                                  </p:stCondLst>
                                  <p:childTnLst>
                                    <p:set>
                                      <p:cBhvr>
                                        <p:cTn id="224" dur="1" fill="hold">
                                          <p:stCondLst>
                                            <p:cond delay="0"/>
                                          </p:stCondLst>
                                        </p:cTn>
                                        <p:tgtEl>
                                          <p:spTgt spid="38"/>
                                        </p:tgtEl>
                                        <p:attrNameLst>
                                          <p:attrName>style.visibility</p:attrName>
                                        </p:attrNameLst>
                                      </p:cBhvr>
                                      <p:to>
                                        <p:strVal val="visible"/>
                                      </p:to>
                                    </p:set>
                                    <p:animEffect transition="in" filter="dissolve">
                                      <p:cBhvr>
                                        <p:cTn id="225" dur="500"/>
                                        <p:tgtEl>
                                          <p:spTgt spid="38"/>
                                        </p:tgtEl>
                                      </p:cBhvr>
                                    </p:animEffect>
                                  </p:childTnLst>
                                </p:cTn>
                              </p:par>
                              <p:par>
                                <p:cTn id="226" presetID="9" presetClass="entr" presetSubtype="0" fill="hold" grpId="0" nodeType="withEffect">
                                  <p:stCondLst>
                                    <p:cond delay="0"/>
                                  </p:stCondLst>
                                  <p:childTnLst>
                                    <p:set>
                                      <p:cBhvr>
                                        <p:cTn id="227" dur="1" fill="hold">
                                          <p:stCondLst>
                                            <p:cond delay="0"/>
                                          </p:stCondLst>
                                        </p:cTn>
                                        <p:tgtEl>
                                          <p:spTgt spid="57"/>
                                        </p:tgtEl>
                                        <p:attrNameLst>
                                          <p:attrName>style.visibility</p:attrName>
                                        </p:attrNameLst>
                                      </p:cBhvr>
                                      <p:to>
                                        <p:strVal val="visible"/>
                                      </p:to>
                                    </p:set>
                                    <p:animEffect transition="in" filter="dissolve">
                                      <p:cBhvr>
                                        <p:cTn id="228" dur="500"/>
                                        <p:tgtEl>
                                          <p:spTgt spid="57"/>
                                        </p:tgtEl>
                                      </p:cBhvr>
                                    </p:animEffect>
                                  </p:childTnLst>
                                </p:cTn>
                              </p:par>
                              <p:par>
                                <p:cTn id="229" presetID="9" presetClass="entr" presetSubtype="0" fill="hold" grpId="0" nodeType="withEffect">
                                  <p:stCondLst>
                                    <p:cond delay="0"/>
                                  </p:stCondLst>
                                  <p:childTnLst>
                                    <p:set>
                                      <p:cBhvr>
                                        <p:cTn id="230" dur="1" fill="hold">
                                          <p:stCondLst>
                                            <p:cond delay="0"/>
                                          </p:stCondLst>
                                        </p:cTn>
                                        <p:tgtEl>
                                          <p:spTgt spid="32772"/>
                                        </p:tgtEl>
                                        <p:attrNameLst>
                                          <p:attrName>style.visibility</p:attrName>
                                        </p:attrNameLst>
                                      </p:cBhvr>
                                      <p:to>
                                        <p:strVal val="visible"/>
                                      </p:to>
                                    </p:set>
                                    <p:animEffect transition="in" filter="dissolve">
                                      <p:cBhvr>
                                        <p:cTn id="231" dur="500"/>
                                        <p:tgtEl>
                                          <p:spTgt spid="32772"/>
                                        </p:tgtEl>
                                      </p:cBhvr>
                                    </p:animEffect>
                                  </p:childTnLst>
                                </p:cTn>
                              </p:par>
                              <p:par>
                                <p:cTn id="232" presetID="9" presetClass="entr" presetSubtype="0" fill="hold" nodeType="withEffect">
                                  <p:stCondLst>
                                    <p:cond delay="0"/>
                                  </p:stCondLst>
                                  <p:childTnLst>
                                    <p:set>
                                      <p:cBhvr>
                                        <p:cTn id="233" dur="1" fill="hold">
                                          <p:stCondLst>
                                            <p:cond delay="0"/>
                                          </p:stCondLst>
                                        </p:cTn>
                                        <p:tgtEl>
                                          <p:spTgt spid="39"/>
                                        </p:tgtEl>
                                        <p:attrNameLst>
                                          <p:attrName>style.visibility</p:attrName>
                                        </p:attrNameLst>
                                      </p:cBhvr>
                                      <p:to>
                                        <p:strVal val="visible"/>
                                      </p:to>
                                    </p:set>
                                    <p:animEffect transition="in" filter="dissolve">
                                      <p:cBhvr>
                                        <p:cTn id="234" dur="500"/>
                                        <p:tgtEl>
                                          <p:spTgt spid="39"/>
                                        </p:tgtEl>
                                      </p:cBhvr>
                                    </p:animEffect>
                                  </p:childTnLst>
                                </p:cTn>
                              </p:par>
                            </p:childTnLst>
                          </p:cTn>
                        </p:par>
                      </p:childTnLst>
                    </p:cTn>
                  </p:par>
                  <p:par>
                    <p:cTn id="235" fill="hold">
                      <p:stCondLst>
                        <p:cond delay="indefinite"/>
                      </p:stCondLst>
                      <p:childTnLst>
                        <p:par>
                          <p:cTn id="236" fill="hold">
                            <p:stCondLst>
                              <p:cond delay="0"/>
                            </p:stCondLst>
                            <p:childTnLst>
                              <p:par>
                                <p:cTn id="237" presetID="9" presetClass="entr" presetSubtype="0" fill="hold" grpId="0" nodeType="clickEffect">
                                  <p:stCondLst>
                                    <p:cond delay="0"/>
                                  </p:stCondLst>
                                  <p:childTnLst>
                                    <p:set>
                                      <p:cBhvr>
                                        <p:cTn id="238" dur="1" fill="hold">
                                          <p:stCondLst>
                                            <p:cond delay="0"/>
                                          </p:stCondLst>
                                        </p:cTn>
                                        <p:tgtEl>
                                          <p:spTgt spid="26"/>
                                        </p:tgtEl>
                                        <p:attrNameLst>
                                          <p:attrName>style.visibility</p:attrName>
                                        </p:attrNameLst>
                                      </p:cBhvr>
                                      <p:to>
                                        <p:strVal val="visible"/>
                                      </p:to>
                                    </p:set>
                                    <p:animEffect transition="in" filter="dissolve">
                                      <p:cBhvr>
                                        <p:cTn id="239" dur="500"/>
                                        <p:tgtEl>
                                          <p:spTgt spid="26"/>
                                        </p:tgtEl>
                                      </p:cBhvr>
                                    </p:animEffect>
                                  </p:childTnLst>
                                </p:cTn>
                              </p:par>
                              <p:par>
                                <p:cTn id="240" presetID="9" presetClass="entr" presetSubtype="0" fill="hold" grpId="0" nodeType="withEffect">
                                  <p:stCondLst>
                                    <p:cond delay="0"/>
                                  </p:stCondLst>
                                  <p:childTnLst>
                                    <p:set>
                                      <p:cBhvr>
                                        <p:cTn id="241" dur="1" fill="hold">
                                          <p:stCondLst>
                                            <p:cond delay="0"/>
                                          </p:stCondLst>
                                        </p:cTn>
                                        <p:tgtEl>
                                          <p:spTgt spid="45"/>
                                        </p:tgtEl>
                                        <p:attrNameLst>
                                          <p:attrName>style.visibility</p:attrName>
                                        </p:attrNameLst>
                                      </p:cBhvr>
                                      <p:to>
                                        <p:strVal val="visible"/>
                                      </p:to>
                                    </p:set>
                                    <p:animEffect transition="in" filter="dissolve">
                                      <p:cBhvr>
                                        <p:cTn id="242" dur="500"/>
                                        <p:tgtEl>
                                          <p:spTgt spid="45"/>
                                        </p:tgtEl>
                                      </p:cBhvr>
                                    </p:animEffect>
                                  </p:childTnLst>
                                </p:cTn>
                              </p:par>
                            </p:childTnLst>
                          </p:cTn>
                        </p:par>
                      </p:childTnLst>
                    </p:cTn>
                  </p:par>
                  <p:par>
                    <p:cTn id="243" fill="hold">
                      <p:stCondLst>
                        <p:cond delay="indefinite"/>
                      </p:stCondLst>
                      <p:childTnLst>
                        <p:par>
                          <p:cTn id="244" fill="hold">
                            <p:stCondLst>
                              <p:cond delay="0"/>
                            </p:stCondLst>
                            <p:childTnLst>
                              <p:par>
                                <p:cTn id="245" presetID="9" presetClass="entr" presetSubtype="0" fill="hold" grpId="0" nodeType="clickEffect">
                                  <p:stCondLst>
                                    <p:cond delay="0"/>
                                  </p:stCondLst>
                                  <p:childTnLst>
                                    <p:set>
                                      <p:cBhvr>
                                        <p:cTn id="246" dur="1" fill="hold">
                                          <p:stCondLst>
                                            <p:cond delay="0"/>
                                          </p:stCondLst>
                                        </p:cTn>
                                        <p:tgtEl>
                                          <p:spTgt spid="49"/>
                                        </p:tgtEl>
                                        <p:attrNameLst>
                                          <p:attrName>style.visibility</p:attrName>
                                        </p:attrNameLst>
                                      </p:cBhvr>
                                      <p:to>
                                        <p:strVal val="visible"/>
                                      </p:to>
                                    </p:set>
                                    <p:animEffect transition="in" filter="dissolve">
                                      <p:cBhvr>
                                        <p:cTn id="247" dur="500"/>
                                        <p:tgtEl>
                                          <p:spTgt spid="49"/>
                                        </p:tgtEl>
                                      </p:cBhvr>
                                    </p:animEffect>
                                  </p:childTnLst>
                                </p:cTn>
                              </p:par>
                              <p:par>
                                <p:cTn id="248" presetID="9" presetClass="entr" presetSubtype="0" fill="hold" grpId="0" nodeType="withEffect">
                                  <p:stCondLst>
                                    <p:cond delay="0"/>
                                  </p:stCondLst>
                                  <p:childTnLst>
                                    <p:set>
                                      <p:cBhvr>
                                        <p:cTn id="249" dur="1" fill="hold">
                                          <p:stCondLst>
                                            <p:cond delay="0"/>
                                          </p:stCondLst>
                                        </p:cTn>
                                        <p:tgtEl>
                                          <p:spTgt spid="48"/>
                                        </p:tgtEl>
                                        <p:attrNameLst>
                                          <p:attrName>style.visibility</p:attrName>
                                        </p:attrNameLst>
                                      </p:cBhvr>
                                      <p:to>
                                        <p:strVal val="visible"/>
                                      </p:to>
                                    </p:set>
                                    <p:animEffect transition="in" filter="dissolve">
                                      <p:cBhvr>
                                        <p:cTn id="25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98" grpId="0" animBg="1"/>
      <p:bldP spid="32799" grpId="0" animBg="1"/>
      <p:bldP spid="21" grpId="0"/>
      <p:bldP spid="34" grpId="0"/>
      <p:bldP spid="35" grpId="0" animBg="1"/>
      <p:bldP spid="36" grpId="0"/>
      <p:bldP spid="37" grpId="0" animBg="1"/>
      <p:bldP spid="40" grpId="0" animBg="1"/>
      <p:bldP spid="32768" grpId="0" animBg="1"/>
      <p:bldP spid="32774" grpId="0" animBg="1"/>
      <p:bldP spid="32775" grpId="0" animBg="1"/>
      <p:bldP spid="32776" grpId="0" animBg="1"/>
      <p:bldP spid="32777" grpId="0" animBg="1"/>
      <p:bldP spid="23" grpId="0"/>
      <p:bldP spid="32789" grpId="0"/>
      <p:bldP spid="32793" grpId="0"/>
      <p:bldP spid="32796" grpId="0" animBg="1"/>
      <p:bldP spid="32797" grpId="0" animBg="1"/>
      <p:bldP spid="32801" grpId="0"/>
      <p:bldP spid="32802" grpId="0"/>
      <p:bldP spid="32803" grpId="0"/>
      <p:bldP spid="32804" grpId="0"/>
      <p:bldP spid="32806" grpId="0" animBg="1"/>
      <p:bldP spid="32806" grpId="1" animBg="1"/>
      <p:bldP spid="32808" grpId="0" animBg="1"/>
      <p:bldP spid="32825" grpId="0" animBg="1"/>
      <p:bldP spid="32826" grpId="0"/>
      <p:bldP spid="32834" grpId="0" animBg="1"/>
      <p:bldP spid="32836" grpId="1" animBg="1"/>
      <p:bldP spid="32837" grpId="0" animBg="1"/>
      <p:bldP spid="32838" grpId="1" animBg="1"/>
      <p:bldP spid="32800" grpId="0" animBg="1"/>
      <p:bldP spid="26" grpId="0"/>
      <p:bldP spid="45" grpId="0" animBg="1"/>
      <p:bldP spid="48" grpId="0" animBg="1"/>
      <p:bldP spid="49" grpId="0"/>
      <p:bldP spid="57" grpId="0"/>
      <p:bldP spid="32772" grpId="0"/>
      <p:bldP spid="32819" grpId="0" animBg="1"/>
      <p:bldP spid="60" grpId="0" animBg="1"/>
      <p:bldP spid="62" grpId="1" animBg="1"/>
      <p:bldP spid="63" grpId="1" animBg="1"/>
      <p:bldP spid="32783" grpId="0" animBg="1"/>
      <p:bldP spid="32791" grpId="0"/>
      <p:bldP spid="5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8B3D76-21CE-7CE8-8EEA-F3850E164D8B}"/>
              </a:ext>
            </a:extLst>
          </p:cNvPr>
          <p:cNvPicPr>
            <a:picLocks noChangeAspect="1"/>
          </p:cNvPicPr>
          <p:nvPr/>
        </p:nvPicPr>
        <p:blipFill>
          <a:blip r:embed="rId3"/>
          <a:stretch>
            <a:fillRect/>
          </a:stretch>
        </p:blipFill>
        <p:spPr>
          <a:xfrm>
            <a:off x="5099341" y="4410710"/>
            <a:ext cx="3888233" cy="258259"/>
          </a:xfrm>
          <a:prstGeom prst="rect">
            <a:avLst/>
          </a:prstGeom>
        </p:spPr>
      </p:pic>
      <p:sp>
        <p:nvSpPr>
          <p:cNvPr id="55" name="Rectangle 54">
            <a:extLst>
              <a:ext uri="{FF2B5EF4-FFF2-40B4-BE49-F238E27FC236}">
                <a16:creationId xmlns:a16="http://schemas.microsoft.com/office/drawing/2014/main" id="{C41284E9-C6C3-8D06-AC04-968F4100C17F}"/>
              </a:ext>
            </a:extLst>
          </p:cNvPr>
          <p:cNvSpPr/>
          <p:nvPr/>
        </p:nvSpPr>
        <p:spPr>
          <a:xfrm>
            <a:off x="2180663" y="3089805"/>
            <a:ext cx="2725854" cy="1413985"/>
          </a:xfrm>
          <a:prstGeom prst="rect">
            <a:avLst/>
          </a:prstGeom>
          <a:solidFill>
            <a:schemeClr val="accent2">
              <a:lumMod val="40000"/>
              <a:lumOff val="6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54" name="Rectangle 53">
            <a:extLst>
              <a:ext uri="{FF2B5EF4-FFF2-40B4-BE49-F238E27FC236}">
                <a16:creationId xmlns:a16="http://schemas.microsoft.com/office/drawing/2014/main" id="{FE4B274E-E257-BEF2-9512-7E788F2DEF3A}"/>
              </a:ext>
            </a:extLst>
          </p:cNvPr>
          <p:cNvSpPr/>
          <p:nvPr/>
        </p:nvSpPr>
        <p:spPr>
          <a:xfrm>
            <a:off x="76200" y="3089805"/>
            <a:ext cx="2089816" cy="1413985"/>
          </a:xfrm>
          <a:prstGeom prst="rect">
            <a:avLst/>
          </a:prstGeom>
          <a:solidFill>
            <a:schemeClr val="accent3">
              <a:lumMod val="60000"/>
              <a:lumOff val="4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Main Results </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19</a:t>
            </a:r>
            <a:r>
              <a:rPr lang="en-US" altLang="en-US" sz="1200" dirty="0">
                <a:solidFill>
                  <a:schemeClr val="bg1"/>
                </a:solidFill>
              </a:rPr>
              <a:t>| </a:t>
            </a:r>
            <a:r>
              <a:rPr lang="en-US" altLang="en-US" sz="1050" dirty="0">
                <a:solidFill>
                  <a:schemeClr val="bg1"/>
                </a:solidFill>
              </a:rPr>
              <a:t>Main results</a:t>
            </a:r>
            <a:endParaRPr lang="en-US" altLang="en-US" sz="900" dirty="0">
              <a:solidFill>
                <a:schemeClr val="bg1"/>
              </a:solidFill>
            </a:endParaRPr>
          </a:p>
        </p:txBody>
      </p:sp>
      <p:sp>
        <p:nvSpPr>
          <p:cNvPr id="24" name="TextBox 23">
            <a:extLst>
              <a:ext uri="{FF2B5EF4-FFF2-40B4-BE49-F238E27FC236}">
                <a16:creationId xmlns:a16="http://schemas.microsoft.com/office/drawing/2014/main" id="{04913758-377E-4D5F-B3CA-C9B15B0CBD5E}"/>
              </a:ext>
            </a:extLst>
          </p:cNvPr>
          <p:cNvSpPr txBox="1"/>
          <p:nvPr/>
        </p:nvSpPr>
        <p:spPr>
          <a:xfrm>
            <a:off x="152399" y="485442"/>
            <a:ext cx="4755673" cy="338554"/>
          </a:xfrm>
          <a:prstGeom prst="rect">
            <a:avLst/>
          </a:prstGeom>
          <a:noFill/>
        </p:spPr>
        <p:txBody>
          <a:bodyPr wrap="square">
            <a:spAutoFit/>
          </a:bodyPr>
          <a:lstStyle/>
          <a:p>
            <a:r>
              <a:rPr lang="en-US" sz="1600" b="1" dirty="0">
                <a:solidFill>
                  <a:srgbClr val="C00000"/>
                </a:solidFill>
                <a:latin typeface="+mn-lt"/>
                <a:ea typeface="+mn-ea"/>
              </a:rPr>
              <a:t>Sketch of the proof:</a:t>
            </a:r>
          </a:p>
        </p:txBody>
      </p:sp>
      <p:sp>
        <p:nvSpPr>
          <p:cNvPr id="13" name="TextBox 12">
            <a:extLst>
              <a:ext uri="{FF2B5EF4-FFF2-40B4-BE49-F238E27FC236}">
                <a16:creationId xmlns:a16="http://schemas.microsoft.com/office/drawing/2014/main" id="{52BB4E84-6055-7491-A54D-991A5141CEE6}"/>
              </a:ext>
            </a:extLst>
          </p:cNvPr>
          <p:cNvSpPr txBox="1"/>
          <p:nvPr/>
        </p:nvSpPr>
        <p:spPr>
          <a:xfrm>
            <a:off x="4410478" y="-257392"/>
            <a:ext cx="4612192" cy="523220"/>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Show the </a:t>
            </a:r>
            <a:r>
              <a:rPr lang="en-US" sz="1400" b="1" i="1" dirty="0">
                <a:cs typeface="Calibri" panose="020F0502020204030204" pitchFamily="34" charset="0"/>
              </a:rPr>
              <a:t>price uncertainty </a:t>
            </a:r>
            <a:r>
              <a:rPr lang="en-US" sz="1400" dirty="0">
                <a:cs typeface="Calibri" panose="020F0502020204030204" pitchFamily="34" charset="0"/>
              </a:rPr>
              <a:t>doesn’t affect the </a:t>
            </a:r>
            <a:r>
              <a:rPr lang="en-US" sz="1400" b="1" i="1" dirty="0">
                <a:cs typeface="Calibri" panose="020F0502020204030204" pitchFamily="34" charset="0"/>
              </a:rPr>
              <a:t>value function</a:t>
            </a:r>
          </a:p>
        </p:txBody>
      </p:sp>
      <p:pic>
        <p:nvPicPr>
          <p:cNvPr id="18" name="Picture 17">
            <a:extLst>
              <a:ext uri="{FF2B5EF4-FFF2-40B4-BE49-F238E27FC236}">
                <a16:creationId xmlns:a16="http://schemas.microsoft.com/office/drawing/2014/main" id="{9ABF7CE0-44E0-7CA0-D098-8F330BC302A6}"/>
              </a:ext>
            </a:extLst>
          </p:cNvPr>
          <p:cNvPicPr>
            <a:picLocks noChangeAspect="1"/>
          </p:cNvPicPr>
          <p:nvPr/>
        </p:nvPicPr>
        <p:blipFill>
          <a:blip r:embed="rId5"/>
          <a:stretch>
            <a:fillRect/>
          </a:stretch>
        </p:blipFill>
        <p:spPr>
          <a:xfrm>
            <a:off x="549036" y="952428"/>
            <a:ext cx="3962400" cy="1045128"/>
          </a:xfrm>
          <a:prstGeom prst="rect">
            <a:avLst/>
          </a:prstGeom>
        </p:spPr>
      </p:pic>
      <p:sp>
        <p:nvSpPr>
          <p:cNvPr id="8" name="TextBox 7">
            <a:extLst>
              <a:ext uri="{FF2B5EF4-FFF2-40B4-BE49-F238E27FC236}">
                <a16:creationId xmlns:a16="http://schemas.microsoft.com/office/drawing/2014/main" id="{0F4B2181-65EF-4AB7-5FC2-BA052F6E1BD3}"/>
              </a:ext>
            </a:extLst>
          </p:cNvPr>
          <p:cNvSpPr txBox="1"/>
          <p:nvPr/>
        </p:nvSpPr>
        <p:spPr>
          <a:xfrm>
            <a:off x="228600" y="742950"/>
            <a:ext cx="1274467" cy="276999"/>
          </a:xfrm>
          <a:prstGeom prst="rect">
            <a:avLst/>
          </a:prstGeom>
          <a:noFill/>
        </p:spPr>
        <p:txBody>
          <a:bodyPr wrap="square">
            <a:spAutoFit/>
          </a:bodyPr>
          <a:lstStyle/>
          <a:p>
            <a:r>
              <a:rPr lang="en-US" sz="1200" dirty="0">
                <a:cs typeface="Calibri" panose="020F0502020204030204" pitchFamily="34" charset="0"/>
              </a:rPr>
              <a:t>Demand model</a:t>
            </a:r>
          </a:p>
        </p:txBody>
      </p:sp>
      <p:sp>
        <p:nvSpPr>
          <p:cNvPr id="9" name="TextBox 8">
            <a:extLst>
              <a:ext uri="{FF2B5EF4-FFF2-40B4-BE49-F238E27FC236}">
                <a16:creationId xmlns:a16="http://schemas.microsoft.com/office/drawing/2014/main" id="{F72BC346-DCC0-A4A3-48FD-2BD6328CAF64}"/>
              </a:ext>
            </a:extLst>
          </p:cNvPr>
          <p:cNvSpPr txBox="1"/>
          <p:nvPr/>
        </p:nvSpPr>
        <p:spPr>
          <a:xfrm>
            <a:off x="3161343" y="4216420"/>
            <a:ext cx="1454533" cy="319766"/>
          </a:xfrm>
          <a:prstGeom prst="rect">
            <a:avLst/>
          </a:prstGeom>
          <a:noFill/>
        </p:spPr>
        <p:txBody>
          <a:bodyPr wrap="square">
            <a:spAutoFit/>
          </a:bodyPr>
          <a:lstStyle/>
          <a:p>
            <a:r>
              <a:rPr lang="en-US" sz="1400" b="1" dirty="0">
                <a:solidFill>
                  <a:srgbClr val="C00000"/>
                </a:solidFill>
                <a:cs typeface="Calibri" panose="020F0502020204030204" pitchFamily="34" charset="0"/>
              </a:rPr>
              <a:t>Demand model</a:t>
            </a:r>
          </a:p>
        </p:txBody>
      </p:sp>
      <p:sp>
        <p:nvSpPr>
          <p:cNvPr id="12" name="TextBox 11">
            <a:extLst>
              <a:ext uri="{FF2B5EF4-FFF2-40B4-BE49-F238E27FC236}">
                <a16:creationId xmlns:a16="http://schemas.microsoft.com/office/drawing/2014/main" id="{C2AA4BC1-957B-9923-6B54-B079BB656C7B}"/>
              </a:ext>
            </a:extLst>
          </p:cNvPr>
          <p:cNvSpPr txBox="1"/>
          <p:nvPr/>
        </p:nvSpPr>
        <p:spPr>
          <a:xfrm>
            <a:off x="344517" y="4214225"/>
            <a:ext cx="1676400" cy="307777"/>
          </a:xfrm>
          <a:prstGeom prst="rect">
            <a:avLst/>
          </a:prstGeom>
          <a:noFill/>
        </p:spPr>
        <p:txBody>
          <a:bodyPr wrap="square">
            <a:spAutoFit/>
          </a:bodyPr>
          <a:lstStyle/>
          <a:p>
            <a:r>
              <a:rPr lang="en-US" sz="1400" b="1" dirty="0">
                <a:solidFill>
                  <a:srgbClr val="C00000"/>
                </a:solidFill>
                <a:cs typeface="Calibri" panose="020F0502020204030204" pitchFamily="34" charset="0"/>
              </a:rPr>
              <a:t>Price distribution</a:t>
            </a:r>
          </a:p>
        </p:txBody>
      </p:sp>
      <p:grpSp>
        <p:nvGrpSpPr>
          <p:cNvPr id="38" name="Group 37">
            <a:extLst>
              <a:ext uri="{FF2B5EF4-FFF2-40B4-BE49-F238E27FC236}">
                <a16:creationId xmlns:a16="http://schemas.microsoft.com/office/drawing/2014/main" id="{CF52771B-5602-F7A0-8103-FD680A657195}"/>
              </a:ext>
            </a:extLst>
          </p:cNvPr>
          <p:cNvGrpSpPr/>
          <p:nvPr/>
        </p:nvGrpSpPr>
        <p:grpSpPr>
          <a:xfrm>
            <a:off x="1040239" y="3292369"/>
            <a:ext cx="1143000" cy="648518"/>
            <a:chOff x="194648" y="2431280"/>
            <a:chExt cx="1143000" cy="648518"/>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992A9EF-4D94-2B4B-816F-FD6DCBA456B4}"/>
                    </a:ext>
                  </a:extLst>
                </p:cNvPr>
                <p:cNvSpPr txBox="1"/>
                <p:nvPr/>
              </p:nvSpPr>
              <p:spPr>
                <a:xfrm>
                  <a:off x="353874" y="2431280"/>
                  <a:ext cx="75924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𝝀</m:t>
                            </m:r>
                          </m:e>
                          <m:sub>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𝒕</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𝟏</m:t>
                            </m:r>
                          </m:sub>
                        </m:sSub>
                      </m:oMath>
                    </m:oMathPara>
                  </a14:m>
                  <a:endParaRPr lang="en-US" sz="2400" b="1" dirty="0">
                    <a:solidFill>
                      <a:srgbClr val="C00000"/>
                    </a:solidFill>
                    <a:cs typeface="Calibri" panose="020F0502020204030204" pitchFamily="34" charset="0"/>
                  </a:endParaRPr>
                </a:p>
              </p:txBody>
            </p:sp>
          </mc:Choice>
          <mc:Fallback xmlns="">
            <p:sp>
              <p:nvSpPr>
                <p:cNvPr id="27" name="TextBox 26">
                  <a:extLst>
                    <a:ext uri="{FF2B5EF4-FFF2-40B4-BE49-F238E27FC236}">
                      <a16:creationId xmlns:a16="http://schemas.microsoft.com/office/drawing/2014/main" id="{9992A9EF-4D94-2B4B-816F-FD6DCBA456B4}"/>
                    </a:ext>
                  </a:extLst>
                </p:cNvPr>
                <p:cNvSpPr txBox="1">
                  <a:spLocks noRot="1" noChangeAspect="1" noMove="1" noResize="1" noEditPoints="1" noAdjustHandles="1" noChangeArrowheads="1" noChangeShapeType="1" noTextEdit="1"/>
                </p:cNvSpPr>
                <p:nvPr/>
              </p:nvSpPr>
              <p:spPr>
                <a:xfrm>
                  <a:off x="353874" y="2431280"/>
                  <a:ext cx="759245" cy="461665"/>
                </a:xfrm>
                <a:prstGeom prst="rect">
                  <a:avLst/>
                </a:prstGeom>
                <a:blipFill>
                  <a:blip r:embed="rId6"/>
                  <a:stretch>
                    <a:fillRect l="-1639" b="-5405"/>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8CDA7A21-69E4-08B4-71FB-C76699B1E8C3}"/>
                </a:ext>
              </a:extLst>
            </p:cNvPr>
            <p:cNvSpPr txBox="1"/>
            <p:nvPr/>
          </p:nvSpPr>
          <p:spPr>
            <a:xfrm>
              <a:off x="194648" y="2772021"/>
              <a:ext cx="1143000" cy="307777"/>
            </a:xfrm>
            <a:prstGeom prst="rect">
              <a:avLst/>
            </a:prstGeom>
            <a:noFill/>
          </p:spPr>
          <p:txBody>
            <a:bodyPr wrap="square">
              <a:spAutoFit/>
            </a:bodyPr>
            <a:lstStyle/>
            <a:p>
              <a:r>
                <a:rPr lang="en-US" sz="1400" dirty="0">
                  <a:cs typeface="Calibri" panose="020F0502020204030204" pitchFamily="34" charset="0"/>
                </a:rPr>
                <a:t>Future price</a:t>
              </a:r>
            </a:p>
          </p:txBody>
        </p:sp>
      </p:grpSp>
      <p:grpSp>
        <p:nvGrpSpPr>
          <p:cNvPr id="40" name="Group 39">
            <a:extLst>
              <a:ext uri="{FF2B5EF4-FFF2-40B4-BE49-F238E27FC236}">
                <a16:creationId xmlns:a16="http://schemas.microsoft.com/office/drawing/2014/main" id="{06A80C29-0677-F6FF-0901-45DBB1D7A785}"/>
              </a:ext>
            </a:extLst>
          </p:cNvPr>
          <p:cNvGrpSpPr/>
          <p:nvPr/>
        </p:nvGrpSpPr>
        <p:grpSpPr>
          <a:xfrm>
            <a:off x="2324462" y="3306059"/>
            <a:ext cx="887089" cy="630475"/>
            <a:chOff x="2314279" y="2448078"/>
            <a:chExt cx="887089" cy="630475"/>
          </a:xfrm>
        </p:grpSpPr>
        <p:sp>
          <p:nvSpPr>
            <p:cNvPr id="29" name="TextBox 28">
              <a:extLst>
                <a:ext uri="{FF2B5EF4-FFF2-40B4-BE49-F238E27FC236}">
                  <a16:creationId xmlns:a16="http://schemas.microsoft.com/office/drawing/2014/main" id="{C7C16069-9B6E-8EC5-1BCC-B130E9C4C5E2}"/>
                </a:ext>
              </a:extLst>
            </p:cNvPr>
            <p:cNvSpPr txBox="1"/>
            <p:nvPr/>
          </p:nvSpPr>
          <p:spPr>
            <a:xfrm>
              <a:off x="2425236" y="2770776"/>
              <a:ext cx="776132" cy="307777"/>
            </a:xfrm>
            <a:prstGeom prst="rect">
              <a:avLst/>
            </a:prstGeom>
            <a:noFill/>
          </p:spPr>
          <p:txBody>
            <a:bodyPr wrap="square">
              <a:spAutoFit/>
            </a:bodyPr>
            <a:lstStyle/>
            <a:p>
              <a:r>
                <a:rPr lang="en-US" sz="1400" dirty="0">
                  <a:cs typeface="Calibri" panose="020F0502020204030204" pitchFamily="34" charset="0"/>
                </a:rPr>
                <a:t>State</a:t>
              </a:r>
            </a:p>
          </p:txBody>
        </p:sp>
        <mc:AlternateContent xmlns:mc="http://schemas.openxmlformats.org/markup-compatibility/2006" xmlns:a14="http://schemas.microsoft.com/office/drawing/2010/main">
          <mc:Choice Requires="a14">
            <p:sp>
              <p:nvSpPr>
                <p:cNvPr id="33" name="TextBox 26">
                  <a:extLst>
                    <a:ext uri="{FF2B5EF4-FFF2-40B4-BE49-F238E27FC236}">
                      <a16:creationId xmlns:a16="http://schemas.microsoft.com/office/drawing/2014/main" id="{9992A9EF-4D94-2B4B-816F-FD6DCBA456B4}"/>
                    </a:ext>
                  </a:extLst>
                </p:cNvPr>
                <p:cNvSpPr txBox="1"/>
                <p:nvPr/>
              </p:nvSpPr>
              <p:spPr>
                <a:xfrm>
                  <a:off x="2314279" y="2448078"/>
                  <a:ext cx="759245" cy="461665"/>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𝒙</m:t>
                            </m:r>
                          </m:e>
                          <m:sub>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𝒕</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𝟏</m:t>
                            </m:r>
                          </m:sub>
                        </m:sSub>
                      </m:oMath>
                    </m:oMathPara>
                  </a14:m>
                  <a:endParaRPr lang="en-US" sz="2400" b="1" dirty="0">
                    <a:solidFill>
                      <a:srgbClr val="C00000"/>
                    </a:solidFill>
                    <a:cs typeface="Calibri" panose="020F0502020204030204" pitchFamily="34" charset="0"/>
                  </a:endParaRPr>
                </a:p>
              </p:txBody>
            </p:sp>
          </mc:Choice>
          <mc:Fallback xmlns="">
            <p:sp>
              <p:nvSpPr>
                <p:cNvPr id="33" name="TextBox 26">
                  <a:extLst>
                    <a:ext uri="{FF2B5EF4-FFF2-40B4-BE49-F238E27FC236}">
                      <a16:creationId xmlns:a16="http://schemas.microsoft.com/office/drawing/2014/main" id="{9992A9EF-4D94-2B4B-816F-FD6DCBA456B4}"/>
                    </a:ext>
                  </a:extLst>
                </p:cNvPr>
                <p:cNvSpPr txBox="1">
                  <a:spLocks noRot="1" noChangeAspect="1" noMove="1" noResize="1" noEditPoints="1" noAdjustHandles="1" noChangeArrowheads="1" noChangeShapeType="1" noTextEdit="1"/>
                </p:cNvSpPr>
                <p:nvPr/>
              </p:nvSpPr>
              <p:spPr>
                <a:xfrm>
                  <a:off x="2314279" y="2448078"/>
                  <a:ext cx="759245" cy="461665"/>
                </a:xfrm>
                <a:prstGeom prst="rect">
                  <a:avLst/>
                </a:prstGeom>
                <a:blipFill>
                  <a:blip r:embed="rId7"/>
                  <a:stretch>
                    <a:fillRect b="-5405"/>
                  </a:stretch>
                </a:blipFill>
              </p:spPr>
              <p:txBody>
                <a:bodyPr/>
                <a:lstStyle/>
                <a:p>
                  <a:r>
                    <a:rPr lang="en-US">
                      <a:noFill/>
                    </a:rPr>
                    <a:t> </a:t>
                  </a:r>
                </a:p>
              </p:txBody>
            </p:sp>
          </mc:Fallback>
        </mc:AlternateContent>
      </p:grpSp>
      <p:grpSp>
        <p:nvGrpSpPr>
          <p:cNvPr id="41" name="Group 40">
            <a:extLst>
              <a:ext uri="{FF2B5EF4-FFF2-40B4-BE49-F238E27FC236}">
                <a16:creationId xmlns:a16="http://schemas.microsoft.com/office/drawing/2014/main" id="{770A3A36-551D-D3EF-3F9F-A949723B0909}"/>
              </a:ext>
            </a:extLst>
          </p:cNvPr>
          <p:cNvGrpSpPr/>
          <p:nvPr/>
        </p:nvGrpSpPr>
        <p:grpSpPr>
          <a:xfrm>
            <a:off x="3121860" y="3304578"/>
            <a:ext cx="1244101" cy="631956"/>
            <a:chOff x="3111677" y="2446597"/>
            <a:chExt cx="1244101" cy="631956"/>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D9803E9-F43E-6430-C418-7E94CE556177}"/>
                    </a:ext>
                  </a:extLst>
                </p:cNvPr>
                <p:cNvSpPr txBox="1"/>
                <p:nvPr/>
              </p:nvSpPr>
              <p:spPr>
                <a:xfrm>
                  <a:off x="3418690" y="2446597"/>
                  <a:ext cx="52238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𝒗</m:t>
                            </m:r>
                          </m:e>
                          <m:sub>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𝒕</m:t>
                            </m:r>
                          </m:sub>
                        </m:sSub>
                      </m:oMath>
                    </m:oMathPara>
                  </a14:m>
                  <a:endParaRPr lang="en-US" sz="2400" b="1" dirty="0">
                    <a:solidFill>
                      <a:srgbClr val="C00000"/>
                    </a:solidFill>
                    <a:cs typeface="Calibri" panose="020F0502020204030204" pitchFamily="34" charset="0"/>
                  </a:endParaRPr>
                </a:p>
              </p:txBody>
            </p:sp>
          </mc:Choice>
          <mc:Fallback xmlns="">
            <p:sp>
              <p:nvSpPr>
                <p:cNvPr id="32" name="TextBox 31">
                  <a:extLst>
                    <a:ext uri="{FF2B5EF4-FFF2-40B4-BE49-F238E27FC236}">
                      <a16:creationId xmlns:a16="http://schemas.microsoft.com/office/drawing/2014/main" id="{FD9803E9-F43E-6430-C418-7E94CE556177}"/>
                    </a:ext>
                  </a:extLst>
                </p:cNvPr>
                <p:cNvSpPr txBox="1">
                  <a:spLocks noRot="1" noChangeAspect="1" noMove="1" noResize="1" noEditPoints="1" noAdjustHandles="1" noChangeArrowheads="1" noChangeShapeType="1" noTextEdit="1"/>
                </p:cNvSpPr>
                <p:nvPr/>
              </p:nvSpPr>
              <p:spPr>
                <a:xfrm>
                  <a:off x="3418690" y="2446597"/>
                  <a:ext cx="522386" cy="461665"/>
                </a:xfrm>
                <a:prstGeom prst="rect">
                  <a:avLst/>
                </a:prstGeom>
                <a:blipFill>
                  <a:blip r:embed="rId8"/>
                  <a:stretch>
                    <a:fillRect b="-2703"/>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380BEFE5-B014-ABBA-E7F8-B18831CF34B4}"/>
                </a:ext>
              </a:extLst>
            </p:cNvPr>
            <p:cNvSpPr txBox="1"/>
            <p:nvPr/>
          </p:nvSpPr>
          <p:spPr>
            <a:xfrm>
              <a:off x="3111677" y="2770776"/>
              <a:ext cx="1244101" cy="307777"/>
            </a:xfrm>
            <a:prstGeom prst="rect">
              <a:avLst/>
            </a:prstGeom>
            <a:noFill/>
          </p:spPr>
          <p:txBody>
            <a:bodyPr wrap="square">
              <a:spAutoFit/>
            </a:bodyPr>
            <a:lstStyle/>
            <a:p>
              <a:r>
                <a:rPr lang="en-US" sz="1400" dirty="0">
                  <a:cs typeface="Calibri" panose="020F0502020204030204" pitchFamily="34" charset="0"/>
                </a:rPr>
                <a:t>Value function</a:t>
              </a:r>
            </a:p>
          </p:txBody>
        </p:sp>
      </p:grpSp>
      <p:grpSp>
        <p:nvGrpSpPr>
          <p:cNvPr id="43" name="Group 42">
            <a:extLst>
              <a:ext uri="{FF2B5EF4-FFF2-40B4-BE49-F238E27FC236}">
                <a16:creationId xmlns:a16="http://schemas.microsoft.com/office/drawing/2014/main" id="{4939923E-DF6E-36C1-5423-3D06ED1925F6}"/>
              </a:ext>
            </a:extLst>
          </p:cNvPr>
          <p:cNvGrpSpPr/>
          <p:nvPr/>
        </p:nvGrpSpPr>
        <p:grpSpPr>
          <a:xfrm>
            <a:off x="4114800" y="3287938"/>
            <a:ext cx="949885" cy="648596"/>
            <a:chOff x="4104617" y="2429957"/>
            <a:chExt cx="949885" cy="648596"/>
          </a:xfrm>
        </p:grpSpPr>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D71DC15-A96F-75A4-5434-446DA6966BE3}"/>
                    </a:ext>
                  </a:extLst>
                </p:cNvPr>
                <p:cNvSpPr txBox="1"/>
                <p:nvPr/>
              </p:nvSpPr>
              <p:spPr>
                <a:xfrm>
                  <a:off x="4104617" y="2429957"/>
                  <a:ext cx="94988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𝒑</m:t>
                            </m:r>
                          </m:e>
                          <m:sub>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𝟏</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𝒕</m:t>
                            </m:r>
                          </m:sub>
                        </m:sSub>
                      </m:oMath>
                    </m:oMathPara>
                  </a14:m>
                  <a:endParaRPr lang="en-US" sz="2400" b="1" dirty="0">
                    <a:solidFill>
                      <a:srgbClr val="C00000"/>
                    </a:solidFill>
                    <a:cs typeface="Calibri" panose="020F0502020204030204" pitchFamily="34" charset="0"/>
                  </a:endParaRPr>
                </a:p>
              </p:txBody>
            </p:sp>
          </mc:Choice>
          <mc:Fallback xmlns="">
            <p:sp>
              <p:nvSpPr>
                <p:cNvPr id="35" name="TextBox 34">
                  <a:extLst>
                    <a:ext uri="{FF2B5EF4-FFF2-40B4-BE49-F238E27FC236}">
                      <a16:creationId xmlns:a16="http://schemas.microsoft.com/office/drawing/2014/main" id="{2D71DC15-A96F-75A4-5434-446DA6966BE3}"/>
                    </a:ext>
                  </a:extLst>
                </p:cNvPr>
                <p:cNvSpPr txBox="1">
                  <a:spLocks noRot="1" noChangeAspect="1" noMove="1" noResize="1" noEditPoints="1" noAdjustHandles="1" noChangeArrowheads="1" noChangeShapeType="1" noTextEdit="1"/>
                </p:cNvSpPr>
                <p:nvPr/>
              </p:nvSpPr>
              <p:spPr>
                <a:xfrm>
                  <a:off x="4104617" y="2429957"/>
                  <a:ext cx="949885" cy="461665"/>
                </a:xfrm>
                <a:prstGeom prst="rect">
                  <a:avLst/>
                </a:prstGeom>
                <a:blipFill>
                  <a:blip r:embed="rId9"/>
                  <a:stretch>
                    <a:fillRect b="-10526"/>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40A3D940-C288-D4E9-B3C2-FFDFAD6DCBC9}"/>
                </a:ext>
              </a:extLst>
            </p:cNvPr>
            <p:cNvSpPr txBox="1"/>
            <p:nvPr/>
          </p:nvSpPr>
          <p:spPr>
            <a:xfrm>
              <a:off x="4259333" y="2770776"/>
              <a:ext cx="692720" cy="307777"/>
            </a:xfrm>
            <a:prstGeom prst="rect">
              <a:avLst/>
            </a:prstGeom>
            <a:noFill/>
          </p:spPr>
          <p:txBody>
            <a:bodyPr wrap="square">
              <a:spAutoFit/>
            </a:bodyPr>
            <a:lstStyle/>
            <a:p>
              <a:r>
                <a:rPr lang="en-US" sz="1400" dirty="0">
                  <a:cs typeface="Calibri" panose="020F0502020204030204" pitchFamily="34" charset="0"/>
                </a:rPr>
                <a:t>Action</a:t>
              </a:r>
            </a:p>
          </p:txBody>
        </p:sp>
      </p:grpSp>
      <p:sp>
        <p:nvSpPr>
          <p:cNvPr id="51" name="Block Arc 50">
            <a:extLst>
              <a:ext uri="{FF2B5EF4-FFF2-40B4-BE49-F238E27FC236}">
                <a16:creationId xmlns:a16="http://schemas.microsoft.com/office/drawing/2014/main" id="{A988B928-8DD5-9C93-FCB6-4C0551FB7826}"/>
              </a:ext>
            </a:extLst>
          </p:cNvPr>
          <p:cNvSpPr/>
          <p:nvPr/>
        </p:nvSpPr>
        <p:spPr>
          <a:xfrm>
            <a:off x="1825429" y="3236784"/>
            <a:ext cx="768864" cy="392751"/>
          </a:xfrm>
          <a:prstGeom prst="blockArc">
            <a:avLst>
              <a:gd name="adj1" fmla="val 10800000"/>
              <a:gd name="adj2" fmla="val 118008"/>
              <a:gd name="adj3" fmla="val 10882"/>
            </a:avLst>
          </a:prstGeom>
          <a:solidFill>
            <a:schemeClr val="accent3">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accent3">
                  <a:lumMod val="75000"/>
                </a:schemeClr>
              </a:solidFill>
            </a:endParaRPr>
          </a:p>
        </p:txBody>
      </p:sp>
      <p:sp>
        <p:nvSpPr>
          <p:cNvPr id="52" name="Block Arc 51">
            <a:extLst>
              <a:ext uri="{FF2B5EF4-FFF2-40B4-BE49-F238E27FC236}">
                <a16:creationId xmlns:a16="http://schemas.microsoft.com/office/drawing/2014/main" id="{EB2F0DD0-CF77-5AAF-E2E6-056DF4294726}"/>
              </a:ext>
            </a:extLst>
          </p:cNvPr>
          <p:cNvSpPr/>
          <p:nvPr/>
        </p:nvSpPr>
        <p:spPr>
          <a:xfrm>
            <a:off x="2808214" y="3232146"/>
            <a:ext cx="768864" cy="392751"/>
          </a:xfrm>
          <a:prstGeom prst="blockArc">
            <a:avLst>
              <a:gd name="adj1" fmla="val 10800000"/>
              <a:gd name="adj2" fmla="val 118008"/>
              <a:gd name="adj3" fmla="val 10882"/>
            </a:avLst>
          </a:prstGeom>
          <a:solidFill>
            <a:schemeClr val="accent5">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solidFill>
                <a:schemeClr val="tx1"/>
              </a:solidFill>
            </a:endParaRPr>
          </a:p>
        </p:txBody>
      </p:sp>
      <p:sp>
        <p:nvSpPr>
          <p:cNvPr id="53" name="Block Arc 52">
            <a:extLst>
              <a:ext uri="{FF2B5EF4-FFF2-40B4-BE49-F238E27FC236}">
                <a16:creationId xmlns:a16="http://schemas.microsoft.com/office/drawing/2014/main" id="{EB2F0DD0-CF77-5AAF-E2E6-056DF4294726}"/>
              </a:ext>
            </a:extLst>
          </p:cNvPr>
          <p:cNvSpPr/>
          <p:nvPr/>
        </p:nvSpPr>
        <p:spPr>
          <a:xfrm>
            <a:off x="619189" y="3200431"/>
            <a:ext cx="1903382" cy="392751"/>
          </a:xfrm>
          <a:prstGeom prst="blockArc">
            <a:avLst>
              <a:gd name="adj1" fmla="val 10800000"/>
              <a:gd name="adj2" fmla="val 59519"/>
              <a:gd name="adj3" fmla="val 14516"/>
            </a:avLst>
          </a:prstGeom>
          <a:solidFill>
            <a:schemeClr val="accent4">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solidFill>
                <a:schemeClr val="accent4">
                  <a:lumMod val="75000"/>
                </a:schemeClr>
              </a:solidFill>
            </a:endParaRPr>
          </a:p>
        </p:txBody>
      </p:sp>
      <p:sp>
        <p:nvSpPr>
          <p:cNvPr id="56" name="Up-Down Arrow 55">
            <a:extLst>
              <a:ext uri="{FF2B5EF4-FFF2-40B4-BE49-F238E27FC236}">
                <a16:creationId xmlns:a16="http://schemas.microsoft.com/office/drawing/2014/main" id="{46DA5ADA-0D20-10BC-6DE8-8A3B0EE9CA5E}"/>
              </a:ext>
            </a:extLst>
          </p:cNvPr>
          <p:cNvSpPr/>
          <p:nvPr/>
        </p:nvSpPr>
        <p:spPr>
          <a:xfrm rot="5400000">
            <a:off x="2444882" y="3798810"/>
            <a:ext cx="196311" cy="1142999"/>
          </a:xfrm>
          <a:prstGeom prst="upDownArrow">
            <a:avLst>
              <a:gd name="adj1" fmla="val 36103"/>
              <a:gd name="adj2" fmla="val 129929"/>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58" name="TextBox 57">
            <a:extLst>
              <a:ext uri="{FF2B5EF4-FFF2-40B4-BE49-F238E27FC236}">
                <a16:creationId xmlns:a16="http://schemas.microsoft.com/office/drawing/2014/main" id="{E34A7527-3BC8-1926-5B59-8EB49B535D66}"/>
              </a:ext>
            </a:extLst>
          </p:cNvPr>
          <p:cNvSpPr txBox="1"/>
          <p:nvPr/>
        </p:nvSpPr>
        <p:spPr>
          <a:xfrm>
            <a:off x="2259803" y="3987338"/>
            <a:ext cx="428114" cy="769441"/>
          </a:xfrm>
          <a:prstGeom prst="rect">
            <a:avLst/>
          </a:prstGeom>
          <a:noFill/>
        </p:spPr>
        <p:txBody>
          <a:bodyPr wrap="square">
            <a:spAutoFit/>
          </a:bodyPr>
          <a:lstStyle/>
          <a:p>
            <a:r>
              <a:rPr lang="en-US" sz="4400" dirty="0">
                <a:solidFill>
                  <a:srgbClr val="C00000"/>
                </a:solidFill>
                <a:cs typeface="Calibri" panose="020F0502020204030204" pitchFamily="34" charset="0"/>
              </a:rPr>
              <a:t>?</a:t>
            </a:r>
          </a:p>
        </p:txBody>
      </p:sp>
      <p:sp>
        <p:nvSpPr>
          <p:cNvPr id="59" name="TextBox 58">
            <a:extLst>
              <a:ext uri="{FF2B5EF4-FFF2-40B4-BE49-F238E27FC236}">
                <a16:creationId xmlns:a16="http://schemas.microsoft.com/office/drawing/2014/main" id="{DC0403AD-1A7A-E4AA-B52A-896BB22FCEC6}"/>
              </a:ext>
            </a:extLst>
          </p:cNvPr>
          <p:cNvSpPr txBox="1"/>
          <p:nvPr/>
        </p:nvSpPr>
        <p:spPr>
          <a:xfrm>
            <a:off x="2712599" y="2900316"/>
            <a:ext cx="949652" cy="307777"/>
          </a:xfrm>
          <a:prstGeom prst="rect">
            <a:avLst/>
          </a:prstGeom>
          <a:noFill/>
        </p:spPr>
        <p:txBody>
          <a:bodyPr wrap="square">
            <a:spAutoFit/>
          </a:bodyPr>
          <a:lstStyle/>
          <a:p>
            <a:r>
              <a:rPr lang="en-US" sz="1400" b="1" dirty="0">
                <a:solidFill>
                  <a:schemeClr val="accent5">
                    <a:lumMod val="75000"/>
                  </a:schemeClr>
                </a:solidFill>
                <a:cs typeface="Calibri" panose="020F0502020204030204" pitchFamily="34" charset="0"/>
              </a:rPr>
              <a:t>Lemma 17</a:t>
            </a:r>
          </a:p>
        </p:txBody>
      </p:sp>
      <p:sp>
        <p:nvSpPr>
          <p:cNvPr id="60" name="Rectangle 59">
            <a:extLst>
              <a:ext uri="{FF2B5EF4-FFF2-40B4-BE49-F238E27FC236}">
                <a16:creationId xmlns:a16="http://schemas.microsoft.com/office/drawing/2014/main" id="{9897B8E8-248A-3D96-B56A-78ADEA44CC5F}"/>
              </a:ext>
            </a:extLst>
          </p:cNvPr>
          <p:cNvSpPr/>
          <p:nvPr/>
        </p:nvSpPr>
        <p:spPr>
          <a:xfrm>
            <a:off x="2572339" y="961785"/>
            <a:ext cx="486544" cy="294208"/>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dk1"/>
              </a:solidFill>
            </a:endParaRPr>
          </a:p>
        </p:txBody>
      </p:sp>
      <p:sp>
        <p:nvSpPr>
          <p:cNvPr id="61" name="Rectangle 60">
            <a:extLst>
              <a:ext uri="{FF2B5EF4-FFF2-40B4-BE49-F238E27FC236}">
                <a16:creationId xmlns:a16="http://schemas.microsoft.com/office/drawing/2014/main" id="{E385335E-D9E8-38BB-1525-8CC3BD81218D}"/>
              </a:ext>
            </a:extLst>
          </p:cNvPr>
          <p:cNvSpPr/>
          <p:nvPr/>
        </p:nvSpPr>
        <p:spPr>
          <a:xfrm>
            <a:off x="3810000" y="947781"/>
            <a:ext cx="486544" cy="294208"/>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dk1"/>
              </a:solidFill>
            </a:endParaRPr>
          </a:p>
        </p:txBody>
      </p:sp>
      <mc:AlternateContent xmlns:mc="http://schemas.openxmlformats.org/markup-compatibility/2006" xmlns:a14="http://schemas.microsoft.com/office/drawing/2010/main">
        <mc:Choice Requires="a14">
          <p:sp>
            <p:nvSpPr>
              <p:cNvPr id="62" name="TextBox 26">
                <a:extLst>
                  <a:ext uri="{FF2B5EF4-FFF2-40B4-BE49-F238E27FC236}">
                    <a16:creationId xmlns:a16="http://schemas.microsoft.com/office/drawing/2014/main" id="{D28DA2AB-6BFB-0D9D-E735-5F95BC12A409}"/>
                  </a:ext>
                </a:extLst>
              </p:cNvPr>
              <p:cNvSpPr txBox="1"/>
              <p:nvPr/>
            </p:nvSpPr>
            <p:spPr>
              <a:xfrm>
                <a:off x="2308273" y="656047"/>
                <a:ext cx="2806227" cy="307777"/>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400" dirty="0">
                    <a:solidFill>
                      <a:srgbClr val="C00000"/>
                    </a:solidFill>
                    <a:ea typeface="Cambria Math" panose="02040503050406030204" pitchFamily="18" charset="0"/>
                    <a:cs typeface="Calibri" panose="020F0502020204030204" pitchFamily="34" charset="0"/>
                  </a:rPr>
                  <a:t>State-related cost </a:t>
                </a:r>
                <a14:m>
                  <m:oMath xmlns:m="http://schemas.openxmlformats.org/officeDocument/2006/math">
                    <m:r>
                      <a:rPr lang="en-US" sz="14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h</m:t>
                    </m:r>
                    <m:r>
                      <a:rPr lang="en-US" sz="14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m:t>
                    </m:r>
                    <m:r>
                      <a:rPr lang="en-US" sz="14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𝑐</m:t>
                    </m:r>
                    <m:r>
                      <a:rPr lang="en-US" sz="14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m:t>
                    </m:r>
                    <m:r>
                      <a:rPr lang="en-US" sz="14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𝑣</m:t>
                    </m:r>
                  </m:oMath>
                </a14:m>
                <a:endParaRPr lang="en-US" sz="1400" dirty="0">
                  <a:solidFill>
                    <a:srgbClr val="C00000"/>
                  </a:solidFill>
                  <a:cs typeface="Calibri" panose="020F0502020204030204" pitchFamily="34" charset="0"/>
                </a:endParaRPr>
              </a:p>
            </p:txBody>
          </p:sp>
        </mc:Choice>
        <mc:Fallback xmlns="">
          <p:sp>
            <p:nvSpPr>
              <p:cNvPr id="62" name="TextBox 26">
                <a:extLst>
                  <a:ext uri="{FF2B5EF4-FFF2-40B4-BE49-F238E27FC236}">
                    <a16:creationId xmlns:a16="http://schemas.microsoft.com/office/drawing/2014/main" id="{D28DA2AB-6BFB-0D9D-E735-5F95BC12A409}"/>
                  </a:ext>
                </a:extLst>
              </p:cNvPr>
              <p:cNvSpPr txBox="1">
                <a:spLocks noRot="1" noChangeAspect="1" noMove="1" noResize="1" noEditPoints="1" noAdjustHandles="1" noChangeArrowheads="1" noChangeShapeType="1" noTextEdit="1"/>
              </p:cNvSpPr>
              <p:nvPr/>
            </p:nvSpPr>
            <p:spPr>
              <a:xfrm>
                <a:off x="2308273" y="656047"/>
                <a:ext cx="2806227" cy="307777"/>
              </a:xfrm>
              <a:prstGeom prst="rect">
                <a:avLst/>
              </a:prstGeom>
              <a:blipFill>
                <a:blip r:embed="rId10"/>
                <a:stretch>
                  <a:fillRect l="-450" t="-4000" b="-24000"/>
                </a:stretch>
              </a:blipFill>
            </p:spPr>
            <p:txBody>
              <a:bodyPr/>
              <a:lstStyle/>
              <a:p>
                <a:r>
                  <a:rPr lang="en-US">
                    <a:noFill/>
                  </a:rPr>
                  <a:t> </a:t>
                </a:r>
              </a:p>
            </p:txBody>
          </p:sp>
        </mc:Fallback>
      </mc:AlternateContent>
      <p:sp>
        <p:nvSpPr>
          <p:cNvPr id="32769" name="TextBox 32768">
            <a:extLst>
              <a:ext uri="{FF2B5EF4-FFF2-40B4-BE49-F238E27FC236}">
                <a16:creationId xmlns:a16="http://schemas.microsoft.com/office/drawing/2014/main" id="{BD1ADA9A-67B1-2602-D35B-8A994C077D6B}"/>
              </a:ext>
            </a:extLst>
          </p:cNvPr>
          <p:cNvSpPr txBox="1"/>
          <p:nvPr/>
        </p:nvSpPr>
        <p:spPr>
          <a:xfrm>
            <a:off x="3773691" y="2902886"/>
            <a:ext cx="949652" cy="307777"/>
          </a:xfrm>
          <a:prstGeom prst="rect">
            <a:avLst/>
          </a:prstGeom>
          <a:noFill/>
        </p:spPr>
        <p:txBody>
          <a:bodyPr wrap="square">
            <a:spAutoFit/>
          </a:bodyPr>
          <a:lstStyle/>
          <a:p>
            <a:r>
              <a:rPr lang="en-US" sz="1400" b="1" dirty="0">
                <a:solidFill>
                  <a:schemeClr val="accent6">
                    <a:lumMod val="75000"/>
                  </a:schemeClr>
                </a:solidFill>
                <a:cs typeface="Calibri" panose="020F0502020204030204" pitchFamily="34" charset="0"/>
              </a:rPr>
              <a:t>Lemma 15</a:t>
            </a:r>
          </a:p>
        </p:txBody>
      </p:sp>
      <p:sp>
        <p:nvSpPr>
          <p:cNvPr id="32781" name="TextBox 32780">
            <a:extLst>
              <a:ext uri="{FF2B5EF4-FFF2-40B4-BE49-F238E27FC236}">
                <a16:creationId xmlns:a16="http://schemas.microsoft.com/office/drawing/2014/main" id="{929F9DC2-32EC-AC57-9B38-B77A01FAB974}"/>
              </a:ext>
            </a:extLst>
          </p:cNvPr>
          <p:cNvSpPr txBox="1"/>
          <p:nvPr/>
        </p:nvSpPr>
        <p:spPr>
          <a:xfrm>
            <a:off x="1773568" y="2904737"/>
            <a:ext cx="949652" cy="307777"/>
          </a:xfrm>
          <a:prstGeom prst="rect">
            <a:avLst/>
          </a:prstGeom>
          <a:noFill/>
        </p:spPr>
        <p:txBody>
          <a:bodyPr wrap="square">
            <a:spAutoFit/>
          </a:bodyPr>
          <a:lstStyle/>
          <a:p>
            <a:r>
              <a:rPr lang="en-US" sz="1400" b="1" dirty="0">
                <a:solidFill>
                  <a:schemeClr val="accent3">
                    <a:lumMod val="75000"/>
                  </a:schemeClr>
                </a:solidFill>
                <a:cs typeface="Calibri" panose="020F0502020204030204" pitchFamily="34" charset="0"/>
              </a:rPr>
              <a:t>Lemma 16</a:t>
            </a:r>
          </a:p>
        </p:txBody>
      </p:sp>
      <p:sp>
        <p:nvSpPr>
          <p:cNvPr id="32803" name="Rectangle 32802">
            <a:extLst>
              <a:ext uri="{FF2B5EF4-FFF2-40B4-BE49-F238E27FC236}">
                <a16:creationId xmlns:a16="http://schemas.microsoft.com/office/drawing/2014/main" id="{649ED804-BBB2-F953-FAA5-234061B85316}"/>
              </a:ext>
            </a:extLst>
          </p:cNvPr>
          <p:cNvSpPr/>
          <p:nvPr/>
        </p:nvSpPr>
        <p:spPr>
          <a:xfrm>
            <a:off x="5060188" y="4367149"/>
            <a:ext cx="3926315" cy="296402"/>
          </a:xfrm>
          <a:prstGeom prst="rect">
            <a:avLst/>
          </a:prstGeom>
          <a:solidFill>
            <a:schemeClr val="accent1">
              <a:lumMod val="75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02A920F3-6D24-630D-6C08-1059FD629EF9}"/>
              </a:ext>
            </a:extLst>
          </p:cNvPr>
          <p:cNvGrpSpPr/>
          <p:nvPr/>
        </p:nvGrpSpPr>
        <p:grpSpPr>
          <a:xfrm>
            <a:off x="5061351" y="563095"/>
            <a:ext cx="3854050" cy="953721"/>
            <a:chOff x="4923717" y="2216054"/>
            <a:chExt cx="4144083" cy="1016783"/>
          </a:xfrm>
        </p:grpSpPr>
        <p:pic>
          <p:nvPicPr>
            <p:cNvPr id="16" name="Picture 15">
              <a:extLst>
                <a:ext uri="{FF2B5EF4-FFF2-40B4-BE49-F238E27FC236}">
                  <a16:creationId xmlns:a16="http://schemas.microsoft.com/office/drawing/2014/main" id="{E8176CE8-CC65-367B-C2B1-C5E6DCA4259F}"/>
                </a:ext>
              </a:extLst>
            </p:cNvPr>
            <p:cNvPicPr>
              <a:picLocks noChangeAspect="1"/>
            </p:cNvPicPr>
            <p:nvPr/>
          </p:nvPicPr>
          <p:blipFill rotWithShape="1">
            <a:blip r:embed="rId11"/>
            <a:srcRect b="48504"/>
            <a:stretch/>
          </p:blipFill>
          <p:spPr>
            <a:xfrm>
              <a:off x="4923717" y="2216054"/>
              <a:ext cx="4044892" cy="1016783"/>
            </a:xfrm>
            <a:prstGeom prst="rect">
              <a:avLst/>
            </a:prstGeom>
          </p:spPr>
        </p:pic>
        <p:sp>
          <p:nvSpPr>
            <p:cNvPr id="17" name="Rectangle 16">
              <a:extLst>
                <a:ext uri="{FF2B5EF4-FFF2-40B4-BE49-F238E27FC236}">
                  <a16:creationId xmlns:a16="http://schemas.microsoft.com/office/drawing/2014/main" id="{31312C12-8DA8-8ECA-4489-312B929D64C5}"/>
                </a:ext>
              </a:extLst>
            </p:cNvPr>
            <p:cNvSpPr/>
            <p:nvPr/>
          </p:nvSpPr>
          <p:spPr>
            <a:xfrm>
              <a:off x="8610600" y="2216054"/>
              <a:ext cx="457200" cy="12709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4" name="Picture 13">
            <a:extLst>
              <a:ext uri="{FF2B5EF4-FFF2-40B4-BE49-F238E27FC236}">
                <a16:creationId xmlns:a16="http://schemas.microsoft.com/office/drawing/2014/main" id="{CEC75B5C-7D5E-CCF7-7045-EC8923C66D16}"/>
              </a:ext>
            </a:extLst>
          </p:cNvPr>
          <p:cNvPicPr>
            <a:picLocks noChangeAspect="1"/>
          </p:cNvPicPr>
          <p:nvPr/>
        </p:nvPicPr>
        <p:blipFill>
          <a:blip r:embed="rId12"/>
          <a:stretch>
            <a:fillRect/>
          </a:stretch>
        </p:blipFill>
        <p:spPr>
          <a:xfrm>
            <a:off x="5343461" y="1344127"/>
            <a:ext cx="3185073" cy="755045"/>
          </a:xfrm>
          <a:prstGeom prst="rect">
            <a:avLst/>
          </a:prstGeom>
        </p:spPr>
      </p:pic>
      <p:pic>
        <p:nvPicPr>
          <p:cNvPr id="19" name="Picture 18">
            <a:extLst>
              <a:ext uri="{FF2B5EF4-FFF2-40B4-BE49-F238E27FC236}">
                <a16:creationId xmlns:a16="http://schemas.microsoft.com/office/drawing/2014/main" id="{2ECE1618-1CEA-A6DB-2121-87A56D1CEEF3}"/>
              </a:ext>
            </a:extLst>
          </p:cNvPr>
          <p:cNvPicPr>
            <a:picLocks noChangeAspect="1"/>
          </p:cNvPicPr>
          <p:nvPr/>
        </p:nvPicPr>
        <p:blipFill>
          <a:blip r:embed="rId13"/>
          <a:stretch>
            <a:fillRect/>
          </a:stretch>
        </p:blipFill>
        <p:spPr>
          <a:xfrm>
            <a:off x="5257800" y="1720136"/>
            <a:ext cx="3185073" cy="953722"/>
          </a:xfrm>
          <a:prstGeom prst="rect">
            <a:avLst/>
          </a:prstGeom>
        </p:spPr>
      </p:pic>
      <p:pic>
        <p:nvPicPr>
          <p:cNvPr id="20" name="Picture 19">
            <a:extLst>
              <a:ext uri="{FF2B5EF4-FFF2-40B4-BE49-F238E27FC236}">
                <a16:creationId xmlns:a16="http://schemas.microsoft.com/office/drawing/2014/main" id="{B224BBA3-732C-49FE-84D5-34C456966FAF}"/>
              </a:ext>
            </a:extLst>
          </p:cNvPr>
          <p:cNvPicPr>
            <a:picLocks noChangeAspect="1"/>
          </p:cNvPicPr>
          <p:nvPr/>
        </p:nvPicPr>
        <p:blipFill>
          <a:blip r:embed="rId14"/>
          <a:stretch>
            <a:fillRect/>
          </a:stretch>
        </p:blipFill>
        <p:spPr>
          <a:xfrm>
            <a:off x="5320364" y="2534065"/>
            <a:ext cx="3369986" cy="652745"/>
          </a:xfrm>
          <a:prstGeom prst="rect">
            <a:avLst/>
          </a:prstGeom>
        </p:spPr>
      </p:pic>
      <p:pic>
        <p:nvPicPr>
          <p:cNvPr id="21" name="Picture 20">
            <a:extLst>
              <a:ext uri="{FF2B5EF4-FFF2-40B4-BE49-F238E27FC236}">
                <a16:creationId xmlns:a16="http://schemas.microsoft.com/office/drawing/2014/main" id="{721633BD-6313-D0F3-B867-9DD0252D5005}"/>
              </a:ext>
            </a:extLst>
          </p:cNvPr>
          <p:cNvPicPr>
            <a:picLocks noChangeAspect="1"/>
          </p:cNvPicPr>
          <p:nvPr/>
        </p:nvPicPr>
        <p:blipFill>
          <a:blip r:embed="rId15"/>
          <a:stretch>
            <a:fillRect/>
          </a:stretch>
        </p:blipFill>
        <p:spPr>
          <a:xfrm>
            <a:off x="5453634" y="3030894"/>
            <a:ext cx="3064539" cy="953723"/>
          </a:xfrm>
          <a:prstGeom prst="rect">
            <a:avLst/>
          </a:prstGeom>
        </p:spPr>
      </p:pic>
      <p:sp>
        <p:nvSpPr>
          <p:cNvPr id="4" name="Block Arc 3">
            <a:extLst>
              <a:ext uri="{FF2B5EF4-FFF2-40B4-BE49-F238E27FC236}">
                <a16:creationId xmlns:a16="http://schemas.microsoft.com/office/drawing/2014/main" id="{85DC2045-96C7-B391-F0F6-CBA606BB5679}"/>
              </a:ext>
            </a:extLst>
          </p:cNvPr>
          <p:cNvSpPr/>
          <p:nvPr/>
        </p:nvSpPr>
        <p:spPr>
          <a:xfrm>
            <a:off x="3818388" y="3229625"/>
            <a:ext cx="768864" cy="392751"/>
          </a:xfrm>
          <a:prstGeom prst="blockArc">
            <a:avLst>
              <a:gd name="adj1" fmla="val 10800000"/>
              <a:gd name="adj2" fmla="val 118008"/>
              <a:gd name="adj3" fmla="val 10882"/>
            </a:avLst>
          </a:prstGeom>
          <a:solidFill>
            <a:schemeClr val="accent6">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accent3">
                  <a:lumMod val="75000"/>
                </a:schemeClr>
              </a:solidFill>
            </a:endParaRPr>
          </a:p>
        </p:txBody>
      </p:sp>
      <p:grpSp>
        <p:nvGrpSpPr>
          <p:cNvPr id="5" name="Group 4">
            <a:extLst>
              <a:ext uri="{FF2B5EF4-FFF2-40B4-BE49-F238E27FC236}">
                <a16:creationId xmlns:a16="http://schemas.microsoft.com/office/drawing/2014/main" id="{51C6D6E0-A54D-76D3-8A81-AA589629259C}"/>
              </a:ext>
            </a:extLst>
          </p:cNvPr>
          <p:cNvGrpSpPr/>
          <p:nvPr/>
        </p:nvGrpSpPr>
        <p:grpSpPr>
          <a:xfrm>
            <a:off x="0" y="3284045"/>
            <a:ext cx="1242041" cy="648518"/>
            <a:chOff x="194647" y="2431280"/>
            <a:chExt cx="1242041" cy="648518"/>
          </a:xfrm>
        </p:grpSpPr>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6D12688-0606-354E-C618-A04810C6AAB5}"/>
                    </a:ext>
                  </a:extLst>
                </p:cNvPr>
                <p:cNvSpPr txBox="1"/>
                <p:nvPr/>
              </p:nvSpPr>
              <p:spPr>
                <a:xfrm>
                  <a:off x="353874" y="2431280"/>
                  <a:ext cx="75924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𝝀</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m:t>
                            </m:r>
                          </m:e>
                          <m:sub>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𝒕</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m:t>
                            </m:r>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𝟏</m:t>
                            </m:r>
                          </m:sub>
                        </m:sSub>
                      </m:oMath>
                    </m:oMathPara>
                  </a14:m>
                  <a:endParaRPr lang="en-US" sz="2400" b="1" dirty="0">
                    <a:solidFill>
                      <a:srgbClr val="C00000"/>
                    </a:solidFill>
                    <a:cs typeface="Calibri" panose="020F0502020204030204" pitchFamily="34" charset="0"/>
                  </a:endParaRPr>
                </a:p>
              </p:txBody>
            </p:sp>
          </mc:Choice>
          <mc:Fallback xmlns="">
            <p:sp>
              <p:nvSpPr>
                <p:cNvPr id="22" name="TextBox 21">
                  <a:extLst>
                    <a:ext uri="{FF2B5EF4-FFF2-40B4-BE49-F238E27FC236}">
                      <a16:creationId xmlns:a16="http://schemas.microsoft.com/office/drawing/2014/main" id="{C6D12688-0606-354E-C618-A04810C6AAB5}"/>
                    </a:ext>
                  </a:extLst>
                </p:cNvPr>
                <p:cNvSpPr txBox="1">
                  <a:spLocks noRot="1" noChangeAspect="1" noMove="1" noResize="1" noEditPoints="1" noAdjustHandles="1" noChangeArrowheads="1" noChangeShapeType="1" noTextEdit="1"/>
                </p:cNvSpPr>
                <p:nvPr/>
              </p:nvSpPr>
              <p:spPr>
                <a:xfrm>
                  <a:off x="353874" y="2431280"/>
                  <a:ext cx="759245" cy="461665"/>
                </a:xfrm>
                <a:prstGeom prst="rect">
                  <a:avLst/>
                </a:prstGeom>
                <a:blipFill>
                  <a:blip r:embed="rId16"/>
                  <a:stretch>
                    <a:fillRect l="-3279" r="-6557" b="-5405"/>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55266484-12A3-93BF-5826-66C2DD4F8891}"/>
                </a:ext>
              </a:extLst>
            </p:cNvPr>
            <p:cNvSpPr txBox="1"/>
            <p:nvPr/>
          </p:nvSpPr>
          <p:spPr>
            <a:xfrm>
              <a:off x="194647" y="2772021"/>
              <a:ext cx="1242041" cy="307777"/>
            </a:xfrm>
            <a:prstGeom prst="rect">
              <a:avLst/>
            </a:prstGeom>
            <a:noFill/>
          </p:spPr>
          <p:txBody>
            <a:bodyPr wrap="square">
              <a:spAutoFit/>
            </a:bodyPr>
            <a:lstStyle/>
            <a:p>
              <a:r>
                <a:rPr lang="en-US" sz="1400" dirty="0">
                  <a:cs typeface="Calibri" panose="020F0502020204030204" pitchFamily="34" charset="0"/>
                </a:rPr>
                <a:t>More skewed</a:t>
              </a:r>
            </a:p>
          </p:txBody>
        </p:sp>
      </p:grpSp>
      <p:sp>
        <p:nvSpPr>
          <p:cNvPr id="25" name="TextBox 24">
            <a:extLst>
              <a:ext uri="{FF2B5EF4-FFF2-40B4-BE49-F238E27FC236}">
                <a16:creationId xmlns:a16="http://schemas.microsoft.com/office/drawing/2014/main" id="{5A846C35-A6B1-98AB-FD8B-E42463B54445}"/>
              </a:ext>
            </a:extLst>
          </p:cNvPr>
          <p:cNvSpPr txBox="1"/>
          <p:nvPr/>
        </p:nvSpPr>
        <p:spPr>
          <a:xfrm>
            <a:off x="918472" y="2902392"/>
            <a:ext cx="949652" cy="307777"/>
          </a:xfrm>
          <a:prstGeom prst="rect">
            <a:avLst/>
          </a:prstGeom>
          <a:noFill/>
        </p:spPr>
        <p:txBody>
          <a:bodyPr wrap="square">
            <a:spAutoFit/>
          </a:bodyPr>
          <a:lstStyle/>
          <a:p>
            <a:r>
              <a:rPr lang="en-US" sz="1400" b="1" dirty="0">
                <a:solidFill>
                  <a:schemeClr val="accent4">
                    <a:lumMod val="75000"/>
                  </a:schemeClr>
                </a:solidFill>
                <a:cs typeface="Calibri" panose="020F0502020204030204" pitchFamily="34" charset="0"/>
              </a:rPr>
              <a:t>Lemma 18</a:t>
            </a:r>
          </a:p>
        </p:txBody>
      </p:sp>
      <p:sp>
        <p:nvSpPr>
          <p:cNvPr id="31" name="Down Arrow 30">
            <a:extLst>
              <a:ext uri="{FF2B5EF4-FFF2-40B4-BE49-F238E27FC236}">
                <a16:creationId xmlns:a16="http://schemas.microsoft.com/office/drawing/2014/main" id="{2C8D4990-9935-7FED-E8A1-03EF873FFEAF}"/>
              </a:ext>
            </a:extLst>
          </p:cNvPr>
          <p:cNvSpPr/>
          <p:nvPr/>
        </p:nvSpPr>
        <p:spPr>
          <a:xfrm rot="10800000">
            <a:off x="2485510" y="4046522"/>
            <a:ext cx="177436" cy="548523"/>
          </a:xfrm>
          <a:prstGeom prst="downArrow">
            <a:avLst>
              <a:gd name="adj1" fmla="val 50000"/>
              <a:gd name="adj2" fmla="val 132741"/>
            </a:avLst>
          </a:prstGeom>
          <a:solidFill>
            <a:srgbClr val="C0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solidFill>
                <a:schemeClr val="tx1"/>
              </a:solidFill>
            </a:endParaRPr>
          </a:p>
        </p:txBody>
      </p:sp>
      <p:grpSp>
        <p:nvGrpSpPr>
          <p:cNvPr id="63" name="Group 62">
            <a:extLst>
              <a:ext uri="{FF2B5EF4-FFF2-40B4-BE49-F238E27FC236}">
                <a16:creationId xmlns:a16="http://schemas.microsoft.com/office/drawing/2014/main" id="{AA832948-C3F4-1D88-B917-F5F92E10E2AE}"/>
              </a:ext>
            </a:extLst>
          </p:cNvPr>
          <p:cNvGrpSpPr/>
          <p:nvPr/>
        </p:nvGrpSpPr>
        <p:grpSpPr>
          <a:xfrm>
            <a:off x="424041" y="2148182"/>
            <a:ext cx="2116097" cy="566912"/>
            <a:chOff x="255588" y="3841384"/>
            <a:chExt cx="2116097" cy="566912"/>
          </a:xfrm>
        </p:grpSpPr>
        <p:cxnSp>
          <p:nvCxnSpPr>
            <p:cNvPr id="32772" name="Straight Arrow Connector 32771">
              <a:extLst>
                <a:ext uri="{FF2B5EF4-FFF2-40B4-BE49-F238E27FC236}">
                  <a16:creationId xmlns:a16="http://schemas.microsoft.com/office/drawing/2014/main" id="{D89897EE-3247-EEC7-5F48-00247637CE3F}"/>
                </a:ext>
              </a:extLst>
            </p:cNvPr>
            <p:cNvCxnSpPr>
              <a:cxnSpLocks/>
            </p:cNvCxnSpPr>
            <p:nvPr/>
          </p:nvCxnSpPr>
          <p:spPr>
            <a:xfrm>
              <a:off x="255588" y="4400550"/>
              <a:ext cx="2116097" cy="77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775" name="Straight Arrow Connector 32774">
              <a:extLst>
                <a:ext uri="{FF2B5EF4-FFF2-40B4-BE49-F238E27FC236}">
                  <a16:creationId xmlns:a16="http://schemas.microsoft.com/office/drawing/2014/main" id="{137E0C68-54C2-7815-B01A-FE3CC41BC768}"/>
                </a:ext>
              </a:extLst>
            </p:cNvPr>
            <p:cNvCxnSpPr>
              <a:cxnSpLocks/>
            </p:cNvCxnSpPr>
            <p:nvPr/>
          </p:nvCxnSpPr>
          <p:spPr>
            <a:xfrm flipV="1">
              <a:off x="520002" y="4128713"/>
              <a:ext cx="0" cy="271837"/>
            </a:xfrm>
            <a:prstGeom prst="straightConnector1">
              <a:avLst/>
            </a:prstGeom>
            <a:ln>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cxnSp>
          <p:nvCxnSpPr>
            <p:cNvPr id="32782" name="Straight Arrow Connector 32781">
              <a:extLst>
                <a:ext uri="{FF2B5EF4-FFF2-40B4-BE49-F238E27FC236}">
                  <a16:creationId xmlns:a16="http://schemas.microsoft.com/office/drawing/2014/main" id="{29742475-75D9-44BE-2720-3258080EF9EC}"/>
                </a:ext>
              </a:extLst>
            </p:cNvPr>
            <p:cNvCxnSpPr>
              <a:cxnSpLocks/>
            </p:cNvCxnSpPr>
            <p:nvPr/>
          </p:nvCxnSpPr>
          <p:spPr>
            <a:xfrm flipV="1">
              <a:off x="1456698" y="3841384"/>
              <a:ext cx="0" cy="559166"/>
            </a:xfrm>
            <a:prstGeom prst="straightConnector1">
              <a:avLst/>
            </a:prstGeom>
            <a:ln>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grpSp>
      <p:cxnSp>
        <p:nvCxnSpPr>
          <p:cNvPr id="32771" name="Straight Arrow Connector 32770">
            <a:extLst>
              <a:ext uri="{FF2B5EF4-FFF2-40B4-BE49-F238E27FC236}">
                <a16:creationId xmlns:a16="http://schemas.microsoft.com/office/drawing/2014/main" id="{3A67B232-574B-0969-FCBA-E7DD66CEE5A7}"/>
              </a:ext>
            </a:extLst>
          </p:cNvPr>
          <p:cNvCxnSpPr>
            <a:cxnSpLocks/>
          </p:cNvCxnSpPr>
          <p:nvPr/>
        </p:nvCxnSpPr>
        <p:spPr>
          <a:xfrm flipV="1">
            <a:off x="2159138" y="2302766"/>
            <a:ext cx="0" cy="388746"/>
          </a:xfrm>
          <a:prstGeom prst="straightConnector1">
            <a:avLst/>
          </a:prstGeom>
          <a:ln>
            <a:solidFill>
              <a:srgbClr val="C00000"/>
            </a:solidFill>
            <a:prstDash val="sysDot"/>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cxnSp>
        <p:nvCxnSpPr>
          <p:cNvPr id="47" name="Straight Arrow Connector 46">
            <a:extLst>
              <a:ext uri="{FF2B5EF4-FFF2-40B4-BE49-F238E27FC236}">
                <a16:creationId xmlns:a16="http://schemas.microsoft.com/office/drawing/2014/main" id="{3CA02BBE-7A70-CD94-BACB-20106DBD5D47}"/>
              </a:ext>
            </a:extLst>
          </p:cNvPr>
          <p:cNvCxnSpPr>
            <a:cxnSpLocks/>
          </p:cNvCxnSpPr>
          <p:nvPr/>
        </p:nvCxnSpPr>
        <p:spPr>
          <a:xfrm flipV="1">
            <a:off x="542611" y="2110287"/>
            <a:ext cx="0" cy="7038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Box 24">
            <a:extLst>
              <a:ext uri="{FF2B5EF4-FFF2-40B4-BE49-F238E27FC236}">
                <a16:creationId xmlns:a16="http://schemas.microsoft.com/office/drawing/2014/main" id="{A2E8C3A2-8DC9-5DB1-084D-A44B71572EE0}"/>
              </a:ext>
            </a:extLst>
          </p:cNvPr>
          <p:cNvSpPr txBox="1"/>
          <p:nvPr/>
        </p:nvSpPr>
        <p:spPr>
          <a:xfrm>
            <a:off x="519148" y="1976002"/>
            <a:ext cx="88894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Probability</a:t>
            </a:r>
          </a:p>
        </p:txBody>
      </p:sp>
      <p:sp>
        <p:nvSpPr>
          <p:cNvPr id="49" name="TextBox 24">
            <a:extLst>
              <a:ext uri="{FF2B5EF4-FFF2-40B4-BE49-F238E27FC236}">
                <a16:creationId xmlns:a16="http://schemas.microsoft.com/office/drawing/2014/main" id="{425F747F-1109-965E-D979-1720BCC7AE0B}"/>
              </a:ext>
            </a:extLst>
          </p:cNvPr>
          <p:cNvSpPr txBox="1"/>
          <p:nvPr/>
        </p:nvSpPr>
        <p:spPr>
          <a:xfrm>
            <a:off x="2333019" y="2416213"/>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Price</a:t>
            </a:r>
          </a:p>
        </p:txBody>
      </p:sp>
      <p:sp>
        <p:nvSpPr>
          <p:cNvPr id="32786" name="Up-Down Arrow 32785">
            <a:extLst>
              <a:ext uri="{FF2B5EF4-FFF2-40B4-BE49-F238E27FC236}">
                <a16:creationId xmlns:a16="http://schemas.microsoft.com/office/drawing/2014/main" id="{7ACCACDB-C222-C131-C042-D8DA9636FC5D}"/>
              </a:ext>
            </a:extLst>
          </p:cNvPr>
          <p:cNvSpPr/>
          <p:nvPr/>
        </p:nvSpPr>
        <p:spPr>
          <a:xfrm rot="5400000">
            <a:off x="2820854" y="1919351"/>
            <a:ext cx="189331" cy="2900883"/>
          </a:xfrm>
          <a:prstGeom prst="upDownArrow">
            <a:avLst>
              <a:gd name="adj1" fmla="val 36103"/>
              <a:gd name="adj2" fmla="val 129929"/>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32777" name="Rectangle 32776">
            <a:extLst>
              <a:ext uri="{FF2B5EF4-FFF2-40B4-BE49-F238E27FC236}">
                <a16:creationId xmlns:a16="http://schemas.microsoft.com/office/drawing/2014/main" id="{E170EB9C-4CAA-0761-165D-F4FB3378FD48}"/>
              </a:ext>
            </a:extLst>
          </p:cNvPr>
          <p:cNvSpPr/>
          <p:nvPr/>
        </p:nvSpPr>
        <p:spPr>
          <a:xfrm>
            <a:off x="5048026" y="542804"/>
            <a:ext cx="3908769" cy="3619847"/>
          </a:xfrm>
          <a:prstGeom prst="rect">
            <a:avLst/>
          </a:prstGeom>
          <a:solidFill>
            <a:schemeClr val="tx2">
              <a:lumMod val="20000"/>
              <a:lumOff val="80000"/>
              <a:alpha val="98784"/>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3">
                  <a:lumMod val="75000"/>
                </a:schemeClr>
              </a:solidFill>
            </a:endParaRPr>
          </a:p>
        </p:txBody>
      </p:sp>
      <p:sp>
        <p:nvSpPr>
          <p:cNvPr id="32779" name="TextBox 26">
            <a:extLst>
              <a:ext uri="{FF2B5EF4-FFF2-40B4-BE49-F238E27FC236}">
                <a16:creationId xmlns:a16="http://schemas.microsoft.com/office/drawing/2014/main" id="{B03E92A3-3A65-43BB-BA37-9BAA7B8A1BCD}"/>
              </a:ext>
            </a:extLst>
          </p:cNvPr>
          <p:cNvSpPr txBox="1"/>
          <p:nvPr/>
        </p:nvSpPr>
        <p:spPr>
          <a:xfrm>
            <a:off x="5375172" y="617452"/>
            <a:ext cx="3284795"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solidFill>
                  <a:schemeClr val="accent6">
                    <a:lumMod val="75000"/>
                  </a:schemeClr>
                </a:solidFill>
                <a:cs typeface="Calibri" panose="020F0502020204030204" pitchFamily="34" charset="0"/>
              </a:rPr>
              <a:t>KKT conditions/optimality condition</a:t>
            </a:r>
          </a:p>
        </p:txBody>
      </p:sp>
      <mc:AlternateContent xmlns:mc="http://schemas.openxmlformats.org/markup-compatibility/2006" xmlns:a14="http://schemas.microsoft.com/office/drawing/2010/main">
        <mc:Choice Requires="a14">
          <p:sp>
            <p:nvSpPr>
              <p:cNvPr id="32780" name="TextBox 26">
                <a:extLst>
                  <a:ext uri="{FF2B5EF4-FFF2-40B4-BE49-F238E27FC236}">
                    <a16:creationId xmlns:a16="http://schemas.microsoft.com/office/drawing/2014/main" id="{E56497EF-1B21-EEDD-62BB-80CBF577D383}"/>
                  </a:ext>
                </a:extLst>
              </p:cNvPr>
              <p:cNvSpPr txBox="1"/>
              <p:nvPr/>
            </p:nvSpPr>
            <p:spPr>
              <a:xfrm>
                <a:off x="5157879" y="905134"/>
                <a:ext cx="3838645" cy="592085"/>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𝒑</m:t>
                          </m:r>
                        </m:e>
                        <m:sub>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m:t>
                      </m:r>
                      <m:nary>
                        <m:naryPr>
                          <m:chr m:val="∑"/>
                          <m:limLoc m:val="subSup"/>
                          <m:ctrlP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ctrlPr>
                        </m:naryPr>
                        <m:sub>
                          <m:r>
                            <m:rPr>
                              <m:brk m:alnAt="25"/>
                            </m:rP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𝝉</m:t>
                          </m:r>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𝟏</m:t>
                          </m:r>
                        </m:sub>
                        <m:sup>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sup>
                        <m:e>
                          <m:sSub>
                            <m:sSubPr>
                              <m:ctrlP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𝒄</m:t>
                              </m:r>
                            </m:e>
                            <m:sub>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𝝉</m:t>
                              </m:r>
                            </m:sub>
                          </m:sSub>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m:t>
                          </m:r>
                          <m:sSub>
                            <m:sSubPr>
                              <m:ctrlP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𝒙</m:t>
                              </m:r>
                            </m:e>
                            <m:sub>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𝝉</m:t>
                              </m:r>
                            </m:sub>
                          </m:sSub>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m:t>
                          </m:r>
                        </m:e>
                      </m:nary>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m:t>
                      </m:r>
                      <m:sSub>
                        <m:sSubPr>
                          <m:ctrlP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𝔼</m:t>
                          </m:r>
                        </m:e>
                        <m:sub>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𝝀</m:t>
                          </m:r>
                        </m:sub>
                      </m:sSub>
                      <m: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m:t>
                      </m:r>
                      <m:sSub>
                        <m:sSubPr>
                          <m:ctrlP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𝒄</m:t>
                          </m:r>
                        </m:e>
                        <m:sub>
                          <m: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m:t>
                      </m:r>
                      <m:sSub>
                        <m:sSubPr>
                          <m:ctrlP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𝒙</m:t>
                          </m:r>
                        </m:e>
                        <m:sub>
                          <m: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 </m:t>
                      </m:r>
                      <m:r>
                        <a:rPr lang="en-US" sz="1600" b="1" i="1" smtClean="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m:t>𝟎</m:t>
                      </m:r>
                    </m:oMath>
                  </m:oMathPara>
                </a14:m>
                <a:endParaRPr lang="en-US" sz="1600" b="1" dirty="0">
                  <a:solidFill>
                    <a:schemeClr val="accent6">
                      <a:lumMod val="75000"/>
                    </a:schemeClr>
                  </a:solidFill>
                  <a:cs typeface="Calibri" panose="020F0502020204030204" pitchFamily="34" charset="0"/>
                </a:endParaRPr>
              </a:p>
            </p:txBody>
          </p:sp>
        </mc:Choice>
        <mc:Fallback xmlns="">
          <p:sp>
            <p:nvSpPr>
              <p:cNvPr id="32780" name="TextBox 26">
                <a:extLst>
                  <a:ext uri="{FF2B5EF4-FFF2-40B4-BE49-F238E27FC236}">
                    <a16:creationId xmlns:a16="http://schemas.microsoft.com/office/drawing/2014/main" id="{E56497EF-1B21-EEDD-62BB-80CBF577D383}"/>
                  </a:ext>
                </a:extLst>
              </p:cNvPr>
              <p:cNvSpPr txBox="1">
                <a:spLocks noRot="1" noChangeAspect="1" noMove="1" noResize="1" noEditPoints="1" noAdjustHandles="1" noChangeArrowheads="1" noChangeShapeType="1" noTextEdit="1"/>
              </p:cNvSpPr>
              <p:nvPr/>
            </p:nvSpPr>
            <p:spPr>
              <a:xfrm>
                <a:off x="5157879" y="905134"/>
                <a:ext cx="3838645" cy="592085"/>
              </a:xfrm>
              <a:prstGeom prst="rect">
                <a:avLst/>
              </a:prstGeom>
              <a:blipFill>
                <a:blip r:embed="rId21"/>
                <a:stretch>
                  <a:fillRect l="-4620" t="-141667" b="-214583"/>
                </a:stretch>
              </a:blipFill>
            </p:spPr>
            <p:txBody>
              <a:bodyPr/>
              <a:lstStyle/>
              <a:p>
                <a:r>
                  <a:rPr lang="en-US">
                    <a:noFill/>
                  </a:rPr>
                  <a:t> </a:t>
                </a:r>
              </a:p>
            </p:txBody>
          </p:sp>
        </mc:Fallback>
      </mc:AlternateContent>
      <p:sp>
        <p:nvSpPr>
          <p:cNvPr id="32783" name="Down Arrow 32782">
            <a:extLst>
              <a:ext uri="{FF2B5EF4-FFF2-40B4-BE49-F238E27FC236}">
                <a16:creationId xmlns:a16="http://schemas.microsoft.com/office/drawing/2014/main" id="{B26AE95A-20B9-426B-CB11-306DE528D6D8}"/>
              </a:ext>
            </a:extLst>
          </p:cNvPr>
          <p:cNvSpPr/>
          <p:nvPr/>
        </p:nvSpPr>
        <p:spPr>
          <a:xfrm>
            <a:off x="6902874" y="2310470"/>
            <a:ext cx="392511" cy="30963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784" name="TextBox 26">
                <a:extLst>
                  <a:ext uri="{FF2B5EF4-FFF2-40B4-BE49-F238E27FC236}">
                    <a16:creationId xmlns:a16="http://schemas.microsoft.com/office/drawing/2014/main" id="{7769BB7D-6109-F47A-6CAA-8521A5E7CE4E}"/>
                  </a:ext>
                </a:extLst>
              </p:cNvPr>
              <p:cNvSpPr txBox="1"/>
              <p:nvPr/>
            </p:nvSpPr>
            <p:spPr>
              <a:xfrm>
                <a:off x="5799069" y="2607928"/>
                <a:ext cx="2791510" cy="584775"/>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solidFill>
                      <a:schemeClr val="accent5">
                        <a:lumMod val="75000"/>
                      </a:schemeClr>
                    </a:solidFill>
                    <a:cs typeface="Calibri" panose="020F0502020204030204" pitchFamily="34" charset="0"/>
                  </a:rPr>
                  <a:t>Connect</a:t>
                </a:r>
                <a14:m>
                  <m:oMath xmlns:m="http://schemas.openxmlformats.org/officeDocument/2006/math">
                    <m:r>
                      <a:rPr lang="en-US" sz="1600" b="1" i="0"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 </m:t>
                    </m:r>
                    <m:sSub>
                      <m:sSubPr>
                        <m:ctrlP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𝒗</m:t>
                        </m:r>
                      </m:e>
                      <m:sub>
                        <m: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sub>
                    </m:sSub>
                    <m: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 </m:t>
                    </m:r>
                    <m:sSub>
                      <m:sSubPr>
                        <m:ctrlP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𝝀</m:t>
                        </m:r>
                      </m:e>
                      <m:sub>
                        <m: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𝟏</m:t>
                        </m:r>
                      </m:sub>
                    </m:sSub>
                  </m:oMath>
                </a14:m>
                <a:endParaRPr lang="en-US" sz="1600" b="1" dirty="0">
                  <a:solidFill>
                    <a:schemeClr val="accent5">
                      <a:lumMod val="75000"/>
                    </a:schemeClr>
                  </a:solidFill>
                  <a:ea typeface="Cambria Math" panose="02040503050406030204" pitchFamily="18" charset="0"/>
                  <a:cs typeface="Calibri" panose="020F0502020204030204" pitchFamily="34" charset="0"/>
                </a:endParaRPr>
              </a:p>
              <a:p>
                <a:r>
                  <a:rPr lang="en-US" sz="1600" b="1" dirty="0">
                    <a:solidFill>
                      <a:schemeClr val="accent5">
                        <a:lumMod val="75000"/>
                      </a:schemeClr>
                    </a:solidFill>
                    <a:cs typeface="Calibri" panose="020F0502020204030204" pitchFamily="34" charset="0"/>
                  </a:rPr>
                  <a:t>Showing </a:t>
                </a:r>
                <a14:m>
                  <m:oMath xmlns:m="http://schemas.openxmlformats.org/officeDocument/2006/math">
                    <m:sSub>
                      <m:sSubPr>
                        <m:ctrlP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𝒗</m:t>
                        </m:r>
                      </m:e>
                      <m:sub>
                        <m: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sub>
                    </m:sSub>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&gt;</m:t>
                    </m:r>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𝟎</m:t>
                    </m:r>
                    <m:r>
                      <a:rPr lang="en-US" sz="1600" b="1" i="1" smtClean="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m:t>
                    </m:r>
                  </m:oMath>
                </a14:m>
                <a:r>
                  <a:rPr lang="en-US" sz="1600" b="1" dirty="0">
                    <a:solidFill>
                      <a:schemeClr val="accent5">
                        <a:lumMod val="75000"/>
                      </a:schemeClr>
                    </a:solidFill>
                    <a:cs typeface="Calibri" panose="020F0502020204030204" pitchFamily="34" charset="0"/>
                  </a:rPr>
                  <a:t> then </a:t>
                </a:r>
                <a14:m>
                  <m:oMath xmlns:m="http://schemas.openxmlformats.org/officeDocument/2006/math">
                    <m:sSub>
                      <m:sSubPr>
                        <m:ctrlP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𝒙</m:t>
                        </m:r>
                      </m:e>
                      <m:sub>
                        <m: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sub>
                    </m:sSub>
                    <m: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&gt;</m:t>
                    </m:r>
                    <m:r>
                      <a:rPr lang="en-US" sz="1600" b="1"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𝟎</m:t>
                    </m:r>
                  </m:oMath>
                </a14:m>
                <a:endParaRPr lang="en-US" sz="1600" b="1" dirty="0">
                  <a:solidFill>
                    <a:schemeClr val="accent5">
                      <a:lumMod val="75000"/>
                    </a:schemeClr>
                  </a:solidFill>
                  <a:cs typeface="Calibri" panose="020F0502020204030204" pitchFamily="34" charset="0"/>
                </a:endParaRPr>
              </a:p>
            </p:txBody>
          </p:sp>
        </mc:Choice>
        <mc:Fallback xmlns="">
          <p:sp>
            <p:nvSpPr>
              <p:cNvPr id="32784" name="TextBox 26">
                <a:extLst>
                  <a:ext uri="{FF2B5EF4-FFF2-40B4-BE49-F238E27FC236}">
                    <a16:creationId xmlns:a16="http://schemas.microsoft.com/office/drawing/2014/main" id="{7769BB7D-6109-F47A-6CAA-8521A5E7CE4E}"/>
                  </a:ext>
                </a:extLst>
              </p:cNvPr>
              <p:cNvSpPr txBox="1">
                <a:spLocks noRot="1" noChangeAspect="1" noMove="1" noResize="1" noEditPoints="1" noAdjustHandles="1" noChangeArrowheads="1" noChangeShapeType="1" noTextEdit="1"/>
              </p:cNvSpPr>
              <p:nvPr/>
            </p:nvSpPr>
            <p:spPr>
              <a:xfrm>
                <a:off x="5799069" y="2607928"/>
                <a:ext cx="2791510" cy="584775"/>
              </a:xfrm>
              <a:prstGeom prst="rect">
                <a:avLst/>
              </a:prstGeom>
              <a:blipFill>
                <a:blip r:embed="rId22"/>
                <a:stretch>
                  <a:fillRect l="-905" t="-2128" b="-10638"/>
                </a:stretch>
              </a:blipFill>
            </p:spPr>
            <p:txBody>
              <a:bodyPr/>
              <a:lstStyle/>
              <a:p>
                <a:r>
                  <a:rPr lang="en-US">
                    <a:noFill/>
                  </a:rPr>
                  <a:t> </a:t>
                </a:r>
              </a:p>
            </p:txBody>
          </p:sp>
        </mc:Fallback>
      </mc:AlternateContent>
      <p:sp>
        <p:nvSpPr>
          <p:cNvPr id="32790" name="Down Arrow 32789">
            <a:extLst>
              <a:ext uri="{FF2B5EF4-FFF2-40B4-BE49-F238E27FC236}">
                <a16:creationId xmlns:a16="http://schemas.microsoft.com/office/drawing/2014/main" id="{2DAF1F24-3E3E-28DE-1FB1-900B5561194E}"/>
              </a:ext>
            </a:extLst>
          </p:cNvPr>
          <p:cNvSpPr/>
          <p:nvPr/>
        </p:nvSpPr>
        <p:spPr>
          <a:xfrm>
            <a:off x="6899444" y="1406575"/>
            <a:ext cx="392511" cy="30963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91" name="TextBox 26">
            <a:extLst>
              <a:ext uri="{FF2B5EF4-FFF2-40B4-BE49-F238E27FC236}">
                <a16:creationId xmlns:a16="http://schemas.microsoft.com/office/drawing/2014/main" id="{C0772A12-E7CB-6E5F-6A5E-D0382405C27A}"/>
              </a:ext>
            </a:extLst>
          </p:cNvPr>
          <p:cNvSpPr txBox="1"/>
          <p:nvPr/>
        </p:nvSpPr>
        <p:spPr>
          <a:xfrm>
            <a:off x="6186378" y="1680694"/>
            <a:ext cx="1796870"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solidFill>
                  <a:schemeClr val="accent3">
                    <a:lumMod val="75000"/>
                  </a:schemeClr>
                </a:solidFill>
                <a:cs typeface="Calibri" panose="020F0502020204030204" pitchFamily="34" charset="0"/>
              </a:rPr>
              <a:t>Function property</a:t>
            </a:r>
          </a:p>
        </p:txBody>
      </p:sp>
      <mc:AlternateContent xmlns:mc="http://schemas.openxmlformats.org/markup-compatibility/2006" xmlns:a14="http://schemas.microsoft.com/office/drawing/2010/main">
        <mc:Choice Requires="a14">
          <p:sp>
            <p:nvSpPr>
              <p:cNvPr id="32792" name="TextBox 26">
                <a:extLst>
                  <a:ext uri="{FF2B5EF4-FFF2-40B4-BE49-F238E27FC236}">
                    <a16:creationId xmlns:a16="http://schemas.microsoft.com/office/drawing/2014/main" id="{473ABE7F-FEA7-1585-1186-96AEA638CC4B}"/>
                  </a:ext>
                </a:extLst>
              </p:cNvPr>
              <p:cNvSpPr txBox="1"/>
              <p:nvPr/>
            </p:nvSpPr>
            <p:spPr>
              <a:xfrm>
                <a:off x="6049187" y="1944222"/>
                <a:ext cx="2028423"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𝒙</m:t>
                          </m:r>
                        </m:e>
                        <m:sub>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 ∅(</m:t>
                      </m:r>
                      <m:sSub>
                        <m:sSubPr>
                          <m:ctrlP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𝝀</m:t>
                          </m:r>
                        </m:e>
                        <m:sub>
                          <m:r>
                            <a:rPr lang="en-US" sz="1600" b="1" i="1">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smtClean="0">
                          <a:solidFill>
                            <a:schemeClr val="accent3">
                              <a:lumMod val="75000"/>
                            </a:schemeClr>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sz="1600" b="1" dirty="0">
                  <a:solidFill>
                    <a:schemeClr val="accent3">
                      <a:lumMod val="75000"/>
                    </a:schemeClr>
                  </a:solidFill>
                  <a:cs typeface="Calibri" panose="020F0502020204030204" pitchFamily="34" charset="0"/>
                </a:endParaRPr>
              </a:p>
            </p:txBody>
          </p:sp>
        </mc:Choice>
        <mc:Fallback xmlns="">
          <p:sp>
            <p:nvSpPr>
              <p:cNvPr id="32792" name="TextBox 26">
                <a:extLst>
                  <a:ext uri="{FF2B5EF4-FFF2-40B4-BE49-F238E27FC236}">
                    <a16:creationId xmlns:a16="http://schemas.microsoft.com/office/drawing/2014/main" id="{473ABE7F-FEA7-1585-1186-96AEA638CC4B}"/>
                  </a:ext>
                </a:extLst>
              </p:cNvPr>
              <p:cNvSpPr txBox="1">
                <a:spLocks noRot="1" noChangeAspect="1" noMove="1" noResize="1" noEditPoints="1" noAdjustHandles="1" noChangeArrowheads="1" noChangeShapeType="1" noTextEdit="1"/>
              </p:cNvSpPr>
              <p:nvPr/>
            </p:nvSpPr>
            <p:spPr>
              <a:xfrm>
                <a:off x="6049187" y="1944222"/>
                <a:ext cx="2028423" cy="338554"/>
              </a:xfrm>
              <a:prstGeom prst="rect">
                <a:avLst/>
              </a:prstGeom>
              <a:blipFill>
                <a:blip r:embed="rId23"/>
                <a:stretch>
                  <a:fillRect b="-14815"/>
                </a:stretch>
              </a:blipFill>
            </p:spPr>
            <p:txBody>
              <a:bodyPr/>
              <a:lstStyle/>
              <a:p>
                <a:r>
                  <a:rPr lang="en-US">
                    <a:noFill/>
                  </a:rPr>
                  <a:t> </a:t>
                </a:r>
              </a:p>
            </p:txBody>
          </p:sp>
        </mc:Fallback>
      </mc:AlternateContent>
      <p:sp>
        <p:nvSpPr>
          <p:cNvPr id="32793" name="Down Arrow 32792">
            <a:extLst>
              <a:ext uri="{FF2B5EF4-FFF2-40B4-BE49-F238E27FC236}">
                <a16:creationId xmlns:a16="http://schemas.microsoft.com/office/drawing/2014/main" id="{90CCFD7B-8C0A-841E-400B-149FDEE5A204}"/>
              </a:ext>
            </a:extLst>
          </p:cNvPr>
          <p:cNvSpPr/>
          <p:nvPr/>
        </p:nvSpPr>
        <p:spPr>
          <a:xfrm>
            <a:off x="6898395" y="3252718"/>
            <a:ext cx="392511" cy="30963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94" name="TextBox 26">
            <a:extLst>
              <a:ext uri="{FF2B5EF4-FFF2-40B4-BE49-F238E27FC236}">
                <a16:creationId xmlns:a16="http://schemas.microsoft.com/office/drawing/2014/main" id="{31926480-5389-1C23-5E41-698E6F0AD90F}"/>
              </a:ext>
            </a:extLst>
          </p:cNvPr>
          <p:cNvSpPr txBox="1"/>
          <p:nvPr/>
        </p:nvSpPr>
        <p:spPr>
          <a:xfrm>
            <a:off x="5914956" y="3558362"/>
            <a:ext cx="2563638"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solidFill>
                  <a:schemeClr val="accent4">
                    <a:lumMod val="75000"/>
                  </a:schemeClr>
                </a:solidFill>
                <a:cs typeface="Calibri" panose="020F0502020204030204" pitchFamily="34" charset="0"/>
              </a:rPr>
              <a:t>More skewed uncertainty</a:t>
            </a:r>
          </a:p>
        </p:txBody>
      </p:sp>
      <mc:AlternateContent xmlns:mc="http://schemas.openxmlformats.org/markup-compatibility/2006" xmlns:a14="http://schemas.microsoft.com/office/drawing/2010/main">
        <mc:Choice Requires="a14">
          <p:sp>
            <p:nvSpPr>
              <p:cNvPr id="32795" name="TextBox 26">
                <a:extLst>
                  <a:ext uri="{FF2B5EF4-FFF2-40B4-BE49-F238E27FC236}">
                    <a16:creationId xmlns:a16="http://schemas.microsoft.com/office/drawing/2014/main" id="{4F11609B-1FFF-B6FB-CBFE-1C2B704611CA}"/>
                  </a:ext>
                </a:extLst>
              </p:cNvPr>
              <p:cNvSpPr txBox="1"/>
              <p:nvPr/>
            </p:nvSpPr>
            <p:spPr>
              <a:xfrm>
                <a:off x="5904566" y="3779577"/>
                <a:ext cx="2366845"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accent4">
                                  <a:lumMod val="75000"/>
                                </a:schemeClr>
                              </a:solidFill>
                              <a:latin typeface="Cambria Math" panose="02040503050406030204" pitchFamily="18" charset="0"/>
                              <a:ea typeface="Cambria Math" panose="02040503050406030204" pitchFamily="18" charset="0"/>
                              <a:cs typeface="Calibri" panose="020F0502020204030204" pitchFamily="34" charset="0"/>
                            </a:rPr>
                          </m:ctrlPr>
                        </m:sSubPr>
                        <m:e>
                          <m:r>
                            <a:rPr lang="en-US" sz="1600" b="1" i="1">
                              <a:solidFill>
                                <a:schemeClr val="accent4">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a:solidFill>
                                <a:schemeClr val="accent4">
                                  <a:lumMod val="75000"/>
                                </a:schemeClr>
                              </a:solidFill>
                              <a:latin typeface="Cambria Math" panose="02040503050406030204" pitchFamily="18" charset="0"/>
                              <a:ea typeface="Cambria Math" panose="02040503050406030204" pitchFamily="18" charset="0"/>
                              <a:cs typeface="Calibri" panose="020F0502020204030204" pitchFamily="34" charset="0"/>
                            </a:rPr>
                            <m:t>𝒗</m:t>
                          </m:r>
                        </m:e>
                        <m:sub>
                          <m:r>
                            <a:rPr lang="en-US" sz="1600" b="1" i="1">
                              <a:solidFill>
                                <a:schemeClr val="accent4">
                                  <a:lumMod val="75000"/>
                                </a:schemeClr>
                              </a:solidFill>
                              <a:latin typeface="Cambria Math" panose="02040503050406030204" pitchFamily="18" charset="0"/>
                              <a:ea typeface="Cambria Math" panose="02040503050406030204" pitchFamily="18" charset="0"/>
                              <a:cs typeface="Calibri" panose="020F0502020204030204" pitchFamily="34" charset="0"/>
                            </a:rPr>
                            <m:t>𝒕</m:t>
                          </m:r>
                        </m:sub>
                      </m:sSub>
                      <m:r>
                        <a:rPr lang="en-US" sz="1600" b="1" i="1" smtClean="0">
                          <a:solidFill>
                            <a:schemeClr val="accent4">
                              <a:lumMod val="75000"/>
                            </a:schemeClr>
                          </a:solidFill>
                          <a:latin typeface="Cambria Math" panose="02040503050406030204" pitchFamily="18" charset="0"/>
                          <a:ea typeface="Cambria Math" panose="02040503050406030204" pitchFamily="18" charset="0"/>
                          <a:cs typeface="Calibri" panose="020F0502020204030204" pitchFamily="34" charset="0"/>
                        </a:rPr>
                        <m:t>/</m:t>
                      </m:r>
                      <m:r>
                        <a:rPr lang="en-US" sz="1600" b="1" i="1">
                          <a:solidFill>
                            <a:schemeClr val="accent4">
                              <a:lumMod val="75000"/>
                            </a:schemeClr>
                          </a:solidFill>
                          <a:latin typeface="Cambria Math" panose="02040503050406030204" pitchFamily="18" charset="0"/>
                          <a:ea typeface="Cambria Math" panose="02040503050406030204" pitchFamily="18" charset="0"/>
                          <a:cs typeface="Calibri" panose="020F0502020204030204" pitchFamily="34" charset="0"/>
                        </a:rPr>
                        <m:t>𝝏𝝅</m:t>
                      </m:r>
                      <m:r>
                        <a:rPr lang="en-US" sz="1600" b="1" i="1" smtClean="0">
                          <a:solidFill>
                            <a:schemeClr val="accent4">
                              <a:lumMod val="75000"/>
                            </a:schemeClr>
                          </a:solidFill>
                          <a:latin typeface="Cambria Math" panose="02040503050406030204" pitchFamily="18" charset="0"/>
                          <a:ea typeface="Cambria Math" panose="02040503050406030204" pitchFamily="18" charset="0"/>
                          <a:cs typeface="Calibri" panose="020F0502020204030204" pitchFamily="34" charset="0"/>
                        </a:rPr>
                        <m:t>&gt;</m:t>
                      </m:r>
                      <m:r>
                        <a:rPr lang="en-US" sz="1600" b="1" i="1" smtClean="0">
                          <a:solidFill>
                            <a:schemeClr val="accent4">
                              <a:lumMod val="75000"/>
                            </a:schemeClr>
                          </a:solidFill>
                          <a:latin typeface="Cambria Math" panose="02040503050406030204" pitchFamily="18" charset="0"/>
                          <a:ea typeface="Cambria Math" panose="02040503050406030204" pitchFamily="18" charset="0"/>
                          <a:cs typeface="Calibri" panose="020F0502020204030204" pitchFamily="34" charset="0"/>
                        </a:rPr>
                        <m:t>𝟎</m:t>
                      </m:r>
                    </m:oMath>
                  </m:oMathPara>
                </a14:m>
                <a:endParaRPr lang="en-US" sz="1600" b="1" dirty="0">
                  <a:solidFill>
                    <a:schemeClr val="accent4">
                      <a:lumMod val="75000"/>
                    </a:schemeClr>
                  </a:solidFill>
                  <a:cs typeface="Calibri" panose="020F0502020204030204" pitchFamily="34" charset="0"/>
                </a:endParaRPr>
              </a:p>
            </p:txBody>
          </p:sp>
        </mc:Choice>
        <mc:Fallback xmlns="">
          <p:sp>
            <p:nvSpPr>
              <p:cNvPr id="32795" name="TextBox 26">
                <a:extLst>
                  <a:ext uri="{FF2B5EF4-FFF2-40B4-BE49-F238E27FC236}">
                    <a16:creationId xmlns:a16="http://schemas.microsoft.com/office/drawing/2014/main" id="{4F11609B-1FFF-B6FB-CBFE-1C2B704611CA}"/>
                  </a:ext>
                </a:extLst>
              </p:cNvPr>
              <p:cNvSpPr txBox="1">
                <a:spLocks noRot="1" noChangeAspect="1" noMove="1" noResize="1" noEditPoints="1" noAdjustHandles="1" noChangeArrowheads="1" noChangeShapeType="1" noTextEdit="1"/>
              </p:cNvSpPr>
              <p:nvPr/>
            </p:nvSpPr>
            <p:spPr>
              <a:xfrm>
                <a:off x="5904566" y="3779577"/>
                <a:ext cx="2366845" cy="338554"/>
              </a:xfrm>
              <a:prstGeom prst="rect">
                <a:avLst/>
              </a:prstGeom>
              <a:blipFill>
                <a:blip r:embed="rId24"/>
                <a:stretch>
                  <a:fillRect b="-7143"/>
                </a:stretch>
              </a:blipFill>
            </p:spPr>
            <p:txBody>
              <a:bodyPr/>
              <a:lstStyle/>
              <a:p>
                <a:r>
                  <a:rPr lang="en-US">
                    <a:noFill/>
                  </a:rPr>
                  <a:t> </a:t>
                </a:r>
              </a:p>
            </p:txBody>
          </p:sp>
        </mc:Fallback>
      </mc:AlternateContent>
      <p:sp>
        <p:nvSpPr>
          <p:cNvPr id="32778" name="Right Arrow 32777">
            <a:extLst>
              <a:ext uri="{FF2B5EF4-FFF2-40B4-BE49-F238E27FC236}">
                <a16:creationId xmlns:a16="http://schemas.microsoft.com/office/drawing/2014/main" id="{E2B2E980-24CE-D28E-477C-BC822C0996CE}"/>
              </a:ext>
            </a:extLst>
          </p:cNvPr>
          <p:cNvSpPr/>
          <p:nvPr/>
        </p:nvSpPr>
        <p:spPr>
          <a:xfrm rot="5400000">
            <a:off x="6980708" y="4097856"/>
            <a:ext cx="273982" cy="39251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797" name="Straight Arrow Connector 32796">
            <a:extLst>
              <a:ext uri="{FF2B5EF4-FFF2-40B4-BE49-F238E27FC236}">
                <a16:creationId xmlns:a16="http://schemas.microsoft.com/office/drawing/2014/main" id="{F76A27D0-CDB7-4893-FAAD-5FA16049946D}"/>
              </a:ext>
            </a:extLst>
          </p:cNvPr>
          <p:cNvCxnSpPr>
            <a:cxnSpLocks/>
          </p:cNvCxnSpPr>
          <p:nvPr/>
        </p:nvCxnSpPr>
        <p:spPr>
          <a:xfrm>
            <a:off x="1749258" y="2500704"/>
            <a:ext cx="331338" cy="0"/>
          </a:xfrm>
          <a:prstGeom prst="straightConnector1">
            <a:avLst/>
          </a:prstGeom>
          <a:ln>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grpSp>
        <p:nvGrpSpPr>
          <p:cNvPr id="32802" name="Group 32801">
            <a:extLst>
              <a:ext uri="{FF2B5EF4-FFF2-40B4-BE49-F238E27FC236}">
                <a16:creationId xmlns:a16="http://schemas.microsoft.com/office/drawing/2014/main" id="{BDEFC78A-95D4-E10E-065C-2C282E07D004}"/>
              </a:ext>
            </a:extLst>
          </p:cNvPr>
          <p:cNvGrpSpPr/>
          <p:nvPr/>
        </p:nvGrpSpPr>
        <p:grpSpPr>
          <a:xfrm>
            <a:off x="7123847" y="725173"/>
            <a:ext cx="1319026" cy="704232"/>
            <a:chOff x="7123847" y="725173"/>
            <a:chExt cx="1319026" cy="704232"/>
          </a:xfrm>
        </p:grpSpPr>
        <p:sp>
          <p:nvSpPr>
            <p:cNvPr id="32798" name="Rectangle 32797">
              <a:extLst>
                <a:ext uri="{FF2B5EF4-FFF2-40B4-BE49-F238E27FC236}">
                  <a16:creationId xmlns:a16="http://schemas.microsoft.com/office/drawing/2014/main" id="{2719055F-CC7E-6263-598D-9D41E90A3E65}"/>
                </a:ext>
              </a:extLst>
            </p:cNvPr>
            <p:cNvSpPr/>
            <p:nvPr/>
          </p:nvSpPr>
          <p:spPr>
            <a:xfrm>
              <a:off x="7123847" y="977273"/>
              <a:ext cx="1319026" cy="452132"/>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dk1"/>
                </a:solidFill>
              </a:endParaRPr>
            </a:p>
          </p:txBody>
        </p:sp>
        <mc:AlternateContent xmlns:mc="http://schemas.openxmlformats.org/markup-compatibility/2006" xmlns:a14="http://schemas.microsoft.com/office/drawing/2010/main">
          <mc:Choice Requires="a14">
            <p:sp>
              <p:nvSpPr>
                <p:cNvPr id="32800" name="TextBox 32799">
                  <a:extLst>
                    <a:ext uri="{FF2B5EF4-FFF2-40B4-BE49-F238E27FC236}">
                      <a16:creationId xmlns:a16="http://schemas.microsoft.com/office/drawing/2014/main" id="{26211576-F092-B2CF-0B3F-C6338689FB68}"/>
                    </a:ext>
                  </a:extLst>
                </p:cNvPr>
                <p:cNvSpPr txBox="1"/>
                <p:nvPr/>
              </p:nvSpPr>
              <p:spPr>
                <a:xfrm>
                  <a:off x="7849434" y="725173"/>
                  <a:ext cx="52238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𝒗</m:t>
                            </m:r>
                          </m:e>
                          <m:sub>
                            <m:r>
                              <a:rPr lang="en-US" sz="2400" b="1"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𝒕</m:t>
                            </m:r>
                          </m:sub>
                        </m:sSub>
                      </m:oMath>
                    </m:oMathPara>
                  </a14:m>
                  <a:endParaRPr lang="en-US" sz="2400" b="1" dirty="0">
                    <a:solidFill>
                      <a:srgbClr val="C00000"/>
                    </a:solidFill>
                    <a:cs typeface="Calibri" panose="020F0502020204030204" pitchFamily="34" charset="0"/>
                  </a:endParaRPr>
                </a:p>
              </p:txBody>
            </p:sp>
          </mc:Choice>
          <mc:Fallback xmlns="">
            <p:sp>
              <p:nvSpPr>
                <p:cNvPr id="32800" name="TextBox 32799">
                  <a:extLst>
                    <a:ext uri="{FF2B5EF4-FFF2-40B4-BE49-F238E27FC236}">
                      <a16:creationId xmlns:a16="http://schemas.microsoft.com/office/drawing/2014/main" id="{26211576-F092-B2CF-0B3F-C6338689FB68}"/>
                    </a:ext>
                  </a:extLst>
                </p:cNvPr>
                <p:cNvSpPr txBox="1">
                  <a:spLocks noRot="1" noChangeAspect="1" noMove="1" noResize="1" noEditPoints="1" noAdjustHandles="1" noChangeArrowheads="1" noChangeShapeType="1" noTextEdit="1"/>
                </p:cNvSpPr>
                <p:nvPr/>
              </p:nvSpPr>
              <p:spPr>
                <a:xfrm>
                  <a:off x="7849434" y="725173"/>
                  <a:ext cx="522386" cy="461665"/>
                </a:xfrm>
                <a:prstGeom prst="rect">
                  <a:avLst/>
                </a:prstGeom>
                <a:blipFill>
                  <a:blip r:embed="rId25"/>
                  <a:stretch>
                    <a:fillRect b="-2703"/>
                  </a:stretch>
                </a:blipFill>
              </p:spPr>
              <p:txBody>
                <a:bodyPr/>
                <a:lstStyle/>
                <a:p>
                  <a:r>
                    <a:rPr lang="en-US">
                      <a:noFill/>
                    </a:rPr>
                    <a:t> </a:t>
                  </a:r>
                </a:p>
              </p:txBody>
            </p:sp>
          </mc:Fallback>
        </mc:AlternateContent>
      </p:grpSp>
    </p:spTree>
    <p:extLst>
      <p:ext uri="{BB962C8B-B14F-4D97-AF65-F5344CB8AC3E}">
        <p14:creationId xmlns:p14="http://schemas.microsoft.com/office/powerpoint/2010/main" val="247804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dissolve">
                                      <p:cBhvr>
                                        <p:cTn id="10" dur="500"/>
                                        <p:tgtEl>
                                          <p:spTgt spid="5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dissolve">
                                      <p:cBhvr>
                                        <p:cTn id="15" dur="500"/>
                                        <p:tgtEl>
                                          <p:spTgt spid="9"/>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dissolve">
                                      <p:cBhvr>
                                        <p:cTn id="18" dur="500"/>
                                        <p:tgtEl>
                                          <p:spTgt spid="5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dissolve">
                                      <p:cBhvr>
                                        <p:cTn id="23" dur="500"/>
                                        <p:tgtEl>
                                          <p:spTgt spid="56"/>
                                        </p:tgtEl>
                                      </p:cBhvr>
                                    </p:animEffect>
                                  </p:childTnLst>
                                </p:cTn>
                              </p:par>
                            </p:childTnLst>
                          </p:cTn>
                        </p:par>
                        <p:par>
                          <p:cTn id="24" fill="hold">
                            <p:stCondLst>
                              <p:cond delay="500"/>
                            </p:stCondLst>
                            <p:childTnLst>
                              <p:par>
                                <p:cTn id="25" presetID="9" presetClass="entr" presetSubtype="0" fill="hold" grpId="0" nodeType="after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dissolve">
                                      <p:cBhvr>
                                        <p:cTn id="27" dur="500"/>
                                        <p:tgtEl>
                                          <p:spTgt spid="5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dissolve">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dissolve">
                                      <p:cBhvr>
                                        <p:cTn id="37" dur="500"/>
                                        <p:tgtEl>
                                          <p:spTgt spid="4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2786"/>
                                        </p:tgtEl>
                                        <p:attrNameLst>
                                          <p:attrName>style.visibility</p:attrName>
                                        </p:attrNameLst>
                                      </p:cBhvr>
                                      <p:to>
                                        <p:strVal val="visible"/>
                                      </p:to>
                                    </p:set>
                                    <p:animEffect transition="in" filter="dissolve">
                                      <p:cBhvr>
                                        <p:cTn id="42" dur="500"/>
                                        <p:tgtEl>
                                          <p:spTgt spid="3278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dissolv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dissolv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dissolve">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dissolve">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dissolve">
                                      <p:cBhvr>
                                        <p:cTn id="67" dur="500"/>
                                        <p:tgtEl>
                                          <p:spTgt spid="21"/>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32778"/>
                                        </p:tgtEl>
                                        <p:attrNameLst>
                                          <p:attrName>style.visibility</p:attrName>
                                        </p:attrNameLst>
                                      </p:cBhvr>
                                      <p:to>
                                        <p:strVal val="visible"/>
                                      </p:to>
                                    </p:set>
                                    <p:animEffect transition="in" filter="dissolve">
                                      <p:cBhvr>
                                        <p:cTn id="72" dur="500"/>
                                        <p:tgtEl>
                                          <p:spTgt spid="32778"/>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dissolve">
                                      <p:cBhvr>
                                        <p:cTn id="77" dur="500"/>
                                        <p:tgtEl>
                                          <p:spTgt spid="2"/>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32777"/>
                                        </p:tgtEl>
                                        <p:attrNameLst>
                                          <p:attrName>style.visibility</p:attrName>
                                        </p:attrNameLst>
                                      </p:cBhvr>
                                      <p:to>
                                        <p:strVal val="visible"/>
                                      </p:to>
                                    </p:set>
                                    <p:animEffect transition="in" filter="dissolve">
                                      <p:cBhvr>
                                        <p:cTn id="82" dur="500"/>
                                        <p:tgtEl>
                                          <p:spTgt spid="32777"/>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32786"/>
                                        </p:tgtEl>
                                        <p:attrNameLst>
                                          <p:attrName>style.visibility</p:attrName>
                                        </p:attrNameLst>
                                      </p:cBhvr>
                                      <p:to>
                                        <p:strVal val="hidden"/>
                                      </p:to>
                                    </p:set>
                                  </p:childTnLst>
                                </p:cTn>
                              </p:par>
                            </p:childTnLst>
                          </p:cTn>
                        </p:par>
                        <p:par>
                          <p:cTn id="87" fill="hold">
                            <p:stCondLst>
                              <p:cond delay="0"/>
                            </p:stCondLst>
                            <p:childTnLst>
                              <p:par>
                                <p:cTn id="88" presetID="9" presetClass="entr" presetSubtype="0" fill="hold" nodeType="afterEffect">
                                  <p:stCondLst>
                                    <p:cond delay="0"/>
                                  </p:stCondLst>
                                  <p:childTnLst>
                                    <p:set>
                                      <p:cBhvr>
                                        <p:cTn id="89" dur="1" fill="hold">
                                          <p:stCondLst>
                                            <p:cond delay="0"/>
                                          </p:stCondLst>
                                        </p:cTn>
                                        <p:tgtEl>
                                          <p:spTgt spid="41"/>
                                        </p:tgtEl>
                                        <p:attrNameLst>
                                          <p:attrName>style.visibility</p:attrName>
                                        </p:attrNameLst>
                                      </p:cBhvr>
                                      <p:to>
                                        <p:strVal val="visible"/>
                                      </p:to>
                                    </p:set>
                                    <p:animEffect transition="in" filter="dissolve">
                                      <p:cBhvr>
                                        <p:cTn id="90" dur="500"/>
                                        <p:tgtEl>
                                          <p:spTgt spid="41"/>
                                        </p:tgtEl>
                                      </p:cBhvr>
                                    </p:animEffect>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grpId="0" nodeType="clickEffect">
                                  <p:stCondLst>
                                    <p:cond delay="0"/>
                                  </p:stCondLst>
                                  <p:childTnLst>
                                    <p:set>
                                      <p:cBhvr>
                                        <p:cTn id="94" dur="1" fill="hold">
                                          <p:stCondLst>
                                            <p:cond delay="0"/>
                                          </p:stCondLst>
                                        </p:cTn>
                                        <p:tgtEl>
                                          <p:spTgt spid="32779"/>
                                        </p:tgtEl>
                                        <p:attrNameLst>
                                          <p:attrName>style.visibility</p:attrName>
                                        </p:attrNameLst>
                                      </p:cBhvr>
                                      <p:to>
                                        <p:strVal val="visible"/>
                                      </p:to>
                                    </p:set>
                                    <p:animEffect transition="in" filter="dissolve">
                                      <p:cBhvr>
                                        <p:cTn id="95" dur="500"/>
                                        <p:tgtEl>
                                          <p:spTgt spid="32779"/>
                                        </p:tgtEl>
                                      </p:cBhvr>
                                    </p:animEffect>
                                  </p:childTnLst>
                                </p:cTn>
                              </p:par>
                              <p:par>
                                <p:cTn id="96" presetID="9" presetClass="entr" presetSubtype="0" fill="hold" grpId="0" nodeType="withEffect">
                                  <p:stCondLst>
                                    <p:cond delay="0"/>
                                  </p:stCondLst>
                                  <p:childTnLst>
                                    <p:set>
                                      <p:cBhvr>
                                        <p:cTn id="97" dur="1" fill="hold">
                                          <p:stCondLst>
                                            <p:cond delay="0"/>
                                          </p:stCondLst>
                                        </p:cTn>
                                        <p:tgtEl>
                                          <p:spTgt spid="32780"/>
                                        </p:tgtEl>
                                        <p:attrNameLst>
                                          <p:attrName>style.visibility</p:attrName>
                                        </p:attrNameLst>
                                      </p:cBhvr>
                                      <p:to>
                                        <p:strVal val="visible"/>
                                      </p:to>
                                    </p:set>
                                    <p:animEffect transition="in" filter="dissolve">
                                      <p:cBhvr>
                                        <p:cTn id="98" dur="500"/>
                                        <p:tgtEl>
                                          <p:spTgt spid="32780"/>
                                        </p:tgtEl>
                                      </p:cBhvr>
                                    </p:animEffect>
                                  </p:childTnLst>
                                </p:cTn>
                              </p:par>
                              <p:par>
                                <p:cTn id="99" presetID="9" presetClass="entr" presetSubtype="0" fill="hold" grpId="0" nodeType="withEffect">
                                  <p:stCondLst>
                                    <p:cond delay="0"/>
                                  </p:stCondLst>
                                  <p:childTnLst>
                                    <p:set>
                                      <p:cBhvr>
                                        <p:cTn id="100" dur="1" fill="hold">
                                          <p:stCondLst>
                                            <p:cond delay="0"/>
                                          </p:stCondLst>
                                        </p:cTn>
                                        <p:tgtEl>
                                          <p:spTgt spid="32769"/>
                                        </p:tgtEl>
                                        <p:attrNameLst>
                                          <p:attrName>style.visibility</p:attrName>
                                        </p:attrNameLst>
                                      </p:cBhvr>
                                      <p:to>
                                        <p:strVal val="visible"/>
                                      </p:to>
                                    </p:set>
                                    <p:animEffect transition="in" filter="dissolve">
                                      <p:cBhvr>
                                        <p:cTn id="101" dur="500"/>
                                        <p:tgtEl>
                                          <p:spTgt spid="32769"/>
                                        </p:tgtEl>
                                      </p:cBhvr>
                                    </p:animEffect>
                                  </p:childTnLst>
                                </p:cTn>
                              </p:par>
                              <p:par>
                                <p:cTn id="102" presetID="9" presetClass="entr" presetSubtype="0" fill="hold" grpId="0" nodeType="withEffect">
                                  <p:stCondLst>
                                    <p:cond delay="0"/>
                                  </p:stCondLst>
                                  <p:childTnLst>
                                    <p:set>
                                      <p:cBhvr>
                                        <p:cTn id="103" dur="1" fill="hold">
                                          <p:stCondLst>
                                            <p:cond delay="0"/>
                                          </p:stCondLst>
                                        </p:cTn>
                                        <p:tgtEl>
                                          <p:spTgt spid="4"/>
                                        </p:tgtEl>
                                        <p:attrNameLst>
                                          <p:attrName>style.visibility</p:attrName>
                                        </p:attrNameLst>
                                      </p:cBhvr>
                                      <p:to>
                                        <p:strVal val="visible"/>
                                      </p:to>
                                    </p:set>
                                    <p:animEffect transition="in" filter="dissolve">
                                      <p:cBhvr>
                                        <p:cTn id="104" dur="500"/>
                                        <p:tgtEl>
                                          <p:spTgt spid="4"/>
                                        </p:tgtEl>
                                      </p:cBhvr>
                                    </p:animEffect>
                                  </p:childTnLst>
                                </p:cTn>
                              </p:par>
                            </p:childTnLst>
                          </p:cTn>
                        </p:par>
                      </p:childTnLst>
                    </p:cTn>
                  </p:par>
                  <p:par>
                    <p:cTn id="105" fill="hold">
                      <p:stCondLst>
                        <p:cond delay="indefinite"/>
                      </p:stCondLst>
                      <p:childTnLst>
                        <p:par>
                          <p:cTn id="106" fill="hold">
                            <p:stCondLst>
                              <p:cond delay="0"/>
                            </p:stCondLst>
                            <p:childTnLst>
                              <p:par>
                                <p:cTn id="107" presetID="9" presetClass="entr" presetSubtype="0" fill="hold" nodeType="clickEffect">
                                  <p:stCondLst>
                                    <p:cond delay="0"/>
                                  </p:stCondLst>
                                  <p:childTnLst>
                                    <p:set>
                                      <p:cBhvr>
                                        <p:cTn id="108" dur="1" fill="hold">
                                          <p:stCondLst>
                                            <p:cond delay="0"/>
                                          </p:stCondLst>
                                        </p:cTn>
                                        <p:tgtEl>
                                          <p:spTgt spid="32802"/>
                                        </p:tgtEl>
                                        <p:attrNameLst>
                                          <p:attrName>style.visibility</p:attrName>
                                        </p:attrNameLst>
                                      </p:cBhvr>
                                      <p:to>
                                        <p:strVal val="visible"/>
                                      </p:to>
                                    </p:set>
                                    <p:animEffect transition="in" filter="dissolve">
                                      <p:cBhvr>
                                        <p:cTn id="109" dur="500"/>
                                        <p:tgtEl>
                                          <p:spTgt spid="32802"/>
                                        </p:tgtEl>
                                      </p:cBhvr>
                                    </p:animEffec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grpId="0" nodeType="clickEffect">
                                  <p:stCondLst>
                                    <p:cond delay="0"/>
                                  </p:stCondLst>
                                  <p:childTnLst>
                                    <p:set>
                                      <p:cBhvr>
                                        <p:cTn id="113" dur="1" fill="hold">
                                          <p:stCondLst>
                                            <p:cond delay="0"/>
                                          </p:stCondLst>
                                        </p:cTn>
                                        <p:tgtEl>
                                          <p:spTgt spid="32790"/>
                                        </p:tgtEl>
                                        <p:attrNameLst>
                                          <p:attrName>style.visibility</p:attrName>
                                        </p:attrNameLst>
                                      </p:cBhvr>
                                      <p:to>
                                        <p:strVal val="visible"/>
                                      </p:to>
                                    </p:set>
                                    <p:animEffect transition="in" filter="dissolve">
                                      <p:cBhvr>
                                        <p:cTn id="114" dur="500"/>
                                        <p:tgtEl>
                                          <p:spTgt spid="32790"/>
                                        </p:tgtEl>
                                      </p:cBhvr>
                                    </p:animEffect>
                                  </p:childTnLst>
                                </p:cTn>
                              </p:par>
                            </p:childTnLst>
                          </p:cTn>
                        </p:par>
                      </p:childTnLst>
                    </p:cTn>
                  </p:par>
                  <p:par>
                    <p:cTn id="115" fill="hold">
                      <p:stCondLst>
                        <p:cond delay="indefinite"/>
                      </p:stCondLst>
                      <p:childTnLst>
                        <p:par>
                          <p:cTn id="116" fill="hold">
                            <p:stCondLst>
                              <p:cond delay="0"/>
                            </p:stCondLst>
                            <p:childTnLst>
                              <p:par>
                                <p:cTn id="117" presetID="9" presetClass="entr" presetSubtype="0" fill="hold" grpId="0" nodeType="clickEffect">
                                  <p:stCondLst>
                                    <p:cond delay="0"/>
                                  </p:stCondLst>
                                  <p:childTnLst>
                                    <p:set>
                                      <p:cBhvr>
                                        <p:cTn id="118" dur="1" fill="hold">
                                          <p:stCondLst>
                                            <p:cond delay="0"/>
                                          </p:stCondLst>
                                        </p:cTn>
                                        <p:tgtEl>
                                          <p:spTgt spid="32791"/>
                                        </p:tgtEl>
                                        <p:attrNameLst>
                                          <p:attrName>style.visibility</p:attrName>
                                        </p:attrNameLst>
                                      </p:cBhvr>
                                      <p:to>
                                        <p:strVal val="visible"/>
                                      </p:to>
                                    </p:set>
                                    <p:animEffect transition="in" filter="dissolve">
                                      <p:cBhvr>
                                        <p:cTn id="119" dur="500"/>
                                        <p:tgtEl>
                                          <p:spTgt spid="32791"/>
                                        </p:tgtEl>
                                      </p:cBhvr>
                                    </p:animEffect>
                                  </p:childTnLst>
                                </p:cTn>
                              </p:par>
                            </p:childTnLst>
                          </p:cTn>
                        </p:par>
                      </p:childTnLst>
                    </p:cTn>
                  </p:par>
                  <p:par>
                    <p:cTn id="120" fill="hold">
                      <p:stCondLst>
                        <p:cond delay="indefinite"/>
                      </p:stCondLst>
                      <p:childTnLst>
                        <p:par>
                          <p:cTn id="121" fill="hold">
                            <p:stCondLst>
                              <p:cond delay="0"/>
                            </p:stCondLst>
                            <p:childTnLst>
                              <p:par>
                                <p:cTn id="122" presetID="9" presetClass="entr" presetSubtype="0" fill="hold" nodeType="clickEffect">
                                  <p:stCondLst>
                                    <p:cond delay="0"/>
                                  </p:stCondLst>
                                  <p:childTnLst>
                                    <p:set>
                                      <p:cBhvr>
                                        <p:cTn id="123" dur="1" fill="hold">
                                          <p:stCondLst>
                                            <p:cond delay="0"/>
                                          </p:stCondLst>
                                        </p:cTn>
                                        <p:tgtEl>
                                          <p:spTgt spid="40"/>
                                        </p:tgtEl>
                                        <p:attrNameLst>
                                          <p:attrName>style.visibility</p:attrName>
                                        </p:attrNameLst>
                                      </p:cBhvr>
                                      <p:to>
                                        <p:strVal val="visible"/>
                                      </p:to>
                                    </p:set>
                                    <p:animEffect transition="in" filter="dissolve">
                                      <p:cBhvr>
                                        <p:cTn id="124" dur="500"/>
                                        <p:tgtEl>
                                          <p:spTgt spid="40"/>
                                        </p:tgtEl>
                                      </p:cBhvr>
                                    </p:animEffect>
                                  </p:childTnLst>
                                </p:cTn>
                              </p:par>
                              <p:par>
                                <p:cTn id="125" presetID="9" presetClass="entr" presetSubtype="0" fill="hold" grpId="0" nodeType="withEffect">
                                  <p:stCondLst>
                                    <p:cond delay="0"/>
                                  </p:stCondLst>
                                  <p:childTnLst>
                                    <p:set>
                                      <p:cBhvr>
                                        <p:cTn id="126" dur="1" fill="hold">
                                          <p:stCondLst>
                                            <p:cond delay="0"/>
                                          </p:stCondLst>
                                        </p:cTn>
                                        <p:tgtEl>
                                          <p:spTgt spid="32792"/>
                                        </p:tgtEl>
                                        <p:attrNameLst>
                                          <p:attrName>style.visibility</p:attrName>
                                        </p:attrNameLst>
                                      </p:cBhvr>
                                      <p:to>
                                        <p:strVal val="visible"/>
                                      </p:to>
                                    </p:set>
                                    <p:animEffect transition="in" filter="dissolve">
                                      <p:cBhvr>
                                        <p:cTn id="127" dur="500"/>
                                        <p:tgtEl>
                                          <p:spTgt spid="32792"/>
                                        </p:tgtEl>
                                      </p:cBhvr>
                                    </p:animEffect>
                                  </p:childTnLst>
                                </p:cTn>
                              </p:par>
                              <p:par>
                                <p:cTn id="128" presetID="9" presetClass="entr" presetSubtype="0" fill="hold" grpId="0" nodeType="withEffect">
                                  <p:stCondLst>
                                    <p:cond delay="0"/>
                                  </p:stCondLst>
                                  <p:childTnLst>
                                    <p:set>
                                      <p:cBhvr>
                                        <p:cTn id="129" dur="1" fill="hold">
                                          <p:stCondLst>
                                            <p:cond delay="0"/>
                                          </p:stCondLst>
                                        </p:cTn>
                                        <p:tgtEl>
                                          <p:spTgt spid="32781"/>
                                        </p:tgtEl>
                                        <p:attrNameLst>
                                          <p:attrName>style.visibility</p:attrName>
                                        </p:attrNameLst>
                                      </p:cBhvr>
                                      <p:to>
                                        <p:strVal val="visible"/>
                                      </p:to>
                                    </p:set>
                                    <p:animEffect transition="in" filter="dissolve">
                                      <p:cBhvr>
                                        <p:cTn id="130" dur="500"/>
                                        <p:tgtEl>
                                          <p:spTgt spid="32781"/>
                                        </p:tgtEl>
                                      </p:cBhvr>
                                    </p:animEffect>
                                  </p:childTnLst>
                                </p:cTn>
                              </p:par>
                              <p:par>
                                <p:cTn id="131" presetID="9" presetClass="entr" presetSubtype="0" fill="hold" grpId="0" nodeType="withEffect">
                                  <p:stCondLst>
                                    <p:cond delay="0"/>
                                  </p:stCondLst>
                                  <p:childTnLst>
                                    <p:set>
                                      <p:cBhvr>
                                        <p:cTn id="132" dur="1" fill="hold">
                                          <p:stCondLst>
                                            <p:cond delay="0"/>
                                          </p:stCondLst>
                                        </p:cTn>
                                        <p:tgtEl>
                                          <p:spTgt spid="51"/>
                                        </p:tgtEl>
                                        <p:attrNameLst>
                                          <p:attrName>style.visibility</p:attrName>
                                        </p:attrNameLst>
                                      </p:cBhvr>
                                      <p:to>
                                        <p:strVal val="visible"/>
                                      </p:to>
                                    </p:set>
                                    <p:animEffect transition="in" filter="dissolve">
                                      <p:cBhvr>
                                        <p:cTn id="133" dur="500"/>
                                        <p:tgtEl>
                                          <p:spTgt spid="51"/>
                                        </p:tgtEl>
                                      </p:cBhvr>
                                    </p:animEffect>
                                  </p:childTnLst>
                                </p:cTn>
                              </p:par>
                            </p:childTnLst>
                          </p:cTn>
                        </p:par>
                      </p:childTnLst>
                    </p:cTn>
                  </p:par>
                  <p:par>
                    <p:cTn id="134" fill="hold">
                      <p:stCondLst>
                        <p:cond delay="indefinite"/>
                      </p:stCondLst>
                      <p:childTnLst>
                        <p:par>
                          <p:cTn id="135" fill="hold">
                            <p:stCondLst>
                              <p:cond delay="0"/>
                            </p:stCondLst>
                            <p:childTnLst>
                              <p:par>
                                <p:cTn id="136" presetID="9" presetClass="entr" presetSubtype="0" fill="hold" grpId="0" nodeType="clickEffect">
                                  <p:stCondLst>
                                    <p:cond delay="0"/>
                                  </p:stCondLst>
                                  <p:childTnLst>
                                    <p:set>
                                      <p:cBhvr>
                                        <p:cTn id="137" dur="1" fill="hold">
                                          <p:stCondLst>
                                            <p:cond delay="0"/>
                                          </p:stCondLst>
                                        </p:cTn>
                                        <p:tgtEl>
                                          <p:spTgt spid="32783"/>
                                        </p:tgtEl>
                                        <p:attrNameLst>
                                          <p:attrName>style.visibility</p:attrName>
                                        </p:attrNameLst>
                                      </p:cBhvr>
                                      <p:to>
                                        <p:strVal val="visible"/>
                                      </p:to>
                                    </p:set>
                                    <p:animEffect transition="in" filter="dissolve">
                                      <p:cBhvr>
                                        <p:cTn id="138" dur="500"/>
                                        <p:tgtEl>
                                          <p:spTgt spid="32783"/>
                                        </p:tgtEl>
                                      </p:cBhvr>
                                    </p:animEffect>
                                  </p:childTnLst>
                                </p:cTn>
                              </p:par>
                            </p:childTnLst>
                          </p:cTn>
                        </p:par>
                      </p:childTnLst>
                    </p:cTn>
                  </p:par>
                  <p:par>
                    <p:cTn id="139" fill="hold">
                      <p:stCondLst>
                        <p:cond delay="indefinite"/>
                      </p:stCondLst>
                      <p:childTnLst>
                        <p:par>
                          <p:cTn id="140" fill="hold">
                            <p:stCondLst>
                              <p:cond delay="0"/>
                            </p:stCondLst>
                            <p:childTnLst>
                              <p:par>
                                <p:cTn id="141" presetID="9" presetClass="entr" presetSubtype="0" fill="hold" grpId="0" nodeType="clickEffect">
                                  <p:stCondLst>
                                    <p:cond delay="0"/>
                                  </p:stCondLst>
                                  <p:childTnLst>
                                    <p:set>
                                      <p:cBhvr>
                                        <p:cTn id="142" dur="1" fill="hold">
                                          <p:stCondLst>
                                            <p:cond delay="0"/>
                                          </p:stCondLst>
                                        </p:cTn>
                                        <p:tgtEl>
                                          <p:spTgt spid="32784"/>
                                        </p:tgtEl>
                                        <p:attrNameLst>
                                          <p:attrName>style.visibility</p:attrName>
                                        </p:attrNameLst>
                                      </p:cBhvr>
                                      <p:to>
                                        <p:strVal val="visible"/>
                                      </p:to>
                                    </p:set>
                                    <p:animEffect transition="in" filter="dissolve">
                                      <p:cBhvr>
                                        <p:cTn id="143" dur="500"/>
                                        <p:tgtEl>
                                          <p:spTgt spid="32784"/>
                                        </p:tgtEl>
                                      </p:cBhvr>
                                    </p:animEffect>
                                  </p:childTnLst>
                                </p:cTn>
                              </p:par>
                              <p:par>
                                <p:cTn id="144" presetID="9" presetClass="entr" presetSubtype="0" fill="hold" grpId="0" nodeType="withEffect">
                                  <p:stCondLst>
                                    <p:cond delay="0"/>
                                  </p:stCondLst>
                                  <p:childTnLst>
                                    <p:set>
                                      <p:cBhvr>
                                        <p:cTn id="145" dur="1" fill="hold">
                                          <p:stCondLst>
                                            <p:cond delay="0"/>
                                          </p:stCondLst>
                                        </p:cTn>
                                        <p:tgtEl>
                                          <p:spTgt spid="59"/>
                                        </p:tgtEl>
                                        <p:attrNameLst>
                                          <p:attrName>style.visibility</p:attrName>
                                        </p:attrNameLst>
                                      </p:cBhvr>
                                      <p:to>
                                        <p:strVal val="visible"/>
                                      </p:to>
                                    </p:set>
                                    <p:animEffect transition="in" filter="dissolve">
                                      <p:cBhvr>
                                        <p:cTn id="146" dur="500"/>
                                        <p:tgtEl>
                                          <p:spTgt spid="59"/>
                                        </p:tgtEl>
                                      </p:cBhvr>
                                    </p:animEffect>
                                  </p:childTnLst>
                                </p:cTn>
                              </p:par>
                              <p:par>
                                <p:cTn id="147" presetID="9" presetClass="entr" presetSubtype="0" fill="hold" grpId="0" nodeType="withEffect">
                                  <p:stCondLst>
                                    <p:cond delay="0"/>
                                  </p:stCondLst>
                                  <p:childTnLst>
                                    <p:set>
                                      <p:cBhvr>
                                        <p:cTn id="148" dur="1" fill="hold">
                                          <p:stCondLst>
                                            <p:cond delay="0"/>
                                          </p:stCondLst>
                                        </p:cTn>
                                        <p:tgtEl>
                                          <p:spTgt spid="52"/>
                                        </p:tgtEl>
                                        <p:attrNameLst>
                                          <p:attrName>style.visibility</p:attrName>
                                        </p:attrNameLst>
                                      </p:cBhvr>
                                      <p:to>
                                        <p:strVal val="visible"/>
                                      </p:to>
                                    </p:set>
                                    <p:animEffect transition="in" filter="dissolve">
                                      <p:cBhvr>
                                        <p:cTn id="149" dur="500"/>
                                        <p:tgtEl>
                                          <p:spTgt spid="52"/>
                                        </p:tgtEl>
                                      </p:cBhvr>
                                    </p:animEffect>
                                  </p:childTnLst>
                                </p:cTn>
                              </p:par>
                            </p:childTnLst>
                          </p:cTn>
                        </p:par>
                      </p:childTnLst>
                    </p:cTn>
                  </p:par>
                  <p:par>
                    <p:cTn id="150" fill="hold">
                      <p:stCondLst>
                        <p:cond delay="indefinite"/>
                      </p:stCondLst>
                      <p:childTnLst>
                        <p:par>
                          <p:cTn id="151" fill="hold">
                            <p:stCondLst>
                              <p:cond delay="0"/>
                            </p:stCondLst>
                            <p:childTnLst>
                              <p:par>
                                <p:cTn id="152" presetID="9" presetClass="entr" presetSubtype="0" fill="hold" grpId="0" nodeType="clickEffect">
                                  <p:stCondLst>
                                    <p:cond delay="0"/>
                                  </p:stCondLst>
                                  <p:childTnLst>
                                    <p:set>
                                      <p:cBhvr>
                                        <p:cTn id="153" dur="1" fill="hold">
                                          <p:stCondLst>
                                            <p:cond delay="0"/>
                                          </p:stCondLst>
                                        </p:cTn>
                                        <p:tgtEl>
                                          <p:spTgt spid="32793"/>
                                        </p:tgtEl>
                                        <p:attrNameLst>
                                          <p:attrName>style.visibility</p:attrName>
                                        </p:attrNameLst>
                                      </p:cBhvr>
                                      <p:to>
                                        <p:strVal val="visible"/>
                                      </p:to>
                                    </p:set>
                                    <p:animEffect transition="in" filter="dissolve">
                                      <p:cBhvr>
                                        <p:cTn id="154" dur="500"/>
                                        <p:tgtEl>
                                          <p:spTgt spid="32793"/>
                                        </p:tgtEl>
                                      </p:cBhvr>
                                    </p:animEffect>
                                  </p:childTnLst>
                                </p:cTn>
                              </p:par>
                            </p:childTnLst>
                          </p:cTn>
                        </p:par>
                      </p:childTnLst>
                    </p:cTn>
                  </p:par>
                  <p:par>
                    <p:cTn id="155" fill="hold">
                      <p:stCondLst>
                        <p:cond delay="indefinite"/>
                      </p:stCondLst>
                      <p:childTnLst>
                        <p:par>
                          <p:cTn id="156" fill="hold">
                            <p:stCondLst>
                              <p:cond delay="0"/>
                            </p:stCondLst>
                            <p:childTnLst>
                              <p:par>
                                <p:cTn id="157" presetID="9" presetClass="entr" presetSubtype="0" fill="hold" nodeType="clickEffect">
                                  <p:stCondLst>
                                    <p:cond delay="0"/>
                                  </p:stCondLst>
                                  <p:childTnLst>
                                    <p:set>
                                      <p:cBhvr>
                                        <p:cTn id="158" dur="1" fill="hold">
                                          <p:stCondLst>
                                            <p:cond delay="0"/>
                                          </p:stCondLst>
                                        </p:cTn>
                                        <p:tgtEl>
                                          <p:spTgt spid="5"/>
                                        </p:tgtEl>
                                        <p:attrNameLst>
                                          <p:attrName>style.visibility</p:attrName>
                                        </p:attrNameLst>
                                      </p:cBhvr>
                                      <p:to>
                                        <p:strVal val="visible"/>
                                      </p:to>
                                    </p:set>
                                    <p:animEffect transition="in" filter="dissolve">
                                      <p:cBhvr>
                                        <p:cTn id="159" dur="500"/>
                                        <p:tgtEl>
                                          <p:spTgt spid="5"/>
                                        </p:tgtEl>
                                      </p:cBhvr>
                                    </p:animEffect>
                                  </p:childTnLst>
                                </p:cTn>
                              </p:par>
                              <p:par>
                                <p:cTn id="160" presetID="9" presetClass="entr" presetSubtype="0" fill="hold" grpId="0" nodeType="withEffect">
                                  <p:stCondLst>
                                    <p:cond delay="0"/>
                                  </p:stCondLst>
                                  <p:childTnLst>
                                    <p:set>
                                      <p:cBhvr>
                                        <p:cTn id="161" dur="1" fill="hold">
                                          <p:stCondLst>
                                            <p:cond delay="0"/>
                                          </p:stCondLst>
                                        </p:cTn>
                                        <p:tgtEl>
                                          <p:spTgt spid="32794"/>
                                        </p:tgtEl>
                                        <p:attrNameLst>
                                          <p:attrName>style.visibility</p:attrName>
                                        </p:attrNameLst>
                                      </p:cBhvr>
                                      <p:to>
                                        <p:strVal val="visible"/>
                                      </p:to>
                                    </p:set>
                                    <p:animEffect transition="in" filter="dissolve">
                                      <p:cBhvr>
                                        <p:cTn id="162" dur="500"/>
                                        <p:tgtEl>
                                          <p:spTgt spid="32794"/>
                                        </p:tgtEl>
                                      </p:cBhvr>
                                    </p:animEffect>
                                  </p:childTnLst>
                                </p:cTn>
                              </p:par>
                            </p:childTnLst>
                          </p:cTn>
                        </p:par>
                      </p:childTnLst>
                    </p:cTn>
                  </p:par>
                  <p:par>
                    <p:cTn id="163" fill="hold">
                      <p:stCondLst>
                        <p:cond delay="indefinite"/>
                      </p:stCondLst>
                      <p:childTnLst>
                        <p:par>
                          <p:cTn id="164" fill="hold">
                            <p:stCondLst>
                              <p:cond delay="0"/>
                            </p:stCondLst>
                            <p:childTnLst>
                              <p:par>
                                <p:cTn id="165" presetID="9" presetClass="entr" presetSubtype="0" fill="hold" nodeType="clickEffect">
                                  <p:stCondLst>
                                    <p:cond delay="0"/>
                                  </p:stCondLst>
                                  <p:childTnLst>
                                    <p:set>
                                      <p:cBhvr>
                                        <p:cTn id="166" dur="1" fill="hold">
                                          <p:stCondLst>
                                            <p:cond delay="0"/>
                                          </p:stCondLst>
                                        </p:cTn>
                                        <p:tgtEl>
                                          <p:spTgt spid="32771"/>
                                        </p:tgtEl>
                                        <p:attrNameLst>
                                          <p:attrName>style.visibility</p:attrName>
                                        </p:attrNameLst>
                                      </p:cBhvr>
                                      <p:to>
                                        <p:strVal val="visible"/>
                                      </p:to>
                                    </p:set>
                                    <p:animEffect transition="in" filter="dissolve">
                                      <p:cBhvr>
                                        <p:cTn id="167" dur="500"/>
                                        <p:tgtEl>
                                          <p:spTgt spid="32771"/>
                                        </p:tgtEl>
                                      </p:cBhvr>
                                    </p:animEffect>
                                  </p:childTnLst>
                                </p:cTn>
                              </p:par>
                              <p:par>
                                <p:cTn id="168" presetID="9" presetClass="entr" presetSubtype="0" fill="hold" nodeType="withEffect">
                                  <p:stCondLst>
                                    <p:cond delay="0"/>
                                  </p:stCondLst>
                                  <p:childTnLst>
                                    <p:set>
                                      <p:cBhvr>
                                        <p:cTn id="169" dur="1" fill="hold">
                                          <p:stCondLst>
                                            <p:cond delay="0"/>
                                          </p:stCondLst>
                                        </p:cTn>
                                        <p:tgtEl>
                                          <p:spTgt spid="32797"/>
                                        </p:tgtEl>
                                        <p:attrNameLst>
                                          <p:attrName>style.visibility</p:attrName>
                                        </p:attrNameLst>
                                      </p:cBhvr>
                                      <p:to>
                                        <p:strVal val="visible"/>
                                      </p:to>
                                    </p:set>
                                    <p:animEffect transition="in" filter="dissolve">
                                      <p:cBhvr>
                                        <p:cTn id="170" dur="500"/>
                                        <p:tgtEl>
                                          <p:spTgt spid="32797"/>
                                        </p:tgtEl>
                                      </p:cBhvr>
                                    </p:animEffect>
                                  </p:childTnLst>
                                </p:cTn>
                              </p:par>
                            </p:childTnLst>
                          </p:cTn>
                        </p:par>
                      </p:childTnLst>
                    </p:cTn>
                  </p:par>
                  <p:par>
                    <p:cTn id="171" fill="hold">
                      <p:stCondLst>
                        <p:cond delay="indefinite"/>
                      </p:stCondLst>
                      <p:childTnLst>
                        <p:par>
                          <p:cTn id="172" fill="hold">
                            <p:stCondLst>
                              <p:cond delay="0"/>
                            </p:stCondLst>
                            <p:childTnLst>
                              <p:par>
                                <p:cTn id="173" presetID="9" presetClass="entr" presetSubtype="0" fill="hold" grpId="0" nodeType="clickEffect">
                                  <p:stCondLst>
                                    <p:cond delay="0"/>
                                  </p:stCondLst>
                                  <p:childTnLst>
                                    <p:set>
                                      <p:cBhvr>
                                        <p:cTn id="174" dur="1" fill="hold">
                                          <p:stCondLst>
                                            <p:cond delay="0"/>
                                          </p:stCondLst>
                                        </p:cTn>
                                        <p:tgtEl>
                                          <p:spTgt spid="32795"/>
                                        </p:tgtEl>
                                        <p:attrNameLst>
                                          <p:attrName>style.visibility</p:attrName>
                                        </p:attrNameLst>
                                      </p:cBhvr>
                                      <p:to>
                                        <p:strVal val="visible"/>
                                      </p:to>
                                    </p:set>
                                    <p:animEffect transition="in" filter="dissolve">
                                      <p:cBhvr>
                                        <p:cTn id="175" dur="500"/>
                                        <p:tgtEl>
                                          <p:spTgt spid="32795"/>
                                        </p:tgtEl>
                                      </p:cBhvr>
                                    </p:animEffect>
                                  </p:childTnLst>
                                </p:cTn>
                              </p:par>
                            </p:childTnLst>
                          </p:cTn>
                        </p:par>
                      </p:childTnLst>
                    </p:cTn>
                  </p:par>
                  <p:par>
                    <p:cTn id="176" fill="hold">
                      <p:stCondLst>
                        <p:cond delay="indefinite"/>
                      </p:stCondLst>
                      <p:childTnLst>
                        <p:par>
                          <p:cTn id="177" fill="hold">
                            <p:stCondLst>
                              <p:cond delay="0"/>
                            </p:stCondLst>
                            <p:childTnLst>
                              <p:par>
                                <p:cTn id="178" presetID="9" presetClass="entr" presetSubtype="0" fill="hold" grpId="0" nodeType="clickEffect">
                                  <p:stCondLst>
                                    <p:cond delay="0"/>
                                  </p:stCondLst>
                                  <p:childTnLst>
                                    <p:set>
                                      <p:cBhvr>
                                        <p:cTn id="179" dur="1" fill="hold">
                                          <p:stCondLst>
                                            <p:cond delay="0"/>
                                          </p:stCondLst>
                                        </p:cTn>
                                        <p:tgtEl>
                                          <p:spTgt spid="25"/>
                                        </p:tgtEl>
                                        <p:attrNameLst>
                                          <p:attrName>style.visibility</p:attrName>
                                        </p:attrNameLst>
                                      </p:cBhvr>
                                      <p:to>
                                        <p:strVal val="visible"/>
                                      </p:to>
                                    </p:set>
                                    <p:animEffect transition="in" filter="dissolve">
                                      <p:cBhvr>
                                        <p:cTn id="180" dur="500"/>
                                        <p:tgtEl>
                                          <p:spTgt spid="25"/>
                                        </p:tgtEl>
                                      </p:cBhvr>
                                    </p:animEffect>
                                  </p:childTnLst>
                                </p:cTn>
                              </p:par>
                              <p:par>
                                <p:cTn id="181" presetID="9" presetClass="entr" presetSubtype="0" fill="hold" grpId="0" nodeType="withEffect">
                                  <p:stCondLst>
                                    <p:cond delay="0"/>
                                  </p:stCondLst>
                                  <p:childTnLst>
                                    <p:set>
                                      <p:cBhvr>
                                        <p:cTn id="182" dur="1" fill="hold">
                                          <p:stCondLst>
                                            <p:cond delay="0"/>
                                          </p:stCondLst>
                                        </p:cTn>
                                        <p:tgtEl>
                                          <p:spTgt spid="53"/>
                                        </p:tgtEl>
                                        <p:attrNameLst>
                                          <p:attrName>style.visibility</p:attrName>
                                        </p:attrNameLst>
                                      </p:cBhvr>
                                      <p:to>
                                        <p:strVal val="visible"/>
                                      </p:to>
                                    </p:set>
                                    <p:animEffect transition="in" filter="dissolve">
                                      <p:cBhvr>
                                        <p:cTn id="183" dur="500"/>
                                        <p:tgtEl>
                                          <p:spTgt spid="53"/>
                                        </p:tgtEl>
                                      </p:cBhvr>
                                    </p:animEffect>
                                  </p:childTnLst>
                                </p:cTn>
                              </p:par>
                            </p:childTnLst>
                          </p:cTn>
                        </p:par>
                      </p:childTnLst>
                    </p:cTn>
                  </p:par>
                  <p:par>
                    <p:cTn id="184" fill="hold">
                      <p:stCondLst>
                        <p:cond delay="indefinite"/>
                      </p:stCondLst>
                      <p:childTnLst>
                        <p:par>
                          <p:cTn id="185" fill="hold">
                            <p:stCondLst>
                              <p:cond delay="0"/>
                            </p:stCondLst>
                            <p:childTnLst>
                              <p:par>
                                <p:cTn id="186" presetID="9" presetClass="entr" presetSubtype="0" fill="hold" grpId="0" nodeType="clickEffect">
                                  <p:stCondLst>
                                    <p:cond delay="0"/>
                                  </p:stCondLst>
                                  <p:childTnLst>
                                    <p:set>
                                      <p:cBhvr>
                                        <p:cTn id="187" dur="1" fill="hold">
                                          <p:stCondLst>
                                            <p:cond delay="0"/>
                                          </p:stCondLst>
                                        </p:cTn>
                                        <p:tgtEl>
                                          <p:spTgt spid="32803"/>
                                        </p:tgtEl>
                                        <p:attrNameLst>
                                          <p:attrName>style.visibility</p:attrName>
                                        </p:attrNameLst>
                                      </p:cBhvr>
                                      <p:to>
                                        <p:strVal val="visible"/>
                                      </p:to>
                                    </p:set>
                                    <p:animEffect transition="in" filter="dissolve">
                                      <p:cBhvr>
                                        <p:cTn id="188" dur="500"/>
                                        <p:tgtEl>
                                          <p:spTgt spid="32803"/>
                                        </p:tgtEl>
                                      </p:cBhvr>
                                    </p:animEffect>
                                  </p:childTnLst>
                                </p:cTn>
                              </p:par>
                            </p:childTnLst>
                          </p:cTn>
                        </p:par>
                      </p:childTnLst>
                    </p:cTn>
                  </p:par>
                  <p:par>
                    <p:cTn id="189" fill="hold">
                      <p:stCondLst>
                        <p:cond delay="indefinite"/>
                      </p:stCondLst>
                      <p:childTnLst>
                        <p:par>
                          <p:cTn id="190" fill="hold">
                            <p:stCondLst>
                              <p:cond delay="0"/>
                            </p:stCondLst>
                            <p:childTnLst>
                              <p:par>
                                <p:cTn id="191" presetID="42" presetClass="exit" presetSubtype="0" fill="hold" grpId="1" nodeType="clickEffect">
                                  <p:stCondLst>
                                    <p:cond delay="0"/>
                                  </p:stCondLst>
                                  <p:childTnLst>
                                    <p:animEffect transition="out" filter="fade">
                                      <p:cBhvr>
                                        <p:cTn id="192" dur="1000"/>
                                        <p:tgtEl>
                                          <p:spTgt spid="58"/>
                                        </p:tgtEl>
                                      </p:cBhvr>
                                    </p:animEffect>
                                    <p:anim calcmode="lin" valueType="num">
                                      <p:cBhvr>
                                        <p:cTn id="193" dur="1000"/>
                                        <p:tgtEl>
                                          <p:spTgt spid="58"/>
                                        </p:tgtEl>
                                        <p:attrNameLst>
                                          <p:attrName>ppt_x</p:attrName>
                                        </p:attrNameLst>
                                      </p:cBhvr>
                                      <p:tavLst>
                                        <p:tav tm="0">
                                          <p:val>
                                            <p:strVal val="ppt_x"/>
                                          </p:val>
                                        </p:tav>
                                        <p:tav tm="100000">
                                          <p:val>
                                            <p:strVal val="ppt_x"/>
                                          </p:val>
                                        </p:tav>
                                      </p:tavLst>
                                    </p:anim>
                                    <p:anim calcmode="lin" valueType="num">
                                      <p:cBhvr>
                                        <p:cTn id="194" dur="1000"/>
                                        <p:tgtEl>
                                          <p:spTgt spid="58"/>
                                        </p:tgtEl>
                                        <p:attrNameLst>
                                          <p:attrName>ppt_y</p:attrName>
                                        </p:attrNameLst>
                                      </p:cBhvr>
                                      <p:tavLst>
                                        <p:tav tm="0">
                                          <p:val>
                                            <p:strVal val="ppt_y"/>
                                          </p:val>
                                        </p:tav>
                                        <p:tav tm="100000">
                                          <p:val>
                                            <p:strVal val="ppt_y+.1"/>
                                          </p:val>
                                        </p:tav>
                                      </p:tavLst>
                                    </p:anim>
                                    <p:set>
                                      <p:cBhvr>
                                        <p:cTn id="195" dur="1" fill="hold">
                                          <p:stCondLst>
                                            <p:cond delay="999"/>
                                          </p:stCondLst>
                                        </p:cTn>
                                        <p:tgtEl>
                                          <p:spTgt spid="58"/>
                                        </p:tgtEl>
                                        <p:attrNameLst>
                                          <p:attrName>style.visibility</p:attrName>
                                        </p:attrNameLst>
                                      </p:cBhvr>
                                      <p:to>
                                        <p:strVal val="hidden"/>
                                      </p:to>
                                    </p:set>
                                  </p:childTnLst>
                                </p:cTn>
                              </p:par>
                            </p:childTnLst>
                          </p:cTn>
                        </p:par>
                        <p:par>
                          <p:cTn id="196" fill="hold">
                            <p:stCondLst>
                              <p:cond delay="1000"/>
                            </p:stCondLst>
                            <p:childTnLst>
                              <p:par>
                                <p:cTn id="197" presetID="9" presetClass="entr" presetSubtype="0" fill="hold" grpId="0" nodeType="afterEffect">
                                  <p:stCondLst>
                                    <p:cond delay="0"/>
                                  </p:stCondLst>
                                  <p:childTnLst>
                                    <p:set>
                                      <p:cBhvr>
                                        <p:cTn id="198" dur="1" fill="hold">
                                          <p:stCondLst>
                                            <p:cond delay="0"/>
                                          </p:stCondLst>
                                        </p:cTn>
                                        <p:tgtEl>
                                          <p:spTgt spid="31"/>
                                        </p:tgtEl>
                                        <p:attrNameLst>
                                          <p:attrName>style.visibility</p:attrName>
                                        </p:attrNameLst>
                                      </p:cBhvr>
                                      <p:to>
                                        <p:strVal val="visible"/>
                                      </p:to>
                                    </p:set>
                                    <p:animEffect transition="in" filter="dissolve">
                                      <p:cBhvr>
                                        <p:cTn id="199" dur="12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4" grpId="0" animBg="1"/>
      <p:bldP spid="9" grpId="0"/>
      <p:bldP spid="12" grpId="0"/>
      <p:bldP spid="51" grpId="0" animBg="1"/>
      <p:bldP spid="52" grpId="0" animBg="1"/>
      <p:bldP spid="53" grpId="0" animBg="1"/>
      <p:bldP spid="56" grpId="0" animBg="1"/>
      <p:bldP spid="58" grpId="0"/>
      <p:bldP spid="58" grpId="1"/>
      <p:bldP spid="59" grpId="0"/>
      <p:bldP spid="32769" grpId="0"/>
      <p:bldP spid="32781" grpId="0"/>
      <p:bldP spid="32803" grpId="0" animBg="1"/>
      <p:bldP spid="4" grpId="0" animBg="1"/>
      <p:bldP spid="25" grpId="0"/>
      <p:bldP spid="31" grpId="0" animBg="1"/>
      <p:bldP spid="32786" grpId="0" animBg="1"/>
      <p:bldP spid="32786" grpId="1" animBg="1"/>
      <p:bldP spid="32777" grpId="0" animBg="1"/>
      <p:bldP spid="32779" grpId="0"/>
      <p:bldP spid="32780" grpId="0"/>
      <p:bldP spid="32783" grpId="0" animBg="1"/>
      <p:bldP spid="32784" grpId="0"/>
      <p:bldP spid="32790" grpId="0" animBg="1"/>
      <p:bldP spid="32791" grpId="0"/>
      <p:bldP spid="32792" grpId="0"/>
      <p:bldP spid="32793" grpId="0" animBg="1"/>
      <p:bldP spid="32794" grpId="0"/>
      <p:bldP spid="32795" grpId="0"/>
      <p:bldP spid="3277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80" name="Picture 32779">
            <a:extLst>
              <a:ext uri="{FF2B5EF4-FFF2-40B4-BE49-F238E27FC236}">
                <a16:creationId xmlns:a16="http://schemas.microsoft.com/office/drawing/2014/main" id="{C7ED7ADE-F500-0FB9-466A-D8413162FE5C}"/>
              </a:ext>
            </a:extLst>
          </p:cNvPr>
          <p:cNvPicPr>
            <a:picLocks noChangeAspect="1"/>
          </p:cNvPicPr>
          <p:nvPr/>
        </p:nvPicPr>
        <p:blipFill>
          <a:blip r:embed="rId3"/>
          <a:stretch>
            <a:fillRect/>
          </a:stretch>
        </p:blipFill>
        <p:spPr>
          <a:xfrm>
            <a:off x="4127220" y="2379058"/>
            <a:ext cx="4323824" cy="2132753"/>
          </a:xfrm>
          <a:prstGeom prst="rect">
            <a:avLst/>
          </a:prstGeom>
        </p:spPr>
      </p:pic>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Main Results </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20</a:t>
            </a:r>
            <a:r>
              <a:rPr lang="en-US" altLang="en-US" sz="1200" dirty="0">
                <a:solidFill>
                  <a:schemeClr val="bg1"/>
                </a:solidFill>
              </a:rPr>
              <a:t>| </a:t>
            </a:r>
            <a:r>
              <a:rPr lang="en-US" altLang="en-US" sz="1050" dirty="0">
                <a:solidFill>
                  <a:schemeClr val="bg1"/>
                </a:solidFill>
              </a:rPr>
              <a:t>Main results</a:t>
            </a:r>
            <a:endParaRPr lang="en-US" altLang="en-US" sz="900" dirty="0">
              <a:solidFill>
                <a:schemeClr val="bg1"/>
              </a:solidFill>
            </a:endParaRPr>
          </a:p>
        </p:txBody>
      </p:sp>
      <p:sp>
        <p:nvSpPr>
          <p:cNvPr id="2" name="TextBox 23">
            <a:extLst>
              <a:ext uri="{FF2B5EF4-FFF2-40B4-BE49-F238E27FC236}">
                <a16:creationId xmlns:a16="http://schemas.microsoft.com/office/drawing/2014/main" id="{04913758-377E-4D5F-B3CA-C9B15B0CBD5E}"/>
              </a:ext>
            </a:extLst>
          </p:cNvPr>
          <p:cNvSpPr txBox="1"/>
          <p:nvPr/>
        </p:nvSpPr>
        <p:spPr>
          <a:xfrm>
            <a:off x="0" y="622141"/>
            <a:ext cx="4755673"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solidFill>
                  <a:srgbClr val="C00000"/>
                </a:solidFill>
                <a:latin typeface="+mn-lt"/>
                <a:ea typeface="+mn-ea"/>
              </a:rPr>
              <a:t>Corollary – Distribution &amp; sensitivity extrapolation</a:t>
            </a:r>
          </a:p>
        </p:txBody>
      </p:sp>
      <p:sp>
        <p:nvSpPr>
          <p:cNvPr id="9" name="TextBox 23">
            <a:extLst>
              <a:ext uri="{FF2B5EF4-FFF2-40B4-BE49-F238E27FC236}">
                <a16:creationId xmlns:a16="http://schemas.microsoft.com/office/drawing/2014/main" id="{86ED11E8-2B72-6898-0ABF-5E1383EE6C78}"/>
              </a:ext>
            </a:extLst>
          </p:cNvPr>
          <p:cNvSpPr txBox="1"/>
          <p:nvPr/>
        </p:nvSpPr>
        <p:spPr>
          <a:xfrm>
            <a:off x="4479495" y="637203"/>
            <a:ext cx="4755673"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solidFill>
                  <a:srgbClr val="C00000"/>
                </a:solidFill>
                <a:latin typeface="+mn-lt"/>
                <a:ea typeface="+mn-ea"/>
              </a:rPr>
              <a:t>Corollary – Strict condition</a:t>
            </a:r>
          </a:p>
        </p:txBody>
      </p:sp>
      <p:pic>
        <p:nvPicPr>
          <p:cNvPr id="4" name="Picture 3">
            <a:extLst>
              <a:ext uri="{FF2B5EF4-FFF2-40B4-BE49-F238E27FC236}">
                <a16:creationId xmlns:a16="http://schemas.microsoft.com/office/drawing/2014/main" id="{906DF3A9-224B-131B-C4CC-22878DB1262B}"/>
              </a:ext>
            </a:extLst>
          </p:cNvPr>
          <p:cNvPicPr>
            <a:picLocks noChangeAspect="1"/>
          </p:cNvPicPr>
          <p:nvPr/>
        </p:nvPicPr>
        <p:blipFill rotWithShape="1">
          <a:blip r:embed="rId5"/>
          <a:srcRect t="74876"/>
          <a:stretch/>
        </p:blipFill>
        <p:spPr>
          <a:xfrm>
            <a:off x="4523911" y="3813533"/>
            <a:ext cx="4575674" cy="311500"/>
          </a:xfrm>
          <a:prstGeom prst="rect">
            <a:avLst/>
          </a:prstGeom>
        </p:spPr>
      </p:pic>
      <p:sp>
        <p:nvSpPr>
          <p:cNvPr id="22" name="TextBox 21">
            <a:extLst>
              <a:ext uri="{FF2B5EF4-FFF2-40B4-BE49-F238E27FC236}">
                <a16:creationId xmlns:a16="http://schemas.microsoft.com/office/drawing/2014/main" id="{8A98955F-BF9C-CEE7-874B-DFB55D49744C}"/>
              </a:ext>
            </a:extLst>
          </p:cNvPr>
          <p:cNvSpPr txBox="1"/>
          <p:nvPr/>
        </p:nvSpPr>
        <p:spPr>
          <a:xfrm>
            <a:off x="4480163" y="946835"/>
            <a:ext cx="1749881" cy="276999"/>
          </a:xfrm>
          <a:prstGeom prst="rect">
            <a:avLst/>
          </a:prstGeom>
          <a:noFill/>
        </p:spPr>
        <p:txBody>
          <a:bodyPr wrap="square">
            <a:spAutoFit/>
          </a:bodyPr>
          <a:lstStyle/>
          <a:p>
            <a:pPr marL="171450" indent="-171450">
              <a:buFont typeface="Arial" panose="020B0604020202020204" pitchFamily="34" charset="0"/>
              <a:buChar char="•"/>
            </a:pPr>
            <a:r>
              <a:rPr lang="en-US" sz="1200" dirty="0">
                <a:cs typeface="Calibri" panose="020F0502020204030204" pitchFamily="34" charset="0"/>
              </a:rPr>
              <a:t>Prudent theorem</a:t>
            </a:r>
          </a:p>
        </p:txBody>
      </p:sp>
      <p:grpSp>
        <p:nvGrpSpPr>
          <p:cNvPr id="8" name="Group 7">
            <a:extLst>
              <a:ext uri="{FF2B5EF4-FFF2-40B4-BE49-F238E27FC236}">
                <a16:creationId xmlns:a16="http://schemas.microsoft.com/office/drawing/2014/main" id="{E920235F-A707-EEE9-DD4D-DB7595197AD1}"/>
              </a:ext>
            </a:extLst>
          </p:cNvPr>
          <p:cNvGrpSpPr/>
          <p:nvPr/>
        </p:nvGrpSpPr>
        <p:grpSpPr>
          <a:xfrm>
            <a:off x="550100" y="918705"/>
            <a:ext cx="3102874" cy="1845737"/>
            <a:chOff x="9287233" y="848472"/>
            <a:chExt cx="3759241" cy="2367161"/>
          </a:xfrm>
        </p:grpSpPr>
        <p:cxnSp>
          <p:nvCxnSpPr>
            <p:cNvPr id="13" name="Straight Arrow Connector 12">
              <a:extLst>
                <a:ext uri="{FF2B5EF4-FFF2-40B4-BE49-F238E27FC236}">
                  <a16:creationId xmlns:a16="http://schemas.microsoft.com/office/drawing/2014/main" id="{A6F46A61-51D5-33F5-8766-E910E96AE2C0}"/>
                </a:ext>
              </a:extLst>
            </p:cNvPr>
            <p:cNvCxnSpPr>
              <a:cxnSpLocks/>
            </p:cNvCxnSpPr>
            <p:nvPr/>
          </p:nvCxnSpPr>
          <p:spPr>
            <a:xfrm>
              <a:off x="9338641" y="2857044"/>
              <a:ext cx="34211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589010B7-A7F9-B026-B5CE-BBD2758D9C55}"/>
                </a:ext>
              </a:extLst>
            </p:cNvPr>
            <p:cNvCxnSpPr>
              <a:cxnSpLocks/>
            </p:cNvCxnSpPr>
            <p:nvPr/>
          </p:nvCxnSpPr>
          <p:spPr>
            <a:xfrm flipV="1">
              <a:off x="9829800" y="1125470"/>
              <a:ext cx="0" cy="19341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24">
              <a:extLst>
                <a:ext uri="{FF2B5EF4-FFF2-40B4-BE49-F238E27FC236}">
                  <a16:creationId xmlns:a16="http://schemas.microsoft.com/office/drawing/2014/main" id="{B278383E-CDCD-B630-7269-1F8A9277E863}"/>
                </a:ext>
              </a:extLst>
            </p:cNvPr>
            <p:cNvSpPr txBox="1"/>
            <p:nvPr/>
          </p:nvSpPr>
          <p:spPr>
            <a:xfrm>
              <a:off x="12212194" y="2880039"/>
              <a:ext cx="834280" cy="33559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Price</a:t>
              </a:r>
            </a:p>
          </p:txBody>
        </p:sp>
        <p:sp>
          <p:nvSpPr>
            <p:cNvPr id="18" name="TextBox 17">
              <a:extLst>
                <a:ext uri="{FF2B5EF4-FFF2-40B4-BE49-F238E27FC236}">
                  <a16:creationId xmlns:a16="http://schemas.microsoft.com/office/drawing/2014/main" id="{2AEB96F7-39AC-1433-25C5-0FE1D8B88DD7}"/>
                </a:ext>
              </a:extLst>
            </p:cNvPr>
            <p:cNvSpPr txBox="1"/>
            <p:nvPr/>
          </p:nvSpPr>
          <p:spPr>
            <a:xfrm>
              <a:off x="9287233" y="848472"/>
              <a:ext cx="1317228" cy="335594"/>
            </a:xfrm>
            <a:prstGeom prst="rect">
              <a:avLst/>
            </a:prstGeom>
            <a:noFill/>
          </p:spPr>
          <p:txBody>
            <a:bodyPr wrap="square">
              <a:spAutoFit/>
            </a:bodyPr>
            <a:lstStyle/>
            <a:p>
              <a:r>
                <a:rPr lang="en-US" sz="1200" dirty="0">
                  <a:cs typeface="Calibri" panose="020F0502020204030204" pitchFamily="34" charset="0"/>
                </a:rPr>
                <a:t>Probability</a:t>
              </a:r>
              <a:endParaRPr lang="en-US" sz="1200" i="1" dirty="0">
                <a:cs typeface="Calibri" panose="020F0502020204030204" pitchFamily="34" charset="0"/>
              </a:endParaRPr>
            </a:p>
          </p:txBody>
        </p:sp>
        <p:cxnSp>
          <p:nvCxnSpPr>
            <p:cNvPr id="19" name="Straight Arrow Connector 18">
              <a:extLst>
                <a:ext uri="{FF2B5EF4-FFF2-40B4-BE49-F238E27FC236}">
                  <a16:creationId xmlns:a16="http://schemas.microsoft.com/office/drawing/2014/main" id="{CB8834AC-73B3-4CB2-E60A-3248182F0162}"/>
                </a:ext>
              </a:extLst>
            </p:cNvPr>
            <p:cNvCxnSpPr>
              <a:cxnSpLocks/>
            </p:cNvCxnSpPr>
            <p:nvPr/>
          </p:nvCxnSpPr>
          <p:spPr>
            <a:xfrm flipV="1">
              <a:off x="10210800" y="2092545"/>
              <a:ext cx="0" cy="758554"/>
            </a:xfrm>
            <a:prstGeom prst="straightConnector1">
              <a:avLst/>
            </a:prstGeom>
            <a:ln>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cxnSp>
          <p:nvCxnSpPr>
            <p:cNvPr id="20" name="Straight Arrow Connector 19">
              <a:extLst>
                <a:ext uri="{FF2B5EF4-FFF2-40B4-BE49-F238E27FC236}">
                  <a16:creationId xmlns:a16="http://schemas.microsoft.com/office/drawing/2014/main" id="{F83389D2-F526-2A1E-732A-11B7D06E4BAF}"/>
                </a:ext>
              </a:extLst>
            </p:cNvPr>
            <p:cNvCxnSpPr>
              <a:cxnSpLocks/>
            </p:cNvCxnSpPr>
            <p:nvPr/>
          </p:nvCxnSpPr>
          <p:spPr>
            <a:xfrm flipV="1">
              <a:off x="11353800" y="1603415"/>
              <a:ext cx="0" cy="1255430"/>
            </a:xfrm>
            <a:prstGeom prst="straightConnector1">
              <a:avLst/>
            </a:prstGeom>
            <a:ln>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25" name="TextBox 26">
                  <a:extLst>
                    <a:ext uri="{FF2B5EF4-FFF2-40B4-BE49-F238E27FC236}">
                      <a16:creationId xmlns:a16="http://schemas.microsoft.com/office/drawing/2014/main" id="{47F6CDBF-4E8C-3509-F455-027E8BFAD958}"/>
                    </a:ext>
                  </a:extLst>
                </p:cNvPr>
                <p:cNvSpPr txBox="1"/>
                <p:nvPr/>
              </p:nvSpPr>
              <p:spPr>
                <a:xfrm>
                  <a:off x="10058687" y="2819983"/>
                  <a:ext cx="343001"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𝛾</m:t>
                        </m:r>
                      </m:oMath>
                    </m:oMathPara>
                  </a14:m>
                  <a:endParaRPr lang="en-US" sz="1600" dirty="0">
                    <a:solidFill>
                      <a:schemeClr val="tx1"/>
                    </a:solidFill>
                    <a:cs typeface="Calibri" panose="020F0502020204030204" pitchFamily="34" charset="0"/>
                  </a:endParaRPr>
                </a:p>
              </p:txBody>
            </p:sp>
          </mc:Choice>
          <mc:Fallback xmlns="">
            <p:sp>
              <p:nvSpPr>
                <p:cNvPr id="25" name="TextBox 26">
                  <a:extLst>
                    <a:ext uri="{FF2B5EF4-FFF2-40B4-BE49-F238E27FC236}">
                      <a16:creationId xmlns:a16="http://schemas.microsoft.com/office/drawing/2014/main" id="{47F6CDBF-4E8C-3509-F455-027E8BFAD958}"/>
                    </a:ext>
                  </a:extLst>
                </p:cNvPr>
                <p:cNvSpPr txBox="1">
                  <a:spLocks noRot="1" noChangeAspect="1" noMove="1" noResize="1" noEditPoints="1" noAdjustHandles="1" noChangeArrowheads="1" noChangeShapeType="1" noTextEdit="1"/>
                </p:cNvSpPr>
                <p:nvPr/>
              </p:nvSpPr>
              <p:spPr>
                <a:xfrm>
                  <a:off x="10058687" y="2819983"/>
                  <a:ext cx="343001" cy="338554"/>
                </a:xfrm>
                <a:prstGeom prst="rect">
                  <a:avLst/>
                </a:prstGeom>
                <a:blipFill>
                  <a:blip r:embed="rId6"/>
                  <a:stretch>
                    <a:fillRect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6">
                  <a:extLst>
                    <a:ext uri="{FF2B5EF4-FFF2-40B4-BE49-F238E27FC236}">
                      <a16:creationId xmlns:a16="http://schemas.microsoft.com/office/drawing/2014/main" id="{ACC6A0F4-F044-2E68-1902-ECC02298C8CB}"/>
                    </a:ext>
                  </a:extLst>
                </p:cNvPr>
                <p:cNvSpPr txBox="1"/>
                <p:nvPr/>
              </p:nvSpPr>
              <p:spPr>
                <a:xfrm>
                  <a:off x="11205153" y="2819983"/>
                  <a:ext cx="343001"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𝜋</m:t>
                        </m:r>
                      </m:oMath>
                    </m:oMathPara>
                  </a14:m>
                  <a:endParaRPr lang="en-US" sz="1600" dirty="0">
                    <a:solidFill>
                      <a:schemeClr val="tx1"/>
                    </a:solidFill>
                    <a:cs typeface="Calibri" panose="020F0502020204030204" pitchFamily="34" charset="0"/>
                  </a:endParaRPr>
                </a:p>
              </p:txBody>
            </p:sp>
          </mc:Choice>
          <mc:Fallback xmlns="">
            <p:sp>
              <p:nvSpPr>
                <p:cNvPr id="26" name="TextBox 26">
                  <a:extLst>
                    <a:ext uri="{FF2B5EF4-FFF2-40B4-BE49-F238E27FC236}">
                      <a16:creationId xmlns:a16="http://schemas.microsoft.com/office/drawing/2014/main" id="{ACC6A0F4-F044-2E68-1902-ECC02298C8CB}"/>
                    </a:ext>
                  </a:extLst>
                </p:cNvPr>
                <p:cNvSpPr txBox="1">
                  <a:spLocks noRot="1" noChangeAspect="1" noMove="1" noResize="1" noEditPoints="1" noAdjustHandles="1" noChangeArrowheads="1" noChangeShapeType="1" noTextEdit="1"/>
                </p:cNvSpPr>
                <p:nvPr/>
              </p:nvSpPr>
              <p:spPr>
                <a:xfrm>
                  <a:off x="11205153" y="2819983"/>
                  <a:ext cx="343001" cy="338554"/>
                </a:xfrm>
                <a:prstGeom prst="rect">
                  <a:avLst/>
                </a:prstGeom>
                <a:blipFill>
                  <a:blip r:embed="rId7"/>
                  <a:stretch>
                    <a:fillRect b="-4545"/>
                  </a:stretch>
                </a:blipFill>
              </p:spPr>
              <p:txBody>
                <a:bodyPr/>
                <a:lstStyle/>
                <a:p>
                  <a:r>
                    <a:rPr lang="en-US">
                      <a:noFill/>
                    </a:rPr>
                    <a:t> </a:t>
                  </a:r>
                </a:p>
              </p:txBody>
            </p:sp>
          </mc:Fallback>
        </mc:AlternateContent>
      </p:grpSp>
      <p:cxnSp>
        <p:nvCxnSpPr>
          <p:cNvPr id="33" name="Straight Connector 32">
            <a:extLst>
              <a:ext uri="{FF2B5EF4-FFF2-40B4-BE49-F238E27FC236}">
                <a16:creationId xmlns:a16="http://schemas.microsoft.com/office/drawing/2014/main" id="{A4C3D69F-A48B-8F19-12A4-D8226467EF4A}"/>
              </a:ext>
            </a:extLst>
          </p:cNvPr>
          <p:cNvCxnSpPr>
            <a:cxnSpLocks/>
          </p:cNvCxnSpPr>
          <p:nvPr/>
        </p:nvCxnSpPr>
        <p:spPr>
          <a:xfrm>
            <a:off x="1905000" y="1216741"/>
            <a:ext cx="0" cy="1278809"/>
          </a:xfrm>
          <a:prstGeom prst="line">
            <a:avLst/>
          </a:prstGeom>
        </p:spPr>
        <p:style>
          <a:lnRef idx="2">
            <a:schemeClr val="dk1"/>
          </a:lnRef>
          <a:fillRef idx="0">
            <a:schemeClr val="dk1"/>
          </a:fillRef>
          <a:effectRef idx="1">
            <a:schemeClr val="dk1"/>
          </a:effectRef>
          <a:fontRef idx="minor">
            <a:schemeClr val="tx1"/>
          </a:fontRef>
        </p:style>
      </p:cxnSp>
      <p:sp>
        <p:nvSpPr>
          <p:cNvPr id="35" name="TextBox 34">
            <a:extLst>
              <a:ext uri="{FF2B5EF4-FFF2-40B4-BE49-F238E27FC236}">
                <a16:creationId xmlns:a16="http://schemas.microsoft.com/office/drawing/2014/main" id="{981D4BBF-C13C-760D-F6D7-92D7F7EA3231}"/>
              </a:ext>
            </a:extLst>
          </p:cNvPr>
          <p:cNvSpPr txBox="1"/>
          <p:nvPr/>
        </p:nvSpPr>
        <p:spPr>
          <a:xfrm>
            <a:off x="1809250" y="936345"/>
            <a:ext cx="1453696" cy="276999"/>
          </a:xfrm>
          <a:prstGeom prst="rect">
            <a:avLst/>
          </a:prstGeom>
          <a:noFill/>
        </p:spPr>
        <p:txBody>
          <a:bodyPr wrap="square">
            <a:spAutoFit/>
          </a:bodyPr>
          <a:lstStyle/>
          <a:p>
            <a:r>
              <a:rPr lang="en-US" sz="1200" dirty="0">
                <a:cs typeface="Calibri" panose="020F0502020204030204" pitchFamily="34" charset="0"/>
              </a:rPr>
              <a:t>Expectation</a:t>
            </a:r>
          </a:p>
        </p:txBody>
      </p:sp>
      <p:pic>
        <p:nvPicPr>
          <p:cNvPr id="42" name="Picture 41">
            <a:extLst>
              <a:ext uri="{FF2B5EF4-FFF2-40B4-BE49-F238E27FC236}">
                <a16:creationId xmlns:a16="http://schemas.microsoft.com/office/drawing/2014/main" id="{1B3F8368-328B-3F36-613A-247AA66CF835}"/>
              </a:ext>
            </a:extLst>
          </p:cNvPr>
          <p:cNvPicPr>
            <a:picLocks noChangeAspect="1"/>
          </p:cNvPicPr>
          <p:nvPr/>
        </p:nvPicPr>
        <p:blipFill>
          <a:blip r:embed="rId8"/>
          <a:stretch>
            <a:fillRect/>
          </a:stretch>
        </p:blipFill>
        <p:spPr>
          <a:xfrm>
            <a:off x="4577306" y="1216741"/>
            <a:ext cx="4281933" cy="297356"/>
          </a:xfrm>
          <a:prstGeom prst="rect">
            <a:avLst/>
          </a:prstGeom>
        </p:spPr>
      </p:pic>
      <p:pic>
        <p:nvPicPr>
          <p:cNvPr id="43" name="Picture 42">
            <a:extLst>
              <a:ext uri="{FF2B5EF4-FFF2-40B4-BE49-F238E27FC236}">
                <a16:creationId xmlns:a16="http://schemas.microsoft.com/office/drawing/2014/main" id="{D8F3A1F5-9058-52BF-D281-3E70CBE3A005}"/>
              </a:ext>
            </a:extLst>
          </p:cNvPr>
          <p:cNvPicPr>
            <a:picLocks noChangeAspect="1"/>
          </p:cNvPicPr>
          <p:nvPr/>
        </p:nvPicPr>
        <p:blipFill>
          <a:blip r:embed="rId9"/>
          <a:stretch>
            <a:fillRect/>
          </a:stretch>
        </p:blipFill>
        <p:spPr>
          <a:xfrm>
            <a:off x="4658608" y="1747787"/>
            <a:ext cx="4292188" cy="1132113"/>
          </a:xfrm>
          <a:prstGeom prst="rect">
            <a:avLst/>
          </a:prstGeom>
        </p:spPr>
      </p:pic>
      <p:sp>
        <p:nvSpPr>
          <p:cNvPr id="44" name="TextBox 43">
            <a:extLst>
              <a:ext uri="{FF2B5EF4-FFF2-40B4-BE49-F238E27FC236}">
                <a16:creationId xmlns:a16="http://schemas.microsoft.com/office/drawing/2014/main" id="{5E6A5EF0-ED55-4CE6-1587-C416AE240578}"/>
              </a:ext>
            </a:extLst>
          </p:cNvPr>
          <p:cNvSpPr txBox="1"/>
          <p:nvPr/>
        </p:nvSpPr>
        <p:spPr>
          <a:xfrm>
            <a:off x="4480163" y="1543960"/>
            <a:ext cx="1749881" cy="276999"/>
          </a:xfrm>
          <a:prstGeom prst="rect">
            <a:avLst/>
          </a:prstGeom>
          <a:noFill/>
        </p:spPr>
        <p:txBody>
          <a:bodyPr wrap="square">
            <a:spAutoFit/>
          </a:bodyPr>
          <a:lstStyle/>
          <a:p>
            <a:pPr marL="171450" indent="-171450">
              <a:buFont typeface="Arial" panose="020B0604020202020204" pitchFamily="34" charset="0"/>
              <a:buChar char="•"/>
            </a:pPr>
            <a:r>
              <a:rPr lang="en-US" sz="1200" dirty="0">
                <a:cs typeface="Calibri" panose="020F0502020204030204" pitchFamily="34" charset="0"/>
              </a:rPr>
              <a:t>Demand model</a:t>
            </a:r>
          </a:p>
        </p:txBody>
      </p:sp>
      <p:sp>
        <p:nvSpPr>
          <p:cNvPr id="45" name="Rectangle 44">
            <a:extLst>
              <a:ext uri="{FF2B5EF4-FFF2-40B4-BE49-F238E27FC236}">
                <a16:creationId xmlns:a16="http://schemas.microsoft.com/office/drawing/2014/main" id="{8A61015B-F32A-8F5A-B451-0D996B5D8A13}"/>
              </a:ext>
            </a:extLst>
          </p:cNvPr>
          <p:cNvSpPr/>
          <p:nvPr/>
        </p:nvSpPr>
        <p:spPr>
          <a:xfrm>
            <a:off x="6172200" y="1174033"/>
            <a:ext cx="304291" cy="415308"/>
          </a:xfrm>
          <a:prstGeom prst="rect">
            <a:avLst/>
          </a:prstGeom>
          <a:solidFill>
            <a:schemeClr val="accent2">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B7E80E69-BB3B-DCDE-8CEB-793740B80E20}"/>
              </a:ext>
            </a:extLst>
          </p:cNvPr>
          <p:cNvSpPr/>
          <p:nvPr/>
        </p:nvSpPr>
        <p:spPr>
          <a:xfrm>
            <a:off x="7881078" y="1174033"/>
            <a:ext cx="304291" cy="415308"/>
          </a:xfrm>
          <a:prstGeom prst="rect">
            <a:avLst/>
          </a:prstGeom>
          <a:solidFill>
            <a:schemeClr val="accent2">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17E2050F-8CFB-7335-0E19-E413061116F1}"/>
              </a:ext>
            </a:extLst>
          </p:cNvPr>
          <p:cNvSpPr/>
          <p:nvPr/>
        </p:nvSpPr>
        <p:spPr>
          <a:xfrm>
            <a:off x="5979581" y="2534702"/>
            <a:ext cx="304291" cy="415308"/>
          </a:xfrm>
          <a:prstGeom prst="rect">
            <a:avLst/>
          </a:prstGeom>
          <a:solidFill>
            <a:schemeClr val="accent2">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6FCEFE8-0CC4-F01A-B255-E1A5301C23F8}"/>
                  </a:ext>
                </a:extLst>
              </p:cNvPr>
              <p:cNvSpPr txBox="1"/>
              <p:nvPr/>
            </p:nvSpPr>
            <p:spPr>
              <a:xfrm>
                <a:off x="6696500" y="2545639"/>
                <a:ext cx="1218559"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𝐴</m:t>
                      </m:r>
                      <m:r>
                        <a:rPr lang="en-US" sz="16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&lt;1</m:t>
                      </m:r>
                    </m:oMath>
                  </m:oMathPara>
                </a14:m>
                <a:endParaRPr lang="en-US" sz="1600" dirty="0">
                  <a:solidFill>
                    <a:srgbClr val="C00000"/>
                  </a:solidFill>
                  <a:cs typeface="Calibri" panose="020F0502020204030204" pitchFamily="34" charset="0"/>
                </a:endParaRPr>
              </a:p>
            </p:txBody>
          </p:sp>
        </mc:Choice>
        <mc:Fallback xmlns="">
          <p:sp>
            <p:nvSpPr>
              <p:cNvPr id="49" name="TextBox 48">
                <a:extLst>
                  <a:ext uri="{FF2B5EF4-FFF2-40B4-BE49-F238E27FC236}">
                    <a16:creationId xmlns:a16="http://schemas.microsoft.com/office/drawing/2014/main" id="{06FCEFE8-0CC4-F01A-B255-E1A5301C23F8}"/>
                  </a:ext>
                </a:extLst>
              </p:cNvPr>
              <p:cNvSpPr txBox="1">
                <a:spLocks noRot="1" noChangeAspect="1" noMove="1" noResize="1" noEditPoints="1" noAdjustHandles="1" noChangeArrowheads="1" noChangeShapeType="1" noTextEdit="1"/>
              </p:cNvSpPr>
              <p:nvPr/>
            </p:nvSpPr>
            <p:spPr>
              <a:xfrm>
                <a:off x="6696500" y="2545639"/>
                <a:ext cx="1218559" cy="338554"/>
              </a:xfrm>
              <a:prstGeom prst="rect">
                <a:avLst/>
              </a:prstGeom>
              <a:blipFill>
                <a:blip r:embed="rId10"/>
                <a:stretch>
                  <a:fillRect/>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F9C4E20B-8864-BE81-B1E5-C9D4BEDB4CE6}"/>
              </a:ext>
            </a:extLst>
          </p:cNvPr>
          <p:cNvSpPr txBox="1"/>
          <p:nvPr/>
        </p:nvSpPr>
        <p:spPr>
          <a:xfrm>
            <a:off x="4480163" y="3547639"/>
            <a:ext cx="1749881" cy="276999"/>
          </a:xfrm>
          <a:prstGeom prst="rect">
            <a:avLst/>
          </a:prstGeom>
          <a:noFill/>
        </p:spPr>
        <p:txBody>
          <a:bodyPr wrap="square">
            <a:spAutoFit/>
          </a:bodyPr>
          <a:lstStyle/>
          <a:p>
            <a:pPr marL="171450" indent="-171450">
              <a:buFont typeface="Arial" panose="020B0604020202020204" pitchFamily="34" charset="0"/>
              <a:buChar char="•"/>
            </a:pPr>
            <a:r>
              <a:rPr lang="en-US" sz="1200" dirty="0">
                <a:cs typeface="Calibri" panose="020F0502020204030204" pitchFamily="34" charset="0"/>
              </a:rPr>
              <a:t>Strict condition</a:t>
            </a:r>
          </a:p>
        </p:txBody>
      </p:sp>
      <p:sp>
        <p:nvSpPr>
          <p:cNvPr id="52" name="Rectangle 51">
            <a:extLst>
              <a:ext uri="{FF2B5EF4-FFF2-40B4-BE49-F238E27FC236}">
                <a16:creationId xmlns:a16="http://schemas.microsoft.com/office/drawing/2014/main" id="{DD9A6625-2E76-F702-98B4-CD052FAD9E73}"/>
              </a:ext>
            </a:extLst>
          </p:cNvPr>
          <p:cNvSpPr/>
          <p:nvPr/>
        </p:nvSpPr>
        <p:spPr>
          <a:xfrm>
            <a:off x="6056420" y="3740707"/>
            <a:ext cx="304291" cy="415308"/>
          </a:xfrm>
          <a:prstGeom prst="rect">
            <a:avLst/>
          </a:prstGeom>
          <a:solidFill>
            <a:schemeClr val="accent2">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BD2B4FC3-E83A-B7C2-AD48-7A54330015B2}"/>
              </a:ext>
            </a:extLst>
          </p:cNvPr>
          <p:cNvSpPr/>
          <p:nvPr/>
        </p:nvSpPr>
        <p:spPr>
          <a:xfrm>
            <a:off x="7740595" y="3740707"/>
            <a:ext cx="304291" cy="415308"/>
          </a:xfrm>
          <a:prstGeom prst="rect">
            <a:avLst/>
          </a:prstGeom>
          <a:solidFill>
            <a:schemeClr val="accent2">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5DECE858-9B48-29B1-069C-E959CFE6AE23}"/>
              </a:ext>
            </a:extLst>
          </p:cNvPr>
          <p:cNvSpPr/>
          <p:nvPr/>
        </p:nvSpPr>
        <p:spPr>
          <a:xfrm>
            <a:off x="8144071" y="3740708"/>
            <a:ext cx="302654" cy="431242"/>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dk1"/>
              </a:solidFill>
            </a:endParaRPr>
          </a:p>
        </p:txBody>
      </p:sp>
      <p:pic>
        <p:nvPicPr>
          <p:cNvPr id="55" name="Picture 54">
            <a:extLst>
              <a:ext uri="{FF2B5EF4-FFF2-40B4-BE49-F238E27FC236}">
                <a16:creationId xmlns:a16="http://schemas.microsoft.com/office/drawing/2014/main" id="{9F897751-91DC-BAAA-FED0-3EB127E5ECC3}"/>
              </a:ext>
            </a:extLst>
          </p:cNvPr>
          <p:cNvPicPr>
            <a:picLocks noChangeAspect="1"/>
          </p:cNvPicPr>
          <p:nvPr/>
        </p:nvPicPr>
        <p:blipFill>
          <a:blip r:embed="rId11"/>
          <a:stretch>
            <a:fillRect/>
          </a:stretch>
        </p:blipFill>
        <p:spPr>
          <a:xfrm>
            <a:off x="6711513" y="3003169"/>
            <a:ext cx="1381991" cy="331678"/>
          </a:xfrm>
          <a:prstGeom prst="rect">
            <a:avLst/>
          </a:prstGeom>
        </p:spPr>
      </p:pic>
      <p:grpSp>
        <p:nvGrpSpPr>
          <p:cNvPr id="58" name="Group 57">
            <a:extLst>
              <a:ext uri="{FF2B5EF4-FFF2-40B4-BE49-F238E27FC236}">
                <a16:creationId xmlns:a16="http://schemas.microsoft.com/office/drawing/2014/main" id="{5D60C7C2-E5EE-834D-F199-C8DEEEF9815E}"/>
              </a:ext>
            </a:extLst>
          </p:cNvPr>
          <p:cNvGrpSpPr/>
          <p:nvPr/>
        </p:nvGrpSpPr>
        <p:grpSpPr>
          <a:xfrm>
            <a:off x="7006976" y="2961887"/>
            <a:ext cx="1218559" cy="524263"/>
            <a:chOff x="7006976" y="2835014"/>
            <a:chExt cx="1218559" cy="524263"/>
          </a:xfrm>
        </p:grpSpPr>
        <p:sp>
          <p:nvSpPr>
            <p:cNvPr id="56" name="Rectangle 55">
              <a:extLst>
                <a:ext uri="{FF2B5EF4-FFF2-40B4-BE49-F238E27FC236}">
                  <a16:creationId xmlns:a16="http://schemas.microsoft.com/office/drawing/2014/main" id="{A475C917-B8AA-5739-EAE9-C90F73CE8E1B}"/>
                </a:ext>
              </a:extLst>
            </p:cNvPr>
            <p:cNvSpPr/>
            <p:nvPr/>
          </p:nvSpPr>
          <p:spPr>
            <a:xfrm>
              <a:off x="7315200" y="2835014"/>
              <a:ext cx="533400" cy="431242"/>
            </a:xfrm>
            <a:prstGeom prst="rect">
              <a:avLst/>
            </a:prstGeom>
            <a:solidFill>
              <a:srgbClr val="C00000">
                <a:alpha val="14000"/>
              </a:srgbClr>
            </a:solidFill>
            <a:ln w="28575">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solidFill>
                  <a:schemeClr val="dk1"/>
                </a:solidFill>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878D64AF-B53B-0994-336D-7BF7A27972E2}"/>
                    </a:ext>
                  </a:extLst>
                </p:cNvPr>
                <p:cNvSpPr txBox="1"/>
                <p:nvPr/>
              </p:nvSpPr>
              <p:spPr>
                <a:xfrm>
                  <a:off x="7006976" y="3020723"/>
                  <a:ext cx="1218559"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→0</m:t>
                        </m:r>
                      </m:oMath>
                    </m:oMathPara>
                  </a14:m>
                  <a:endParaRPr lang="en-US" sz="1600" dirty="0">
                    <a:solidFill>
                      <a:srgbClr val="C00000"/>
                    </a:solidFill>
                    <a:cs typeface="Calibri" panose="020F0502020204030204" pitchFamily="34" charset="0"/>
                  </a:endParaRPr>
                </a:p>
              </p:txBody>
            </p:sp>
          </mc:Choice>
          <mc:Fallback xmlns="">
            <p:sp>
              <p:nvSpPr>
                <p:cNvPr id="57" name="TextBox 56">
                  <a:extLst>
                    <a:ext uri="{FF2B5EF4-FFF2-40B4-BE49-F238E27FC236}">
                      <a16:creationId xmlns:a16="http://schemas.microsoft.com/office/drawing/2014/main" id="{878D64AF-B53B-0994-336D-7BF7A27972E2}"/>
                    </a:ext>
                  </a:extLst>
                </p:cNvPr>
                <p:cNvSpPr txBox="1">
                  <a:spLocks noRot="1" noChangeAspect="1" noMove="1" noResize="1" noEditPoints="1" noAdjustHandles="1" noChangeArrowheads="1" noChangeShapeType="1" noTextEdit="1"/>
                </p:cNvSpPr>
                <p:nvPr/>
              </p:nvSpPr>
              <p:spPr>
                <a:xfrm>
                  <a:off x="7006976" y="3020723"/>
                  <a:ext cx="1218559" cy="338554"/>
                </a:xfrm>
                <a:prstGeom prst="rect">
                  <a:avLst/>
                </a:prstGeom>
                <a:blipFill>
                  <a:blip r:embed="rId12"/>
                  <a:stretch>
                    <a:fillRect/>
                  </a:stretch>
                </a:blipFill>
              </p:spPr>
              <p:txBody>
                <a:bodyPr/>
                <a:lstStyle/>
                <a:p>
                  <a:r>
                    <a:rPr lang="en-US">
                      <a:noFill/>
                    </a:rPr>
                    <a:t> </a:t>
                  </a:r>
                </a:p>
              </p:txBody>
            </p:sp>
          </mc:Fallback>
        </mc:AlternateContent>
      </p:grpSp>
      <p:sp>
        <p:nvSpPr>
          <p:cNvPr id="32771" name="Freeform 32770">
            <a:extLst>
              <a:ext uri="{FF2B5EF4-FFF2-40B4-BE49-F238E27FC236}">
                <a16:creationId xmlns:a16="http://schemas.microsoft.com/office/drawing/2014/main" id="{E38A5300-6295-74CD-DCFC-DD036321FEA4}"/>
              </a:ext>
            </a:extLst>
          </p:cNvPr>
          <p:cNvSpPr/>
          <p:nvPr/>
        </p:nvSpPr>
        <p:spPr>
          <a:xfrm>
            <a:off x="604385" y="3118301"/>
            <a:ext cx="2641809" cy="1091937"/>
          </a:xfrm>
          <a:custGeom>
            <a:avLst/>
            <a:gdLst>
              <a:gd name="connsiteX0" fmla="*/ 0 w 2917371"/>
              <a:gd name="connsiteY0" fmla="*/ 1138771 h 1214971"/>
              <a:gd name="connsiteX1" fmla="*/ 990600 w 2917371"/>
              <a:gd name="connsiteY1" fmla="*/ 746885 h 1214971"/>
              <a:gd name="connsiteX2" fmla="*/ 1850571 w 2917371"/>
              <a:gd name="connsiteY2" fmla="*/ 6657 h 1214971"/>
              <a:gd name="connsiteX3" fmla="*/ 2917371 w 2917371"/>
              <a:gd name="connsiteY3" fmla="*/ 1214971 h 1214971"/>
            </a:gdLst>
            <a:ahLst/>
            <a:cxnLst>
              <a:cxn ang="0">
                <a:pos x="connsiteX0" y="connsiteY0"/>
              </a:cxn>
              <a:cxn ang="0">
                <a:pos x="connsiteX1" y="connsiteY1"/>
              </a:cxn>
              <a:cxn ang="0">
                <a:pos x="connsiteX2" y="connsiteY2"/>
              </a:cxn>
              <a:cxn ang="0">
                <a:pos x="connsiteX3" y="connsiteY3"/>
              </a:cxn>
            </a:cxnLst>
            <a:rect l="l" t="t" r="r" b="b"/>
            <a:pathLst>
              <a:path w="2917371" h="1214971">
                <a:moveTo>
                  <a:pt x="0" y="1138771"/>
                </a:moveTo>
                <a:cubicBezTo>
                  <a:pt x="341086" y="1037171"/>
                  <a:pt x="682172" y="935571"/>
                  <a:pt x="990600" y="746885"/>
                </a:cubicBezTo>
                <a:cubicBezTo>
                  <a:pt x="1299028" y="558199"/>
                  <a:pt x="1529443" y="-71357"/>
                  <a:pt x="1850571" y="6657"/>
                </a:cubicBezTo>
                <a:cubicBezTo>
                  <a:pt x="2171700" y="84671"/>
                  <a:pt x="2544535" y="649821"/>
                  <a:pt x="2917371" y="1214971"/>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algn="l" defTabSz="457200" rtl="0" eaLnBrk="0" fontAlgn="base" hangingPunct="0">
              <a:spcBef>
                <a:spcPct val="0"/>
              </a:spcBef>
              <a:spcAft>
                <a:spcPct val="0"/>
              </a:spcAft>
              <a:defRPr kern="1200">
                <a:solidFill>
                  <a:schemeClr val="tx1"/>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mn-lt"/>
                <a:ea typeface="+mn-ea"/>
                <a:cs typeface="+mn-cs"/>
              </a:defRPr>
            </a:lvl2pPr>
            <a:lvl3pPr marL="914400" algn="l" defTabSz="457200" rtl="0" eaLnBrk="0" fontAlgn="base" hangingPunct="0">
              <a:spcBef>
                <a:spcPct val="0"/>
              </a:spcBef>
              <a:spcAft>
                <a:spcPct val="0"/>
              </a:spcAft>
              <a:defRPr kern="1200">
                <a:solidFill>
                  <a:schemeClr val="tx1"/>
                </a:solidFill>
                <a:latin typeface="+mn-lt"/>
                <a:ea typeface="+mn-ea"/>
                <a:cs typeface="+mn-cs"/>
              </a:defRPr>
            </a:lvl3pPr>
            <a:lvl4pPr marL="1371600" algn="l" defTabSz="457200" rtl="0" eaLnBrk="0" fontAlgn="base" hangingPunct="0">
              <a:spcBef>
                <a:spcPct val="0"/>
              </a:spcBef>
              <a:spcAft>
                <a:spcPct val="0"/>
              </a:spcAft>
              <a:defRPr kern="1200">
                <a:solidFill>
                  <a:schemeClr val="tx1"/>
                </a:solidFill>
                <a:latin typeface="+mn-lt"/>
                <a:ea typeface="+mn-ea"/>
                <a:cs typeface="+mn-cs"/>
              </a:defRPr>
            </a:lvl4pPr>
            <a:lvl5pPr marL="1828800" algn="l" defTabSz="457200" rtl="0" eaLnBrk="0" fontAlgn="base" hangingPunct="0">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algn="ctr"/>
            <a:endParaRPr lang="en-US"/>
          </a:p>
        </p:txBody>
      </p:sp>
      <p:grpSp>
        <p:nvGrpSpPr>
          <p:cNvPr id="32781" name="Group 32780">
            <a:extLst>
              <a:ext uri="{FF2B5EF4-FFF2-40B4-BE49-F238E27FC236}">
                <a16:creationId xmlns:a16="http://schemas.microsoft.com/office/drawing/2014/main" id="{4BF499DD-AF8E-F4F5-84CE-EFD8EE363F47}"/>
              </a:ext>
            </a:extLst>
          </p:cNvPr>
          <p:cNvGrpSpPr/>
          <p:nvPr/>
        </p:nvGrpSpPr>
        <p:grpSpPr>
          <a:xfrm>
            <a:off x="404492" y="2761695"/>
            <a:ext cx="3138808" cy="1906488"/>
            <a:chOff x="404492" y="2761695"/>
            <a:chExt cx="3138808" cy="1906488"/>
          </a:xfrm>
        </p:grpSpPr>
        <p:grpSp>
          <p:nvGrpSpPr>
            <p:cNvPr id="32768" name="Group 32767">
              <a:extLst>
                <a:ext uri="{FF2B5EF4-FFF2-40B4-BE49-F238E27FC236}">
                  <a16:creationId xmlns:a16="http://schemas.microsoft.com/office/drawing/2014/main" id="{A52FF4C4-35E7-88EA-2191-F08526EC9EFF}"/>
                </a:ext>
              </a:extLst>
            </p:cNvPr>
            <p:cNvGrpSpPr/>
            <p:nvPr/>
          </p:nvGrpSpPr>
          <p:grpSpPr>
            <a:xfrm>
              <a:off x="404492" y="2842342"/>
              <a:ext cx="3138808" cy="1825841"/>
              <a:chOff x="5494257" y="611576"/>
              <a:chExt cx="3466211" cy="2031568"/>
            </a:xfrm>
          </p:grpSpPr>
          <p:cxnSp>
            <p:nvCxnSpPr>
              <p:cNvPr id="32772" name="Straight Arrow Connector 32771">
                <a:extLst>
                  <a:ext uri="{FF2B5EF4-FFF2-40B4-BE49-F238E27FC236}">
                    <a16:creationId xmlns:a16="http://schemas.microsoft.com/office/drawing/2014/main" id="{0007876C-088B-EE1C-469B-7E12E5E8DE0C}"/>
                  </a:ext>
                </a:extLst>
              </p:cNvPr>
              <p:cNvCxnSpPr>
                <a:cxnSpLocks/>
              </p:cNvCxnSpPr>
              <p:nvPr/>
            </p:nvCxnSpPr>
            <p:spPr>
              <a:xfrm>
                <a:off x="5494257" y="2343150"/>
                <a:ext cx="34211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774" name="Straight Arrow Connector 32773">
                <a:extLst>
                  <a:ext uri="{FF2B5EF4-FFF2-40B4-BE49-F238E27FC236}">
                    <a16:creationId xmlns:a16="http://schemas.microsoft.com/office/drawing/2014/main" id="{EF84B2FE-A625-334B-5FDC-3B044087D298}"/>
                  </a:ext>
                </a:extLst>
              </p:cNvPr>
              <p:cNvCxnSpPr>
                <a:cxnSpLocks/>
              </p:cNvCxnSpPr>
              <p:nvPr/>
            </p:nvCxnSpPr>
            <p:spPr>
              <a:xfrm flipV="1">
                <a:off x="6809738" y="611576"/>
                <a:ext cx="0" cy="19341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775" name="Freeform 32774">
                <a:extLst>
                  <a:ext uri="{FF2B5EF4-FFF2-40B4-BE49-F238E27FC236}">
                    <a16:creationId xmlns:a16="http://schemas.microsoft.com/office/drawing/2014/main" id="{04C65BCB-3A1B-078B-9381-5FEAE09238D4}"/>
                  </a:ext>
                </a:extLst>
              </p:cNvPr>
              <p:cNvSpPr/>
              <p:nvPr/>
            </p:nvSpPr>
            <p:spPr>
              <a:xfrm>
                <a:off x="5525812" y="1073936"/>
                <a:ext cx="3237471" cy="1150114"/>
              </a:xfrm>
              <a:custGeom>
                <a:avLst/>
                <a:gdLst>
                  <a:gd name="connsiteX0" fmla="*/ 0 w 2199503"/>
                  <a:gd name="connsiteY0" fmla="*/ 1150114 h 1150114"/>
                  <a:gd name="connsiteX1" fmla="*/ 518984 w 2199503"/>
                  <a:gd name="connsiteY1" fmla="*/ 408708 h 1150114"/>
                  <a:gd name="connsiteX2" fmla="*/ 1186249 w 2199503"/>
                  <a:gd name="connsiteY2" fmla="*/ 25649 h 1150114"/>
                  <a:gd name="connsiteX3" fmla="*/ 2199503 w 2199503"/>
                  <a:gd name="connsiteY3" fmla="*/ 1113044 h 1150114"/>
                </a:gdLst>
                <a:ahLst/>
                <a:cxnLst>
                  <a:cxn ang="0">
                    <a:pos x="connsiteX0" y="connsiteY0"/>
                  </a:cxn>
                  <a:cxn ang="0">
                    <a:pos x="connsiteX1" y="connsiteY1"/>
                  </a:cxn>
                  <a:cxn ang="0">
                    <a:pos x="connsiteX2" y="connsiteY2"/>
                  </a:cxn>
                  <a:cxn ang="0">
                    <a:pos x="connsiteX3" y="connsiteY3"/>
                  </a:cxn>
                </a:cxnLst>
                <a:rect l="l" t="t" r="r" b="b"/>
                <a:pathLst>
                  <a:path w="2199503" h="1150114">
                    <a:moveTo>
                      <a:pt x="0" y="1150114"/>
                    </a:moveTo>
                    <a:cubicBezTo>
                      <a:pt x="160638" y="873116"/>
                      <a:pt x="321276" y="596119"/>
                      <a:pt x="518984" y="408708"/>
                    </a:cubicBezTo>
                    <a:cubicBezTo>
                      <a:pt x="716692" y="221297"/>
                      <a:pt x="906163" y="-91740"/>
                      <a:pt x="1186249" y="25649"/>
                    </a:cubicBezTo>
                    <a:cubicBezTo>
                      <a:pt x="1466335" y="143038"/>
                      <a:pt x="1832919" y="628041"/>
                      <a:pt x="2199503" y="1113044"/>
                    </a:cubicBezTo>
                  </a:path>
                </a:pathLst>
              </a:custGeom>
            </p:spPr>
            <p:style>
              <a:lnRef idx="1">
                <a:schemeClr val="accent3"/>
              </a:lnRef>
              <a:fillRef idx="0">
                <a:schemeClr val="accent3"/>
              </a:fillRef>
              <a:effectRef idx="0">
                <a:schemeClr val="accent3"/>
              </a:effectRef>
              <a:fontRef idx="minor">
                <a:schemeClr val="tx1"/>
              </a:fontRef>
            </p:style>
            <p:txBody>
              <a:bodyPr rtlCol="0" anchor="ctr"/>
              <a:lstStyle>
                <a:defPPr>
                  <a:defRPr lang="en-US"/>
                </a:defPPr>
                <a:lvl1pPr algn="l" defTabSz="457200" rtl="0" eaLnBrk="0" fontAlgn="base" hangingPunct="0">
                  <a:spcBef>
                    <a:spcPct val="0"/>
                  </a:spcBef>
                  <a:spcAft>
                    <a:spcPct val="0"/>
                  </a:spcAft>
                  <a:defRPr kern="1200">
                    <a:solidFill>
                      <a:schemeClr val="tx1"/>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mn-lt"/>
                    <a:ea typeface="+mn-ea"/>
                    <a:cs typeface="+mn-cs"/>
                  </a:defRPr>
                </a:lvl2pPr>
                <a:lvl3pPr marL="914400" algn="l" defTabSz="457200" rtl="0" eaLnBrk="0" fontAlgn="base" hangingPunct="0">
                  <a:spcBef>
                    <a:spcPct val="0"/>
                  </a:spcBef>
                  <a:spcAft>
                    <a:spcPct val="0"/>
                  </a:spcAft>
                  <a:defRPr kern="1200">
                    <a:solidFill>
                      <a:schemeClr val="tx1"/>
                    </a:solidFill>
                    <a:latin typeface="+mn-lt"/>
                    <a:ea typeface="+mn-ea"/>
                    <a:cs typeface="+mn-cs"/>
                  </a:defRPr>
                </a:lvl3pPr>
                <a:lvl4pPr marL="1371600" algn="l" defTabSz="457200" rtl="0" eaLnBrk="0" fontAlgn="base" hangingPunct="0">
                  <a:spcBef>
                    <a:spcPct val="0"/>
                  </a:spcBef>
                  <a:spcAft>
                    <a:spcPct val="0"/>
                  </a:spcAft>
                  <a:defRPr kern="1200">
                    <a:solidFill>
                      <a:schemeClr val="tx1"/>
                    </a:solidFill>
                    <a:latin typeface="+mn-lt"/>
                    <a:ea typeface="+mn-ea"/>
                    <a:cs typeface="+mn-cs"/>
                  </a:defRPr>
                </a:lvl4pPr>
                <a:lvl5pPr marL="1828800" algn="l" defTabSz="457200" rtl="0" eaLnBrk="0" fontAlgn="base" hangingPunct="0">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algn="ctr"/>
                <a:endParaRPr lang="en-US"/>
              </a:p>
            </p:txBody>
          </p:sp>
          <p:sp>
            <p:nvSpPr>
              <p:cNvPr id="32777" name="TextBox 24">
                <a:extLst>
                  <a:ext uri="{FF2B5EF4-FFF2-40B4-BE49-F238E27FC236}">
                    <a16:creationId xmlns:a16="http://schemas.microsoft.com/office/drawing/2014/main" id="{9BC6BB10-741D-5FF7-8F30-0F52FCFB1EC8}"/>
                  </a:ext>
                </a:extLst>
              </p:cNvPr>
              <p:cNvSpPr txBox="1"/>
              <p:nvPr/>
            </p:nvSpPr>
            <p:spPr>
              <a:xfrm>
                <a:off x="8367810" y="2366145"/>
                <a:ext cx="592658"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Price</a:t>
                </a:r>
              </a:p>
            </p:txBody>
          </p:sp>
        </p:grpSp>
        <p:cxnSp>
          <p:nvCxnSpPr>
            <p:cNvPr id="62" name="Straight Connector 61">
              <a:extLst>
                <a:ext uri="{FF2B5EF4-FFF2-40B4-BE49-F238E27FC236}">
                  <a16:creationId xmlns:a16="http://schemas.microsoft.com/office/drawing/2014/main" id="{5A7C6E44-49E7-8293-9EA0-B192C53D22C2}"/>
                </a:ext>
              </a:extLst>
            </p:cNvPr>
            <p:cNvCxnSpPr>
              <a:cxnSpLocks/>
            </p:cNvCxnSpPr>
            <p:nvPr/>
          </p:nvCxnSpPr>
          <p:spPr>
            <a:xfrm>
              <a:off x="1880425" y="3051136"/>
              <a:ext cx="0" cy="1499186"/>
            </a:xfrm>
            <a:prstGeom prst="line">
              <a:avLst/>
            </a:prstGeom>
          </p:spPr>
          <p:style>
            <a:lnRef idx="2">
              <a:schemeClr val="dk1"/>
            </a:lnRef>
            <a:fillRef idx="0">
              <a:schemeClr val="dk1"/>
            </a:fillRef>
            <a:effectRef idx="1">
              <a:schemeClr val="dk1"/>
            </a:effectRef>
            <a:fontRef idx="minor">
              <a:schemeClr val="tx1"/>
            </a:fontRef>
          </p:style>
        </p:cxnSp>
        <p:sp>
          <p:nvSpPr>
            <p:cNvPr id="63" name="TextBox 7">
              <a:extLst>
                <a:ext uri="{FF2B5EF4-FFF2-40B4-BE49-F238E27FC236}">
                  <a16:creationId xmlns:a16="http://schemas.microsoft.com/office/drawing/2014/main" id="{F9D8DB6F-6FF2-3F9D-6D48-C3F4F034B6BB}"/>
                </a:ext>
              </a:extLst>
            </p:cNvPr>
            <p:cNvSpPr txBox="1"/>
            <p:nvPr/>
          </p:nvSpPr>
          <p:spPr>
            <a:xfrm>
              <a:off x="1631264" y="2761695"/>
              <a:ext cx="1316386"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Expectation</a:t>
              </a:r>
            </a:p>
          </p:txBody>
        </p:sp>
      </p:grpSp>
      <p:cxnSp>
        <p:nvCxnSpPr>
          <p:cNvPr id="32778" name="Straight Arrow Connector 32777">
            <a:extLst>
              <a:ext uri="{FF2B5EF4-FFF2-40B4-BE49-F238E27FC236}">
                <a16:creationId xmlns:a16="http://schemas.microsoft.com/office/drawing/2014/main" id="{B7CFDA01-6909-91AD-46A3-50655E4A37EF}"/>
              </a:ext>
            </a:extLst>
          </p:cNvPr>
          <p:cNvCxnSpPr>
            <a:cxnSpLocks/>
          </p:cNvCxnSpPr>
          <p:nvPr/>
        </p:nvCxnSpPr>
        <p:spPr>
          <a:xfrm flipV="1">
            <a:off x="2763114" y="1671533"/>
            <a:ext cx="0" cy="808672"/>
          </a:xfrm>
          <a:prstGeom prst="straightConnector1">
            <a:avLst/>
          </a:prstGeom>
          <a:ln>
            <a:solidFill>
              <a:srgbClr val="C00000"/>
            </a:solidFill>
            <a:prstDash val="sysDot"/>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32779" name="TextBox 26">
                <a:extLst>
                  <a:ext uri="{FF2B5EF4-FFF2-40B4-BE49-F238E27FC236}">
                    <a16:creationId xmlns:a16="http://schemas.microsoft.com/office/drawing/2014/main" id="{C932A9AE-104D-F090-57DD-5892DB2BF838}"/>
                  </a:ext>
                </a:extLst>
              </p:cNvPr>
              <p:cNvSpPr txBox="1"/>
              <p:nvPr/>
            </p:nvSpPr>
            <p:spPr>
              <a:xfrm>
                <a:off x="2591273" y="2447629"/>
                <a:ext cx="342033" cy="311192"/>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𝜋</m:t>
                      </m:r>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sz="1600" dirty="0">
                  <a:solidFill>
                    <a:schemeClr val="tx1"/>
                  </a:solidFill>
                  <a:cs typeface="Calibri" panose="020F0502020204030204" pitchFamily="34" charset="0"/>
                </a:endParaRPr>
              </a:p>
            </p:txBody>
          </p:sp>
        </mc:Choice>
        <mc:Fallback xmlns="">
          <p:sp>
            <p:nvSpPr>
              <p:cNvPr id="32779" name="TextBox 26">
                <a:extLst>
                  <a:ext uri="{FF2B5EF4-FFF2-40B4-BE49-F238E27FC236}">
                    <a16:creationId xmlns:a16="http://schemas.microsoft.com/office/drawing/2014/main" id="{C932A9AE-104D-F090-57DD-5892DB2BF838}"/>
                  </a:ext>
                </a:extLst>
              </p:cNvPr>
              <p:cNvSpPr txBox="1">
                <a:spLocks noRot="1" noChangeAspect="1" noMove="1" noResize="1" noEditPoints="1" noAdjustHandles="1" noChangeArrowheads="1" noChangeShapeType="1" noTextEdit="1"/>
              </p:cNvSpPr>
              <p:nvPr/>
            </p:nvSpPr>
            <p:spPr>
              <a:xfrm>
                <a:off x="2591273" y="2447629"/>
                <a:ext cx="342033" cy="311192"/>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31290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2781"/>
                                        </p:tgtEl>
                                        <p:attrNameLst>
                                          <p:attrName>style.visibility</p:attrName>
                                        </p:attrNameLst>
                                      </p:cBhvr>
                                      <p:to>
                                        <p:strVal val="visible"/>
                                      </p:to>
                                    </p:set>
                                    <p:animEffect transition="in" filter="dissolve">
                                      <p:cBhvr>
                                        <p:cTn id="7" dur="500"/>
                                        <p:tgtEl>
                                          <p:spTgt spid="3278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778"/>
                                        </p:tgtEl>
                                        <p:attrNameLst>
                                          <p:attrName>style.visibility</p:attrName>
                                        </p:attrNameLst>
                                      </p:cBhvr>
                                      <p:to>
                                        <p:strVal val="visible"/>
                                      </p:to>
                                    </p:set>
                                    <p:animEffect transition="in" filter="dissolve">
                                      <p:cBhvr>
                                        <p:cTn id="12" dur="500"/>
                                        <p:tgtEl>
                                          <p:spTgt spid="32778"/>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2779"/>
                                        </p:tgtEl>
                                        <p:attrNameLst>
                                          <p:attrName>style.visibility</p:attrName>
                                        </p:attrNameLst>
                                      </p:cBhvr>
                                      <p:to>
                                        <p:strVal val="visible"/>
                                      </p:to>
                                    </p:set>
                                    <p:animEffect transition="in" filter="dissolve">
                                      <p:cBhvr>
                                        <p:cTn id="15" dur="500"/>
                                        <p:tgtEl>
                                          <p:spTgt spid="32779"/>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2771"/>
                                        </p:tgtEl>
                                        <p:attrNameLst>
                                          <p:attrName>style.visibility</p:attrName>
                                        </p:attrNameLst>
                                      </p:cBhvr>
                                      <p:to>
                                        <p:strVal val="visible"/>
                                      </p:to>
                                    </p:set>
                                    <p:animEffect transition="in" filter="dissolve">
                                      <p:cBhvr>
                                        <p:cTn id="20" dur="500"/>
                                        <p:tgtEl>
                                          <p:spTgt spid="32771"/>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2780"/>
                                        </p:tgtEl>
                                        <p:attrNameLst>
                                          <p:attrName>style.visibility</p:attrName>
                                        </p:attrNameLst>
                                      </p:cBhvr>
                                      <p:to>
                                        <p:strVal val="visible"/>
                                      </p:to>
                                    </p:set>
                                    <p:animEffect transition="in" filter="dissolve">
                                      <p:cBhvr>
                                        <p:cTn id="25" dur="500"/>
                                        <p:tgtEl>
                                          <p:spTgt spid="32780"/>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nodeType="clickEffect">
                                  <p:stCondLst>
                                    <p:cond delay="0"/>
                                  </p:stCondLst>
                                  <p:childTnLst>
                                    <p:animEffect transition="out" filter="blinds(horizontal)">
                                      <p:cBhvr>
                                        <p:cTn id="29" dur="500"/>
                                        <p:tgtEl>
                                          <p:spTgt spid="32780"/>
                                        </p:tgtEl>
                                      </p:cBhvr>
                                    </p:animEffect>
                                    <p:set>
                                      <p:cBhvr>
                                        <p:cTn id="30" dur="1" fill="hold">
                                          <p:stCondLst>
                                            <p:cond delay="499"/>
                                          </p:stCondLst>
                                        </p:cTn>
                                        <p:tgtEl>
                                          <p:spTgt spid="3278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par>
                                <p:cTn id="36" presetID="9" presetClass="entr" presetSubtype="0" fill="hold"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dissolve">
                                      <p:cBhvr>
                                        <p:cTn id="38" dur="500"/>
                                        <p:tgtEl>
                                          <p:spTgt spid="42"/>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dissolve">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dissolve">
                                      <p:cBhvr>
                                        <p:cTn id="46" dur="500"/>
                                        <p:tgtEl>
                                          <p:spTgt spid="45"/>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dissolve">
                                      <p:cBhvr>
                                        <p:cTn id="49" dur="500"/>
                                        <p:tgtEl>
                                          <p:spTgt spid="47"/>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44"/>
                                        </p:tgtEl>
                                        <p:attrNameLst>
                                          <p:attrName>style.visibility</p:attrName>
                                        </p:attrNameLst>
                                      </p:cBhvr>
                                      <p:to>
                                        <p:strVal val="visible"/>
                                      </p:to>
                                    </p:set>
                                    <p:animEffect transition="in" filter="dissolve">
                                      <p:cBhvr>
                                        <p:cTn id="54" dur="500"/>
                                        <p:tgtEl>
                                          <p:spTgt spid="44"/>
                                        </p:tgtEl>
                                      </p:cBhvr>
                                    </p:animEffect>
                                  </p:childTnLst>
                                </p:cTn>
                              </p:par>
                              <p:par>
                                <p:cTn id="55" presetID="9" presetClass="entr" presetSubtype="0" fill="hold" nodeType="with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dissolve">
                                      <p:cBhvr>
                                        <p:cTn id="57" dur="500"/>
                                        <p:tgtEl>
                                          <p:spTgt spid="43"/>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48"/>
                                        </p:tgtEl>
                                        <p:attrNameLst>
                                          <p:attrName>style.visibility</p:attrName>
                                        </p:attrNameLst>
                                      </p:cBhvr>
                                      <p:to>
                                        <p:strVal val="visible"/>
                                      </p:to>
                                    </p:set>
                                    <p:animEffect transition="in" filter="dissolve">
                                      <p:cBhvr>
                                        <p:cTn id="62" dur="500"/>
                                        <p:tgtEl>
                                          <p:spTgt spid="48"/>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49"/>
                                        </p:tgtEl>
                                        <p:attrNameLst>
                                          <p:attrName>style.visibility</p:attrName>
                                        </p:attrNameLst>
                                      </p:cBhvr>
                                      <p:to>
                                        <p:strVal val="visible"/>
                                      </p:to>
                                    </p:set>
                                    <p:animEffect transition="in" filter="dissolve">
                                      <p:cBhvr>
                                        <p:cTn id="65" dur="500"/>
                                        <p:tgtEl>
                                          <p:spTgt spid="49"/>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55"/>
                                        </p:tgtEl>
                                        <p:attrNameLst>
                                          <p:attrName>style.visibility</p:attrName>
                                        </p:attrNameLst>
                                      </p:cBhvr>
                                      <p:to>
                                        <p:strVal val="visible"/>
                                      </p:to>
                                    </p:set>
                                    <p:animEffect transition="in" filter="dissolve">
                                      <p:cBhvr>
                                        <p:cTn id="70" dur="500"/>
                                        <p:tgtEl>
                                          <p:spTgt spid="55"/>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nodeType="clickEffect">
                                  <p:stCondLst>
                                    <p:cond delay="0"/>
                                  </p:stCondLst>
                                  <p:childTnLst>
                                    <p:set>
                                      <p:cBhvr>
                                        <p:cTn id="74" dur="1" fill="hold">
                                          <p:stCondLst>
                                            <p:cond delay="0"/>
                                          </p:stCondLst>
                                        </p:cTn>
                                        <p:tgtEl>
                                          <p:spTgt spid="58"/>
                                        </p:tgtEl>
                                        <p:attrNameLst>
                                          <p:attrName>style.visibility</p:attrName>
                                        </p:attrNameLst>
                                      </p:cBhvr>
                                      <p:to>
                                        <p:strVal val="visible"/>
                                      </p:to>
                                    </p:set>
                                    <p:animEffect transition="in" filter="dissolve">
                                      <p:cBhvr>
                                        <p:cTn id="75" dur="500"/>
                                        <p:tgtEl>
                                          <p:spTgt spid="58"/>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51"/>
                                        </p:tgtEl>
                                        <p:attrNameLst>
                                          <p:attrName>style.visibility</p:attrName>
                                        </p:attrNameLst>
                                      </p:cBhvr>
                                      <p:to>
                                        <p:strVal val="visible"/>
                                      </p:to>
                                    </p:set>
                                    <p:animEffect transition="in" filter="dissolve">
                                      <p:cBhvr>
                                        <p:cTn id="80" dur="500"/>
                                        <p:tgtEl>
                                          <p:spTgt spid="51"/>
                                        </p:tgtEl>
                                      </p:cBhvr>
                                    </p:animEffect>
                                  </p:childTnLst>
                                </p:cTn>
                              </p:par>
                              <p:par>
                                <p:cTn id="81" presetID="9" presetClass="entr" presetSubtype="0" fill="hold" nodeType="withEffect">
                                  <p:stCondLst>
                                    <p:cond delay="0"/>
                                  </p:stCondLst>
                                  <p:childTnLst>
                                    <p:set>
                                      <p:cBhvr>
                                        <p:cTn id="82" dur="1" fill="hold">
                                          <p:stCondLst>
                                            <p:cond delay="0"/>
                                          </p:stCondLst>
                                        </p:cTn>
                                        <p:tgtEl>
                                          <p:spTgt spid="4"/>
                                        </p:tgtEl>
                                        <p:attrNameLst>
                                          <p:attrName>style.visibility</p:attrName>
                                        </p:attrNameLst>
                                      </p:cBhvr>
                                      <p:to>
                                        <p:strVal val="visible"/>
                                      </p:to>
                                    </p:set>
                                    <p:animEffect transition="in" filter="dissolve">
                                      <p:cBhvr>
                                        <p:cTn id="83" dur="500"/>
                                        <p:tgtEl>
                                          <p:spTgt spid="4"/>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52"/>
                                        </p:tgtEl>
                                        <p:attrNameLst>
                                          <p:attrName>style.visibility</p:attrName>
                                        </p:attrNameLst>
                                      </p:cBhvr>
                                      <p:to>
                                        <p:strVal val="visible"/>
                                      </p:to>
                                    </p:set>
                                    <p:animEffect transition="in" filter="dissolve">
                                      <p:cBhvr>
                                        <p:cTn id="88" dur="500"/>
                                        <p:tgtEl>
                                          <p:spTgt spid="52"/>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53"/>
                                        </p:tgtEl>
                                        <p:attrNameLst>
                                          <p:attrName>style.visibility</p:attrName>
                                        </p:attrNameLst>
                                      </p:cBhvr>
                                      <p:to>
                                        <p:strVal val="visible"/>
                                      </p:to>
                                    </p:set>
                                    <p:animEffect transition="in" filter="dissolve">
                                      <p:cBhvr>
                                        <p:cTn id="91" dur="500"/>
                                        <p:tgtEl>
                                          <p:spTgt spid="53"/>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dissolve">
                                      <p:cBhvr>
                                        <p:cTn id="96"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2" grpId="0"/>
      <p:bldP spid="44" grpId="0"/>
      <p:bldP spid="45" grpId="0" animBg="1"/>
      <p:bldP spid="47" grpId="0" animBg="1"/>
      <p:bldP spid="48" grpId="0" animBg="1"/>
      <p:bldP spid="49" grpId="0"/>
      <p:bldP spid="51" grpId="0"/>
      <p:bldP spid="52" grpId="0" animBg="1"/>
      <p:bldP spid="53" grpId="0" animBg="1"/>
      <p:bldP spid="54" grpId="0" animBg="1"/>
      <p:bldP spid="32771" grpId="0" animBg="1"/>
      <p:bldP spid="3277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Main Results </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21</a:t>
            </a:r>
            <a:r>
              <a:rPr lang="en-US" altLang="en-US" sz="1200" dirty="0">
                <a:solidFill>
                  <a:schemeClr val="bg1"/>
                </a:solidFill>
              </a:rPr>
              <a:t>| </a:t>
            </a:r>
            <a:r>
              <a:rPr lang="en-US" altLang="en-US" sz="1050" dirty="0">
                <a:solidFill>
                  <a:schemeClr val="bg1"/>
                </a:solidFill>
              </a:rPr>
              <a:t>Main results</a:t>
            </a:r>
            <a:endParaRPr lang="en-US" altLang="en-US" sz="900" dirty="0">
              <a:solidFill>
                <a:schemeClr val="bg1"/>
              </a:solidFill>
            </a:endParaRPr>
          </a:p>
        </p:txBody>
      </p:sp>
      <p:sp>
        <p:nvSpPr>
          <p:cNvPr id="13" name="TextBox 12">
            <a:extLst>
              <a:ext uri="{FF2B5EF4-FFF2-40B4-BE49-F238E27FC236}">
                <a16:creationId xmlns:a16="http://schemas.microsoft.com/office/drawing/2014/main" id="{186A549C-312A-319B-FD6F-7299A4351AE0}"/>
              </a:ext>
            </a:extLst>
          </p:cNvPr>
          <p:cNvSpPr txBox="1"/>
          <p:nvPr/>
        </p:nvSpPr>
        <p:spPr>
          <a:xfrm>
            <a:off x="200190" y="3743977"/>
            <a:ext cx="4154085" cy="523220"/>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Our results align with the prudence definition from economics </a:t>
            </a:r>
          </a:p>
        </p:txBody>
      </p:sp>
      <p:sp>
        <p:nvSpPr>
          <p:cNvPr id="14" name="TextBox 23">
            <a:extLst>
              <a:ext uri="{FF2B5EF4-FFF2-40B4-BE49-F238E27FC236}">
                <a16:creationId xmlns:a16="http://schemas.microsoft.com/office/drawing/2014/main" id="{86B5FF52-0CCA-778F-609A-63BB3C842664}"/>
              </a:ext>
            </a:extLst>
          </p:cNvPr>
          <p:cNvSpPr txBox="1"/>
          <p:nvPr/>
        </p:nvSpPr>
        <p:spPr>
          <a:xfrm>
            <a:off x="153988" y="586487"/>
            <a:ext cx="4755673"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600" b="1" dirty="0">
                <a:solidFill>
                  <a:srgbClr val="C00000"/>
                </a:solidFill>
                <a:latin typeface="+mn-lt"/>
                <a:ea typeface="+mn-ea"/>
              </a:rPr>
              <a:t>Key takeaway</a:t>
            </a:r>
          </a:p>
        </p:txBody>
      </p:sp>
      <p:sp>
        <p:nvSpPr>
          <p:cNvPr id="4" name="TextBox 3">
            <a:extLst>
              <a:ext uri="{FF2B5EF4-FFF2-40B4-BE49-F238E27FC236}">
                <a16:creationId xmlns:a16="http://schemas.microsoft.com/office/drawing/2014/main" id="{AA1DA9DE-819D-7213-5516-997FA95D0194}"/>
              </a:ext>
            </a:extLst>
          </p:cNvPr>
          <p:cNvSpPr txBox="1"/>
          <p:nvPr/>
        </p:nvSpPr>
        <p:spPr>
          <a:xfrm>
            <a:off x="200190" y="876303"/>
            <a:ext cx="4077887" cy="738664"/>
          </a:xfrm>
          <a:prstGeom prst="rect">
            <a:avLst/>
          </a:prstGeom>
          <a:noFill/>
        </p:spPr>
        <p:txBody>
          <a:bodyPr wrap="square">
            <a:spAutoFit/>
          </a:bodyPr>
          <a:lstStyle/>
          <a:p>
            <a:pPr marL="285750" indent="-285750" algn="just">
              <a:buFont typeface="Arial" panose="020B0604020202020204" pitchFamily="34" charset="0"/>
              <a:buChar char="•"/>
            </a:pPr>
            <a:r>
              <a:rPr lang="en-US" sz="1400" dirty="0">
                <a:cs typeface="Calibri" panose="020F0502020204030204" pitchFamily="34" charset="0"/>
              </a:rPr>
              <a:t>Prudent demand’s value function increases with the future price distributional factors, with the same expectation;</a:t>
            </a:r>
          </a:p>
        </p:txBody>
      </p:sp>
      <p:cxnSp>
        <p:nvCxnSpPr>
          <p:cNvPr id="5" name="Straight Arrow Connector 4">
            <a:extLst>
              <a:ext uri="{FF2B5EF4-FFF2-40B4-BE49-F238E27FC236}">
                <a16:creationId xmlns:a16="http://schemas.microsoft.com/office/drawing/2014/main" id="{9B504145-382F-546E-8F47-FEAFF9C040B2}"/>
              </a:ext>
            </a:extLst>
          </p:cNvPr>
          <p:cNvCxnSpPr>
            <a:cxnSpLocks/>
          </p:cNvCxnSpPr>
          <p:nvPr/>
        </p:nvCxnSpPr>
        <p:spPr>
          <a:xfrm>
            <a:off x="5562600" y="1657350"/>
            <a:ext cx="2903438" cy="108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A845E8E5-4F1D-2253-8F33-BD5A293C6151}"/>
              </a:ext>
            </a:extLst>
          </p:cNvPr>
          <p:cNvCxnSpPr>
            <a:cxnSpLocks/>
          </p:cNvCxnSpPr>
          <p:nvPr/>
        </p:nvCxnSpPr>
        <p:spPr>
          <a:xfrm>
            <a:off x="7772408" y="1082402"/>
            <a:ext cx="0" cy="908865"/>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68B3EE00-6C10-2A8D-9B4A-8B01D864669A}"/>
              </a:ext>
            </a:extLst>
          </p:cNvPr>
          <p:cNvSpPr txBox="1"/>
          <p:nvPr/>
        </p:nvSpPr>
        <p:spPr>
          <a:xfrm>
            <a:off x="5235787" y="1270376"/>
            <a:ext cx="1255155" cy="276999"/>
          </a:xfrm>
          <a:prstGeom prst="rect">
            <a:avLst/>
          </a:prstGeom>
          <a:noFill/>
        </p:spPr>
        <p:txBody>
          <a:bodyPr wrap="square">
            <a:spAutoFit/>
          </a:bodyPr>
          <a:lstStyle/>
          <a:p>
            <a:r>
              <a:rPr lang="en-US" sz="1200" dirty="0">
                <a:solidFill>
                  <a:srgbClr val="C00000"/>
                </a:solidFill>
                <a:cs typeface="Calibri" panose="020F0502020204030204" pitchFamily="34" charset="0"/>
              </a:rPr>
              <a:t>Demand change</a:t>
            </a:r>
          </a:p>
        </p:txBody>
      </p:sp>
      <p:cxnSp>
        <p:nvCxnSpPr>
          <p:cNvPr id="22" name="Straight Connector 21">
            <a:extLst>
              <a:ext uri="{FF2B5EF4-FFF2-40B4-BE49-F238E27FC236}">
                <a16:creationId xmlns:a16="http://schemas.microsoft.com/office/drawing/2014/main" id="{34072967-F9E4-1D60-47A0-2A2199AB4EC3}"/>
              </a:ext>
            </a:extLst>
          </p:cNvPr>
          <p:cNvCxnSpPr>
            <a:cxnSpLocks/>
          </p:cNvCxnSpPr>
          <p:nvPr/>
        </p:nvCxnSpPr>
        <p:spPr>
          <a:xfrm>
            <a:off x="5562600" y="1605779"/>
            <a:ext cx="2133600" cy="12908"/>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23" name="Straight Connector 22">
            <a:extLst>
              <a:ext uri="{FF2B5EF4-FFF2-40B4-BE49-F238E27FC236}">
                <a16:creationId xmlns:a16="http://schemas.microsoft.com/office/drawing/2014/main" id="{33AB02A3-A9BB-4BA6-99D7-4D84C1CB6A4E}"/>
              </a:ext>
            </a:extLst>
          </p:cNvPr>
          <p:cNvCxnSpPr>
            <a:cxnSpLocks/>
          </p:cNvCxnSpPr>
          <p:nvPr/>
        </p:nvCxnSpPr>
        <p:spPr>
          <a:xfrm>
            <a:off x="7696200" y="1047750"/>
            <a:ext cx="0" cy="570937"/>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28" name="Straight Connector 27">
            <a:extLst>
              <a:ext uri="{FF2B5EF4-FFF2-40B4-BE49-F238E27FC236}">
                <a16:creationId xmlns:a16="http://schemas.microsoft.com/office/drawing/2014/main" id="{30CE7EF7-24F4-6EC4-E6D2-5459072F1B96}"/>
              </a:ext>
            </a:extLst>
          </p:cNvPr>
          <p:cNvCxnSpPr>
            <a:cxnSpLocks/>
          </p:cNvCxnSpPr>
          <p:nvPr/>
        </p:nvCxnSpPr>
        <p:spPr>
          <a:xfrm flipH="1">
            <a:off x="7696200" y="1231846"/>
            <a:ext cx="457200" cy="386841"/>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34" name="Straight Connector 33">
            <a:extLst>
              <a:ext uri="{FF2B5EF4-FFF2-40B4-BE49-F238E27FC236}">
                <a16:creationId xmlns:a16="http://schemas.microsoft.com/office/drawing/2014/main" id="{9E52907A-D55E-FEEC-AEF8-67C2F61FE72E}"/>
              </a:ext>
            </a:extLst>
          </p:cNvPr>
          <p:cNvCxnSpPr>
            <a:cxnSpLocks/>
          </p:cNvCxnSpPr>
          <p:nvPr/>
        </p:nvCxnSpPr>
        <p:spPr>
          <a:xfrm flipH="1">
            <a:off x="7696200" y="1618686"/>
            <a:ext cx="533400" cy="0"/>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36" name="Straight Connector 35">
            <a:extLst>
              <a:ext uri="{FF2B5EF4-FFF2-40B4-BE49-F238E27FC236}">
                <a16:creationId xmlns:a16="http://schemas.microsoft.com/office/drawing/2014/main" id="{65BE8B98-F35F-61D9-F915-8F52BE34BE72}"/>
              </a:ext>
            </a:extLst>
          </p:cNvPr>
          <p:cNvCxnSpPr>
            <a:cxnSpLocks/>
          </p:cNvCxnSpPr>
          <p:nvPr/>
        </p:nvCxnSpPr>
        <p:spPr>
          <a:xfrm flipH="1" flipV="1">
            <a:off x="7696200" y="1612233"/>
            <a:ext cx="457200" cy="399707"/>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40" name="Straight Connector 39">
            <a:extLst>
              <a:ext uri="{FF2B5EF4-FFF2-40B4-BE49-F238E27FC236}">
                <a16:creationId xmlns:a16="http://schemas.microsoft.com/office/drawing/2014/main" id="{9E52907A-D55E-FEEC-AEF8-67C2F61FE72E}"/>
              </a:ext>
            </a:extLst>
          </p:cNvPr>
          <p:cNvCxnSpPr>
            <a:cxnSpLocks/>
          </p:cNvCxnSpPr>
          <p:nvPr/>
        </p:nvCxnSpPr>
        <p:spPr>
          <a:xfrm flipV="1">
            <a:off x="7696200" y="1599638"/>
            <a:ext cx="0" cy="516963"/>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44" name="Straight Arrow Connector 43">
            <a:extLst>
              <a:ext uri="{FF2B5EF4-FFF2-40B4-BE49-F238E27FC236}">
                <a16:creationId xmlns:a16="http://schemas.microsoft.com/office/drawing/2014/main" id="{57FC28AC-B9CA-4188-1F40-9474E3B58B21}"/>
              </a:ext>
            </a:extLst>
          </p:cNvPr>
          <p:cNvCxnSpPr>
            <a:cxnSpLocks/>
          </p:cNvCxnSpPr>
          <p:nvPr/>
        </p:nvCxnSpPr>
        <p:spPr>
          <a:xfrm>
            <a:off x="5562608" y="3574400"/>
            <a:ext cx="2903438" cy="108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E2E3BDEB-8C0A-A13C-8884-8D127089C996}"/>
              </a:ext>
            </a:extLst>
          </p:cNvPr>
          <p:cNvCxnSpPr>
            <a:cxnSpLocks/>
          </p:cNvCxnSpPr>
          <p:nvPr/>
        </p:nvCxnSpPr>
        <p:spPr>
          <a:xfrm>
            <a:off x="7772408" y="2897795"/>
            <a:ext cx="0" cy="101838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6" name="TextBox 45">
            <a:extLst>
              <a:ext uri="{FF2B5EF4-FFF2-40B4-BE49-F238E27FC236}">
                <a16:creationId xmlns:a16="http://schemas.microsoft.com/office/drawing/2014/main" id="{AA56C96D-92B9-CB43-12CD-EAE6FDA4B8A5}"/>
              </a:ext>
            </a:extLst>
          </p:cNvPr>
          <p:cNvSpPr txBox="1"/>
          <p:nvPr/>
        </p:nvSpPr>
        <p:spPr>
          <a:xfrm>
            <a:off x="5022417" y="3725883"/>
            <a:ext cx="1690302" cy="461665"/>
          </a:xfrm>
          <a:prstGeom prst="rect">
            <a:avLst/>
          </a:prstGeom>
          <a:noFill/>
        </p:spPr>
        <p:txBody>
          <a:bodyPr wrap="square">
            <a:spAutoFit/>
          </a:bodyPr>
          <a:lstStyle/>
          <a:p>
            <a:r>
              <a:rPr lang="en-US" sz="1200" dirty="0">
                <a:solidFill>
                  <a:srgbClr val="C00000"/>
                </a:solidFill>
                <a:cs typeface="Calibri" panose="020F0502020204030204" pitchFamily="34" charset="0"/>
              </a:rPr>
              <a:t>Prudent demand –  </a:t>
            </a:r>
            <a:r>
              <a:rPr lang="en-US" sz="1200" b="1" dirty="0">
                <a:solidFill>
                  <a:srgbClr val="C00000"/>
                </a:solidFill>
                <a:cs typeface="Calibri" panose="020F0502020204030204" pitchFamily="34" charset="0"/>
              </a:rPr>
              <a:t>Change ahead of time</a:t>
            </a:r>
          </a:p>
        </p:txBody>
      </p:sp>
      <p:cxnSp>
        <p:nvCxnSpPr>
          <p:cNvPr id="48" name="Straight Connector 47">
            <a:extLst>
              <a:ext uri="{FF2B5EF4-FFF2-40B4-BE49-F238E27FC236}">
                <a16:creationId xmlns:a16="http://schemas.microsoft.com/office/drawing/2014/main" id="{AAB56022-ED1F-C74F-BE2B-404D618CD516}"/>
              </a:ext>
            </a:extLst>
          </p:cNvPr>
          <p:cNvCxnSpPr>
            <a:cxnSpLocks/>
          </p:cNvCxnSpPr>
          <p:nvPr/>
        </p:nvCxnSpPr>
        <p:spPr>
          <a:xfrm>
            <a:off x="7696200" y="2612327"/>
            <a:ext cx="0" cy="570937"/>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49" name="Straight Connector 48">
            <a:extLst>
              <a:ext uri="{FF2B5EF4-FFF2-40B4-BE49-F238E27FC236}">
                <a16:creationId xmlns:a16="http://schemas.microsoft.com/office/drawing/2014/main" id="{C8BB32E7-FFB6-6269-F1DB-63DBDA12597D}"/>
              </a:ext>
            </a:extLst>
          </p:cNvPr>
          <p:cNvCxnSpPr>
            <a:cxnSpLocks/>
          </p:cNvCxnSpPr>
          <p:nvPr/>
        </p:nvCxnSpPr>
        <p:spPr>
          <a:xfrm flipH="1">
            <a:off x="7696200" y="2796423"/>
            <a:ext cx="457200" cy="386841"/>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50" name="Straight Connector 49">
            <a:extLst>
              <a:ext uri="{FF2B5EF4-FFF2-40B4-BE49-F238E27FC236}">
                <a16:creationId xmlns:a16="http://schemas.microsoft.com/office/drawing/2014/main" id="{2845EAEE-1639-1304-6CA1-D7CC45C2D878}"/>
              </a:ext>
            </a:extLst>
          </p:cNvPr>
          <p:cNvCxnSpPr>
            <a:cxnSpLocks/>
          </p:cNvCxnSpPr>
          <p:nvPr/>
        </p:nvCxnSpPr>
        <p:spPr>
          <a:xfrm flipH="1">
            <a:off x="7696200" y="3183263"/>
            <a:ext cx="533400" cy="0"/>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51" name="Straight Connector 50">
            <a:extLst>
              <a:ext uri="{FF2B5EF4-FFF2-40B4-BE49-F238E27FC236}">
                <a16:creationId xmlns:a16="http://schemas.microsoft.com/office/drawing/2014/main" id="{73D431A0-3380-52A7-6503-545493FF7AAB}"/>
              </a:ext>
            </a:extLst>
          </p:cNvPr>
          <p:cNvCxnSpPr>
            <a:cxnSpLocks/>
          </p:cNvCxnSpPr>
          <p:nvPr/>
        </p:nvCxnSpPr>
        <p:spPr>
          <a:xfrm flipH="1" flipV="1">
            <a:off x="7696200" y="3176810"/>
            <a:ext cx="457200" cy="399707"/>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cxnSp>
        <p:nvCxnSpPr>
          <p:cNvPr id="52" name="Straight Connector 51">
            <a:extLst>
              <a:ext uri="{FF2B5EF4-FFF2-40B4-BE49-F238E27FC236}">
                <a16:creationId xmlns:a16="http://schemas.microsoft.com/office/drawing/2014/main" id="{9BE50235-32C1-4C30-0205-C7B568813E2F}"/>
              </a:ext>
            </a:extLst>
          </p:cNvPr>
          <p:cNvCxnSpPr>
            <a:cxnSpLocks/>
          </p:cNvCxnSpPr>
          <p:nvPr/>
        </p:nvCxnSpPr>
        <p:spPr>
          <a:xfrm flipV="1">
            <a:off x="7696200" y="3164215"/>
            <a:ext cx="0" cy="516963"/>
          </a:xfrm>
          <a:prstGeom prst="line">
            <a:avLst/>
          </a:prstGeom>
          <a:ln>
            <a:prstDash val="sysDot"/>
          </a:ln>
          <a:effectLst/>
        </p:spPr>
        <p:style>
          <a:lnRef idx="2">
            <a:schemeClr val="accent2"/>
          </a:lnRef>
          <a:fillRef idx="0">
            <a:schemeClr val="accent2"/>
          </a:fillRef>
          <a:effectRef idx="1">
            <a:schemeClr val="accent2"/>
          </a:effectRef>
          <a:fontRef idx="minor">
            <a:schemeClr val="tx1"/>
          </a:fontRef>
        </p:style>
      </p:cxnSp>
      <p:sp>
        <p:nvSpPr>
          <p:cNvPr id="53" name="Freeform 52">
            <a:extLst>
              <a:ext uri="{FF2B5EF4-FFF2-40B4-BE49-F238E27FC236}">
                <a16:creationId xmlns:a16="http://schemas.microsoft.com/office/drawing/2014/main" id="{E83E4A5A-AF95-CE00-8F1A-F07DF119E9B3}"/>
              </a:ext>
            </a:extLst>
          </p:cNvPr>
          <p:cNvSpPr/>
          <p:nvPr/>
        </p:nvSpPr>
        <p:spPr>
          <a:xfrm>
            <a:off x="5586420" y="3189237"/>
            <a:ext cx="2109780" cy="346499"/>
          </a:xfrm>
          <a:custGeom>
            <a:avLst/>
            <a:gdLst>
              <a:gd name="connsiteX0" fmla="*/ 0 w 1876425"/>
              <a:gd name="connsiteY0" fmla="*/ 447675 h 463863"/>
              <a:gd name="connsiteX1" fmla="*/ 962025 w 1876425"/>
              <a:gd name="connsiteY1" fmla="*/ 409575 h 463863"/>
              <a:gd name="connsiteX2" fmla="*/ 1876425 w 1876425"/>
              <a:gd name="connsiteY2" fmla="*/ 0 h 463863"/>
            </a:gdLst>
            <a:ahLst/>
            <a:cxnLst>
              <a:cxn ang="0">
                <a:pos x="connsiteX0" y="connsiteY0"/>
              </a:cxn>
              <a:cxn ang="0">
                <a:pos x="connsiteX1" y="connsiteY1"/>
              </a:cxn>
              <a:cxn ang="0">
                <a:pos x="connsiteX2" y="connsiteY2"/>
              </a:cxn>
            </a:cxnLst>
            <a:rect l="l" t="t" r="r" b="b"/>
            <a:pathLst>
              <a:path w="1876425" h="463863">
                <a:moveTo>
                  <a:pt x="0" y="447675"/>
                </a:moveTo>
                <a:cubicBezTo>
                  <a:pt x="324644" y="465931"/>
                  <a:pt x="649288" y="484187"/>
                  <a:pt x="962025" y="409575"/>
                </a:cubicBezTo>
                <a:cubicBezTo>
                  <a:pt x="1274762" y="334963"/>
                  <a:pt x="1575593" y="167481"/>
                  <a:pt x="1876425" y="0"/>
                </a:cubicBezTo>
              </a:path>
            </a:pathLst>
          </a:custGeom>
          <a:effectLst/>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4" name="TextBox 53">
            <a:extLst>
              <a:ext uri="{FF2B5EF4-FFF2-40B4-BE49-F238E27FC236}">
                <a16:creationId xmlns:a16="http://schemas.microsoft.com/office/drawing/2014/main" id="{0F7D6F4B-6FC4-E63F-52B2-E74120A0EBA6}"/>
              </a:ext>
            </a:extLst>
          </p:cNvPr>
          <p:cNvSpPr txBox="1"/>
          <p:nvPr/>
        </p:nvSpPr>
        <p:spPr>
          <a:xfrm>
            <a:off x="7536316" y="620737"/>
            <a:ext cx="1453696" cy="276999"/>
          </a:xfrm>
          <a:prstGeom prst="rect">
            <a:avLst/>
          </a:prstGeom>
          <a:noFill/>
        </p:spPr>
        <p:txBody>
          <a:bodyPr wrap="square">
            <a:spAutoFit/>
          </a:bodyPr>
          <a:lstStyle/>
          <a:p>
            <a:r>
              <a:rPr lang="en-US" sz="1200" dirty="0">
                <a:cs typeface="Calibri" panose="020F0502020204030204" pitchFamily="34" charset="0"/>
              </a:rPr>
              <a:t>Uncertainty</a:t>
            </a:r>
          </a:p>
        </p:txBody>
      </p:sp>
      <p:sp>
        <p:nvSpPr>
          <p:cNvPr id="56" name="TextBox 55">
            <a:extLst>
              <a:ext uri="{FF2B5EF4-FFF2-40B4-BE49-F238E27FC236}">
                <a16:creationId xmlns:a16="http://schemas.microsoft.com/office/drawing/2014/main" id="{F92A6CC2-1E30-D4A8-F0A2-8DAE9C009646}"/>
              </a:ext>
            </a:extLst>
          </p:cNvPr>
          <p:cNvSpPr txBox="1"/>
          <p:nvPr/>
        </p:nvSpPr>
        <p:spPr>
          <a:xfrm>
            <a:off x="200190" y="2813931"/>
            <a:ext cx="4077881" cy="954107"/>
          </a:xfrm>
          <a:prstGeom prst="rect">
            <a:avLst/>
          </a:prstGeom>
          <a:noFill/>
        </p:spPr>
        <p:txBody>
          <a:bodyPr wrap="square">
            <a:spAutoFit/>
          </a:bodyPr>
          <a:lstStyle/>
          <a:p>
            <a:pPr marL="285750" indent="-285750" algn="just">
              <a:buFont typeface="Arial" panose="020B0604020202020204" pitchFamily="34" charset="0"/>
              <a:buChar char="•"/>
            </a:pPr>
            <a:r>
              <a:rPr lang="en-US" sz="1400" dirty="0">
                <a:cs typeface="Calibri" panose="020F0502020204030204" pitchFamily="34" charset="0"/>
              </a:rPr>
              <a:t>The demand level change due to prudence scales proportionally with the skewness of the price distribution, showing the skewness aversion behavior</a:t>
            </a:r>
          </a:p>
        </p:txBody>
      </p:sp>
      <p:sp>
        <p:nvSpPr>
          <p:cNvPr id="60" name="Freeform 59">
            <a:extLst>
              <a:ext uri="{FF2B5EF4-FFF2-40B4-BE49-F238E27FC236}">
                <a16:creationId xmlns:a16="http://schemas.microsoft.com/office/drawing/2014/main" id="{29EBA760-0E87-7697-2D4B-A9BD38E85D75}"/>
              </a:ext>
            </a:extLst>
          </p:cNvPr>
          <p:cNvSpPr/>
          <p:nvPr/>
        </p:nvSpPr>
        <p:spPr>
          <a:xfrm>
            <a:off x="5586420" y="3006135"/>
            <a:ext cx="2109780" cy="509528"/>
          </a:xfrm>
          <a:custGeom>
            <a:avLst/>
            <a:gdLst>
              <a:gd name="connsiteX0" fmla="*/ 0 w 1876425"/>
              <a:gd name="connsiteY0" fmla="*/ 447675 h 463863"/>
              <a:gd name="connsiteX1" fmla="*/ 962025 w 1876425"/>
              <a:gd name="connsiteY1" fmla="*/ 409575 h 463863"/>
              <a:gd name="connsiteX2" fmla="*/ 1876425 w 1876425"/>
              <a:gd name="connsiteY2" fmla="*/ 0 h 463863"/>
            </a:gdLst>
            <a:ahLst/>
            <a:cxnLst>
              <a:cxn ang="0">
                <a:pos x="connsiteX0" y="connsiteY0"/>
              </a:cxn>
              <a:cxn ang="0">
                <a:pos x="connsiteX1" y="connsiteY1"/>
              </a:cxn>
              <a:cxn ang="0">
                <a:pos x="connsiteX2" y="connsiteY2"/>
              </a:cxn>
            </a:cxnLst>
            <a:rect l="l" t="t" r="r" b="b"/>
            <a:pathLst>
              <a:path w="1876425" h="463863">
                <a:moveTo>
                  <a:pt x="0" y="447675"/>
                </a:moveTo>
                <a:cubicBezTo>
                  <a:pt x="324644" y="465931"/>
                  <a:pt x="649288" y="484187"/>
                  <a:pt x="962025" y="409575"/>
                </a:cubicBezTo>
                <a:cubicBezTo>
                  <a:pt x="1274762" y="334963"/>
                  <a:pt x="1575593" y="167481"/>
                  <a:pt x="1876425" y="0"/>
                </a:cubicBezTo>
              </a:path>
            </a:pathLst>
          </a:custGeom>
          <a:ln>
            <a:solidFill>
              <a:schemeClr val="accent1"/>
            </a:solidFill>
          </a:ln>
          <a:effectLst/>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61" name="TextBox 60">
            <a:extLst>
              <a:ext uri="{FF2B5EF4-FFF2-40B4-BE49-F238E27FC236}">
                <a16:creationId xmlns:a16="http://schemas.microsoft.com/office/drawing/2014/main" id="{4B3832AD-EBD1-FC30-28AA-9C29C19C4780}"/>
              </a:ext>
            </a:extLst>
          </p:cNvPr>
          <p:cNvSpPr txBox="1"/>
          <p:nvPr/>
        </p:nvSpPr>
        <p:spPr>
          <a:xfrm>
            <a:off x="5366995" y="2656739"/>
            <a:ext cx="2247894" cy="461665"/>
          </a:xfrm>
          <a:prstGeom prst="rect">
            <a:avLst/>
          </a:prstGeom>
          <a:noFill/>
        </p:spPr>
        <p:txBody>
          <a:bodyPr wrap="square">
            <a:spAutoFit/>
          </a:bodyPr>
          <a:lstStyle/>
          <a:p>
            <a:r>
              <a:rPr lang="en-US" sz="1200" dirty="0">
                <a:solidFill>
                  <a:schemeClr val="accent1"/>
                </a:solidFill>
                <a:cs typeface="Calibri" panose="020F0502020204030204" pitchFamily="34" charset="0"/>
              </a:rPr>
              <a:t>Sensitivity - </a:t>
            </a:r>
            <a:r>
              <a:rPr lang="en-US" sz="1200" b="1" dirty="0">
                <a:solidFill>
                  <a:schemeClr val="accent1"/>
                </a:solidFill>
                <a:cs typeface="Calibri" panose="020F0502020204030204" pitchFamily="34" charset="0"/>
              </a:rPr>
              <a:t>The aversion degree increases with skewness</a:t>
            </a:r>
          </a:p>
        </p:txBody>
      </p:sp>
      <p:sp>
        <p:nvSpPr>
          <p:cNvPr id="62" name="TextBox 53">
            <a:extLst>
              <a:ext uri="{FF2B5EF4-FFF2-40B4-BE49-F238E27FC236}">
                <a16:creationId xmlns:a16="http://schemas.microsoft.com/office/drawing/2014/main" id="{0F7D6F4B-6FC4-E63F-52B2-E74120A0EBA6}"/>
              </a:ext>
            </a:extLst>
          </p:cNvPr>
          <p:cNvSpPr txBox="1"/>
          <p:nvPr/>
        </p:nvSpPr>
        <p:spPr>
          <a:xfrm>
            <a:off x="4865914" y="1676662"/>
            <a:ext cx="1406509"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Reference level</a:t>
            </a:r>
          </a:p>
        </p:txBody>
      </p:sp>
      <p:sp>
        <p:nvSpPr>
          <p:cNvPr id="2" name="Right Arrow 1">
            <a:extLst>
              <a:ext uri="{FF2B5EF4-FFF2-40B4-BE49-F238E27FC236}">
                <a16:creationId xmlns:a16="http://schemas.microsoft.com/office/drawing/2014/main" id="{6080DD95-583D-57A0-9266-4D9B749AF6BE}"/>
              </a:ext>
            </a:extLst>
          </p:cNvPr>
          <p:cNvSpPr/>
          <p:nvPr/>
        </p:nvSpPr>
        <p:spPr>
          <a:xfrm rot="5400000">
            <a:off x="6327968" y="1847001"/>
            <a:ext cx="438522" cy="62154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eaLnBrk="0" fontAlgn="base" hangingPunct="0">
              <a:spcBef>
                <a:spcPct val="0"/>
              </a:spcBef>
              <a:spcAft>
                <a:spcPct val="0"/>
              </a:spcAft>
              <a:defRPr kern="1200">
                <a:solidFill>
                  <a:schemeClr val="lt1"/>
                </a:solidFill>
                <a:latin typeface="+mn-lt"/>
                <a:ea typeface="+mn-ea"/>
                <a:cs typeface="+mn-cs"/>
              </a:defRPr>
            </a:lvl1pPr>
            <a:lvl2pPr marL="457200" algn="l" defTabSz="457200" rtl="0" eaLnBrk="0" fontAlgn="base" hangingPunct="0">
              <a:spcBef>
                <a:spcPct val="0"/>
              </a:spcBef>
              <a:spcAft>
                <a:spcPct val="0"/>
              </a:spcAft>
              <a:defRPr kern="1200">
                <a:solidFill>
                  <a:schemeClr val="lt1"/>
                </a:solidFill>
                <a:latin typeface="+mn-lt"/>
                <a:ea typeface="+mn-ea"/>
                <a:cs typeface="+mn-cs"/>
              </a:defRPr>
            </a:lvl2pPr>
            <a:lvl3pPr marL="914400" algn="l" defTabSz="457200" rtl="0" eaLnBrk="0" fontAlgn="base" hangingPunct="0">
              <a:spcBef>
                <a:spcPct val="0"/>
              </a:spcBef>
              <a:spcAft>
                <a:spcPct val="0"/>
              </a:spcAft>
              <a:defRPr kern="1200">
                <a:solidFill>
                  <a:schemeClr val="lt1"/>
                </a:solidFill>
                <a:latin typeface="+mn-lt"/>
                <a:ea typeface="+mn-ea"/>
                <a:cs typeface="+mn-cs"/>
              </a:defRPr>
            </a:lvl3pPr>
            <a:lvl4pPr marL="1371600" algn="l" defTabSz="457200" rtl="0" eaLnBrk="0" fontAlgn="base" hangingPunct="0">
              <a:spcBef>
                <a:spcPct val="0"/>
              </a:spcBef>
              <a:spcAft>
                <a:spcPct val="0"/>
              </a:spcAft>
              <a:defRPr kern="1200">
                <a:solidFill>
                  <a:schemeClr val="lt1"/>
                </a:solidFill>
                <a:latin typeface="+mn-lt"/>
                <a:ea typeface="+mn-ea"/>
                <a:cs typeface="+mn-cs"/>
              </a:defRPr>
            </a:lvl4pPr>
            <a:lvl5pPr marL="1828800" algn="l" defTabSz="457200"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mc:AlternateContent xmlns:mc="http://schemas.openxmlformats.org/markup-compatibility/2006" xmlns:a14="http://schemas.microsoft.com/office/drawing/2010/main">
        <mc:Choice Requires="a14">
          <p:sp>
            <p:nvSpPr>
              <p:cNvPr id="8" name="TextBox 26">
                <a:extLst>
                  <a:ext uri="{FF2B5EF4-FFF2-40B4-BE49-F238E27FC236}">
                    <a16:creationId xmlns:a16="http://schemas.microsoft.com/office/drawing/2014/main" id="{4A523BBF-29AF-E368-CF98-0E063F4AEDEF}"/>
                  </a:ext>
                </a:extLst>
              </p:cNvPr>
              <p:cNvSpPr txBox="1"/>
              <p:nvPr/>
            </p:nvSpPr>
            <p:spPr>
              <a:xfrm>
                <a:off x="1547002" y="4018083"/>
                <a:ext cx="2115644" cy="659027"/>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f>
                        <m:fPr>
                          <m:ctrlPr>
                            <a:rPr lang="en-US" sz="160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ctrlPr>
                        </m:fPr>
                        <m:num>
                          <m:sSub>
                            <m:sSubPr>
                              <m:ctrlPr>
                                <a:rPr lang="en-US" sz="160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ctrlPr>
                            </m:sSubPr>
                            <m:e>
                              <m:sSup>
                                <m:sSupPr>
                                  <m:ctrlPr>
                                    <a:rPr lang="en-US" sz="160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ctrlPr>
                                </m:sSupPr>
                                <m:e>
                                  <m:r>
                                    <a:rPr lang="en-US" sz="1600" b="0" i="1">
                                      <a:latin typeface="Cambria Math" panose="02040503050406030204" pitchFamily="18" charset="0"/>
                                      <a:ea typeface="Cambria Math" panose="02040503050406030204" pitchFamily="18" charset="0"/>
                                      <a:cs typeface="Calibri" panose="020F0502020204030204" pitchFamily="34" charset="0"/>
                                    </a:rPr>
                                    <m:t>𝜕</m:t>
                                  </m:r>
                                </m:e>
                                <m:sup>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3</m:t>
                                  </m:r>
                                </m:sup>
                              </m:sSup>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𝑉</m:t>
                              </m:r>
                            </m:e>
                            <m:sub>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𝑡</m:t>
                              </m:r>
                            </m:sub>
                          </m:sSub>
                        </m:num>
                        <m:den>
                          <m:r>
                            <a:rPr lang="en-US" sz="1600" b="0" i="1">
                              <a:latin typeface="Cambria Math" panose="02040503050406030204" pitchFamily="18" charset="0"/>
                              <a:ea typeface="Cambria Math" panose="02040503050406030204" pitchFamily="18" charset="0"/>
                              <a:cs typeface="Calibri" panose="020F0502020204030204" pitchFamily="34" charset="0"/>
                            </a:rPr>
                            <m:t>𝜕</m:t>
                          </m:r>
                          <m:sSubSup>
                            <m:sSubSupPr>
                              <m:ctrlPr>
                                <a:rPr lang="en-US" sz="1600" i="1">
                                  <a:latin typeface="Cambria Math" panose="02040503050406030204" pitchFamily="18" charset="0"/>
                                  <a:ea typeface="Cambria Math" panose="02040503050406030204" pitchFamily="18" charset="0"/>
                                  <a:cs typeface="Calibri" panose="020F0502020204030204" pitchFamily="34" charset="0"/>
                                </a:rPr>
                              </m:ctrlPr>
                            </m:sSubSupPr>
                            <m:e>
                              <m:r>
                                <a:rPr lang="en-US" sz="1600" b="0" i="1">
                                  <a:latin typeface="Cambria Math" panose="02040503050406030204" pitchFamily="18" charset="0"/>
                                  <a:ea typeface="Cambria Math" panose="02040503050406030204" pitchFamily="18" charset="0"/>
                                  <a:cs typeface="Calibri" panose="020F0502020204030204" pitchFamily="34" charset="0"/>
                                </a:rPr>
                                <m:t>𝑥</m:t>
                              </m:r>
                            </m:e>
                            <m:sub>
                              <m:r>
                                <a:rPr lang="en-US" sz="1600" b="0" i="1">
                                  <a:latin typeface="Cambria Math" panose="02040503050406030204" pitchFamily="18" charset="0"/>
                                  <a:ea typeface="Cambria Math" panose="02040503050406030204" pitchFamily="18" charset="0"/>
                                  <a:cs typeface="Calibri" panose="020F0502020204030204" pitchFamily="34" charset="0"/>
                                </a:rPr>
                                <m:t>𝑡</m:t>
                              </m:r>
                            </m:sub>
                            <m:sup>
                              <m:r>
                                <a:rPr lang="en-US" sz="1600" b="0" i="1">
                                  <a:latin typeface="Cambria Math" panose="02040503050406030204" pitchFamily="18" charset="0"/>
                                  <a:ea typeface="Cambria Math" panose="02040503050406030204" pitchFamily="18" charset="0"/>
                                  <a:cs typeface="Calibri" panose="020F0502020204030204" pitchFamily="34" charset="0"/>
                                </a:rPr>
                                <m:t>3</m:t>
                              </m:r>
                            </m:sup>
                          </m:sSubSup>
                        </m:den>
                      </m:f>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&gt;0</m:t>
                      </m:r>
                    </m:oMath>
                  </m:oMathPara>
                </a14:m>
                <a:endParaRPr lang="en-US" sz="1600" dirty="0">
                  <a:solidFill>
                    <a:schemeClr val="tx1"/>
                  </a:solidFill>
                  <a:cs typeface="Calibri" panose="020F0502020204030204" pitchFamily="34" charset="0"/>
                </a:endParaRPr>
              </a:p>
            </p:txBody>
          </p:sp>
        </mc:Choice>
        <mc:Fallback xmlns="">
          <p:sp>
            <p:nvSpPr>
              <p:cNvPr id="8" name="TextBox 26">
                <a:extLst>
                  <a:ext uri="{FF2B5EF4-FFF2-40B4-BE49-F238E27FC236}">
                    <a16:creationId xmlns:a16="http://schemas.microsoft.com/office/drawing/2014/main" id="{4A523BBF-29AF-E368-CF98-0E063F4AEDEF}"/>
                  </a:ext>
                </a:extLst>
              </p:cNvPr>
              <p:cNvSpPr txBox="1">
                <a:spLocks noRot="1" noChangeAspect="1" noMove="1" noResize="1" noEditPoints="1" noAdjustHandles="1" noChangeArrowheads="1" noChangeShapeType="1" noTextEdit="1"/>
              </p:cNvSpPr>
              <p:nvPr/>
            </p:nvSpPr>
            <p:spPr>
              <a:xfrm>
                <a:off x="1547002" y="4018083"/>
                <a:ext cx="2115644" cy="659027"/>
              </a:xfrm>
              <a:prstGeom prst="rect">
                <a:avLst/>
              </a:prstGeom>
              <a:blipFill>
                <a:blip r:embed="rId4"/>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0A73118F-0351-39C8-77A1-5C7643C32368}"/>
              </a:ext>
            </a:extLst>
          </p:cNvPr>
          <p:cNvSpPr txBox="1"/>
          <p:nvPr/>
        </p:nvSpPr>
        <p:spPr>
          <a:xfrm>
            <a:off x="4278071" y="4374469"/>
            <a:ext cx="5598315" cy="307777"/>
          </a:xfrm>
          <a:prstGeom prst="rect">
            <a:avLst/>
          </a:prstGeom>
          <a:noFill/>
        </p:spPr>
        <p:txBody>
          <a:bodyPr wrap="square">
            <a:spAutoFit/>
          </a:bodyPr>
          <a:lstStyle/>
          <a:p>
            <a:pPr algn="just"/>
            <a:r>
              <a:rPr lang="en-US" sz="1400" dirty="0">
                <a:cs typeface="Calibri" panose="020F0502020204030204" pitchFamily="34" charset="0"/>
              </a:rPr>
              <a:t>Outlier: Symmetrical distribution with the expectation of zero;</a:t>
            </a:r>
          </a:p>
        </p:txBody>
      </p:sp>
      <p:sp>
        <p:nvSpPr>
          <p:cNvPr id="3" name="TextBox 53">
            <a:extLst>
              <a:ext uri="{FF2B5EF4-FFF2-40B4-BE49-F238E27FC236}">
                <a16:creationId xmlns:a16="http://schemas.microsoft.com/office/drawing/2014/main" id="{BF6178A0-1825-5360-7BE4-E5CB4FD76867}"/>
              </a:ext>
            </a:extLst>
          </p:cNvPr>
          <p:cNvSpPr txBox="1"/>
          <p:nvPr/>
        </p:nvSpPr>
        <p:spPr>
          <a:xfrm>
            <a:off x="4883164" y="3176725"/>
            <a:ext cx="1406509" cy="276999"/>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Reference level</a:t>
            </a:r>
          </a:p>
        </p:txBody>
      </p:sp>
      <p:sp>
        <p:nvSpPr>
          <p:cNvPr id="16" name="TextBox 15">
            <a:extLst>
              <a:ext uri="{FF2B5EF4-FFF2-40B4-BE49-F238E27FC236}">
                <a16:creationId xmlns:a16="http://schemas.microsoft.com/office/drawing/2014/main" id="{93C35DDA-902C-7AE9-6F4E-0A80253B05BA}"/>
              </a:ext>
            </a:extLst>
          </p:cNvPr>
          <p:cNvSpPr txBox="1"/>
          <p:nvPr/>
        </p:nvSpPr>
        <p:spPr>
          <a:xfrm>
            <a:off x="5022417" y="4129595"/>
            <a:ext cx="1845951" cy="276999"/>
          </a:xfrm>
          <a:prstGeom prst="rect">
            <a:avLst/>
          </a:prstGeom>
          <a:noFill/>
        </p:spPr>
        <p:txBody>
          <a:bodyPr wrap="square">
            <a:spAutoFit/>
          </a:bodyPr>
          <a:lstStyle/>
          <a:p>
            <a:r>
              <a:rPr lang="en-US" sz="1200" b="1" dirty="0">
                <a:solidFill>
                  <a:srgbClr val="C00000"/>
                </a:solidFill>
                <a:cs typeface="Calibri" panose="020F0502020204030204" pitchFamily="34" charset="0"/>
              </a:rPr>
              <a:t>Skewness aversion</a:t>
            </a:r>
          </a:p>
        </p:txBody>
      </p:sp>
      <p:sp>
        <p:nvSpPr>
          <p:cNvPr id="15" name="TextBox 14">
            <a:extLst>
              <a:ext uri="{FF2B5EF4-FFF2-40B4-BE49-F238E27FC236}">
                <a16:creationId xmlns:a16="http://schemas.microsoft.com/office/drawing/2014/main" id="{E2A89B2E-9622-C2E7-AEC1-C32C302F9B9B}"/>
              </a:ext>
            </a:extLst>
          </p:cNvPr>
          <p:cNvSpPr txBox="1"/>
          <p:nvPr/>
        </p:nvSpPr>
        <p:spPr>
          <a:xfrm>
            <a:off x="200190" y="1621935"/>
            <a:ext cx="4077881" cy="1169551"/>
          </a:xfrm>
          <a:prstGeom prst="rect">
            <a:avLst/>
          </a:prstGeom>
          <a:noFill/>
        </p:spPr>
        <p:txBody>
          <a:bodyPr wrap="square">
            <a:spAutoFit/>
          </a:bodyPr>
          <a:lstStyle/>
          <a:p>
            <a:pPr marL="285750" indent="-285750" algn="just">
              <a:buFont typeface="Arial" panose="020B0604020202020204" pitchFamily="34" charset="0"/>
              <a:buChar char="•"/>
            </a:pPr>
            <a:r>
              <a:rPr lang="en-US" sz="1400" dirty="0">
                <a:cs typeface="Calibri" panose="020F0502020204030204" pitchFamily="34" charset="0"/>
              </a:rPr>
              <a:t>This preparatory behavior reflects an inherent risk-averse response in the demand model; we suggest that the commonly used risk-averse formulations are approximations of a more realistic, higher-order structure.</a:t>
            </a:r>
          </a:p>
        </p:txBody>
      </p:sp>
    </p:spTree>
    <p:extLst>
      <p:ext uri="{BB962C8B-B14F-4D97-AF65-F5344CB8AC3E}">
        <p14:creationId xmlns:p14="http://schemas.microsoft.com/office/powerpoint/2010/main" val="742810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par>
                                <p:cTn id="13" presetID="9"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dissolve">
                                      <p:cBhvr>
                                        <p:cTn id="18" dur="500"/>
                                        <p:tgtEl>
                                          <p:spTgt spid="12"/>
                                        </p:tgtEl>
                                      </p:cBhvr>
                                    </p:animEffect>
                                  </p:childTnLst>
                                </p:cTn>
                              </p:par>
                              <p:par>
                                <p:cTn id="19" presetID="9"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par>
                                <p:cTn id="22" presetID="9" presetClass="entr" presetSubtype="0" fill="hold"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dissolve">
                                      <p:cBhvr>
                                        <p:cTn id="24" dur="500"/>
                                        <p:tgtEl>
                                          <p:spTgt spid="23"/>
                                        </p:tgtEl>
                                      </p:cBhvr>
                                    </p:animEffect>
                                  </p:childTnLst>
                                </p:cTn>
                              </p:par>
                              <p:par>
                                <p:cTn id="25" presetID="9"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dissolve">
                                      <p:cBhvr>
                                        <p:cTn id="27" dur="500"/>
                                        <p:tgtEl>
                                          <p:spTgt spid="28"/>
                                        </p:tgtEl>
                                      </p:cBhvr>
                                    </p:animEffect>
                                  </p:childTnLst>
                                </p:cTn>
                              </p:par>
                              <p:par>
                                <p:cTn id="28" presetID="9" presetClass="entr" presetSubtype="0" fill="hold"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dissolve">
                                      <p:cBhvr>
                                        <p:cTn id="30" dur="500"/>
                                        <p:tgtEl>
                                          <p:spTgt spid="34"/>
                                        </p:tgtEl>
                                      </p:cBhvr>
                                    </p:animEffect>
                                  </p:childTnLst>
                                </p:cTn>
                              </p:par>
                              <p:par>
                                <p:cTn id="31" presetID="9" presetClass="entr" presetSubtype="0"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dissolve">
                                      <p:cBhvr>
                                        <p:cTn id="33" dur="500"/>
                                        <p:tgtEl>
                                          <p:spTgt spid="36"/>
                                        </p:tgtEl>
                                      </p:cBhvr>
                                    </p:animEffect>
                                  </p:childTnLst>
                                </p:cTn>
                              </p:par>
                              <p:par>
                                <p:cTn id="34" presetID="9"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dissolve">
                                      <p:cBhvr>
                                        <p:cTn id="36" dur="500"/>
                                        <p:tgtEl>
                                          <p:spTgt spid="40"/>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dissolve">
                                      <p:cBhvr>
                                        <p:cTn id="39" dur="500"/>
                                        <p:tgtEl>
                                          <p:spTgt spid="54"/>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dissolve">
                                      <p:cBhvr>
                                        <p:cTn id="42" dur="500"/>
                                        <p:tgtEl>
                                          <p:spTgt spid="62"/>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dissolve">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dissolve">
                                      <p:cBhvr>
                                        <p:cTn id="52" dur="500"/>
                                        <p:tgtEl>
                                          <p:spTgt spid="44"/>
                                        </p:tgtEl>
                                      </p:cBhvr>
                                    </p:animEffect>
                                  </p:childTnLst>
                                </p:cTn>
                              </p:par>
                              <p:par>
                                <p:cTn id="53" presetID="9" presetClass="entr" presetSubtype="0" fill="hold" nodeType="with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dissolve">
                                      <p:cBhvr>
                                        <p:cTn id="55" dur="500"/>
                                        <p:tgtEl>
                                          <p:spTgt spid="45"/>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dissolve">
                                      <p:cBhvr>
                                        <p:cTn id="58" dur="500"/>
                                        <p:tgtEl>
                                          <p:spTgt spid="46"/>
                                        </p:tgtEl>
                                      </p:cBhvr>
                                    </p:animEffect>
                                  </p:childTnLst>
                                </p:cTn>
                              </p:par>
                              <p:par>
                                <p:cTn id="59" presetID="9" presetClass="entr" presetSubtype="0" fill="hold" nodeType="withEffect">
                                  <p:stCondLst>
                                    <p:cond delay="0"/>
                                  </p:stCondLst>
                                  <p:childTnLst>
                                    <p:set>
                                      <p:cBhvr>
                                        <p:cTn id="60" dur="1" fill="hold">
                                          <p:stCondLst>
                                            <p:cond delay="0"/>
                                          </p:stCondLst>
                                        </p:cTn>
                                        <p:tgtEl>
                                          <p:spTgt spid="48"/>
                                        </p:tgtEl>
                                        <p:attrNameLst>
                                          <p:attrName>style.visibility</p:attrName>
                                        </p:attrNameLst>
                                      </p:cBhvr>
                                      <p:to>
                                        <p:strVal val="visible"/>
                                      </p:to>
                                    </p:set>
                                    <p:animEffect transition="in" filter="dissolve">
                                      <p:cBhvr>
                                        <p:cTn id="61" dur="500"/>
                                        <p:tgtEl>
                                          <p:spTgt spid="48"/>
                                        </p:tgtEl>
                                      </p:cBhvr>
                                    </p:animEffect>
                                  </p:childTnLst>
                                </p:cTn>
                              </p:par>
                              <p:par>
                                <p:cTn id="62" presetID="9" presetClass="entr" presetSubtype="0" fill="hold" nodeType="withEffect">
                                  <p:stCondLst>
                                    <p:cond delay="0"/>
                                  </p:stCondLst>
                                  <p:childTnLst>
                                    <p:set>
                                      <p:cBhvr>
                                        <p:cTn id="63" dur="1" fill="hold">
                                          <p:stCondLst>
                                            <p:cond delay="0"/>
                                          </p:stCondLst>
                                        </p:cTn>
                                        <p:tgtEl>
                                          <p:spTgt spid="49"/>
                                        </p:tgtEl>
                                        <p:attrNameLst>
                                          <p:attrName>style.visibility</p:attrName>
                                        </p:attrNameLst>
                                      </p:cBhvr>
                                      <p:to>
                                        <p:strVal val="visible"/>
                                      </p:to>
                                    </p:set>
                                    <p:animEffect transition="in" filter="dissolve">
                                      <p:cBhvr>
                                        <p:cTn id="64" dur="500"/>
                                        <p:tgtEl>
                                          <p:spTgt spid="49"/>
                                        </p:tgtEl>
                                      </p:cBhvr>
                                    </p:animEffect>
                                  </p:childTnLst>
                                </p:cTn>
                              </p:par>
                              <p:par>
                                <p:cTn id="65" presetID="9" presetClass="entr" presetSubtype="0" fill="hold" nodeType="withEffect">
                                  <p:stCondLst>
                                    <p:cond delay="0"/>
                                  </p:stCondLst>
                                  <p:childTnLst>
                                    <p:set>
                                      <p:cBhvr>
                                        <p:cTn id="66" dur="1" fill="hold">
                                          <p:stCondLst>
                                            <p:cond delay="0"/>
                                          </p:stCondLst>
                                        </p:cTn>
                                        <p:tgtEl>
                                          <p:spTgt spid="50"/>
                                        </p:tgtEl>
                                        <p:attrNameLst>
                                          <p:attrName>style.visibility</p:attrName>
                                        </p:attrNameLst>
                                      </p:cBhvr>
                                      <p:to>
                                        <p:strVal val="visible"/>
                                      </p:to>
                                    </p:set>
                                    <p:animEffect transition="in" filter="dissolve">
                                      <p:cBhvr>
                                        <p:cTn id="67" dur="500"/>
                                        <p:tgtEl>
                                          <p:spTgt spid="50"/>
                                        </p:tgtEl>
                                      </p:cBhvr>
                                    </p:animEffect>
                                  </p:childTnLst>
                                </p:cTn>
                              </p:par>
                              <p:par>
                                <p:cTn id="68" presetID="9" presetClass="entr" presetSubtype="0" fill="hold" nodeType="with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dissolve">
                                      <p:cBhvr>
                                        <p:cTn id="70" dur="500"/>
                                        <p:tgtEl>
                                          <p:spTgt spid="51"/>
                                        </p:tgtEl>
                                      </p:cBhvr>
                                    </p:animEffect>
                                  </p:childTnLst>
                                </p:cTn>
                              </p:par>
                              <p:par>
                                <p:cTn id="71" presetID="9" presetClass="entr" presetSubtype="0" fill="hold" nodeType="withEffect">
                                  <p:stCondLst>
                                    <p:cond delay="0"/>
                                  </p:stCondLst>
                                  <p:childTnLst>
                                    <p:set>
                                      <p:cBhvr>
                                        <p:cTn id="72" dur="1" fill="hold">
                                          <p:stCondLst>
                                            <p:cond delay="0"/>
                                          </p:stCondLst>
                                        </p:cTn>
                                        <p:tgtEl>
                                          <p:spTgt spid="52"/>
                                        </p:tgtEl>
                                        <p:attrNameLst>
                                          <p:attrName>style.visibility</p:attrName>
                                        </p:attrNameLst>
                                      </p:cBhvr>
                                      <p:to>
                                        <p:strVal val="visible"/>
                                      </p:to>
                                    </p:set>
                                    <p:animEffect transition="in" filter="dissolve">
                                      <p:cBhvr>
                                        <p:cTn id="73" dur="500"/>
                                        <p:tgtEl>
                                          <p:spTgt spid="52"/>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53"/>
                                        </p:tgtEl>
                                        <p:attrNameLst>
                                          <p:attrName>style.visibility</p:attrName>
                                        </p:attrNameLst>
                                      </p:cBhvr>
                                      <p:to>
                                        <p:strVal val="visible"/>
                                      </p:to>
                                    </p:set>
                                    <p:animEffect transition="in" filter="dissolve">
                                      <p:cBhvr>
                                        <p:cTn id="76" dur="500"/>
                                        <p:tgtEl>
                                          <p:spTgt spid="53"/>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3"/>
                                        </p:tgtEl>
                                        <p:attrNameLst>
                                          <p:attrName>style.visibility</p:attrName>
                                        </p:attrNameLst>
                                      </p:cBhvr>
                                      <p:to>
                                        <p:strVal val="visible"/>
                                      </p:to>
                                    </p:set>
                                    <p:animEffect transition="in" filter="dissolve">
                                      <p:cBhvr>
                                        <p:cTn id="79" dur="500"/>
                                        <p:tgtEl>
                                          <p:spTgt spid="3"/>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16"/>
                                        </p:tgtEl>
                                        <p:attrNameLst>
                                          <p:attrName>style.visibility</p:attrName>
                                        </p:attrNameLst>
                                      </p:cBhvr>
                                      <p:to>
                                        <p:strVal val="visible"/>
                                      </p:to>
                                    </p:set>
                                    <p:animEffect transition="in" filter="dissolve">
                                      <p:cBhvr>
                                        <p:cTn id="84" dur="500"/>
                                        <p:tgtEl>
                                          <p:spTgt spid="16"/>
                                        </p:tgtEl>
                                      </p:cBhvr>
                                    </p:animEffec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grpId="0" nodeType="click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dissolve">
                                      <p:cBhvr>
                                        <p:cTn id="89" dur="500"/>
                                        <p:tgtEl>
                                          <p:spTgt spid="15"/>
                                        </p:tgtEl>
                                      </p:cBhvr>
                                    </p:animEffec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grpId="0" nodeType="clickEffect">
                                  <p:stCondLst>
                                    <p:cond delay="0"/>
                                  </p:stCondLst>
                                  <p:childTnLst>
                                    <p:set>
                                      <p:cBhvr>
                                        <p:cTn id="93" dur="1" fill="hold">
                                          <p:stCondLst>
                                            <p:cond delay="0"/>
                                          </p:stCondLst>
                                        </p:cTn>
                                        <p:tgtEl>
                                          <p:spTgt spid="56"/>
                                        </p:tgtEl>
                                        <p:attrNameLst>
                                          <p:attrName>style.visibility</p:attrName>
                                        </p:attrNameLst>
                                      </p:cBhvr>
                                      <p:to>
                                        <p:strVal val="visible"/>
                                      </p:to>
                                    </p:set>
                                    <p:animEffect transition="in" filter="dissolve">
                                      <p:cBhvr>
                                        <p:cTn id="94" dur="500"/>
                                        <p:tgtEl>
                                          <p:spTgt spid="56"/>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61"/>
                                        </p:tgtEl>
                                        <p:attrNameLst>
                                          <p:attrName>style.visibility</p:attrName>
                                        </p:attrNameLst>
                                      </p:cBhvr>
                                      <p:to>
                                        <p:strVal val="visible"/>
                                      </p:to>
                                    </p:set>
                                    <p:animEffect transition="in" filter="dissolve">
                                      <p:cBhvr>
                                        <p:cTn id="97" dur="500"/>
                                        <p:tgtEl>
                                          <p:spTgt spid="61"/>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60"/>
                                        </p:tgtEl>
                                        <p:attrNameLst>
                                          <p:attrName>style.visibility</p:attrName>
                                        </p:attrNameLst>
                                      </p:cBhvr>
                                      <p:to>
                                        <p:strVal val="visible"/>
                                      </p:to>
                                    </p:set>
                                    <p:animEffect transition="in" filter="dissolve">
                                      <p:cBhvr>
                                        <p:cTn id="100" dur="500"/>
                                        <p:tgtEl>
                                          <p:spTgt spid="60"/>
                                        </p:tgtEl>
                                      </p:cBhvr>
                                    </p:animEffect>
                                  </p:childTnLst>
                                </p:cTn>
                              </p:par>
                            </p:childTnLst>
                          </p:cTn>
                        </p:par>
                      </p:childTnLst>
                    </p:cTn>
                  </p:par>
                  <p:par>
                    <p:cTn id="101" fill="hold">
                      <p:stCondLst>
                        <p:cond delay="indefinite"/>
                      </p:stCondLst>
                      <p:childTnLst>
                        <p:par>
                          <p:cTn id="102" fill="hold">
                            <p:stCondLst>
                              <p:cond delay="0"/>
                            </p:stCondLst>
                            <p:childTnLst>
                              <p:par>
                                <p:cTn id="103" presetID="9" presetClass="entr" presetSubtype="0" fill="hold" grpId="0" nodeType="clickEffect">
                                  <p:stCondLst>
                                    <p:cond delay="0"/>
                                  </p:stCondLst>
                                  <p:childTnLst>
                                    <p:set>
                                      <p:cBhvr>
                                        <p:cTn id="104" dur="1" fill="hold">
                                          <p:stCondLst>
                                            <p:cond delay="0"/>
                                          </p:stCondLst>
                                        </p:cTn>
                                        <p:tgtEl>
                                          <p:spTgt spid="13"/>
                                        </p:tgtEl>
                                        <p:attrNameLst>
                                          <p:attrName>style.visibility</p:attrName>
                                        </p:attrNameLst>
                                      </p:cBhvr>
                                      <p:to>
                                        <p:strVal val="visible"/>
                                      </p:to>
                                    </p:set>
                                    <p:animEffect transition="in" filter="dissolve">
                                      <p:cBhvr>
                                        <p:cTn id="105" dur="500"/>
                                        <p:tgtEl>
                                          <p:spTgt spid="13"/>
                                        </p:tgtEl>
                                      </p:cBhvr>
                                    </p:animEffect>
                                  </p:childTnLst>
                                </p:cTn>
                              </p:par>
                              <p:par>
                                <p:cTn id="106" presetID="9" presetClass="entr" presetSubtype="0" fill="hold" grpId="0" nodeType="withEffect">
                                  <p:stCondLst>
                                    <p:cond delay="0"/>
                                  </p:stCondLst>
                                  <p:childTnLst>
                                    <p:set>
                                      <p:cBhvr>
                                        <p:cTn id="107" dur="1" fill="hold">
                                          <p:stCondLst>
                                            <p:cond delay="0"/>
                                          </p:stCondLst>
                                        </p:cTn>
                                        <p:tgtEl>
                                          <p:spTgt spid="8"/>
                                        </p:tgtEl>
                                        <p:attrNameLst>
                                          <p:attrName>style.visibility</p:attrName>
                                        </p:attrNameLst>
                                      </p:cBhvr>
                                      <p:to>
                                        <p:strVal val="visible"/>
                                      </p:to>
                                    </p:set>
                                    <p:animEffect transition="in" filter="dissolve">
                                      <p:cBhvr>
                                        <p:cTn id="108" dur="500"/>
                                        <p:tgtEl>
                                          <p:spTgt spid="8"/>
                                        </p:tgtEl>
                                      </p:cBhvr>
                                    </p:animEffect>
                                  </p:childTnLst>
                                </p:cTn>
                              </p:par>
                            </p:childTnLst>
                          </p:cTn>
                        </p:par>
                      </p:childTnLst>
                    </p:cTn>
                  </p:par>
                  <p:par>
                    <p:cTn id="109" fill="hold">
                      <p:stCondLst>
                        <p:cond delay="indefinite"/>
                      </p:stCondLst>
                      <p:childTnLst>
                        <p:par>
                          <p:cTn id="110" fill="hold">
                            <p:stCondLst>
                              <p:cond delay="0"/>
                            </p:stCondLst>
                            <p:childTnLst>
                              <p:par>
                                <p:cTn id="111" presetID="9" presetClass="entr" presetSubtype="0" fill="hold" grpId="0" nodeType="clickEffect">
                                  <p:stCondLst>
                                    <p:cond delay="0"/>
                                  </p:stCondLst>
                                  <p:childTnLst>
                                    <p:set>
                                      <p:cBhvr>
                                        <p:cTn id="112" dur="1" fill="hold">
                                          <p:stCondLst>
                                            <p:cond delay="0"/>
                                          </p:stCondLst>
                                        </p:cTn>
                                        <p:tgtEl>
                                          <p:spTgt spid="9"/>
                                        </p:tgtEl>
                                        <p:attrNameLst>
                                          <p:attrName>style.visibility</p:attrName>
                                        </p:attrNameLst>
                                      </p:cBhvr>
                                      <p:to>
                                        <p:strVal val="visible"/>
                                      </p:to>
                                    </p:set>
                                    <p:animEffect transition="in" filter="dissolve">
                                      <p:cBhvr>
                                        <p:cTn id="1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 grpId="0"/>
      <p:bldP spid="12" grpId="0"/>
      <p:bldP spid="46" grpId="0"/>
      <p:bldP spid="53" grpId="0" animBg="1"/>
      <p:bldP spid="54" grpId="0"/>
      <p:bldP spid="56" grpId="0"/>
      <p:bldP spid="60" grpId="0" animBg="1"/>
      <p:bldP spid="61" grpId="0"/>
      <p:bldP spid="62" grpId="0"/>
      <p:bldP spid="2" grpId="0" animBg="1"/>
      <p:bldP spid="8" grpId="0"/>
      <p:bldP spid="9" grpId="0"/>
      <p:bldP spid="3" grpId="0"/>
      <p:bldP spid="16"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1" descr="16x9_grey.jpg">
            <a:extLst>
              <a:ext uri="{FF2B5EF4-FFF2-40B4-BE49-F238E27FC236}">
                <a16:creationId xmlns:a16="http://schemas.microsoft.com/office/drawing/2014/main" id="{787542DE-E952-CEA4-62FA-C1DBD2B635D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C81AB479-D306-05E9-0BD2-AC56097AB9ED}"/>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eaLnBrk="1" hangingPunct="1">
              <a:defRPr/>
            </a:pPr>
            <a:endParaRPr lang="zh-CN" altLang="zh-CN">
              <a:solidFill>
                <a:srgbClr val="E6B9B8"/>
              </a:solidFill>
            </a:endParaRPr>
          </a:p>
        </p:txBody>
      </p:sp>
      <p:pic>
        <p:nvPicPr>
          <p:cNvPr id="50179" name="Picture 7">
            <a:extLst>
              <a:ext uri="{FF2B5EF4-FFF2-40B4-BE49-F238E27FC236}">
                <a16:creationId xmlns:a16="http://schemas.microsoft.com/office/drawing/2014/main" id="{809258BA-E7E3-6CD4-79BC-2A806202E9A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TextBox 8">
            <a:extLst>
              <a:ext uri="{FF2B5EF4-FFF2-40B4-BE49-F238E27FC236}">
                <a16:creationId xmlns:a16="http://schemas.microsoft.com/office/drawing/2014/main" id="{28E5441C-D06F-7794-94E3-570D9D45D18C}"/>
              </a:ext>
            </a:extLst>
          </p:cNvPr>
          <p:cNvSpPr txBox="1">
            <a:spLocks noChangeArrowheads="1"/>
          </p:cNvSpPr>
          <p:nvPr/>
        </p:nvSpPr>
        <p:spPr bwMode="auto">
          <a:xfrm>
            <a:off x="1219200" y="1037729"/>
            <a:ext cx="7391400" cy="261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marL="457200" indent="-457200" eaLnBrk="1" hangingPunct="1">
              <a:lnSpc>
                <a:spcPct val="150000"/>
              </a:lnSpc>
              <a:spcBef>
                <a:spcPct val="0"/>
              </a:spcBef>
            </a:pPr>
            <a:r>
              <a:rPr lang="en-US" altLang="zh-CN" sz="2800" i="1" dirty="0">
                <a:solidFill>
                  <a:schemeClr val="bg1"/>
                </a:solidFill>
              </a:rPr>
              <a:t>Background</a:t>
            </a:r>
          </a:p>
          <a:p>
            <a:pPr marL="457200" indent="-457200" eaLnBrk="1" hangingPunct="1">
              <a:lnSpc>
                <a:spcPct val="150000"/>
              </a:lnSpc>
              <a:spcBef>
                <a:spcPct val="0"/>
              </a:spcBef>
            </a:pPr>
            <a:r>
              <a:rPr lang="en-US" altLang="zh-CN" sz="2800" i="1" dirty="0">
                <a:solidFill>
                  <a:schemeClr val="bg1"/>
                </a:solidFill>
              </a:rPr>
              <a:t>Problem formulation</a:t>
            </a:r>
          </a:p>
          <a:p>
            <a:pPr marL="457200" indent="-457200" eaLnBrk="1" hangingPunct="1">
              <a:lnSpc>
                <a:spcPct val="150000"/>
              </a:lnSpc>
              <a:spcBef>
                <a:spcPct val="0"/>
              </a:spcBef>
            </a:pPr>
            <a:r>
              <a:rPr lang="en-US" altLang="en-US" sz="2800" i="1" dirty="0">
                <a:solidFill>
                  <a:schemeClr val="bg1"/>
                </a:solidFill>
              </a:rPr>
              <a:t>Main Results</a:t>
            </a:r>
          </a:p>
          <a:p>
            <a:pPr marL="457200" indent="-457200" eaLnBrk="1" hangingPunct="1">
              <a:lnSpc>
                <a:spcPct val="150000"/>
              </a:lnSpc>
              <a:spcBef>
                <a:spcPct val="0"/>
              </a:spcBef>
            </a:pPr>
            <a:r>
              <a:rPr lang="en-US" altLang="en-US" sz="2800" i="1" dirty="0">
                <a:solidFill>
                  <a:schemeClr val="accent6">
                    <a:lumMod val="75000"/>
                  </a:schemeClr>
                </a:solidFill>
              </a:rPr>
              <a:t>Case Study and Conclusion</a:t>
            </a:r>
          </a:p>
        </p:txBody>
      </p:sp>
      <p:sp>
        <p:nvSpPr>
          <p:cNvPr id="2" name="TextBox 11">
            <a:extLst>
              <a:ext uri="{FF2B5EF4-FFF2-40B4-BE49-F238E27FC236}">
                <a16:creationId xmlns:a16="http://schemas.microsoft.com/office/drawing/2014/main" id="{B080159E-71FF-1DA0-43A2-5276E22B4B9C}"/>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22</a:t>
            </a:r>
            <a:r>
              <a:rPr lang="en-US" altLang="en-US" sz="1200" dirty="0">
                <a:solidFill>
                  <a:schemeClr val="bg1"/>
                </a:solidFill>
              </a:rPr>
              <a:t>|</a:t>
            </a:r>
            <a:endParaRPr lang="en-US" altLang="en-US" sz="900" dirty="0">
              <a:solidFill>
                <a:schemeClr val="bg1"/>
              </a:solidFill>
            </a:endParaRPr>
          </a:p>
        </p:txBody>
      </p:sp>
    </p:spTree>
    <p:extLst>
      <p:ext uri="{BB962C8B-B14F-4D97-AF65-F5344CB8AC3E}">
        <p14:creationId xmlns:p14="http://schemas.microsoft.com/office/powerpoint/2010/main" val="2888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Case Study</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23</a:t>
            </a:r>
            <a:r>
              <a:rPr lang="en-US" altLang="en-US" sz="1200" dirty="0">
                <a:solidFill>
                  <a:schemeClr val="bg1"/>
                </a:solidFill>
              </a:rPr>
              <a:t>| </a:t>
            </a:r>
            <a:r>
              <a:rPr lang="en-US" altLang="en-US" sz="1050" dirty="0">
                <a:solidFill>
                  <a:schemeClr val="bg1"/>
                </a:solidFill>
              </a:rPr>
              <a:t>Case Study</a:t>
            </a:r>
            <a:endParaRPr lang="en-US" altLang="en-US" sz="900" dirty="0">
              <a:solidFill>
                <a:schemeClr val="bg1"/>
              </a:solidFill>
            </a:endParaRPr>
          </a:p>
        </p:txBody>
      </p:sp>
      <p:sp>
        <p:nvSpPr>
          <p:cNvPr id="24" name="TextBox 23">
            <a:extLst>
              <a:ext uri="{FF2B5EF4-FFF2-40B4-BE49-F238E27FC236}">
                <a16:creationId xmlns:a16="http://schemas.microsoft.com/office/drawing/2014/main" id="{04913758-377E-4D5F-B3CA-C9B15B0CBD5E}"/>
              </a:ext>
            </a:extLst>
          </p:cNvPr>
          <p:cNvSpPr txBox="1"/>
          <p:nvPr/>
        </p:nvSpPr>
        <p:spPr>
          <a:xfrm>
            <a:off x="228600" y="3300216"/>
            <a:ext cx="4755673" cy="338554"/>
          </a:xfrm>
          <a:prstGeom prst="rect">
            <a:avLst/>
          </a:prstGeom>
          <a:noFill/>
        </p:spPr>
        <p:txBody>
          <a:bodyPr wrap="square">
            <a:spAutoFit/>
          </a:bodyPr>
          <a:lstStyle/>
          <a:p>
            <a:r>
              <a:rPr lang="en-US" sz="1600" b="1" dirty="0">
                <a:solidFill>
                  <a:srgbClr val="C00000"/>
                </a:solidFill>
                <a:latin typeface="+mn-lt"/>
                <a:ea typeface="+mn-ea"/>
              </a:rPr>
              <a:t>An illustration example</a:t>
            </a:r>
          </a:p>
        </p:txBody>
      </p:sp>
      <p:sp>
        <p:nvSpPr>
          <p:cNvPr id="4" name="TextBox 3">
            <a:extLst>
              <a:ext uri="{FF2B5EF4-FFF2-40B4-BE49-F238E27FC236}">
                <a16:creationId xmlns:a16="http://schemas.microsoft.com/office/drawing/2014/main" id="{FB54137A-096F-E45E-3B8C-AAFA34C6AB4C}"/>
              </a:ext>
            </a:extLst>
          </p:cNvPr>
          <p:cNvSpPr txBox="1"/>
          <p:nvPr/>
        </p:nvSpPr>
        <p:spPr>
          <a:xfrm>
            <a:off x="255588" y="889177"/>
            <a:ext cx="4115850" cy="307777"/>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Quadratic action cost function:</a:t>
            </a:r>
          </a:p>
        </p:txBody>
      </p:sp>
      <p:pic>
        <p:nvPicPr>
          <p:cNvPr id="3" name="Picture 2">
            <a:extLst>
              <a:ext uri="{FF2B5EF4-FFF2-40B4-BE49-F238E27FC236}">
                <a16:creationId xmlns:a16="http://schemas.microsoft.com/office/drawing/2014/main" id="{B349E221-6C00-A6EB-5C92-014147C138BC}"/>
              </a:ext>
            </a:extLst>
          </p:cNvPr>
          <p:cNvPicPr>
            <a:picLocks noChangeAspect="1"/>
          </p:cNvPicPr>
          <p:nvPr/>
        </p:nvPicPr>
        <p:blipFill rotWithShape="1">
          <a:blip r:embed="rId4"/>
          <a:srcRect r="39334"/>
          <a:stretch/>
        </p:blipFill>
        <p:spPr>
          <a:xfrm>
            <a:off x="2950894" y="784140"/>
            <a:ext cx="1240106" cy="531302"/>
          </a:xfrm>
          <a:prstGeom prst="rect">
            <a:avLst/>
          </a:prstGeom>
        </p:spPr>
      </p:pic>
      <p:sp>
        <p:nvSpPr>
          <p:cNvPr id="5" name="TextBox 4">
            <a:extLst>
              <a:ext uri="{FF2B5EF4-FFF2-40B4-BE49-F238E27FC236}">
                <a16:creationId xmlns:a16="http://schemas.microsoft.com/office/drawing/2014/main" id="{19428641-6DBF-00D3-3B4F-73A191C208FF}"/>
              </a:ext>
            </a:extLst>
          </p:cNvPr>
          <p:cNvSpPr txBox="1"/>
          <p:nvPr/>
        </p:nvSpPr>
        <p:spPr>
          <a:xfrm>
            <a:off x="152399" y="568963"/>
            <a:ext cx="2044163" cy="338554"/>
          </a:xfrm>
          <a:prstGeom prst="rect">
            <a:avLst/>
          </a:prstGeom>
          <a:noFill/>
        </p:spPr>
        <p:txBody>
          <a:bodyPr wrap="square">
            <a:spAutoFit/>
          </a:bodyPr>
          <a:lstStyle/>
          <a:p>
            <a:r>
              <a:rPr lang="en-US" sz="1600" b="1" dirty="0">
                <a:solidFill>
                  <a:srgbClr val="C00000"/>
                </a:solidFill>
                <a:latin typeface="+mn-lt"/>
                <a:ea typeface="+mn-ea"/>
              </a:rPr>
              <a:t>Basic setting</a:t>
            </a:r>
          </a:p>
        </p:txBody>
      </p:sp>
      <p:sp>
        <p:nvSpPr>
          <p:cNvPr id="6" name="TextBox 5">
            <a:extLst>
              <a:ext uri="{FF2B5EF4-FFF2-40B4-BE49-F238E27FC236}">
                <a16:creationId xmlns:a16="http://schemas.microsoft.com/office/drawing/2014/main" id="{2429ED27-389A-EE6E-5AD3-CCD9AF5D445C}"/>
              </a:ext>
            </a:extLst>
          </p:cNvPr>
          <p:cNvSpPr txBox="1"/>
          <p:nvPr/>
        </p:nvSpPr>
        <p:spPr>
          <a:xfrm>
            <a:off x="255588" y="1280282"/>
            <a:ext cx="4115850" cy="307777"/>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Log barrier state cost function:</a:t>
            </a:r>
          </a:p>
        </p:txBody>
      </p:sp>
      <p:grpSp>
        <p:nvGrpSpPr>
          <p:cNvPr id="9" name="Group 8">
            <a:extLst>
              <a:ext uri="{FF2B5EF4-FFF2-40B4-BE49-F238E27FC236}">
                <a16:creationId xmlns:a16="http://schemas.microsoft.com/office/drawing/2014/main" id="{A6B6C5EB-7B5C-4499-C0DA-2D70D5B8EA80}"/>
              </a:ext>
            </a:extLst>
          </p:cNvPr>
          <p:cNvGrpSpPr/>
          <p:nvPr/>
        </p:nvGrpSpPr>
        <p:grpSpPr>
          <a:xfrm>
            <a:off x="381000" y="1624466"/>
            <a:ext cx="3810000" cy="795110"/>
            <a:chOff x="381000" y="1624466"/>
            <a:chExt cx="3810000" cy="795110"/>
          </a:xfrm>
        </p:grpSpPr>
        <p:pic>
          <p:nvPicPr>
            <p:cNvPr id="2" name="Picture 1">
              <a:extLst>
                <a:ext uri="{FF2B5EF4-FFF2-40B4-BE49-F238E27FC236}">
                  <a16:creationId xmlns:a16="http://schemas.microsoft.com/office/drawing/2014/main" id="{54D23A4D-4DE8-5CCA-6A8B-37CB7571547A}"/>
                </a:ext>
              </a:extLst>
            </p:cNvPr>
            <p:cNvPicPr>
              <a:picLocks noChangeAspect="1"/>
            </p:cNvPicPr>
            <p:nvPr/>
          </p:nvPicPr>
          <p:blipFill rotWithShape="1">
            <a:blip r:embed="rId5"/>
            <a:srcRect t="872"/>
            <a:stretch/>
          </p:blipFill>
          <p:spPr>
            <a:xfrm>
              <a:off x="381000" y="1624466"/>
              <a:ext cx="3810000" cy="795110"/>
            </a:xfrm>
            <a:prstGeom prst="rect">
              <a:avLst/>
            </a:prstGeom>
          </p:spPr>
        </p:pic>
        <p:sp>
          <p:nvSpPr>
            <p:cNvPr id="8" name="Rectangle 7">
              <a:extLst>
                <a:ext uri="{FF2B5EF4-FFF2-40B4-BE49-F238E27FC236}">
                  <a16:creationId xmlns:a16="http://schemas.microsoft.com/office/drawing/2014/main" id="{09127E33-1AAA-7960-B36E-151829659C25}"/>
                </a:ext>
              </a:extLst>
            </p:cNvPr>
            <p:cNvSpPr/>
            <p:nvPr/>
          </p:nvSpPr>
          <p:spPr>
            <a:xfrm>
              <a:off x="3048001" y="1911525"/>
              <a:ext cx="1066800" cy="39061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C2FD424-49F2-461A-B5AE-623880DD0F5B}"/>
                  </a:ext>
                </a:extLst>
              </p:cNvPr>
              <p:cNvSpPr txBox="1"/>
              <p:nvPr/>
            </p:nvSpPr>
            <p:spPr>
              <a:xfrm>
                <a:off x="448080" y="2893015"/>
                <a:ext cx="3251018" cy="2346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𝛼</m:t>
                          </m:r>
                        </m:e>
                        <m:sub>
                          <m:r>
                            <m:rPr>
                              <m:sty m:val="p"/>
                            </m:rPr>
                            <a:rPr lang="en-US" sz="1400" b="0" i="0" smtClean="0">
                              <a:latin typeface="Cambria Math" panose="02040503050406030204" pitchFamily="18" charset="0"/>
                            </a:rPr>
                            <m:t>c</m:t>
                          </m:r>
                        </m:sub>
                      </m:sSub>
                      <m:r>
                        <a:rPr lang="en-US" sz="1400" b="0" i="1" smtClean="0">
                          <a:latin typeface="Cambria Math" panose="02040503050406030204" pitchFamily="18" charset="0"/>
                        </a:rPr>
                        <m:t>=0.5, </m:t>
                      </m:r>
                      <m:r>
                        <a:rPr lang="en-US" sz="1400" b="0" i="1" smtClean="0">
                          <a:latin typeface="Cambria Math" panose="02040503050406030204" pitchFamily="18" charset="0"/>
                        </a:rPr>
                        <m:t>𝐴</m:t>
                      </m:r>
                      <m:r>
                        <a:rPr lang="en-US" sz="1400" b="0" i="1" smtClean="0">
                          <a:latin typeface="Cambria Math" panose="02040503050406030204" pitchFamily="18" charset="0"/>
                        </a:rPr>
                        <m:t>=1,</m:t>
                      </m:r>
                      <m:sSub>
                        <m:sSubPr>
                          <m:ctrlPr>
                            <a:rPr lang="en-US" sz="1400" i="1">
                              <a:latin typeface="Cambria Math" panose="02040503050406030204" pitchFamily="18" charset="0"/>
                            </a:rPr>
                          </m:ctrlPr>
                        </m:sSubPr>
                        <m:e>
                          <m:r>
                            <a:rPr lang="en-US" sz="1400" b="0" i="1" smtClean="0">
                              <a:latin typeface="Cambria Math" panose="02040503050406030204" pitchFamily="18" charset="0"/>
                            </a:rPr>
                            <m:t>𝑉</m:t>
                          </m:r>
                        </m:e>
                        <m:sub>
                          <m:r>
                            <a:rPr lang="en-US" sz="1400" b="0" i="1" smtClean="0">
                              <a:latin typeface="Cambria Math" panose="02040503050406030204" pitchFamily="18" charset="0"/>
                            </a:rPr>
                            <m:t>𝑇</m:t>
                          </m:r>
                        </m:sub>
                      </m:sSub>
                      <m:r>
                        <a:rPr lang="en-US" sz="1400" i="1">
                          <a:latin typeface="Cambria Math" panose="02040503050406030204" pitchFamily="18" charset="0"/>
                        </a:rPr>
                        <m:t>=</m:t>
                      </m:r>
                      <m:r>
                        <a:rPr lang="en-US" sz="1400" b="0" i="1" smtClean="0">
                          <a:latin typeface="Cambria Math" panose="02040503050406030204" pitchFamily="18" charset="0"/>
                        </a:rPr>
                        <m:t>0,</m:t>
                      </m:r>
                      <m:sSub>
                        <m:sSubPr>
                          <m:ctrlPr>
                            <a:rPr lang="en-US" sz="1400" i="1">
                              <a:latin typeface="Cambria Math" panose="02040503050406030204" pitchFamily="18" charset="0"/>
                            </a:rPr>
                          </m:ctrlPr>
                        </m:sSubPr>
                        <m:e>
                          <m:r>
                            <a:rPr lang="en-US" sz="1400" b="0" i="1" smtClean="0">
                              <a:latin typeface="Cambria Math" panose="02040503050406030204" pitchFamily="18" charset="0"/>
                            </a:rPr>
                            <m:t>𝑎</m:t>
                          </m:r>
                        </m:e>
                        <m:sub>
                          <m:r>
                            <m:rPr>
                              <m:sty m:val="p"/>
                            </m:rPr>
                            <a:rPr lang="en-US" sz="1400" b="0" i="0" smtClean="0">
                              <a:latin typeface="Cambria Math" panose="02040503050406030204" pitchFamily="18" charset="0"/>
                              <a:ea typeface="Cambria Math" panose="02040503050406030204" pitchFamily="18" charset="0"/>
                            </a:rPr>
                            <m:t>p</m:t>
                          </m:r>
                        </m:sub>
                      </m:sSub>
                      <m:r>
                        <a:rPr lang="en-US" sz="1400" i="1">
                          <a:latin typeface="Cambria Math" panose="02040503050406030204" pitchFamily="18" charset="0"/>
                        </a:rPr>
                        <m:t>=</m:t>
                      </m:r>
                      <m:r>
                        <a:rPr lang="en-US" sz="1400" b="0" i="1" smtClean="0">
                          <a:latin typeface="Cambria Math" panose="02040503050406030204" pitchFamily="18" charset="0"/>
                        </a:rPr>
                        <m:t>1,</m:t>
                      </m:r>
                      <m:sSub>
                        <m:sSubPr>
                          <m:ctrlPr>
                            <a:rPr lang="en-US" sz="1400" i="1">
                              <a:latin typeface="Cambria Math" panose="02040503050406030204" pitchFamily="18" charset="0"/>
                            </a:rPr>
                          </m:ctrlPr>
                        </m:sSubPr>
                        <m:e>
                          <m:r>
                            <a:rPr lang="en-US" sz="1400" b="0" i="1" smtClean="0">
                              <a:latin typeface="Cambria Math" panose="02040503050406030204" pitchFamily="18" charset="0"/>
                            </a:rPr>
                            <m:t>𝑥</m:t>
                          </m:r>
                        </m:e>
                        <m:sub>
                          <m:r>
                            <m:rPr>
                              <m:sty m:val="p"/>
                            </m:rPr>
                            <a:rPr lang="en-US" sz="1400" b="0" i="0" smtClean="0">
                              <a:latin typeface="Cambria Math" panose="02040503050406030204" pitchFamily="18" charset="0"/>
                              <a:ea typeface="Cambria Math" panose="02040503050406030204" pitchFamily="18" charset="0"/>
                            </a:rPr>
                            <m:t>max</m:t>
                          </m:r>
                        </m:sub>
                      </m:sSub>
                      <m:r>
                        <a:rPr lang="en-US" sz="1400" i="1">
                          <a:latin typeface="Cambria Math" panose="02040503050406030204" pitchFamily="18" charset="0"/>
                        </a:rPr>
                        <m:t>=</m:t>
                      </m:r>
                      <m:r>
                        <a:rPr lang="en-US" sz="1400" b="0" i="1" smtClean="0">
                          <a:latin typeface="Cambria Math" panose="02040503050406030204" pitchFamily="18" charset="0"/>
                        </a:rPr>
                        <m:t>20</m:t>
                      </m:r>
                    </m:oMath>
                  </m:oMathPara>
                </a14:m>
                <a:endParaRPr lang="en-US" sz="1400" dirty="0"/>
              </a:p>
            </p:txBody>
          </p:sp>
        </mc:Choice>
        <mc:Fallback xmlns="">
          <p:sp>
            <p:nvSpPr>
              <p:cNvPr id="13" name="TextBox 12">
                <a:extLst>
                  <a:ext uri="{FF2B5EF4-FFF2-40B4-BE49-F238E27FC236}">
                    <a16:creationId xmlns:a16="http://schemas.microsoft.com/office/drawing/2014/main" id="{0C2FD424-49F2-461A-B5AE-623880DD0F5B}"/>
                  </a:ext>
                </a:extLst>
              </p:cNvPr>
              <p:cNvSpPr txBox="1">
                <a:spLocks noRot="1" noChangeAspect="1" noMove="1" noResize="1" noEditPoints="1" noAdjustHandles="1" noChangeArrowheads="1" noChangeShapeType="1" noTextEdit="1"/>
              </p:cNvSpPr>
              <p:nvPr/>
            </p:nvSpPr>
            <p:spPr>
              <a:xfrm>
                <a:off x="448080" y="2893015"/>
                <a:ext cx="3251018" cy="234616"/>
              </a:xfrm>
              <a:prstGeom prst="rect">
                <a:avLst/>
              </a:prstGeom>
              <a:blipFill>
                <a:blip r:embed="rId6"/>
                <a:stretch>
                  <a:fillRect l="-389" r="-778" b="-15789"/>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72264AFB-095D-F3B9-EB28-083F61E598A1}"/>
              </a:ext>
            </a:extLst>
          </p:cNvPr>
          <p:cNvSpPr txBox="1"/>
          <p:nvPr/>
        </p:nvSpPr>
        <p:spPr>
          <a:xfrm>
            <a:off x="256592" y="2533587"/>
            <a:ext cx="4115850" cy="307777"/>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Parameter:</a:t>
            </a:r>
          </a:p>
        </p:txBody>
      </p:sp>
      <p:sp>
        <p:nvSpPr>
          <p:cNvPr id="21" name="TextBox 20">
            <a:extLst>
              <a:ext uri="{FF2B5EF4-FFF2-40B4-BE49-F238E27FC236}">
                <a16:creationId xmlns:a16="http://schemas.microsoft.com/office/drawing/2014/main" id="{9C0B1904-AB7C-03B7-B8C7-67BDBF5A26B6}"/>
              </a:ext>
            </a:extLst>
          </p:cNvPr>
          <p:cNvSpPr txBox="1"/>
          <p:nvPr/>
        </p:nvSpPr>
        <p:spPr>
          <a:xfrm>
            <a:off x="255588" y="3663439"/>
            <a:ext cx="4316412" cy="307777"/>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2-stage, 2-point price distribution with 0 expectation</a:t>
            </a:r>
          </a:p>
        </p:txBody>
      </p:sp>
      <p:pic>
        <p:nvPicPr>
          <p:cNvPr id="49" name="Picture 48">
            <a:extLst>
              <a:ext uri="{FF2B5EF4-FFF2-40B4-BE49-F238E27FC236}">
                <a16:creationId xmlns:a16="http://schemas.microsoft.com/office/drawing/2014/main" id="{54776651-98D1-DE5A-1BA3-5CD59E2F3421}"/>
              </a:ext>
            </a:extLst>
          </p:cNvPr>
          <p:cNvPicPr>
            <a:picLocks noChangeAspect="1"/>
          </p:cNvPicPr>
          <p:nvPr/>
        </p:nvPicPr>
        <p:blipFill>
          <a:blip r:embed="rId7"/>
          <a:stretch>
            <a:fillRect/>
          </a:stretch>
        </p:blipFill>
        <p:spPr>
          <a:xfrm>
            <a:off x="5313098" y="2059743"/>
            <a:ext cx="3459890" cy="2589264"/>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DB06FD0-204B-0E02-050E-8D2B68E8E5EB}"/>
                  </a:ext>
                </a:extLst>
              </p:cNvPr>
              <p:cNvSpPr txBox="1"/>
              <p:nvPr/>
            </p:nvSpPr>
            <p:spPr>
              <a:xfrm>
                <a:off x="1147987" y="4067439"/>
                <a:ext cx="186294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l-GR" sz="140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𝑥</m:t>
                          </m:r>
                        </m:e>
                        <m:sub>
                          <m:r>
                            <a:rPr lang="en-US" sz="1400" b="0" i="1" smtClean="0">
                              <a:latin typeface="Cambria Math" panose="02040503050406030204" pitchFamily="18" charset="0"/>
                              <a:ea typeface="Cambria Math" panose="02040503050406030204" pitchFamily="18" charset="0"/>
                            </a:rPr>
                            <m:t>0</m:t>
                          </m:r>
                        </m:sub>
                      </m:sSub>
                      <m:r>
                        <a:rPr lang="en-US" sz="1400" b="0" i="1" smtClean="0">
                          <a:latin typeface="Cambria Math" panose="02040503050406030204" pitchFamily="18" charset="0"/>
                          <a:ea typeface="Cambria Math" panose="02040503050406030204" pitchFamily="18" charset="0"/>
                        </a:rPr>
                        <m:t>=0,</m:t>
                      </m:r>
                      <m:r>
                        <a:rPr lang="el-GR" sz="1400" i="1" smtClean="0">
                          <a:latin typeface="Cambria Math" panose="02040503050406030204" pitchFamily="18" charset="0"/>
                          <a:ea typeface="Cambria Math" panose="02040503050406030204" pitchFamily="18" charset="0"/>
                        </a:rPr>
                        <m:t>𝛾</m:t>
                      </m:r>
                      <m:r>
                        <a:rPr lang="en-US" sz="1400" b="0" i="1" smtClean="0">
                          <a:latin typeface="Cambria Math" panose="02040503050406030204" pitchFamily="18" charset="0"/>
                          <a:ea typeface="Cambria Math" panose="02040503050406030204" pitchFamily="18" charset="0"/>
                        </a:rPr>
                        <m:t>=−1, </m:t>
                      </m:r>
                      <m:r>
                        <a:rPr lang="en-US" sz="1400" b="0" i="1" smtClean="0">
                          <a:latin typeface="Cambria Math" panose="02040503050406030204" pitchFamily="18" charset="0"/>
                          <a:ea typeface="Cambria Math" panose="02040503050406030204" pitchFamily="18" charset="0"/>
                        </a:rPr>
                        <m:t>𝜋</m:t>
                      </m:r>
                      <m:r>
                        <a:rPr lang="en-US" sz="1400" b="0" i="1" smtClean="0">
                          <a:latin typeface="Cambria Math" panose="02040503050406030204" pitchFamily="18" charset="0"/>
                          <a:ea typeface="Cambria Math" panose="02040503050406030204" pitchFamily="18" charset="0"/>
                        </a:rPr>
                        <m:t>=1↗</m:t>
                      </m:r>
                    </m:oMath>
                  </m:oMathPara>
                </a14:m>
                <a:endParaRPr lang="en-US" sz="1400" dirty="0"/>
              </a:p>
            </p:txBody>
          </p:sp>
        </mc:Choice>
        <mc:Fallback xmlns="">
          <p:sp>
            <p:nvSpPr>
              <p:cNvPr id="14" name="TextBox 13">
                <a:extLst>
                  <a:ext uri="{FF2B5EF4-FFF2-40B4-BE49-F238E27FC236}">
                    <a16:creationId xmlns:a16="http://schemas.microsoft.com/office/drawing/2014/main" id="{3DB06FD0-204B-0E02-050E-8D2B68E8E5EB}"/>
                  </a:ext>
                </a:extLst>
              </p:cNvPr>
              <p:cNvSpPr txBox="1">
                <a:spLocks noRot="1" noChangeAspect="1" noMove="1" noResize="1" noEditPoints="1" noAdjustHandles="1" noChangeArrowheads="1" noChangeShapeType="1" noTextEdit="1"/>
              </p:cNvSpPr>
              <p:nvPr/>
            </p:nvSpPr>
            <p:spPr>
              <a:xfrm>
                <a:off x="1147987" y="4067439"/>
                <a:ext cx="1862946" cy="215444"/>
              </a:xfrm>
              <a:prstGeom prst="rect">
                <a:avLst/>
              </a:prstGeom>
              <a:blipFill>
                <a:blip r:embed="rId8"/>
                <a:stretch>
                  <a:fillRect l="-1351" r="-1351" b="-22222"/>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A8185517-AB1D-7C80-601E-14B63D4E41D0}"/>
              </a:ext>
            </a:extLst>
          </p:cNvPr>
          <p:cNvSpPr txBox="1"/>
          <p:nvPr/>
        </p:nvSpPr>
        <p:spPr>
          <a:xfrm>
            <a:off x="3781217" y="3995885"/>
            <a:ext cx="1749881" cy="646331"/>
          </a:xfrm>
          <a:prstGeom prst="rect">
            <a:avLst/>
          </a:prstGeom>
          <a:noFill/>
        </p:spPr>
        <p:txBody>
          <a:bodyPr wrap="square">
            <a:spAutoFit/>
          </a:bodyPr>
          <a:lstStyle/>
          <a:p>
            <a:r>
              <a:rPr lang="en-US" sz="1200" dirty="0">
                <a:solidFill>
                  <a:srgbClr val="C00000"/>
                </a:solidFill>
                <a:cs typeface="Calibri" panose="020F0502020204030204" pitchFamily="34" charset="0"/>
              </a:rPr>
              <a:t>Symmetrical uncertainty with 0 expectation and 0 initial state</a:t>
            </a:r>
          </a:p>
        </p:txBody>
      </p:sp>
      <p:sp>
        <p:nvSpPr>
          <p:cNvPr id="16" name="Oval 15">
            <a:extLst>
              <a:ext uri="{FF2B5EF4-FFF2-40B4-BE49-F238E27FC236}">
                <a16:creationId xmlns:a16="http://schemas.microsoft.com/office/drawing/2014/main" id="{1A2B374C-3C00-95C4-A736-1FBB7A28F2E5}"/>
              </a:ext>
            </a:extLst>
          </p:cNvPr>
          <p:cNvSpPr/>
          <p:nvPr/>
        </p:nvSpPr>
        <p:spPr>
          <a:xfrm>
            <a:off x="5482384" y="3866997"/>
            <a:ext cx="419878" cy="416222"/>
          </a:xfrm>
          <a:prstGeom prst="ellipse">
            <a:avLst/>
          </a:prstGeom>
          <a:noFill/>
          <a:ln w="127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nvGrpSpPr>
          <p:cNvPr id="39" name="Group 38">
            <a:extLst>
              <a:ext uri="{FF2B5EF4-FFF2-40B4-BE49-F238E27FC236}">
                <a16:creationId xmlns:a16="http://schemas.microsoft.com/office/drawing/2014/main" id="{9ABA8570-5336-CFBC-B0A0-6E1F83345F90}"/>
              </a:ext>
            </a:extLst>
          </p:cNvPr>
          <p:cNvGrpSpPr/>
          <p:nvPr/>
        </p:nvGrpSpPr>
        <p:grpSpPr>
          <a:xfrm>
            <a:off x="5258636" y="586088"/>
            <a:ext cx="3315735" cy="1554492"/>
            <a:chOff x="5258636" y="586088"/>
            <a:chExt cx="3315735" cy="1554492"/>
          </a:xfrm>
        </p:grpSpPr>
        <p:grpSp>
          <p:nvGrpSpPr>
            <p:cNvPr id="17" name="Group 16">
              <a:extLst>
                <a:ext uri="{FF2B5EF4-FFF2-40B4-BE49-F238E27FC236}">
                  <a16:creationId xmlns:a16="http://schemas.microsoft.com/office/drawing/2014/main" id="{47631BD6-CE54-416E-2CD1-43BF53D4A23F}"/>
                </a:ext>
              </a:extLst>
            </p:cNvPr>
            <p:cNvGrpSpPr/>
            <p:nvPr/>
          </p:nvGrpSpPr>
          <p:grpSpPr>
            <a:xfrm>
              <a:off x="5258636" y="586088"/>
              <a:ext cx="3315735" cy="1554492"/>
              <a:chOff x="9029344" y="848472"/>
              <a:chExt cx="4017130" cy="2560218"/>
            </a:xfrm>
          </p:grpSpPr>
          <p:cxnSp>
            <p:nvCxnSpPr>
              <p:cNvPr id="18" name="Straight Arrow Connector 17">
                <a:extLst>
                  <a:ext uri="{FF2B5EF4-FFF2-40B4-BE49-F238E27FC236}">
                    <a16:creationId xmlns:a16="http://schemas.microsoft.com/office/drawing/2014/main" id="{CC3CFFF2-3B89-60B5-1AEF-DDA3C9F5D4A5}"/>
                  </a:ext>
                </a:extLst>
              </p:cNvPr>
              <p:cNvCxnSpPr>
                <a:cxnSpLocks/>
              </p:cNvCxnSpPr>
              <p:nvPr/>
            </p:nvCxnSpPr>
            <p:spPr>
              <a:xfrm>
                <a:off x="9338641" y="2857044"/>
                <a:ext cx="34211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570FB17D-3317-5D7A-9D37-18BD82573C4B}"/>
                  </a:ext>
                </a:extLst>
              </p:cNvPr>
              <p:cNvCxnSpPr>
                <a:cxnSpLocks/>
              </p:cNvCxnSpPr>
              <p:nvPr/>
            </p:nvCxnSpPr>
            <p:spPr>
              <a:xfrm flipV="1">
                <a:off x="10401688" y="1082628"/>
                <a:ext cx="0" cy="1934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4">
                <a:extLst>
                  <a:ext uri="{FF2B5EF4-FFF2-40B4-BE49-F238E27FC236}">
                    <a16:creationId xmlns:a16="http://schemas.microsoft.com/office/drawing/2014/main" id="{405DBE2F-46EE-708F-66E1-73152126FCF4}"/>
                  </a:ext>
                </a:extLst>
              </p:cNvPr>
              <p:cNvSpPr txBox="1"/>
              <p:nvPr/>
            </p:nvSpPr>
            <p:spPr>
              <a:xfrm>
                <a:off x="12212194" y="2880039"/>
                <a:ext cx="834280" cy="33559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r>
                  <a:rPr lang="en-US" sz="1200" dirty="0">
                    <a:cs typeface="Calibri" panose="020F0502020204030204" pitchFamily="34" charset="0"/>
                  </a:rPr>
                  <a:t>Price</a:t>
                </a:r>
              </a:p>
            </p:txBody>
          </p:sp>
          <p:sp>
            <p:nvSpPr>
              <p:cNvPr id="23" name="TextBox 22">
                <a:extLst>
                  <a:ext uri="{FF2B5EF4-FFF2-40B4-BE49-F238E27FC236}">
                    <a16:creationId xmlns:a16="http://schemas.microsoft.com/office/drawing/2014/main" id="{BEBEDF62-E4A2-8118-BBF1-586FD5D73244}"/>
                  </a:ext>
                </a:extLst>
              </p:cNvPr>
              <p:cNvSpPr txBox="1"/>
              <p:nvPr/>
            </p:nvSpPr>
            <p:spPr>
              <a:xfrm>
                <a:off x="9287233" y="848472"/>
                <a:ext cx="1317228" cy="335594"/>
              </a:xfrm>
              <a:prstGeom prst="rect">
                <a:avLst/>
              </a:prstGeom>
              <a:noFill/>
            </p:spPr>
            <p:txBody>
              <a:bodyPr wrap="square">
                <a:spAutoFit/>
              </a:bodyPr>
              <a:lstStyle/>
              <a:p>
                <a:r>
                  <a:rPr lang="en-US" sz="1200" dirty="0">
                    <a:cs typeface="Calibri" panose="020F0502020204030204" pitchFamily="34" charset="0"/>
                  </a:rPr>
                  <a:t>Probability</a:t>
                </a:r>
                <a:endParaRPr lang="en-US" sz="1200" i="1" dirty="0">
                  <a:cs typeface="Calibri" panose="020F0502020204030204" pitchFamily="34" charset="0"/>
                </a:endParaRPr>
              </a:p>
            </p:txBody>
          </p:sp>
          <p:cxnSp>
            <p:nvCxnSpPr>
              <p:cNvPr id="25" name="Straight Arrow Connector 24">
                <a:extLst>
                  <a:ext uri="{FF2B5EF4-FFF2-40B4-BE49-F238E27FC236}">
                    <a16:creationId xmlns:a16="http://schemas.microsoft.com/office/drawing/2014/main" id="{BA8AF4BB-481D-58FE-8D91-67BF2000AF08}"/>
                  </a:ext>
                </a:extLst>
              </p:cNvPr>
              <p:cNvCxnSpPr>
                <a:cxnSpLocks/>
              </p:cNvCxnSpPr>
              <p:nvPr/>
            </p:nvCxnSpPr>
            <p:spPr>
              <a:xfrm flipV="1">
                <a:off x="9537093" y="2092545"/>
                <a:ext cx="0" cy="758553"/>
              </a:xfrm>
              <a:prstGeom prst="straightConnector1">
                <a:avLst/>
              </a:prstGeom>
              <a:ln>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cxnSp>
            <p:nvCxnSpPr>
              <p:cNvPr id="26" name="Straight Arrow Connector 25">
                <a:extLst>
                  <a:ext uri="{FF2B5EF4-FFF2-40B4-BE49-F238E27FC236}">
                    <a16:creationId xmlns:a16="http://schemas.microsoft.com/office/drawing/2014/main" id="{F54870B2-7C82-4296-593D-FDEC155B5717}"/>
                  </a:ext>
                </a:extLst>
              </p:cNvPr>
              <p:cNvCxnSpPr>
                <a:cxnSpLocks/>
              </p:cNvCxnSpPr>
              <p:nvPr/>
            </p:nvCxnSpPr>
            <p:spPr>
              <a:xfrm flipV="1">
                <a:off x="11209511" y="2049704"/>
                <a:ext cx="0" cy="830335"/>
              </a:xfrm>
              <a:prstGeom prst="straightConnector1">
                <a:avLst/>
              </a:prstGeom>
              <a:ln>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cxnSp>
            <p:nvCxnSpPr>
              <p:cNvPr id="27" name="Straight Arrow Connector 26">
                <a:extLst>
                  <a:ext uri="{FF2B5EF4-FFF2-40B4-BE49-F238E27FC236}">
                    <a16:creationId xmlns:a16="http://schemas.microsoft.com/office/drawing/2014/main" id="{9D4F0482-6638-1FAB-5621-D5911D81A8C4}"/>
                  </a:ext>
                </a:extLst>
              </p:cNvPr>
              <p:cNvCxnSpPr>
                <a:cxnSpLocks/>
              </p:cNvCxnSpPr>
              <p:nvPr/>
            </p:nvCxnSpPr>
            <p:spPr>
              <a:xfrm flipV="1">
                <a:off x="12039600" y="2464871"/>
                <a:ext cx="0" cy="386228"/>
              </a:xfrm>
              <a:prstGeom prst="straightConnector1">
                <a:avLst/>
              </a:prstGeom>
              <a:ln>
                <a:solidFill>
                  <a:srgbClr val="C00000"/>
                </a:solidFill>
                <a:prstDash val="sysDot"/>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28" name="TextBox 26">
                    <a:extLst>
                      <a:ext uri="{FF2B5EF4-FFF2-40B4-BE49-F238E27FC236}">
                        <a16:creationId xmlns:a16="http://schemas.microsoft.com/office/drawing/2014/main" id="{90859D7F-8737-6257-35D7-CD6AE382606C}"/>
                      </a:ext>
                    </a:extLst>
                  </p:cNvPr>
                  <p:cNvSpPr txBox="1"/>
                  <p:nvPr/>
                </p:nvSpPr>
                <p:spPr>
                  <a:xfrm>
                    <a:off x="9029344" y="2831076"/>
                    <a:ext cx="1040323" cy="557592"/>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𝛾</m:t>
                          </m:r>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=1</m:t>
                          </m:r>
                        </m:oMath>
                      </m:oMathPara>
                    </a14:m>
                    <a:endParaRPr lang="en-US" sz="1600" dirty="0">
                      <a:solidFill>
                        <a:schemeClr val="tx1"/>
                      </a:solidFill>
                      <a:cs typeface="Calibri" panose="020F0502020204030204" pitchFamily="34" charset="0"/>
                    </a:endParaRPr>
                  </a:p>
                </p:txBody>
              </p:sp>
            </mc:Choice>
            <mc:Fallback xmlns="">
              <p:sp>
                <p:nvSpPr>
                  <p:cNvPr id="28" name="TextBox 26">
                    <a:extLst>
                      <a:ext uri="{FF2B5EF4-FFF2-40B4-BE49-F238E27FC236}">
                        <a16:creationId xmlns:a16="http://schemas.microsoft.com/office/drawing/2014/main" id="{90859D7F-8737-6257-35D7-CD6AE382606C}"/>
                      </a:ext>
                    </a:extLst>
                  </p:cNvPr>
                  <p:cNvSpPr txBox="1">
                    <a:spLocks noRot="1" noChangeAspect="1" noMove="1" noResize="1" noEditPoints="1" noAdjustHandles="1" noChangeArrowheads="1" noChangeShapeType="1" noTextEdit="1"/>
                  </p:cNvSpPr>
                  <p:nvPr/>
                </p:nvSpPr>
                <p:spPr>
                  <a:xfrm>
                    <a:off x="9029344" y="2831076"/>
                    <a:ext cx="1040323" cy="557592"/>
                  </a:xfrm>
                  <a:prstGeom prst="rect">
                    <a:avLst/>
                  </a:prstGeom>
                  <a:blipFill>
                    <a:blip r:embed="rId9"/>
                    <a:stretch>
                      <a:fillRect b="-3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6">
                    <a:extLst>
                      <a:ext uri="{FF2B5EF4-FFF2-40B4-BE49-F238E27FC236}">
                        <a16:creationId xmlns:a16="http://schemas.microsoft.com/office/drawing/2014/main" id="{AA9B9BA6-4171-028A-E478-321B189EADBB}"/>
                      </a:ext>
                    </a:extLst>
                  </p:cNvPr>
                  <p:cNvSpPr txBox="1"/>
                  <p:nvPr/>
                </p:nvSpPr>
                <p:spPr>
                  <a:xfrm>
                    <a:off x="10744505" y="2851098"/>
                    <a:ext cx="961077" cy="557592"/>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𝜋</m:t>
                          </m:r>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=1</m:t>
                          </m:r>
                        </m:oMath>
                      </m:oMathPara>
                    </a14:m>
                    <a:endParaRPr lang="en-US" sz="1600" dirty="0">
                      <a:solidFill>
                        <a:schemeClr val="tx1"/>
                      </a:solidFill>
                      <a:cs typeface="Calibri" panose="020F0502020204030204" pitchFamily="34" charset="0"/>
                    </a:endParaRPr>
                  </a:p>
                </p:txBody>
              </p:sp>
            </mc:Choice>
            <mc:Fallback xmlns="">
              <p:sp>
                <p:nvSpPr>
                  <p:cNvPr id="29" name="TextBox 26">
                    <a:extLst>
                      <a:ext uri="{FF2B5EF4-FFF2-40B4-BE49-F238E27FC236}">
                        <a16:creationId xmlns:a16="http://schemas.microsoft.com/office/drawing/2014/main" id="{AA9B9BA6-4171-028A-E478-321B189EADBB}"/>
                      </a:ext>
                    </a:extLst>
                  </p:cNvPr>
                  <p:cNvSpPr txBox="1">
                    <a:spLocks noRot="1" noChangeAspect="1" noMove="1" noResize="1" noEditPoints="1" noAdjustHandles="1" noChangeArrowheads="1" noChangeShapeType="1" noTextEdit="1"/>
                  </p:cNvSpPr>
                  <p:nvPr/>
                </p:nvSpPr>
                <p:spPr>
                  <a:xfrm>
                    <a:off x="10744505" y="2851098"/>
                    <a:ext cx="961077" cy="55759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B1F73B6-F929-BED4-E023-DAF3CAD508BC}"/>
                      </a:ext>
                    </a:extLst>
                  </p:cNvPr>
                  <p:cNvSpPr txBox="1"/>
                  <p:nvPr/>
                </p:nvSpPr>
                <p:spPr>
                  <a:xfrm>
                    <a:off x="11867273" y="2815659"/>
                    <a:ext cx="343001" cy="338554"/>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a:lstStyle>
                  <a:p>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𝜋</m:t>
                          </m:r>
                          <m:r>
                            <a:rPr lang="en-US" sz="16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sz="1600" dirty="0">
                      <a:solidFill>
                        <a:schemeClr val="tx1"/>
                      </a:solidFill>
                      <a:cs typeface="Calibri" panose="020F0502020204030204" pitchFamily="34" charset="0"/>
                    </a:endParaRPr>
                  </a:p>
                </p:txBody>
              </p:sp>
            </mc:Choice>
            <mc:Fallback xmlns="">
              <p:sp>
                <p:nvSpPr>
                  <p:cNvPr id="30" name="TextBox 29">
                    <a:extLst>
                      <a:ext uri="{FF2B5EF4-FFF2-40B4-BE49-F238E27FC236}">
                        <a16:creationId xmlns:a16="http://schemas.microsoft.com/office/drawing/2014/main" id="{AB1F73B6-F929-BED4-E023-DAF3CAD508BC}"/>
                      </a:ext>
                    </a:extLst>
                  </p:cNvPr>
                  <p:cNvSpPr txBox="1">
                    <a:spLocks noRot="1" noChangeAspect="1" noMove="1" noResize="1" noEditPoints="1" noAdjustHandles="1" noChangeArrowheads="1" noChangeShapeType="1" noTextEdit="1"/>
                  </p:cNvSpPr>
                  <p:nvPr/>
                </p:nvSpPr>
                <p:spPr>
                  <a:xfrm>
                    <a:off x="11867273" y="2815659"/>
                    <a:ext cx="343001" cy="338554"/>
                  </a:xfrm>
                  <a:prstGeom prst="rect">
                    <a:avLst/>
                  </a:prstGeom>
                  <a:blipFill>
                    <a:blip r:embed="rId11"/>
                    <a:stretch>
                      <a:fillRect r="-21739" b="-52941"/>
                    </a:stretch>
                  </a:blipFill>
                </p:spPr>
                <p:txBody>
                  <a:bodyPr/>
                  <a:lstStyle/>
                  <a:p>
                    <a:r>
                      <a:rPr lang="en-US">
                        <a:noFill/>
                      </a:rPr>
                      <a:t> </a:t>
                    </a:r>
                  </a:p>
                </p:txBody>
              </p:sp>
            </mc:Fallback>
          </mc:AlternateContent>
        </p:grpSp>
        <p:cxnSp>
          <p:nvCxnSpPr>
            <p:cNvPr id="32" name="Straight Connector 31">
              <a:extLst>
                <a:ext uri="{FF2B5EF4-FFF2-40B4-BE49-F238E27FC236}">
                  <a16:creationId xmlns:a16="http://schemas.microsoft.com/office/drawing/2014/main" id="{F06B1345-CB31-22B7-DF33-11CA853A6C9B}"/>
                </a:ext>
              </a:extLst>
            </p:cNvPr>
            <p:cNvCxnSpPr>
              <a:cxnSpLocks/>
            </p:cNvCxnSpPr>
            <p:nvPr/>
          </p:nvCxnSpPr>
          <p:spPr>
            <a:xfrm>
              <a:off x="6400800" y="1047750"/>
              <a:ext cx="0" cy="752427"/>
            </a:xfrm>
            <a:prstGeom prst="line">
              <a:avLst/>
            </a:prstGeom>
          </p:spPr>
          <p:style>
            <a:lnRef idx="2">
              <a:schemeClr val="dk1"/>
            </a:lnRef>
            <a:fillRef idx="0">
              <a:schemeClr val="dk1"/>
            </a:fillRef>
            <a:effectRef idx="1">
              <a:schemeClr val="dk1"/>
            </a:effectRef>
            <a:fontRef idx="minor">
              <a:schemeClr val="tx1"/>
            </a:fontRef>
          </p:style>
        </p:cxnSp>
        <p:sp>
          <p:nvSpPr>
            <p:cNvPr id="33" name="TextBox 32">
              <a:extLst>
                <a:ext uri="{FF2B5EF4-FFF2-40B4-BE49-F238E27FC236}">
                  <a16:creationId xmlns:a16="http://schemas.microsoft.com/office/drawing/2014/main" id="{D9E07034-F4AA-E195-3A37-589231EAED2A}"/>
                </a:ext>
              </a:extLst>
            </p:cNvPr>
            <p:cNvSpPr txBox="1"/>
            <p:nvPr/>
          </p:nvSpPr>
          <p:spPr>
            <a:xfrm>
              <a:off x="6369596" y="819401"/>
              <a:ext cx="1453696" cy="276999"/>
            </a:xfrm>
            <a:prstGeom prst="rect">
              <a:avLst/>
            </a:prstGeom>
            <a:noFill/>
          </p:spPr>
          <p:txBody>
            <a:bodyPr wrap="square">
              <a:spAutoFit/>
            </a:bodyPr>
            <a:lstStyle/>
            <a:p>
              <a:r>
                <a:rPr lang="en-US" sz="1200" dirty="0">
                  <a:cs typeface="Calibri" panose="020F0502020204030204" pitchFamily="34" charset="0"/>
                </a:rPr>
                <a:t>0 expectation</a:t>
              </a:r>
            </a:p>
          </p:txBody>
        </p:sp>
      </p:grpSp>
    </p:spTree>
    <p:extLst>
      <p:ext uri="{BB962C8B-B14F-4D97-AF65-F5344CB8AC3E}">
        <p14:creationId xmlns:p14="http://schemas.microsoft.com/office/powerpoint/2010/main" val="11835404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dissolve">
                                      <p:cBhvr>
                                        <p:cTn id="10" dur="500"/>
                                        <p:tgtEl>
                                          <p:spTgt spid="1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dissolve">
                                      <p:cBhvr>
                                        <p:cTn id="13" dur="500"/>
                                        <p:tgtEl>
                                          <p:spTgt spid="24"/>
                                        </p:tgtEl>
                                      </p:cBhvr>
                                    </p:animEffect>
                                  </p:childTnLst>
                                </p:cTn>
                              </p:par>
                              <p:par>
                                <p:cTn id="14" presetID="9" presetClass="entr" presetSubtype="0" fill="hold" nodeType="with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dissolve">
                                      <p:cBhvr>
                                        <p:cTn id="16" dur="500"/>
                                        <p:tgtEl>
                                          <p:spTgt spid="4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dissolve">
                                      <p:cBhvr>
                                        <p:cTn id="21" dur="500"/>
                                        <p:tgtEl>
                                          <p:spTgt spid="3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dissolve">
                                      <p:cBhvr>
                                        <p:cTn id="26" dur="500"/>
                                        <p:tgtEl>
                                          <p:spTgt spid="15"/>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dissolve">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1" grpId="0"/>
      <p:bldP spid="14" grpId="0"/>
      <p:bldP spid="15" grpId="0"/>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Case Study</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24</a:t>
            </a:r>
            <a:r>
              <a:rPr lang="en-US" altLang="en-US" sz="1200" dirty="0">
                <a:solidFill>
                  <a:schemeClr val="bg1"/>
                </a:solidFill>
              </a:rPr>
              <a:t>|</a:t>
            </a:r>
            <a:r>
              <a:rPr lang="en-US" altLang="en-US" sz="900" dirty="0">
                <a:solidFill>
                  <a:schemeClr val="bg1"/>
                </a:solidFill>
              </a:rPr>
              <a:t> Case Study</a:t>
            </a:r>
          </a:p>
        </p:txBody>
      </p:sp>
      <p:sp>
        <p:nvSpPr>
          <p:cNvPr id="4" name="TextBox 3">
            <a:extLst>
              <a:ext uri="{FF2B5EF4-FFF2-40B4-BE49-F238E27FC236}">
                <a16:creationId xmlns:a16="http://schemas.microsoft.com/office/drawing/2014/main" id="{FB54137A-096F-E45E-3B8C-AAFA34C6AB4C}"/>
              </a:ext>
            </a:extLst>
          </p:cNvPr>
          <p:cNvSpPr txBox="1"/>
          <p:nvPr/>
        </p:nvSpPr>
        <p:spPr>
          <a:xfrm>
            <a:off x="255588" y="889177"/>
            <a:ext cx="4115850" cy="954107"/>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24 stages</a:t>
            </a:r>
          </a:p>
          <a:p>
            <a:pPr marL="285750" indent="-285750">
              <a:buFont typeface="Arial" panose="020B0604020202020204" pitchFamily="34" charset="0"/>
              <a:buChar char="•"/>
            </a:pPr>
            <a:r>
              <a:rPr lang="en-US" sz="1400" dirty="0">
                <a:cs typeface="Calibri" panose="020F0502020204030204" pitchFamily="34" charset="0"/>
              </a:rPr>
              <a:t>The event happens at the 10</a:t>
            </a:r>
            <a:r>
              <a:rPr lang="en-US" sz="1400" baseline="30000" dirty="0">
                <a:cs typeface="Calibri" panose="020F0502020204030204" pitchFamily="34" charset="0"/>
              </a:rPr>
              <a:t>th</a:t>
            </a:r>
            <a:r>
              <a:rPr lang="en-US" sz="1400" dirty="0">
                <a:cs typeface="Calibri" panose="020F0502020204030204" pitchFamily="34" charset="0"/>
              </a:rPr>
              <a:t> stage</a:t>
            </a:r>
          </a:p>
          <a:p>
            <a:pPr marL="285750" indent="-285750">
              <a:buFont typeface="Arial" panose="020B0604020202020204" pitchFamily="34" charset="0"/>
              <a:buChar char="•"/>
            </a:pPr>
            <a:r>
              <a:rPr lang="en-US" sz="1400" dirty="0">
                <a:cs typeface="Calibri" panose="020F0502020204030204" pitchFamily="34" charset="0"/>
              </a:rPr>
              <a:t>6 skewed price distributions with the same expectation and different variance (skewness) </a:t>
            </a:r>
          </a:p>
        </p:txBody>
      </p:sp>
      <p:sp>
        <p:nvSpPr>
          <p:cNvPr id="5" name="TextBox 4">
            <a:extLst>
              <a:ext uri="{FF2B5EF4-FFF2-40B4-BE49-F238E27FC236}">
                <a16:creationId xmlns:a16="http://schemas.microsoft.com/office/drawing/2014/main" id="{19428641-6DBF-00D3-3B4F-73A191C208FF}"/>
              </a:ext>
            </a:extLst>
          </p:cNvPr>
          <p:cNvSpPr txBox="1"/>
          <p:nvPr/>
        </p:nvSpPr>
        <p:spPr>
          <a:xfrm>
            <a:off x="152399" y="568963"/>
            <a:ext cx="2971801" cy="338554"/>
          </a:xfrm>
          <a:prstGeom prst="rect">
            <a:avLst/>
          </a:prstGeom>
          <a:noFill/>
        </p:spPr>
        <p:txBody>
          <a:bodyPr wrap="square">
            <a:spAutoFit/>
          </a:bodyPr>
          <a:lstStyle/>
          <a:p>
            <a:r>
              <a:rPr lang="en-US" sz="1600" b="1" dirty="0">
                <a:solidFill>
                  <a:srgbClr val="C00000"/>
                </a:solidFill>
                <a:latin typeface="+mn-lt"/>
                <a:ea typeface="+mn-ea"/>
              </a:rPr>
              <a:t>Continuous prudent demand</a:t>
            </a:r>
          </a:p>
        </p:txBody>
      </p:sp>
      <p:pic>
        <p:nvPicPr>
          <p:cNvPr id="25" name="Picture 24">
            <a:extLst>
              <a:ext uri="{FF2B5EF4-FFF2-40B4-BE49-F238E27FC236}">
                <a16:creationId xmlns:a16="http://schemas.microsoft.com/office/drawing/2014/main" id="{1AB9EEEA-2C50-E7F5-7060-E21AED704E2D}"/>
              </a:ext>
            </a:extLst>
          </p:cNvPr>
          <p:cNvPicPr>
            <a:picLocks noChangeAspect="1"/>
          </p:cNvPicPr>
          <p:nvPr/>
        </p:nvPicPr>
        <p:blipFill>
          <a:blip r:embed="rId4"/>
          <a:stretch>
            <a:fillRect/>
          </a:stretch>
        </p:blipFill>
        <p:spPr>
          <a:xfrm>
            <a:off x="5334000" y="466725"/>
            <a:ext cx="2446146" cy="1834609"/>
          </a:xfrm>
          <a:prstGeom prst="rect">
            <a:avLst/>
          </a:prstGeom>
        </p:spPr>
      </p:pic>
      <p:pic>
        <p:nvPicPr>
          <p:cNvPr id="28" name="Picture 27">
            <a:extLst>
              <a:ext uri="{FF2B5EF4-FFF2-40B4-BE49-F238E27FC236}">
                <a16:creationId xmlns:a16="http://schemas.microsoft.com/office/drawing/2014/main" id="{2FD1B419-3B74-108D-89A5-033EB230DEAA}"/>
              </a:ext>
            </a:extLst>
          </p:cNvPr>
          <p:cNvPicPr>
            <a:picLocks noChangeAspect="1"/>
          </p:cNvPicPr>
          <p:nvPr/>
        </p:nvPicPr>
        <p:blipFill>
          <a:blip r:embed="rId5"/>
          <a:stretch>
            <a:fillRect/>
          </a:stretch>
        </p:blipFill>
        <p:spPr>
          <a:xfrm>
            <a:off x="3207338" y="2702701"/>
            <a:ext cx="2606206" cy="1954654"/>
          </a:xfrm>
          <a:prstGeom prst="rect">
            <a:avLst/>
          </a:prstGeom>
        </p:spPr>
      </p:pic>
      <p:pic>
        <p:nvPicPr>
          <p:cNvPr id="31" name="Picture 30">
            <a:extLst>
              <a:ext uri="{FF2B5EF4-FFF2-40B4-BE49-F238E27FC236}">
                <a16:creationId xmlns:a16="http://schemas.microsoft.com/office/drawing/2014/main" id="{D17B25C0-9FF0-5A03-D8DE-0E3D3F47E53D}"/>
              </a:ext>
            </a:extLst>
          </p:cNvPr>
          <p:cNvPicPr>
            <a:picLocks noChangeAspect="1"/>
          </p:cNvPicPr>
          <p:nvPr/>
        </p:nvPicPr>
        <p:blipFill>
          <a:blip r:embed="rId6"/>
          <a:stretch>
            <a:fillRect/>
          </a:stretch>
        </p:blipFill>
        <p:spPr>
          <a:xfrm>
            <a:off x="102519" y="2702701"/>
            <a:ext cx="2606205" cy="1954654"/>
          </a:xfrm>
          <a:prstGeom prst="rect">
            <a:avLst/>
          </a:prstGeom>
        </p:spPr>
      </p:pic>
      <p:pic>
        <p:nvPicPr>
          <p:cNvPr id="33" name="Picture 32">
            <a:extLst>
              <a:ext uri="{FF2B5EF4-FFF2-40B4-BE49-F238E27FC236}">
                <a16:creationId xmlns:a16="http://schemas.microsoft.com/office/drawing/2014/main" id="{E075FCFB-BD41-51B5-540C-5230DC02034E}"/>
              </a:ext>
            </a:extLst>
          </p:cNvPr>
          <p:cNvPicPr>
            <a:picLocks noChangeAspect="1"/>
          </p:cNvPicPr>
          <p:nvPr/>
        </p:nvPicPr>
        <p:blipFill>
          <a:blip r:embed="rId7"/>
          <a:stretch>
            <a:fillRect/>
          </a:stretch>
        </p:blipFill>
        <p:spPr>
          <a:xfrm>
            <a:off x="6312158" y="2702701"/>
            <a:ext cx="2606205" cy="1954654"/>
          </a:xfrm>
          <a:prstGeom prst="rect">
            <a:avLst/>
          </a:prstGeom>
        </p:spPr>
      </p:pic>
      <p:sp>
        <p:nvSpPr>
          <p:cNvPr id="12" name="TextBox 11">
            <a:extLst>
              <a:ext uri="{FF2B5EF4-FFF2-40B4-BE49-F238E27FC236}">
                <a16:creationId xmlns:a16="http://schemas.microsoft.com/office/drawing/2014/main" id="{BF1CE45E-E8F4-918E-C47A-0437C4F63051}"/>
              </a:ext>
            </a:extLst>
          </p:cNvPr>
          <p:cNvSpPr txBox="1"/>
          <p:nvPr/>
        </p:nvSpPr>
        <p:spPr>
          <a:xfrm>
            <a:off x="102519" y="2295233"/>
            <a:ext cx="3326481" cy="461665"/>
          </a:xfrm>
          <a:prstGeom prst="rect">
            <a:avLst/>
          </a:prstGeom>
          <a:noFill/>
        </p:spPr>
        <p:txBody>
          <a:bodyPr wrap="square">
            <a:spAutoFit/>
          </a:bodyPr>
          <a:lstStyle/>
          <a:p>
            <a:r>
              <a:rPr lang="en-US" sz="1200" dirty="0">
                <a:solidFill>
                  <a:srgbClr val="C00000"/>
                </a:solidFill>
                <a:cs typeface="Calibri" panose="020F0502020204030204" pitchFamily="34" charset="0"/>
              </a:rPr>
              <a:t>State under 1</a:t>
            </a:r>
            <a:r>
              <a:rPr lang="en-US" sz="1200" baseline="30000" dirty="0">
                <a:solidFill>
                  <a:srgbClr val="C00000"/>
                </a:solidFill>
                <a:cs typeface="Calibri" panose="020F0502020204030204" pitchFamily="34" charset="0"/>
              </a:rPr>
              <a:t>st</a:t>
            </a:r>
            <a:r>
              <a:rPr lang="en-US" sz="1200" dirty="0">
                <a:solidFill>
                  <a:srgbClr val="C00000"/>
                </a:solidFill>
                <a:cs typeface="Calibri" panose="020F0502020204030204" pitchFamily="34" charset="0"/>
              </a:rPr>
              <a:t> price distribution: </a:t>
            </a:r>
          </a:p>
          <a:p>
            <a:r>
              <a:rPr lang="en-US" sz="1200" dirty="0">
                <a:solidFill>
                  <a:srgbClr val="C00000"/>
                </a:solidFill>
                <a:cs typeface="Calibri" panose="020F0502020204030204" pitchFamily="34" charset="0"/>
              </a:rPr>
              <a:t>Prudent demand increases before event happen</a:t>
            </a:r>
          </a:p>
        </p:txBody>
      </p:sp>
      <p:sp>
        <p:nvSpPr>
          <p:cNvPr id="14" name="TextBox 13">
            <a:extLst>
              <a:ext uri="{FF2B5EF4-FFF2-40B4-BE49-F238E27FC236}">
                <a16:creationId xmlns:a16="http://schemas.microsoft.com/office/drawing/2014/main" id="{7897580B-1BE0-2C55-16BC-58C142B57C4D}"/>
              </a:ext>
            </a:extLst>
          </p:cNvPr>
          <p:cNvSpPr txBox="1"/>
          <p:nvPr/>
        </p:nvSpPr>
        <p:spPr>
          <a:xfrm>
            <a:off x="3290094" y="2291618"/>
            <a:ext cx="3326481" cy="461665"/>
          </a:xfrm>
          <a:prstGeom prst="rect">
            <a:avLst/>
          </a:prstGeom>
          <a:noFill/>
        </p:spPr>
        <p:txBody>
          <a:bodyPr wrap="square">
            <a:spAutoFit/>
          </a:bodyPr>
          <a:lstStyle/>
          <a:p>
            <a:r>
              <a:rPr lang="en-US" sz="1200" dirty="0">
                <a:solidFill>
                  <a:srgbClr val="C00000"/>
                </a:solidFill>
                <a:cs typeface="Calibri" panose="020F0502020204030204" pitchFamily="34" charset="0"/>
              </a:rPr>
              <a:t>Convergence under 1</a:t>
            </a:r>
            <a:r>
              <a:rPr lang="en-US" sz="1200" baseline="30000" dirty="0">
                <a:solidFill>
                  <a:srgbClr val="C00000"/>
                </a:solidFill>
                <a:cs typeface="Calibri" panose="020F0502020204030204" pitchFamily="34" charset="0"/>
              </a:rPr>
              <a:t>st</a:t>
            </a:r>
            <a:r>
              <a:rPr lang="en-US" sz="1200" dirty="0">
                <a:solidFill>
                  <a:srgbClr val="C00000"/>
                </a:solidFill>
                <a:cs typeface="Calibri" panose="020F0502020204030204" pitchFamily="34" charset="0"/>
              </a:rPr>
              <a:t> price distribution: </a:t>
            </a:r>
          </a:p>
          <a:p>
            <a:r>
              <a:rPr lang="en-US" sz="1200" dirty="0">
                <a:solidFill>
                  <a:srgbClr val="C00000"/>
                </a:solidFill>
                <a:cs typeface="Calibri" panose="020F0502020204030204" pitchFamily="34" charset="0"/>
              </a:rPr>
              <a:t>Calculation time: 2s. </a:t>
            </a:r>
          </a:p>
        </p:txBody>
      </p:sp>
      <p:sp>
        <p:nvSpPr>
          <p:cNvPr id="15" name="TextBox 14">
            <a:extLst>
              <a:ext uri="{FF2B5EF4-FFF2-40B4-BE49-F238E27FC236}">
                <a16:creationId xmlns:a16="http://schemas.microsoft.com/office/drawing/2014/main" id="{711E95A6-42B3-3218-C971-39C740911ABB}"/>
              </a:ext>
            </a:extLst>
          </p:cNvPr>
          <p:cNvSpPr txBox="1"/>
          <p:nvPr/>
        </p:nvSpPr>
        <p:spPr>
          <a:xfrm>
            <a:off x="6312158" y="2306081"/>
            <a:ext cx="2729323" cy="461665"/>
          </a:xfrm>
          <a:prstGeom prst="rect">
            <a:avLst/>
          </a:prstGeom>
          <a:noFill/>
        </p:spPr>
        <p:txBody>
          <a:bodyPr wrap="square">
            <a:spAutoFit/>
          </a:bodyPr>
          <a:lstStyle/>
          <a:p>
            <a:r>
              <a:rPr lang="en-US" sz="1200" dirty="0">
                <a:solidFill>
                  <a:srgbClr val="C00000"/>
                </a:solidFill>
                <a:cs typeface="Calibri" panose="020F0502020204030204" pitchFamily="34" charset="0"/>
              </a:rPr>
              <a:t>State before 10</a:t>
            </a:r>
            <a:r>
              <a:rPr lang="en-US" sz="1200" baseline="30000" dirty="0">
                <a:solidFill>
                  <a:srgbClr val="C00000"/>
                </a:solidFill>
                <a:cs typeface="Calibri" panose="020F0502020204030204" pitchFamily="34" charset="0"/>
              </a:rPr>
              <a:t>th</a:t>
            </a:r>
            <a:r>
              <a:rPr lang="en-US" sz="1200" dirty="0">
                <a:solidFill>
                  <a:srgbClr val="C00000"/>
                </a:solidFill>
                <a:cs typeface="Calibri" panose="020F0502020204030204" pitchFamily="34" charset="0"/>
              </a:rPr>
              <a:t> with all distributions: </a:t>
            </a:r>
          </a:p>
          <a:p>
            <a:r>
              <a:rPr lang="en-US" sz="1200" dirty="0">
                <a:solidFill>
                  <a:srgbClr val="C00000"/>
                </a:solidFill>
                <a:cs typeface="Calibri" panose="020F0502020204030204" pitchFamily="34" charset="0"/>
              </a:rPr>
              <a:t>skewness aversion</a:t>
            </a:r>
          </a:p>
        </p:txBody>
      </p:sp>
      <p:sp>
        <p:nvSpPr>
          <p:cNvPr id="16" name="Oval 15">
            <a:extLst>
              <a:ext uri="{FF2B5EF4-FFF2-40B4-BE49-F238E27FC236}">
                <a16:creationId xmlns:a16="http://schemas.microsoft.com/office/drawing/2014/main" id="{50D39D6A-74BF-96C7-783D-90F9394A2C7E}"/>
              </a:ext>
            </a:extLst>
          </p:cNvPr>
          <p:cNvSpPr/>
          <p:nvPr/>
        </p:nvSpPr>
        <p:spPr>
          <a:xfrm>
            <a:off x="984188" y="3231000"/>
            <a:ext cx="419878" cy="416222"/>
          </a:xfrm>
          <a:prstGeom prst="ellipse">
            <a:avLst/>
          </a:prstGeom>
          <a:noFill/>
          <a:ln w="127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7" name="Oval 16">
            <a:extLst>
              <a:ext uri="{FF2B5EF4-FFF2-40B4-BE49-F238E27FC236}">
                <a16:creationId xmlns:a16="http://schemas.microsoft.com/office/drawing/2014/main" id="{47491C21-02E5-B2DD-1E73-EB2FAABE1A86}"/>
              </a:ext>
            </a:extLst>
          </p:cNvPr>
          <p:cNvSpPr/>
          <p:nvPr/>
        </p:nvSpPr>
        <p:spPr>
          <a:xfrm>
            <a:off x="4982629" y="4241133"/>
            <a:ext cx="636074" cy="416222"/>
          </a:xfrm>
          <a:prstGeom prst="ellipse">
            <a:avLst/>
          </a:prstGeom>
          <a:noFill/>
          <a:ln w="127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Oval 17">
            <a:extLst>
              <a:ext uri="{FF2B5EF4-FFF2-40B4-BE49-F238E27FC236}">
                <a16:creationId xmlns:a16="http://schemas.microsoft.com/office/drawing/2014/main" id="{C57F4138-9B27-901D-55C3-0F01392A6AD3}"/>
              </a:ext>
            </a:extLst>
          </p:cNvPr>
          <p:cNvSpPr/>
          <p:nvPr/>
        </p:nvSpPr>
        <p:spPr>
          <a:xfrm>
            <a:off x="8282289" y="2942438"/>
            <a:ext cx="636074" cy="416222"/>
          </a:xfrm>
          <a:prstGeom prst="ellipse">
            <a:avLst/>
          </a:prstGeom>
          <a:noFill/>
          <a:ln w="127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316105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par>
                                <p:cTn id="8" presetID="9"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dissolve">
                                      <p:cBhvr>
                                        <p:cTn id="10" dur="500"/>
                                        <p:tgtEl>
                                          <p:spTgt spid="28"/>
                                        </p:tgtEl>
                                      </p:cBhvr>
                                    </p:animEffect>
                                  </p:childTnLst>
                                </p:cTn>
                              </p:par>
                              <p:par>
                                <p:cTn id="11" presetID="9"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dissolve">
                                      <p:cBhvr>
                                        <p:cTn id="13" dur="500"/>
                                        <p:tgtEl>
                                          <p:spTgt spid="33"/>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dissolve">
                                      <p:cBhvr>
                                        <p:cTn id="18" dur="500"/>
                                        <p:tgtEl>
                                          <p:spTgt spid="16"/>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dissolv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dissolve">
                                      <p:cBhvr>
                                        <p:cTn id="26" dur="500"/>
                                        <p:tgtEl>
                                          <p:spTgt spid="17"/>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dissolv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dissolve">
                                      <p:cBhvr>
                                        <p:cTn id="34" dur="500"/>
                                        <p:tgtEl>
                                          <p:spTgt spid="18"/>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animBg="1"/>
      <p:bldP spid="17" grpId="0" animBg="1"/>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Case Study</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24</a:t>
            </a:r>
            <a:r>
              <a:rPr lang="en-US" altLang="en-US" sz="1200" dirty="0">
                <a:solidFill>
                  <a:schemeClr val="bg1"/>
                </a:solidFill>
              </a:rPr>
              <a:t>|</a:t>
            </a:r>
            <a:r>
              <a:rPr lang="en-US" altLang="en-US" sz="900" dirty="0">
                <a:solidFill>
                  <a:schemeClr val="bg1"/>
                </a:solidFill>
              </a:rPr>
              <a:t> Case Study</a:t>
            </a:r>
          </a:p>
        </p:txBody>
      </p:sp>
      <p:sp>
        <p:nvSpPr>
          <p:cNvPr id="4" name="TextBox 3">
            <a:extLst>
              <a:ext uri="{FF2B5EF4-FFF2-40B4-BE49-F238E27FC236}">
                <a16:creationId xmlns:a16="http://schemas.microsoft.com/office/drawing/2014/main" id="{FB54137A-096F-E45E-3B8C-AAFA34C6AB4C}"/>
              </a:ext>
            </a:extLst>
          </p:cNvPr>
          <p:cNvSpPr txBox="1"/>
          <p:nvPr/>
        </p:nvSpPr>
        <p:spPr>
          <a:xfrm>
            <a:off x="255588" y="889177"/>
            <a:ext cx="4115850" cy="954107"/>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24 stages</a:t>
            </a:r>
          </a:p>
          <a:p>
            <a:pPr marL="285750" indent="-285750">
              <a:buFont typeface="Arial" panose="020B0604020202020204" pitchFamily="34" charset="0"/>
              <a:buChar char="•"/>
            </a:pPr>
            <a:r>
              <a:rPr lang="en-US" sz="1400" dirty="0">
                <a:cs typeface="Calibri" panose="020F0502020204030204" pitchFamily="34" charset="0"/>
              </a:rPr>
              <a:t>The event happens at the 10</a:t>
            </a:r>
            <a:r>
              <a:rPr lang="en-US" sz="1400" baseline="30000" dirty="0">
                <a:cs typeface="Calibri" panose="020F0502020204030204" pitchFamily="34" charset="0"/>
              </a:rPr>
              <a:t>th</a:t>
            </a:r>
            <a:r>
              <a:rPr lang="en-US" sz="1400" dirty="0">
                <a:cs typeface="Calibri" panose="020F0502020204030204" pitchFamily="34" charset="0"/>
              </a:rPr>
              <a:t> stage</a:t>
            </a:r>
          </a:p>
          <a:p>
            <a:pPr marL="285750" indent="-285750">
              <a:buFont typeface="Arial" panose="020B0604020202020204" pitchFamily="34" charset="0"/>
              <a:buChar char="•"/>
            </a:pPr>
            <a:r>
              <a:rPr lang="en-US" sz="1400" dirty="0">
                <a:cs typeface="Calibri" panose="020F0502020204030204" pitchFamily="34" charset="0"/>
              </a:rPr>
              <a:t>6 skewed price distributions with the same expectation and different variance (skewness) </a:t>
            </a:r>
          </a:p>
        </p:txBody>
      </p:sp>
      <p:sp>
        <p:nvSpPr>
          <p:cNvPr id="5" name="TextBox 4">
            <a:extLst>
              <a:ext uri="{FF2B5EF4-FFF2-40B4-BE49-F238E27FC236}">
                <a16:creationId xmlns:a16="http://schemas.microsoft.com/office/drawing/2014/main" id="{19428641-6DBF-00D3-3B4F-73A191C208FF}"/>
              </a:ext>
            </a:extLst>
          </p:cNvPr>
          <p:cNvSpPr txBox="1"/>
          <p:nvPr/>
        </p:nvSpPr>
        <p:spPr>
          <a:xfrm>
            <a:off x="152399" y="568963"/>
            <a:ext cx="2971801" cy="338554"/>
          </a:xfrm>
          <a:prstGeom prst="rect">
            <a:avLst/>
          </a:prstGeom>
          <a:noFill/>
        </p:spPr>
        <p:txBody>
          <a:bodyPr wrap="square">
            <a:spAutoFit/>
          </a:bodyPr>
          <a:lstStyle/>
          <a:p>
            <a:r>
              <a:rPr lang="en-US" sz="1600" b="1" dirty="0">
                <a:solidFill>
                  <a:srgbClr val="C00000"/>
                </a:solidFill>
                <a:latin typeface="+mn-lt"/>
                <a:ea typeface="+mn-ea"/>
              </a:rPr>
              <a:t>Sensitivity of model parameters</a:t>
            </a:r>
          </a:p>
        </p:txBody>
      </p:sp>
      <p:sp>
        <p:nvSpPr>
          <p:cNvPr id="2" name="TextBox 1">
            <a:extLst>
              <a:ext uri="{FF2B5EF4-FFF2-40B4-BE49-F238E27FC236}">
                <a16:creationId xmlns:a16="http://schemas.microsoft.com/office/drawing/2014/main" id="{893C09CF-5A9A-172E-5A2D-22CA9CDC196E}"/>
              </a:ext>
            </a:extLst>
          </p:cNvPr>
          <p:cNvSpPr txBox="1"/>
          <p:nvPr/>
        </p:nvSpPr>
        <p:spPr>
          <a:xfrm>
            <a:off x="4772562" y="882892"/>
            <a:ext cx="4115850" cy="523220"/>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Discount factors from 0.1 to 1 - A</a:t>
            </a:r>
          </a:p>
          <a:p>
            <a:pPr marL="285750" indent="-285750">
              <a:buFont typeface="Arial" panose="020B0604020202020204" pitchFamily="34" charset="0"/>
              <a:buChar char="•"/>
            </a:pPr>
            <a:r>
              <a:rPr lang="en-US" sz="1400" dirty="0">
                <a:cs typeface="Calibri" panose="020F0502020204030204" pitchFamily="34" charset="0"/>
              </a:rPr>
              <a:t>State cost function parameters - \alpha</a:t>
            </a:r>
          </a:p>
        </p:txBody>
      </p:sp>
      <p:pic>
        <p:nvPicPr>
          <p:cNvPr id="3" name="Picture 2">
            <a:extLst>
              <a:ext uri="{FF2B5EF4-FFF2-40B4-BE49-F238E27FC236}">
                <a16:creationId xmlns:a16="http://schemas.microsoft.com/office/drawing/2014/main" id="{A0EA62D5-82DC-35F6-8D2F-96E782BFCCC5}"/>
              </a:ext>
            </a:extLst>
          </p:cNvPr>
          <p:cNvPicPr>
            <a:picLocks noChangeAspect="1"/>
          </p:cNvPicPr>
          <p:nvPr/>
        </p:nvPicPr>
        <p:blipFill>
          <a:blip r:embed="rId4"/>
          <a:stretch>
            <a:fillRect/>
          </a:stretch>
        </p:blipFill>
        <p:spPr>
          <a:xfrm>
            <a:off x="556236" y="2329307"/>
            <a:ext cx="2987064" cy="2328048"/>
          </a:xfrm>
          <a:prstGeom prst="rect">
            <a:avLst/>
          </a:prstGeom>
        </p:spPr>
      </p:pic>
      <p:sp>
        <p:nvSpPr>
          <p:cNvPr id="12" name="TextBox 11">
            <a:extLst>
              <a:ext uri="{FF2B5EF4-FFF2-40B4-BE49-F238E27FC236}">
                <a16:creationId xmlns:a16="http://schemas.microsoft.com/office/drawing/2014/main" id="{BF1CE45E-E8F4-918E-C47A-0437C4F63051}"/>
              </a:ext>
            </a:extLst>
          </p:cNvPr>
          <p:cNvSpPr txBox="1"/>
          <p:nvPr/>
        </p:nvSpPr>
        <p:spPr>
          <a:xfrm>
            <a:off x="386527" y="2004324"/>
            <a:ext cx="3326481" cy="461665"/>
          </a:xfrm>
          <a:prstGeom prst="rect">
            <a:avLst/>
          </a:prstGeom>
          <a:noFill/>
        </p:spPr>
        <p:txBody>
          <a:bodyPr wrap="square">
            <a:spAutoFit/>
          </a:bodyPr>
          <a:lstStyle/>
          <a:p>
            <a:r>
              <a:rPr lang="en-US" sz="1200" dirty="0">
                <a:solidFill>
                  <a:srgbClr val="C00000"/>
                </a:solidFill>
                <a:cs typeface="Calibri" panose="020F0502020204030204" pitchFamily="34" charset="0"/>
              </a:rPr>
              <a:t>State under 2</a:t>
            </a:r>
            <a:r>
              <a:rPr lang="en-US" sz="1200" baseline="30000" dirty="0">
                <a:solidFill>
                  <a:srgbClr val="C00000"/>
                </a:solidFill>
                <a:cs typeface="Calibri" panose="020F0502020204030204" pitchFamily="34" charset="0"/>
              </a:rPr>
              <a:t>nd</a:t>
            </a:r>
            <a:r>
              <a:rPr lang="en-US" sz="1200" dirty="0">
                <a:solidFill>
                  <a:srgbClr val="C00000"/>
                </a:solidFill>
                <a:cs typeface="Calibri" panose="020F0502020204030204" pitchFamily="34" charset="0"/>
              </a:rPr>
              <a:t> price distribution: </a:t>
            </a:r>
          </a:p>
          <a:p>
            <a:r>
              <a:rPr lang="en-US" sz="1200" dirty="0">
                <a:solidFill>
                  <a:srgbClr val="C00000"/>
                </a:solidFill>
                <a:cs typeface="Calibri" panose="020F0502020204030204" pitchFamily="34" charset="0"/>
              </a:rPr>
              <a:t>Lower discount weaken the prudent influence</a:t>
            </a:r>
          </a:p>
        </p:txBody>
      </p:sp>
      <p:pic>
        <p:nvPicPr>
          <p:cNvPr id="6" name="Picture 5">
            <a:extLst>
              <a:ext uri="{FF2B5EF4-FFF2-40B4-BE49-F238E27FC236}">
                <a16:creationId xmlns:a16="http://schemas.microsoft.com/office/drawing/2014/main" id="{4A78E965-5E5F-C795-D907-B2E649ADAE61}"/>
              </a:ext>
            </a:extLst>
          </p:cNvPr>
          <p:cNvPicPr>
            <a:picLocks noChangeAspect="1"/>
          </p:cNvPicPr>
          <p:nvPr/>
        </p:nvPicPr>
        <p:blipFill>
          <a:blip r:embed="rId5"/>
          <a:stretch>
            <a:fillRect/>
          </a:stretch>
        </p:blipFill>
        <p:spPr>
          <a:xfrm>
            <a:off x="5180573" y="2432884"/>
            <a:ext cx="2811977" cy="2178586"/>
          </a:xfrm>
          <a:prstGeom prst="rect">
            <a:avLst/>
          </a:prstGeom>
        </p:spPr>
      </p:pic>
      <p:sp>
        <p:nvSpPr>
          <p:cNvPr id="15" name="TextBox 14">
            <a:extLst>
              <a:ext uri="{FF2B5EF4-FFF2-40B4-BE49-F238E27FC236}">
                <a16:creationId xmlns:a16="http://schemas.microsoft.com/office/drawing/2014/main" id="{711E95A6-42B3-3218-C971-39C740911ABB}"/>
              </a:ext>
            </a:extLst>
          </p:cNvPr>
          <p:cNvSpPr txBox="1"/>
          <p:nvPr/>
        </p:nvSpPr>
        <p:spPr>
          <a:xfrm>
            <a:off x="4648716" y="1571206"/>
            <a:ext cx="4418567" cy="1015663"/>
          </a:xfrm>
          <a:prstGeom prst="rect">
            <a:avLst/>
          </a:prstGeom>
          <a:noFill/>
        </p:spPr>
        <p:txBody>
          <a:bodyPr wrap="square">
            <a:spAutoFit/>
          </a:bodyPr>
          <a:lstStyle/>
          <a:p>
            <a:r>
              <a:rPr lang="en-US" sz="1200" dirty="0">
                <a:solidFill>
                  <a:srgbClr val="C00000"/>
                </a:solidFill>
                <a:cs typeface="Calibri" panose="020F0502020204030204" pitchFamily="34" charset="0"/>
              </a:rPr>
              <a:t>Precautionary saving behavior persists greater potential loss from uncertainty at the event time for the same state value, inducing stronger precautionary saving behavior. But, with a saturation effect. The cost of precautionary saving begins to outweigh the cost of expected risk at the event time.</a:t>
            </a:r>
          </a:p>
        </p:txBody>
      </p:sp>
      <p:sp>
        <p:nvSpPr>
          <p:cNvPr id="18" name="Oval 17">
            <a:extLst>
              <a:ext uri="{FF2B5EF4-FFF2-40B4-BE49-F238E27FC236}">
                <a16:creationId xmlns:a16="http://schemas.microsoft.com/office/drawing/2014/main" id="{C57F4138-9B27-901D-55C3-0F01392A6AD3}"/>
              </a:ext>
            </a:extLst>
          </p:cNvPr>
          <p:cNvSpPr/>
          <p:nvPr/>
        </p:nvSpPr>
        <p:spPr>
          <a:xfrm>
            <a:off x="7356476" y="2661699"/>
            <a:ext cx="636074" cy="592118"/>
          </a:xfrm>
          <a:prstGeom prst="ellipse">
            <a:avLst/>
          </a:prstGeom>
          <a:noFill/>
          <a:ln w="127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671672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dissolv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Case Study</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24</a:t>
            </a:r>
            <a:r>
              <a:rPr lang="en-US" altLang="en-US" sz="1200" dirty="0">
                <a:solidFill>
                  <a:schemeClr val="bg1"/>
                </a:solidFill>
              </a:rPr>
              <a:t>|</a:t>
            </a:r>
            <a:r>
              <a:rPr lang="en-US" altLang="en-US" sz="900" dirty="0">
                <a:solidFill>
                  <a:schemeClr val="bg1"/>
                </a:solidFill>
              </a:rPr>
              <a:t> Case Study</a:t>
            </a:r>
          </a:p>
        </p:txBody>
      </p:sp>
      <p:sp>
        <p:nvSpPr>
          <p:cNvPr id="4" name="TextBox 3">
            <a:extLst>
              <a:ext uri="{FF2B5EF4-FFF2-40B4-BE49-F238E27FC236}">
                <a16:creationId xmlns:a16="http://schemas.microsoft.com/office/drawing/2014/main" id="{FB54137A-096F-E45E-3B8C-AAFA34C6AB4C}"/>
              </a:ext>
            </a:extLst>
          </p:cNvPr>
          <p:cNvSpPr txBox="1"/>
          <p:nvPr/>
        </p:nvSpPr>
        <p:spPr>
          <a:xfrm>
            <a:off x="255588" y="889177"/>
            <a:ext cx="4115850" cy="738664"/>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NYISO DA and RT price</a:t>
            </a:r>
          </a:p>
          <a:p>
            <a:pPr marL="285750" indent="-285750">
              <a:buFont typeface="Arial" panose="020B0604020202020204" pitchFamily="34" charset="0"/>
              <a:buChar char="•"/>
            </a:pPr>
            <a:r>
              <a:rPr lang="en-US" sz="1400" dirty="0">
                <a:cs typeface="Calibri" panose="020F0502020204030204" pitchFamily="34" charset="0"/>
              </a:rPr>
              <a:t>Battery doing </a:t>
            </a:r>
            <a:r>
              <a:rPr lang="en-US" sz="1400" dirty="0" err="1">
                <a:cs typeface="Calibri" panose="020F0502020204030204" pitchFamily="34" charset="0"/>
              </a:rPr>
              <a:t>arbicharge</a:t>
            </a:r>
            <a:r>
              <a:rPr lang="en-US" sz="1400" dirty="0">
                <a:cs typeface="Calibri" panose="020F0502020204030204" pitchFamily="34" charset="0"/>
              </a:rPr>
              <a:t> under non-anticipatory price uncertainty</a:t>
            </a:r>
          </a:p>
        </p:txBody>
      </p:sp>
      <p:sp>
        <p:nvSpPr>
          <p:cNvPr id="5" name="TextBox 4">
            <a:extLst>
              <a:ext uri="{FF2B5EF4-FFF2-40B4-BE49-F238E27FC236}">
                <a16:creationId xmlns:a16="http://schemas.microsoft.com/office/drawing/2014/main" id="{19428641-6DBF-00D3-3B4F-73A191C208FF}"/>
              </a:ext>
            </a:extLst>
          </p:cNvPr>
          <p:cNvSpPr txBox="1"/>
          <p:nvPr/>
        </p:nvSpPr>
        <p:spPr>
          <a:xfrm>
            <a:off x="152399" y="568963"/>
            <a:ext cx="2971801" cy="338554"/>
          </a:xfrm>
          <a:prstGeom prst="rect">
            <a:avLst/>
          </a:prstGeom>
          <a:noFill/>
        </p:spPr>
        <p:txBody>
          <a:bodyPr wrap="square">
            <a:spAutoFit/>
          </a:bodyPr>
          <a:lstStyle/>
          <a:p>
            <a:r>
              <a:rPr lang="en-US" sz="1600" b="1" dirty="0">
                <a:solidFill>
                  <a:srgbClr val="C00000"/>
                </a:solidFill>
                <a:latin typeface="+mn-lt"/>
                <a:ea typeface="+mn-ea"/>
              </a:rPr>
              <a:t>Real-world case study</a:t>
            </a:r>
          </a:p>
        </p:txBody>
      </p:sp>
      <p:sp>
        <p:nvSpPr>
          <p:cNvPr id="2" name="TextBox 1">
            <a:extLst>
              <a:ext uri="{FF2B5EF4-FFF2-40B4-BE49-F238E27FC236}">
                <a16:creationId xmlns:a16="http://schemas.microsoft.com/office/drawing/2014/main" id="{893C09CF-5A9A-172E-5A2D-22CA9CDC196E}"/>
              </a:ext>
            </a:extLst>
          </p:cNvPr>
          <p:cNvSpPr txBox="1"/>
          <p:nvPr/>
        </p:nvSpPr>
        <p:spPr>
          <a:xfrm>
            <a:off x="4772562" y="882892"/>
            <a:ext cx="4115850" cy="523220"/>
          </a:xfrm>
          <a:prstGeom prst="rect">
            <a:avLst/>
          </a:prstGeom>
          <a:noFill/>
        </p:spPr>
        <p:txBody>
          <a:bodyPr wrap="square">
            <a:spAutoFit/>
          </a:bodyPr>
          <a:lstStyle/>
          <a:p>
            <a:pPr marL="285750" indent="-285750">
              <a:buFont typeface="Arial" panose="020B0604020202020204" pitchFamily="34" charset="0"/>
              <a:buChar char="•"/>
            </a:pPr>
            <a:r>
              <a:rPr lang="en-US" sz="1400" dirty="0">
                <a:cs typeface="Calibri" panose="020F0502020204030204" pitchFamily="34" charset="0"/>
              </a:rPr>
              <a:t>Superquadratic model with hard constraints</a:t>
            </a:r>
          </a:p>
          <a:p>
            <a:pPr marL="285750" indent="-285750">
              <a:buFont typeface="Arial" panose="020B0604020202020204" pitchFamily="34" charset="0"/>
              <a:buChar char="•"/>
            </a:pPr>
            <a:r>
              <a:rPr lang="en-US" sz="1400" dirty="0">
                <a:cs typeface="Calibri" panose="020F0502020204030204" pitchFamily="34" charset="0"/>
              </a:rPr>
              <a:t>Quadratic model with quadratic penalty</a:t>
            </a:r>
          </a:p>
        </p:txBody>
      </p:sp>
      <p:sp>
        <p:nvSpPr>
          <p:cNvPr id="15" name="TextBox 14">
            <a:extLst>
              <a:ext uri="{FF2B5EF4-FFF2-40B4-BE49-F238E27FC236}">
                <a16:creationId xmlns:a16="http://schemas.microsoft.com/office/drawing/2014/main" id="{711E95A6-42B3-3218-C971-39C740911ABB}"/>
              </a:ext>
            </a:extLst>
          </p:cNvPr>
          <p:cNvSpPr txBox="1"/>
          <p:nvPr/>
        </p:nvSpPr>
        <p:spPr>
          <a:xfrm>
            <a:off x="4648716" y="1369077"/>
            <a:ext cx="4418567" cy="830997"/>
          </a:xfrm>
          <a:prstGeom prst="rect">
            <a:avLst/>
          </a:prstGeom>
          <a:noFill/>
        </p:spPr>
        <p:txBody>
          <a:bodyPr wrap="square">
            <a:spAutoFit/>
          </a:bodyPr>
          <a:lstStyle/>
          <a:p>
            <a:pPr marL="171450" indent="-171450">
              <a:buFont typeface="Arial" panose="020B0604020202020204" pitchFamily="34" charset="0"/>
              <a:buChar char="•"/>
            </a:pPr>
            <a:r>
              <a:rPr lang="en-US" sz="1200" dirty="0">
                <a:solidFill>
                  <a:srgbClr val="C00000"/>
                </a:solidFill>
                <a:cs typeface="Calibri" panose="020F0502020204030204" pitchFamily="34" charset="0"/>
              </a:rPr>
              <a:t>Superquadratic model exhibits greater variability</a:t>
            </a:r>
          </a:p>
          <a:p>
            <a:pPr marL="171450" indent="-171450">
              <a:buFont typeface="Arial" panose="020B0604020202020204" pitchFamily="34" charset="0"/>
              <a:buChar char="•"/>
            </a:pPr>
            <a:r>
              <a:rPr lang="en-US" sz="1200" dirty="0">
                <a:solidFill>
                  <a:srgbClr val="C00000"/>
                </a:solidFill>
                <a:cs typeface="Calibri" panose="020F0502020204030204" pitchFamily="34" charset="0"/>
              </a:rPr>
              <a:t>Quadratic model captures the mean value of RT price uncertainty</a:t>
            </a:r>
          </a:p>
          <a:p>
            <a:pPr marL="171450" indent="-171450">
              <a:buFont typeface="Arial" panose="020B0604020202020204" pitchFamily="34" charset="0"/>
              <a:buChar char="•"/>
            </a:pPr>
            <a:r>
              <a:rPr lang="en-US" sz="1200" dirty="0">
                <a:solidFill>
                  <a:srgbClr val="C00000"/>
                </a:solidFill>
                <a:cs typeface="Calibri" panose="020F0502020204030204" pitchFamily="34" charset="0"/>
              </a:rPr>
              <a:t>Superquadratic formulation provides richer and more responsive decision behavior.</a:t>
            </a:r>
          </a:p>
        </p:txBody>
      </p:sp>
      <p:pic>
        <p:nvPicPr>
          <p:cNvPr id="8" name="Picture 7">
            <a:extLst>
              <a:ext uri="{FF2B5EF4-FFF2-40B4-BE49-F238E27FC236}">
                <a16:creationId xmlns:a16="http://schemas.microsoft.com/office/drawing/2014/main" id="{C77FA8C8-7730-811D-CAE1-3FCA803B0C52}"/>
              </a:ext>
            </a:extLst>
          </p:cNvPr>
          <p:cNvPicPr>
            <a:picLocks noChangeAspect="1"/>
          </p:cNvPicPr>
          <p:nvPr/>
        </p:nvPicPr>
        <p:blipFill>
          <a:blip r:embed="rId4"/>
          <a:stretch>
            <a:fillRect/>
          </a:stretch>
        </p:blipFill>
        <p:spPr>
          <a:xfrm>
            <a:off x="576276" y="1801937"/>
            <a:ext cx="3355332" cy="2846948"/>
          </a:xfrm>
          <a:prstGeom prst="rect">
            <a:avLst/>
          </a:prstGeom>
        </p:spPr>
      </p:pic>
      <p:sp>
        <p:nvSpPr>
          <p:cNvPr id="18" name="Oval 17">
            <a:extLst>
              <a:ext uri="{FF2B5EF4-FFF2-40B4-BE49-F238E27FC236}">
                <a16:creationId xmlns:a16="http://schemas.microsoft.com/office/drawing/2014/main" id="{C57F4138-9B27-901D-55C3-0F01392A6AD3}"/>
              </a:ext>
            </a:extLst>
          </p:cNvPr>
          <p:cNvSpPr/>
          <p:nvPr/>
        </p:nvSpPr>
        <p:spPr>
          <a:xfrm>
            <a:off x="2972057" y="1904739"/>
            <a:ext cx="636074" cy="2577094"/>
          </a:xfrm>
          <a:prstGeom prst="ellipse">
            <a:avLst/>
          </a:prstGeom>
          <a:noFill/>
          <a:ln w="127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25C9E7ED-FDB7-19EA-86B3-65E8B4CDED22}"/>
              </a:ext>
            </a:extLst>
          </p:cNvPr>
          <p:cNvPicPr>
            <a:picLocks noChangeAspect="1"/>
          </p:cNvPicPr>
          <p:nvPr/>
        </p:nvPicPr>
        <p:blipFill>
          <a:blip r:embed="rId5"/>
          <a:stretch>
            <a:fillRect/>
          </a:stretch>
        </p:blipFill>
        <p:spPr>
          <a:xfrm>
            <a:off x="5321345" y="2128838"/>
            <a:ext cx="3018284" cy="2508250"/>
          </a:xfrm>
          <a:prstGeom prst="rect">
            <a:avLst/>
          </a:prstGeom>
        </p:spPr>
      </p:pic>
      <p:sp>
        <p:nvSpPr>
          <p:cNvPr id="13" name="TextBox 12">
            <a:extLst>
              <a:ext uri="{FF2B5EF4-FFF2-40B4-BE49-F238E27FC236}">
                <a16:creationId xmlns:a16="http://schemas.microsoft.com/office/drawing/2014/main" id="{0DD701D3-2008-3304-CFBF-64C69EC7B038}"/>
              </a:ext>
            </a:extLst>
          </p:cNvPr>
          <p:cNvSpPr txBox="1"/>
          <p:nvPr/>
        </p:nvSpPr>
        <p:spPr>
          <a:xfrm>
            <a:off x="3124200" y="1592143"/>
            <a:ext cx="639374" cy="276999"/>
          </a:xfrm>
          <a:prstGeom prst="rect">
            <a:avLst/>
          </a:prstGeom>
          <a:noFill/>
        </p:spPr>
        <p:txBody>
          <a:bodyPr wrap="square">
            <a:spAutoFit/>
          </a:bodyPr>
          <a:lstStyle/>
          <a:p>
            <a:r>
              <a:rPr lang="en-US" sz="1200" dirty="0">
                <a:solidFill>
                  <a:srgbClr val="C00000"/>
                </a:solidFill>
                <a:cs typeface="Calibri" panose="020F0502020204030204" pitchFamily="34" charset="0"/>
              </a:rPr>
              <a:t>20-21</a:t>
            </a:r>
          </a:p>
        </p:txBody>
      </p:sp>
    </p:spTree>
    <p:extLst>
      <p:ext uri="{BB962C8B-B14F-4D97-AF65-F5344CB8AC3E}">
        <p14:creationId xmlns:p14="http://schemas.microsoft.com/office/powerpoint/2010/main" val="2555013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dissolve">
                                      <p:cBhvr>
                                        <p:cTn id="10" dur="500"/>
                                        <p:tgtEl>
                                          <p:spTgt spid="1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dissolv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animBg="1"/>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Interpretation and Conclusion</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26</a:t>
            </a:r>
            <a:r>
              <a:rPr lang="en-US" altLang="en-US" sz="1200" dirty="0">
                <a:solidFill>
                  <a:schemeClr val="bg1"/>
                </a:solidFill>
              </a:rPr>
              <a:t>| </a:t>
            </a:r>
            <a:r>
              <a:rPr lang="en-US" altLang="en-US" sz="1050" dirty="0">
                <a:solidFill>
                  <a:schemeClr val="bg1"/>
                </a:solidFill>
              </a:rPr>
              <a:t>Question</a:t>
            </a:r>
            <a:endParaRPr lang="en-US" altLang="en-US" sz="900" dirty="0">
              <a:solidFill>
                <a:schemeClr val="bg1"/>
              </a:solidFill>
            </a:endParaRPr>
          </a:p>
        </p:txBody>
      </p:sp>
      <p:sp>
        <p:nvSpPr>
          <p:cNvPr id="2" name="TextBox 1">
            <a:extLst>
              <a:ext uri="{FF2B5EF4-FFF2-40B4-BE49-F238E27FC236}">
                <a16:creationId xmlns:a16="http://schemas.microsoft.com/office/drawing/2014/main" id="{F5FB25B2-82F9-0470-4536-846BB3921B87}"/>
              </a:ext>
            </a:extLst>
          </p:cNvPr>
          <p:cNvSpPr txBox="1"/>
          <p:nvPr/>
        </p:nvSpPr>
        <p:spPr>
          <a:xfrm>
            <a:off x="685800" y="1072239"/>
            <a:ext cx="7606729" cy="3193503"/>
          </a:xfrm>
          <a:prstGeom prst="rect">
            <a:avLst/>
          </a:prstGeom>
          <a:noFill/>
        </p:spPr>
        <p:txBody>
          <a:bodyPr wrap="square" rtlCol="0">
            <a:spAutoFit/>
          </a:bodyPr>
          <a:lstStyle/>
          <a:p>
            <a:pPr marL="285750" indent="-285750" algn="just">
              <a:lnSpc>
                <a:spcPct val="120000"/>
              </a:lnSpc>
              <a:spcBef>
                <a:spcPts val="1200"/>
              </a:spcBef>
              <a:buFont typeface="Arial" panose="020B0604020202020204" pitchFamily="34" charset="0"/>
              <a:buChar char="•"/>
            </a:pPr>
            <a:r>
              <a:rPr lang="en-US" sz="1600" dirty="0">
                <a:solidFill>
                  <a:srgbClr val="000000"/>
                </a:solidFill>
              </a:rPr>
              <a:t>We show that risk-aware behaviors in demand response originate from superquadratic state-dependent cost functions and price uncertainty with skewed distributions;</a:t>
            </a:r>
          </a:p>
          <a:p>
            <a:pPr marL="285750" indent="-285750" algn="just">
              <a:lnSpc>
                <a:spcPct val="120000"/>
              </a:lnSpc>
              <a:spcBef>
                <a:spcPts val="1200"/>
              </a:spcBef>
              <a:buFont typeface="Arial" panose="020B0604020202020204" pitchFamily="34" charset="0"/>
              <a:buChar char="•"/>
            </a:pPr>
            <a:r>
              <a:rPr lang="en-US" sz="1600" dirty="0">
                <a:solidFill>
                  <a:srgbClr val="000000"/>
                </a:solidFill>
              </a:rPr>
              <a:t>We obtain such results through developing a novel theoretical demand response framework that combines non-anticipatory multi-stage decision-making with superquadratic cost functions;</a:t>
            </a:r>
          </a:p>
          <a:p>
            <a:pPr marL="285750" indent="-285750" algn="just">
              <a:lnSpc>
                <a:spcPct val="120000"/>
              </a:lnSpc>
              <a:spcBef>
                <a:spcPts val="1200"/>
              </a:spcBef>
              <a:buFont typeface="Arial" panose="020B0604020202020204" pitchFamily="34" charset="0"/>
              <a:buChar char="•"/>
            </a:pPr>
            <a:r>
              <a:rPr lang="en-US" sz="1600" dirty="0">
                <a:solidFill>
                  <a:srgbClr val="000000"/>
                </a:solidFill>
              </a:rPr>
              <a:t>We introduce the concept of prudent demand, which is the first principle for risk-averse behavior despite a risk-neutral objective.</a:t>
            </a:r>
          </a:p>
          <a:p>
            <a:pPr marL="285750" indent="-285750" algn="just">
              <a:lnSpc>
                <a:spcPct val="120000"/>
              </a:lnSpc>
              <a:spcBef>
                <a:spcPts val="1200"/>
              </a:spcBef>
              <a:buFont typeface="Arial" panose="020B0604020202020204" pitchFamily="34" charset="0"/>
              <a:buChar char="•"/>
            </a:pPr>
            <a:r>
              <a:rPr lang="en-US" sz="1600" dirty="0">
                <a:solidFill>
                  <a:srgbClr val="000000"/>
                </a:solidFill>
              </a:rPr>
              <a:t>Future price uncertainty affects immediate consumption decisions, and the extent of this response scales proportionally with the skewness of the price distribution</a:t>
            </a:r>
          </a:p>
        </p:txBody>
      </p:sp>
      <p:sp>
        <p:nvSpPr>
          <p:cNvPr id="17" name="TextBox 16">
            <a:extLst>
              <a:ext uri="{FF2B5EF4-FFF2-40B4-BE49-F238E27FC236}">
                <a16:creationId xmlns:a16="http://schemas.microsoft.com/office/drawing/2014/main" id="{70538554-F67D-C508-C671-250CC379521E}"/>
              </a:ext>
            </a:extLst>
          </p:cNvPr>
          <p:cNvSpPr txBox="1"/>
          <p:nvPr/>
        </p:nvSpPr>
        <p:spPr>
          <a:xfrm>
            <a:off x="228600" y="624321"/>
            <a:ext cx="2971801" cy="338554"/>
          </a:xfrm>
          <a:prstGeom prst="rect">
            <a:avLst/>
          </a:prstGeom>
          <a:noFill/>
        </p:spPr>
        <p:txBody>
          <a:bodyPr wrap="square">
            <a:spAutoFit/>
          </a:bodyPr>
          <a:lstStyle/>
          <a:p>
            <a:r>
              <a:rPr lang="en-US" sz="1600" b="1" dirty="0">
                <a:solidFill>
                  <a:srgbClr val="C00000"/>
                </a:solidFill>
                <a:latin typeface="+mn-lt"/>
                <a:ea typeface="+mn-ea"/>
              </a:rPr>
              <a:t>Conclusion</a:t>
            </a:r>
          </a:p>
        </p:txBody>
      </p:sp>
    </p:spTree>
    <p:extLst>
      <p:ext uri="{BB962C8B-B14F-4D97-AF65-F5344CB8AC3E}">
        <p14:creationId xmlns:p14="http://schemas.microsoft.com/office/powerpoint/2010/main" val="8958612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Interpretation and Conclusion</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26</a:t>
            </a:r>
            <a:r>
              <a:rPr lang="en-US" altLang="en-US" sz="1200" dirty="0">
                <a:solidFill>
                  <a:schemeClr val="bg1"/>
                </a:solidFill>
              </a:rPr>
              <a:t>| </a:t>
            </a:r>
            <a:r>
              <a:rPr lang="en-US" altLang="en-US" sz="1050" dirty="0">
                <a:solidFill>
                  <a:schemeClr val="bg1"/>
                </a:solidFill>
              </a:rPr>
              <a:t>Question</a:t>
            </a:r>
            <a:endParaRPr lang="en-US" altLang="en-US" sz="900" dirty="0">
              <a:solidFill>
                <a:schemeClr val="bg1"/>
              </a:solidFill>
            </a:endParaRPr>
          </a:p>
        </p:txBody>
      </p:sp>
      <p:sp>
        <p:nvSpPr>
          <p:cNvPr id="4" name="TextBox 3">
            <a:extLst>
              <a:ext uri="{FF2B5EF4-FFF2-40B4-BE49-F238E27FC236}">
                <a16:creationId xmlns:a16="http://schemas.microsoft.com/office/drawing/2014/main" id="{470267D2-E8A7-6FA1-EA61-027A24313E88}"/>
              </a:ext>
            </a:extLst>
          </p:cNvPr>
          <p:cNvSpPr txBox="1"/>
          <p:nvPr/>
        </p:nvSpPr>
        <p:spPr>
          <a:xfrm>
            <a:off x="487263" y="866824"/>
            <a:ext cx="7589143" cy="3770263"/>
          </a:xfrm>
          <a:prstGeom prst="rect">
            <a:avLst/>
          </a:prstGeom>
          <a:noFill/>
        </p:spPr>
        <p:txBody>
          <a:bodyPr wrap="square" rtlCol="0">
            <a:spAutoFit/>
          </a:bodyPr>
          <a:lstStyle/>
          <a:p>
            <a:pPr marL="285750" indent="-285750" algn="just">
              <a:spcBef>
                <a:spcPts val="600"/>
              </a:spcBef>
              <a:buFont typeface="Arial" panose="020B0604020202020204" pitchFamily="34" charset="0"/>
              <a:buChar char="•"/>
            </a:pPr>
            <a:r>
              <a:rPr lang="en-US" sz="1600" dirty="0">
                <a:solidFill>
                  <a:srgbClr val="000000"/>
                </a:solidFill>
              </a:rPr>
              <a:t>Practitioners and policymakers should adopt more sophisticated demand models, either through higher-order utility function formulations or the adoption of more accurate risk terms, especially considering physical and behavioral response limitations, thus, capturing real demand behavior and better accounting for demand pattern changes to efficiently design time-varying tariffs</a:t>
            </a:r>
          </a:p>
          <a:p>
            <a:pPr marL="285750" indent="-285750" algn="just">
              <a:spcBef>
                <a:spcPts val="600"/>
              </a:spcBef>
              <a:buFont typeface="Arial" panose="020B0604020202020204" pitchFamily="34" charset="0"/>
              <a:buChar char="•"/>
            </a:pPr>
            <a:r>
              <a:rPr lang="en-US" sz="1600" dirty="0">
                <a:solidFill>
                  <a:srgbClr val="000000"/>
                </a:solidFill>
              </a:rPr>
              <a:t>Preparatory savings naturally provide additional backup capacity to the system ahead of emergencies. Thus, operators should not only focus on the event time itself, but also schedule additional generation or implement price incentives in advance to prevent unintended demand peaks.</a:t>
            </a:r>
          </a:p>
          <a:p>
            <a:pPr marL="285750" indent="-285750" algn="just">
              <a:spcBef>
                <a:spcPts val="600"/>
              </a:spcBef>
              <a:buFont typeface="Arial" panose="020B0604020202020204" pitchFamily="34" charset="0"/>
              <a:buChar char="•"/>
            </a:pPr>
            <a:r>
              <a:rPr lang="en-US" sz="1600" dirty="0">
                <a:solidFill>
                  <a:srgbClr val="000000"/>
                </a:solidFill>
              </a:rPr>
              <a:t>Discounting factors and the sensitivity of demand to state value changes are important for accurately quantifying prudent behavior.</a:t>
            </a:r>
          </a:p>
          <a:p>
            <a:pPr marL="285750" indent="-285750" algn="just">
              <a:spcBef>
                <a:spcPts val="600"/>
              </a:spcBef>
              <a:buFont typeface="Arial" panose="020B0604020202020204" pitchFamily="34" charset="0"/>
              <a:buChar char="•"/>
            </a:pPr>
            <a:r>
              <a:rPr lang="en-US" sz="1600" dirty="0">
                <a:solidFill>
                  <a:srgbClr val="000000"/>
                </a:solidFill>
              </a:rPr>
              <a:t>anticipating and preparing for tail-risk events and controlling the price ceiling exposed to customers,  avoiding the direct exposure of retail consumers to highly volatile wholesale market prices.</a:t>
            </a:r>
          </a:p>
        </p:txBody>
      </p:sp>
      <p:sp>
        <p:nvSpPr>
          <p:cNvPr id="17" name="TextBox 16">
            <a:extLst>
              <a:ext uri="{FF2B5EF4-FFF2-40B4-BE49-F238E27FC236}">
                <a16:creationId xmlns:a16="http://schemas.microsoft.com/office/drawing/2014/main" id="{70538554-F67D-C508-C671-250CC379521E}"/>
              </a:ext>
            </a:extLst>
          </p:cNvPr>
          <p:cNvSpPr txBox="1"/>
          <p:nvPr/>
        </p:nvSpPr>
        <p:spPr>
          <a:xfrm>
            <a:off x="228600" y="536109"/>
            <a:ext cx="2971801" cy="338554"/>
          </a:xfrm>
          <a:prstGeom prst="rect">
            <a:avLst/>
          </a:prstGeom>
          <a:noFill/>
        </p:spPr>
        <p:txBody>
          <a:bodyPr wrap="square">
            <a:spAutoFit/>
          </a:bodyPr>
          <a:lstStyle/>
          <a:p>
            <a:r>
              <a:rPr lang="en-US" sz="1600" b="1" dirty="0">
                <a:solidFill>
                  <a:srgbClr val="C00000"/>
                </a:solidFill>
                <a:latin typeface="+mn-lt"/>
                <a:ea typeface="+mn-ea"/>
              </a:rPr>
              <a:t>Practical implication</a:t>
            </a:r>
          </a:p>
        </p:txBody>
      </p:sp>
    </p:spTree>
    <p:extLst>
      <p:ext uri="{BB962C8B-B14F-4D97-AF65-F5344CB8AC3E}">
        <p14:creationId xmlns:p14="http://schemas.microsoft.com/office/powerpoint/2010/main" val="26683016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69BDAD-2504-0642-AB02-690495D9AA53}"/>
              </a:ext>
            </a:extLst>
          </p:cNvPr>
          <p:cNvSpPr/>
          <p:nvPr/>
        </p:nvSpPr>
        <p:spPr>
          <a:xfrm>
            <a:off x="0" y="0"/>
            <a:ext cx="9144000"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accent2">
                  <a:lumMod val="40000"/>
                  <a:lumOff val="60000"/>
                </a:schemeClr>
              </a:solidFill>
            </a:endParaRPr>
          </a:p>
        </p:txBody>
      </p:sp>
      <p:sp>
        <p:nvSpPr>
          <p:cNvPr id="32770" name="Rectangle 7">
            <a:extLst>
              <a:ext uri="{FF2B5EF4-FFF2-40B4-BE49-F238E27FC236}">
                <a16:creationId xmlns:a16="http://schemas.microsoft.com/office/drawing/2014/main" id="{D47226AD-C6C7-9B4D-2574-B2B7078925DD}"/>
              </a:ext>
            </a:extLst>
          </p:cNvPr>
          <p:cNvSpPr>
            <a:spLocks noChangeArrowheads="1"/>
          </p:cNvSpPr>
          <p:nvPr/>
        </p:nvSpPr>
        <p:spPr bwMode="auto">
          <a:xfrm>
            <a:off x="228600" y="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bg1"/>
                </a:solidFill>
              </a:rPr>
              <a:t>Selected Reference</a:t>
            </a:r>
          </a:p>
        </p:txBody>
      </p:sp>
      <p:sp>
        <p:nvSpPr>
          <p:cNvPr id="9" name="Rectangle 8">
            <a:extLst>
              <a:ext uri="{FF2B5EF4-FFF2-40B4-BE49-F238E27FC236}">
                <a16:creationId xmlns:a16="http://schemas.microsoft.com/office/drawing/2014/main" id="{C3A1AEDC-7A36-4E62-8C66-BD561769A32F}"/>
              </a:ext>
            </a:extLst>
          </p:cNvPr>
          <p:cNvSpPr/>
          <p:nvPr/>
        </p:nvSpPr>
        <p:spPr>
          <a:xfrm>
            <a:off x="201613" y="529918"/>
            <a:ext cx="8788400" cy="3985706"/>
          </a:xfrm>
          <a:prstGeom prst="rect">
            <a:avLst/>
          </a:prstGeom>
        </p:spPr>
        <p:txBody>
          <a:bodyPr wrap="square">
            <a:spAutoFit/>
          </a:bodyPr>
          <a:lstStyle/>
          <a:p>
            <a:r>
              <a:rPr lang="en-US" sz="1100" b="1" i="0" dirty="0">
                <a:solidFill>
                  <a:srgbClr val="222222"/>
                </a:solidFill>
                <a:effectLst/>
                <a:cs typeface="Calibri" panose="020F0502020204030204" pitchFamily="34" charset="0"/>
              </a:rPr>
              <a:t>Page 7&amp;8</a:t>
            </a:r>
          </a:p>
          <a:p>
            <a:pPr marL="171450" indent="-171450">
              <a:buFont typeface="Arial" panose="020B0604020202020204" pitchFamily="34" charset="0"/>
              <a:buChar char="•"/>
            </a:pPr>
            <a:r>
              <a:rPr lang="en-US" sz="1100" dirty="0">
                <a:solidFill>
                  <a:srgbClr val="222222"/>
                </a:solidFill>
                <a:cs typeface="Calibri" panose="020F0502020204030204" pitchFamily="34" charset="0"/>
              </a:rPr>
              <a:t>Jia, L., &amp; Tong, L. (2012, October). Optimal pricing for residential demand response: A stochastic optimization approach. In 2012 50th Annual Allerton Conference on Communication, Control, and Computing (Allerton) (pp. 1879-1884). IEEE.</a:t>
            </a:r>
          </a:p>
          <a:p>
            <a:pPr marL="171450" indent="-171450">
              <a:buFont typeface="Arial" panose="020B0604020202020204" pitchFamily="34" charset="0"/>
              <a:buChar char="•"/>
            </a:pPr>
            <a:r>
              <a:rPr lang="en-US" sz="1100" dirty="0">
                <a:solidFill>
                  <a:srgbClr val="222222"/>
                </a:solidFill>
                <a:cs typeface="Calibri" panose="020F0502020204030204" pitchFamily="34" charset="0"/>
              </a:rPr>
              <a:t>Morales-</a:t>
            </a:r>
            <a:r>
              <a:rPr lang="en-US" sz="1100" dirty="0" err="1">
                <a:solidFill>
                  <a:srgbClr val="222222"/>
                </a:solidFill>
                <a:cs typeface="Calibri" panose="020F0502020204030204" pitchFamily="34" charset="0"/>
              </a:rPr>
              <a:t>España</a:t>
            </a:r>
            <a:r>
              <a:rPr lang="en-US" sz="1100" dirty="0">
                <a:solidFill>
                  <a:srgbClr val="222222"/>
                </a:solidFill>
                <a:cs typeface="Calibri" panose="020F0502020204030204" pitchFamily="34" charset="0"/>
              </a:rPr>
              <a:t>, G., Martínez-</a:t>
            </a:r>
            <a:r>
              <a:rPr lang="en-US" sz="1100" dirty="0" err="1">
                <a:solidFill>
                  <a:srgbClr val="222222"/>
                </a:solidFill>
                <a:cs typeface="Calibri" panose="020F0502020204030204" pitchFamily="34" charset="0"/>
              </a:rPr>
              <a:t>Gordón</a:t>
            </a:r>
            <a:r>
              <a:rPr lang="en-US" sz="1100" dirty="0">
                <a:solidFill>
                  <a:srgbClr val="222222"/>
                </a:solidFill>
                <a:cs typeface="Calibri" panose="020F0502020204030204" pitchFamily="34" charset="0"/>
              </a:rPr>
              <a:t>, R., &amp; </a:t>
            </a:r>
            <a:r>
              <a:rPr lang="en-US" sz="1100" dirty="0" err="1">
                <a:solidFill>
                  <a:srgbClr val="222222"/>
                </a:solidFill>
                <a:cs typeface="Calibri" panose="020F0502020204030204" pitchFamily="34" charset="0"/>
              </a:rPr>
              <a:t>Sijm</a:t>
            </a:r>
            <a:r>
              <a:rPr lang="en-US" sz="1100" dirty="0">
                <a:solidFill>
                  <a:srgbClr val="222222"/>
                </a:solidFill>
                <a:cs typeface="Calibri" panose="020F0502020204030204" pitchFamily="34" charset="0"/>
              </a:rPr>
              <a:t>, J. (2022). Classifying and modelling demand response in power systems. Energy, 242, 122544.</a:t>
            </a:r>
          </a:p>
          <a:p>
            <a:pPr marL="171450" indent="-171450">
              <a:buFont typeface="Arial" panose="020B0604020202020204" pitchFamily="34" charset="0"/>
              <a:buChar char="•"/>
            </a:pPr>
            <a:r>
              <a:rPr lang="en-US" sz="1100" dirty="0">
                <a:solidFill>
                  <a:srgbClr val="222222"/>
                </a:solidFill>
                <a:cs typeface="Calibri" panose="020F0502020204030204" pitchFamily="34" charset="0"/>
              </a:rPr>
              <a:t>Deng, R., Yang, Z., Chow, M. Y., &amp; Chen, J. (2015). A survey on demand response in smart grids: Mathematical models and approaches. IEEE Transactions on Industrial Informatics, 11(3), 570-582.</a:t>
            </a:r>
          </a:p>
          <a:p>
            <a:pPr marL="171450" indent="-171450">
              <a:buFont typeface="Arial" panose="020B0604020202020204" pitchFamily="34" charset="0"/>
              <a:buChar char="•"/>
            </a:pPr>
            <a:r>
              <a:rPr lang="en-US" sz="1100" dirty="0">
                <a:solidFill>
                  <a:srgbClr val="222222"/>
                </a:solidFill>
                <a:cs typeface="Calibri" panose="020F0502020204030204" pitchFamily="34" charset="0"/>
              </a:rPr>
              <a:t>Li, N., Chen, L., &amp; Low, S. H. (2011, July). Optimal demand response based on utility maximization in power networks. In 2011 IEEE power and energy society general meeting (pp. 1-8). IEEE.</a:t>
            </a:r>
          </a:p>
          <a:p>
            <a:pPr marL="171450" indent="-171450">
              <a:buFont typeface="Arial" panose="020B0604020202020204" pitchFamily="34" charset="0"/>
              <a:buChar char="•"/>
            </a:pPr>
            <a:r>
              <a:rPr lang="en-US" sz="1100" dirty="0">
                <a:solidFill>
                  <a:srgbClr val="222222"/>
                </a:solidFill>
                <a:cs typeface="Calibri" panose="020F0502020204030204" pitchFamily="34" charset="0"/>
              </a:rPr>
              <a:t>Roald, L. A., </a:t>
            </a:r>
            <a:r>
              <a:rPr lang="en-US" sz="1100" dirty="0" err="1">
                <a:solidFill>
                  <a:srgbClr val="222222"/>
                </a:solidFill>
                <a:cs typeface="Calibri" panose="020F0502020204030204" pitchFamily="34" charset="0"/>
              </a:rPr>
              <a:t>Pozo</a:t>
            </a:r>
            <a:r>
              <a:rPr lang="en-US" sz="1100" dirty="0">
                <a:solidFill>
                  <a:srgbClr val="222222"/>
                </a:solidFill>
                <a:cs typeface="Calibri" panose="020F0502020204030204" pitchFamily="34" charset="0"/>
              </a:rPr>
              <a:t>, D., </a:t>
            </a:r>
            <a:r>
              <a:rPr lang="en-US" sz="1100" dirty="0" err="1">
                <a:solidFill>
                  <a:srgbClr val="222222"/>
                </a:solidFill>
                <a:cs typeface="Calibri" panose="020F0502020204030204" pitchFamily="34" charset="0"/>
              </a:rPr>
              <a:t>Papavasiliou</a:t>
            </a:r>
            <a:r>
              <a:rPr lang="en-US" sz="1100" dirty="0">
                <a:solidFill>
                  <a:srgbClr val="222222"/>
                </a:solidFill>
                <a:cs typeface="Calibri" panose="020F0502020204030204" pitchFamily="34" charset="0"/>
              </a:rPr>
              <a:t>, A., </a:t>
            </a:r>
            <a:r>
              <a:rPr lang="en-US" sz="1100" dirty="0" err="1">
                <a:solidFill>
                  <a:srgbClr val="222222"/>
                </a:solidFill>
                <a:cs typeface="Calibri" panose="020F0502020204030204" pitchFamily="34" charset="0"/>
              </a:rPr>
              <a:t>Molzahn</a:t>
            </a:r>
            <a:r>
              <a:rPr lang="en-US" sz="1100" dirty="0">
                <a:solidFill>
                  <a:srgbClr val="222222"/>
                </a:solidFill>
                <a:cs typeface="Calibri" panose="020F0502020204030204" pitchFamily="34" charset="0"/>
              </a:rPr>
              <a:t>, D. K., </a:t>
            </a:r>
            <a:r>
              <a:rPr lang="en-US" sz="1100" dirty="0" err="1">
                <a:solidFill>
                  <a:srgbClr val="222222"/>
                </a:solidFill>
                <a:cs typeface="Calibri" panose="020F0502020204030204" pitchFamily="34" charset="0"/>
              </a:rPr>
              <a:t>Kazempour</a:t>
            </a:r>
            <a:r>
              <a:rPr lang="en-US" sz="1100" dirty="0">
                <a:solidFill>
                  <a:srgbClr val="222222"/>
                </a:solidFill>
                <a:cs typeface="Calibri" panose="020F0502020204030204" pitchFamily="34" charset="0"/>
              </a:rPr>
              <a:t>, J., &amp; </a:t>
            </a:r>
            <a:r>
              <a:rPr lang="en-US" sz="1100" dirty="0" err="1">
                <a:solidFill>
                  <a:srgbClr val="222222"/>
                </a:solidFill>
                <a:cs typeface="Calibri" panose="020F0502020204030204" pitchFamily="34" charset="0"/>
              </a:rPr>
              <a:t>Conejo</a:t>
            </a:r>
            <a:r>
              <a:rPr lang="en-US" sz="1100" dirty="0">
                <a:solidFill>
                  <a:srgbClr val="222222"/>
                </a:solidFill>
                <a:cs typeface="Calibri" panose="020F0502020204030204" pitchFamily="34" charset="0"/>
              </a:rPr>
              <a:t>, A. (2023). Power systems optimization under uncertainty: A review of methods and applications. Electric Power Systems Research, 214, 108725.</a:t>
            </a:r>
          </a:p>
          <a:p>
            <a:r>
              <a:rPr lang="en-US" sz="1100" b="1" dirty="0">
                <a:solidFill>
                  <a:srgbClr val="222222"/>
                </a:solidFill>
                <a:cs typeface="Calibri" panose="020F0502020204030204" pitchFamily="34" charset="0"/>
              </a:rPr>
              <a:t>Page 2&amp;9</a:t>
            </a:r>
          </a:p>
          <a:p>
            <a:pPr marL="171450" indent="-171450">
              <a:buFont typeface="Arial" panose="020B0604020202020204" pitchFamily="34" charset="0"/>
              <a:buChar char="•"/>
            </a:pPr>
            <a:r>
              <a:rPr lang="en-US" sz="1100" dirty="0">
                <a:solidFill>
                  <a:srgbClr val="222222"/>
                </a:solidFill>
                <a:cs typeface="Calibri" panose="020F0502020204030204" pitchFamily="34" charset="0"/>
              </a:rPr>
              <a:t>Kimball, M. S. (1989). Precautionary Saving in the Small and in the Large.</a:t>
            </a:r>
          </a:p>
          <a:p>
            <a:pPr marL="171450" indent="-171450">
              <a:buFont typeface="Arial" panose="020B0604020202020204" pitchFamily="34" charset="0"/>
              <a:buChar char="•"/>
            </a:pPr>
            <a:r>
              <a:rPr lang="en-US" sz="1100" dirty="0">
                <a:solidFill>
                  <a:srgbClr val="222222"/>
                </a:solidFill>
                <a:cs typeface="Calibri" panose="020F0502020204030204" pitchFamily="34" charset="0"/>
              </a:rPr>
              <a:t>Li, L., &amp; Peter, R. (2021). Should we do more when we know less? The effect of technology risk on optimal effort. Journal of Risk and Insurance, 88(3), 695-725.</a:t>
            </a:r>
          </a:p>
          <a:p>
            <a:pPr marL="171450" indent="-171450">
              <a:buFont typeface="Arial" panose="020B0604020202020204" pitchFamily="34" charset="0"/>
              <a:buChar char="•"/>
            </a:pPr>
            <a:r>
              <a:rPr lang="en-US" sz="1100" dirty="0">
                <a:solidFill>
                  <a:srgbClr val="222222"/>
                </a:solidFill>
                <a:cs typeface="Calibri" panose="020F0502020204030204" pitchFamily="34" charset="0"/>
              </a:rPr>
              <a:t>Ebert, S., &amp; </a:t>
            </a:r>
            <a:r>
              <a:rPr lang="en-US" sz="1100" dirty="0" err="1">
                <a:solidFill>
                  <a:srgbClr val="222222"/>
                </a:solidFill>
                <a:cs typeface="Calibri" panose="020F0502020204030204" pitchFamily="34" charset="0"/>
              </a:rPr>
              <a:t>Wiesen</a:t>
            </a:r>
            <a:r>
              <a:rPr lang="en-US" sz="1100" dirty="0">
                <a:solidFill>
                  <a:srgbClr val="222222"/>
                </a:solidFill>
                <a:cs typeface="Calibri" panose="020F0502020204030204" pitchFamily="34" charset="0"/>
              </a:rPr>
              <a:t>, D. (2011). Testing for prudence and skewness seeking. Management Science, 57(7), 1334-1349</a:t>
            </a:r>
          </a:p>
          <a:p>
            <a:pPr marL="171450" indent="-171450">
              <a:buFont typeface="Arial" panose="020B0604020202020204" pitchFamily="34" charset="0"/>
              <a:buChar char="•"/>
            </a:pPr>
            <a:r>
              <a:rPr lang="en-US" sz="1100" dirty="0">
                <a:solidFill>
                  <a:srgbClr val="222222"/>
                </a:solidFill>
                <a:cs typeface="Calibri" panose="020F0502020204030204" pitchFamily="34" charset="0"/>
              </a:rPr>
              <a:t>Peter, R. (2017). Optimal self-protection in two periods: On the role of endogenous saving. Journal of Economic Behavior &amp; Organization, 137, 19-36.</a:t>
            </a:r>
          </a:p>
          <a:p>
            <a:r>
              <a:rPr lang="en-US" sz="1100" b="1" dirty="0">
                <a:solidFill>
                  <a:srgbClr val="222222"/>
                </a:solidFill>
                <a:cs typeface="Calibri" panose="020F0502020204030204" pitchFamily="34" charset="0"/>
              </a:rPr>
              <a:t>Page 11</a:t>
            </a:r>
          </a:p>
          <a:p>
            <a:pPr marL="171450" indent="-171450">
              <a:buFont typeface="Arial" panose="020B0604020202020204" pitchFamily="34" charset="0"/>
              <a:buChar char="•"/>
            </a:pPr>
            <a:r>
              <a:rPr lang="en-US" sz="1100" dirty="0">
                <a:solidFill>
                  <a:srgbClr val="222222"/>
                </a:solidFill>
                <a:cs typeface="Calibri" panose="020F0502020204030204" pitchFamily="34" charset="0"/>
              </a:rPr>
              <a:t>Shapiro, A., </a:t>
            </a:r>
            <a:r>
              <a:rPr lang="en-US" sz="1100" dirty="0" err="1">
                <a:solidFill>
                  <a:srgbClr val="222222"/>
                </a:solidFill>
                <a:cs typeface="Calibri" panose="020F0502020204030204" pitchFamily="34" charset="0"/>
              </a:rPr>
              <a:t>Dentcheva</a:t>
            </a:r>
            <a:r>
              <a:rPr lang="en-US" sz="1100" dirty="0">
                <a:solidFill>
                  <a:srgbClr val="222222"/>
                </a:solidFill>
                <a:cs typeface="Calibri" panose="020F0502020204030204" pitchFamily="34" charset="0"/>
              </a:rPr>
              <a:t>, D., &amp; Ruszczynski, A. (2021). Lectures on stochastic programming: modeling and theory. Society for Industrial and Applied Mathematics</a:t>
            </a:r>
          </a:p>
          <a:p>
            <a:r>
              <a:rPr lang="en-US" sz="1100" b="1" dirty="0">
                <a:solidFill>
                  <a:srgbClr val="222222"/>
                </a:solidFill>
                <a:cs typeface="Calibri" panose="020F0502020204030204" pitchFamily="34" charset="0"/>
              </a:rPr>
              <a:t>Others</a:t>
            </a:r>
          </a:p>
          <a:p>
            <a:pPr marL="171450" indent="-171450">
              <a:buFont typeface="Arial" panose="020B0604020202020204" pitchFamily="34" charset="0"/>
              <a:buChar char="•"/>
            </a:pPr>
            <a:r>
              <a:rPr lang="en-US" sz="1100" dirty="0">
                <a:solidFill>
                  <a:srgbClr val="222222"/>
                </a:solidFill>
                <a:cs typeface="Calibri" panose="020F0502020204030204" pitchFamily="34" charset="0"/>
              </a:rPr>
              <a:t>Boyd, S. P., &amp; </a:t>
            </a:r>
            <a:r>
              <a:rPr lang="en-US" sz="1100" dirty="0" err="1">
                <a:solidFill>
                  <a:srgbClr val="222222"/>
                </a:solidFill>
                <a:cs typeface="Calibri" panose="020F0502020204030204" pitchFamily="34" charset="0"/>
              </a:rPr>
              <a:t>Vandenberghe</a:t>
            </a:r>
            <a:r>
              <a:rPr lang="en-US" sz="1100" dirty="0">
                <a:solidFill>
                  <a:srgbClr val="222222"/>
                </a:solidFill>
                <a:cs typeface="Calibri" panose="020F0502020204030204" pitchFamily="34" charset="0"/>
              </a:rPr>
              <a:t>, L. (2004). Convex optimization. Cambridge university press</a:t>
            </a:r>
          </a:p>
          <a:p>
            <a:pPr marL="171450" indent="-171450">
              <a:buFont typeface="Arial" panose="020B0604020202020204" pitchFamily="34" charset="0"/>
              <a:buChar char="•"/>
            </a:pPr>
            <a:r>
              <a:rPr lang="en-US" sz="1100" dirty="0">
                <a:solidFill>
                  <a:srgbClr val="222222"/>
                </a:solidFill>
                <a:cs typeface="Calibri" panose="020F0502020204030204" pitchFamily="34" charset="0"/>
              </a:rPr>
              <a:t>Zheng, N., Jaworski, J., &amp; Xu, B. (2022). Arbitraging variable efficiency energy storage using analytical stochastic dynamic programming. IEEE Transactions on Power Systems, 37(6), 4785-4795</a:t>
            </a:r>
          </a:p>
        </p:txBody>
      </p:sp>
      <p:sp>
        <p:nvSpPr>
          <p:cNvPr id="10" name="Rectangle 9">
            <a:extLst>
              <a:ext uri="{FF2B5EF4-FFF2-40B4-BE49-F238E27FC236}">
                <a16:creationId xmlns:a16="http://schemas.microsoft.com/office/drawing/2014/main" id="{4FEB5049-6335-CC08-8A61-DD4DB978A94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2773" name="Picture 10">
            <a:extLst>
              <a:ext uri="{FF2B5EF4-FFF2-40B4-BE49-F238E27FC236}">
                <a16:creationId xmlns:a16="http://schemas.microsoft.com/office/drawing/2014/main" id="{7E27054D-D33B-594E-01B2-38B506F7A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031CD054-279D-DA19-D0B4-C26DCD396945}"/>
              </a:ext>
            </a:extLst>
          </p:cNvPr>
          <p:cNvSpPr txBox="1">
            <a:spLocks noChangeArrowheads="1"/>
          </p:cNvSpPr>
          <p:nvPr/>
        </p:nvSpPr>
        <p:spPr bwMode="auto">
          <a:xfrm>
            <a:off x="255588" y="4695825"/>
            <a:ext cx="60690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None/>
            </a:pPr>
            <a:r>
              <a:rPr lang="en-US" altLang="en-US" sz="1200" b="1" dirty="0">
                <a:solidFill>
                  <a:schemeClr val="bg1"/>
                </a:solidFill>
              </a:rPr>
              <a:t>28</a:t>
            </a:r>
            <a:r>
              <a:rPr lang="en-US" altLang="en-US" sz="1200" dirty="0">
                <a:solidFill>
                  <a:schemeClr val="bg1"/>
                </a:solidFill>
              </a:rPr>
              <a:t>| </a:t>
            </a:r>
            <a:r>
              <a:rPr lang="en-US" altLang="en-US" sz="1050" dirty="0">
                <a:solidFill>
                  <a:schemeClr val="bg1"/>
                </a:solidFill>
              </a:rPr>
              <a:t>Reference</a:t>
            </a:r>
            <a:endParaRPr lang="en-US" altLang="en-US" sz="900" dirty="0">
              <a:solidFill>
                <a:schemeClr val="bg1"/>
              </a:solidFill>
            </a:endParaRPr>
          </a:p>
        </p:txBody>
      </p:sp>
    </p:spTree>
    <p:extLst>
      <p:ext uri="{BB962C8B-B14F-4D97-AF65-F5344CB8AC3E}">
        <p14:creationId xmlns:p14="http://schemas.microsoft.com/office/powerpoint/2010/main" val="3246507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11" descr="16x9_BG-02.jpg">
            <a:extLst>
              <a:ext uri="{FF2B5EF4-FFF2-40B4-BE49-F238E27FC236}">
                <a16:creationId xmlns:a16="http://schemas.microsoft.com/office/drawing/2014/main" id="{BD192EDD-66DD-27EF-8186-8DAFAA2C64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78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DEA801A0-49D5-9E8B-D9AB-9D75DD36A408}"/>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ＭＳ Ｐゴシック" panose="020B0600070205080204" pitchFamily="34" charset="-128"/>
              </a:defRPr>
            </a:lvl1pPr>
            <a:lvl2pPr marL="742950" indent="-285750">
              <a:defRPr>
                <a:solidFill>
                  <a:schemeClr val="tx1"/>
                </a:solidFill>
                <a:latin typeface="Calibri" panose="020F0502020204030204" pitchFamily="34" charset="0"/>
                <a:ea typeface="ＭＳ Ｐゴシック" panose="020B0600070205080204" pitchFamily="34" charset="-128"/>
              </a:defRPr>
            </a:lvl2pPr>
            <a:lvl3pPr marL="1143000" indent="-228600">
              <a:defRPr>
                <a:solidFill>
                  <a:schemeClr val="tx1"/>
                </a:solidFill>
                <a:latin typeface="Calibri" panose="020F0502020204030204" pitchFamily="34" charset="0"/>
                <a:ea typeface="ＭＳ Ｐゴシック" panose="020B0600070205080204" pitchFamily="34" charset="-128"/>
              </a:defRPr>
            </a:lvl3pPr>
            <a:lvl4pPr marL="1600200" indent="-228600">
              <a:defRPr>
                <a:solidFill>
                  <a:schemeClr val="tx1"/>
                </a:solidFill>
                <a:latin typeface="Calibri" panose="020F0502020204030204" pitchFamily="34" charset="0"/>
                <a:ea typeface="ＭＳ Ｐゴシック" panose="020B0600070205080204" pitchFamily="34" charset="-128"/>
              </a:defRPr>
            </a:lvl4pPr>
            <a:lvl5pPr marL="2057400" indent="-228600">
              <a:defRPr>
                <a:solidFill>
                  <a:schemeClr val="tx1"/>
                </a:solidFill>
                <a:latin typeface="Calibri" panose="020F050202020403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eaLnBrk="1" hangingPunct="1">
              <a:defRPr/>
            </a:pPr>
            <a:endParaRPr lang="en-US" altLang="en-US">
              <a:solidFill>
                <a:srgbClr val="E6B9B8"/>
              </a:solidFill>
            </a:endParaRPr>
          </a:p>
        </p:txBody>
      </p:sp>
      <p:pic>
        <p:nvPicPr>
          <p:cNvPr id="30723" name="Picture 7">
            <a:extLst>
              <a:ext uri="{FF2B5EF4-FFF2-40B4-BE49-F238E27FC236}">
                <a16:creationId xmlns:a16="http://schemas.microsoft.com/office/drawing/2014/main" id="{08C92004-7E4A-8C72-1A5B-FB8341CF198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TextBox 9">
            <a:extLst>
              <a:ext uri="{FF2B5EF4-FFF2-40B4-BE49-F238E27FC236}">
                <a16:creationId xmlns:a16="http://schemas.microsoft.com/office/drawing/2014/main" id="{87B55808-C779-5854-C388-661D6E948BB6}"/>
              </a:ext>
            </a:extLst>
          </p:cNvPr>
          <p:cNvSpPr txBox="1">
            <a:spLocks noChangeArrowheads="1"/>
          </p:cNvSpPr>
          <p:nvPr/>
        </p:nvSpPr>
        <p:spPr bwMode="auto">
          <a:xfrm>
            <a:off x="0" y="1605945"/>
            <a:ext cx="91440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i="1" dirty="0">
                <a:solidFill>
                  <a:schemeClr val="bg1"/>
                </a:solidFill>
              </a:rPr>
              <a:t>Thanks!</a:t>
            </a:r>
          </a:p>
          <a:p>
            <a:pPr algn="ctr" eaLnBrk="1" hangingPunct="1">
              <a:spcBef>
                <a:spcPct val="0"/>
              </a:spcBef>
              <a:buFontTx/>
              <a:buNone/>
            </a:pPr>
            <a:r>
              <a:rPr lang="en-US" altLang="en-US" i="1" dirty="0">
                <a:solidFill>
                  <a:schemeClr val="bg1"/>
                </a:solidFill>
              </a:rPr>
              <a:t>&amp;</a:t>
            </a:r>
          </a:p>
          <a:p>
            <a:pPr algn="ctr" eaLnBrk="1" hangingPunct="1">
              <a:spcBef>
                <a:spcPct val="0"/>
              </a:spcBef>
              <a:buFontTx/>
              <a:buNone/>
            </a:pPr>
            <a:r>
              <a:rPr lang="en-US" altLang="en-US" i="1" dirty="0">
                <a:solidFill>
                  <a:schemeClr val="bg1"/>
                </a:solidFill>
              </a:rPr>
              <a:t>Q&amp;A</a:t>
            </a:r>
          </a:p>
        </p:txBody>
      </p:sp>
      <p:sp>
        <p:nvSpPr>
          <p:cNvPr id="3" name="TextBox 2">
            <a:extLst>
              <a:ext uri="{FF2B5EF4-FFF2-40B4-BE49-F238E27FC236}">
                <a16:creationId xmlns:a16="http://schemas.microsoft.com/office/drawing/2014/main" id="{1082D25A-540E-9BF0-A913-C7554AD65860}"/>
              </a:ext>
            </a:extLst>
          </p:cNvPr>
          <p:cNvSpPr txBox="1"/>
          <p:nvPr/>
        </p:nvSpPr>
        <p:spPr>
          <a:xfrm>
            <a:off x="0" y="4316968"/>
            <a:ext cx="7467600" cy="369332"/>
          </a:xfrm>
          <a:prstGeom prst="rect">
            <a:avLst/>
          </a:prstGeom>
          <a:noFill/>
        </p:spPr>
        <p:txBody>
          <a:bodyPr wrap="square">
            <a:spAutoFit/>
          </a:bodyPr>
          <a:lstStyle/>
          <a:p>
            <a:pPr algn="ctr" eaLnBrk="1" hangingPunct="1">
              <a:spcBef>
                <a:spcPct val="0"/>
              </a:spcBef>
              <a:buFontTx/>
              <a:buNone/>
            </a:pPr>
            <a:r>
              <a:rPr lang="en-US" altLang="en-US" i="1" dirty="0">
                <a:solidFill>
                  <a:schemeClr val="bg1"/>
                </a:solidFill>
              </a:rPr>
              <a:t>For all details, please reference to - </a:t>
            </a:r>
            <a:r>
              <a:rPr lang="en-US" altLang="en-US" i="1" dirty="0">
                <a:solidFill>
                  <a:schemeClr val="bg1"/>
                </a:solidFill>
                <a:hlinkClick r:id="rId5"/>
              </a:rPr>
              <a:t>https://arxiv.org/abs/2405.16356</a:t>
            </a:r>
            <a:endParaRPr lang="en-US" altLang="en-US" i="1" dirty="0">
              <a:solidFill>
                <a:schemeClr val="bg1"/>
              </a:solidFill>
            </a:endParaRPr>
          </a:p>
        </p:txBody>
      </p:sp>
    </p:spTree>
    <p:extLst>
      <p:ext uri="{BB962C8B-B14F-4D97-AF65-F5344CB8AC3E}">
        <p14:creationId xmlns:p14="http://schemas.microsoft.com/office/powerpoint/2010/main" val="3492562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a:spAutoFit/>
      </a:bodyPr>
      <a:lstStyle>
        <a:defPPr indent="137160">
          <a:spcAft>
            <a:spcPts val="600"/>
          </a:spcAft>
          <a:buFont typeface="Arial" panose="020B0604020202020204" pitchFamily="34" charset="0"/>
          <a:buChar char="•"/>
          <a:defRPr sz="2000" dirty="0" smtClean="0">
            <a:solidFill>
              <a:schemeClr val="bg1"/>
            </a:solidFil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D2A1B0-FF3E-4009-940D-AED0EB70AA20}">
  <ds:schemaRefs>
    <ds:schemaRef ds:uri="http://schemas.microsoft.com/sharepoint/v3/contenttype/forms"/>
  </ds:schemaRefs>
</ds:datastoreItem>
</file>

<file path=customXml/itemProps2.xml><?xml version="1.0" encoding="utf-8"?>
<ds:datastoreItem xmlns:ds="http://schemas.openxmlformats.org/officeDocument/2006/customXml" ds:itemID="{7B6F2769-7194-4217-93D3-3AF3A4742282}">
  <ds:schemaRefs>
    <ds:schemaRef ds:uri="http://schemas.microsoft.com/office/2006/metadata/properties"/>
    <ds:schemaRef ds:uri="http://schemas.microsoft.com/office/infopath/2007/PartnerControls"/>
    <ds:schemaRef ds:uri="http://schemas.microsoft.com/sharepoint/v3/fields"/>
  </ds:schemaRefs>
</ds:datastoreItem>
</file>

<file path=customXml/itemProps3.xml><?xml version="1.0" encoding="utf-8"?>
<ds:datastoreItem xmlns:ds="http://schemas.openxmlformats.org/officeDocument/2006/customXml" ds:itemID="{E4214858-785C-42F7-BE66-6D0E79395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FNEMasterTemplateForThemePreview.pptx</Template>
  <TotalTime>53215</TotalTime>
  <Words>2909</Words>
  <Application>Microsoft Macintosh PowerPoint</Application>
  <PresentationFormat>On-screen Show (16:9)</PresentationFormat>
  <Paragraphs>494</Paragraphs>
  <Slides>30</Slides>
  <Notes>30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30</vt:i4>
      </vt:variant>
    </vt:vector>
  </HeadingPairs>
  <TitlesOfParts>
    <vt:vector size="36" baseType="lpstr">
      <vt:lpstr>Arial</vt:lpstr>
      <vt:lpstr>Calibri</vt:lpstr>
      <vt:lpstr>Cambria Math</vt:lpstr>
      <vt:lpstr>Helvetica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FileNewTemplate</dc:title>
  <dc:creator>Diana</dc:creator>
  <cp:lastModifiedBy>lc3671</cp:lastModifiedBy>
  <cp:revision>437</cp:revision>
  <dcterms:created xsi:type="dcterms:W3CDTF">2010-04-12T23:12:02Z</dcterms:created>
  <dcterms:modified xsi:type="dcterms:W3CDTF">2025-06-26T13:31:46Z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